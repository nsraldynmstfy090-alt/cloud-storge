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804" r:id="rId1"/>
  </p:sldMasterIdLst>
  <p:notesMasterIdLst>
    <p:notesMasterId r:id="rId95"/>
  </p:notesMasterIdLst>
  <p:sldIdLst>
    <p:sldId id="366" r:id="rId2"/>
    <p:sldId id="367" r:id="rId3"/>
    <p:sldId id="368" r:id="rId4"/>
    <p:sldId id="261" r:id="rId5"/>
    <p:sldId id="262" r:id="rId6"/>
    <p:sldId id="263" r:id="rId7"/>
    <p:sldId id="264" r:id="rId8"/>
    <p:sldId id="265" r:id="rId9"/>
    <p:sldId id="266" r:id="rId10"/>
    <p:sldId id="267" r:id="rId11"/>
    <p:sldId id="268" r:id="rId12"/>
    <p:sldId id="269" r:id="rId13"/>
    <p:sldId id="270" r:id="rId14"/>
    <p:sldId id="275" r:id="rId15"/>
    <p:sldId id="276" r:id="rId16"/>
    <p:sldId id="279" r:id="rId17"/>
    <p:sldId id="280"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69" r:id="rId48"/>
    <p:sldId id="370" r:id="rId49"/>
    <p:sldId id="371" r:id="rId50"/>
    <p:sldId id="372" r:id="rId51"/>
    <p:sldId id="373" r:id="rId52"/>
    <p:sldId id="374" r:id="rId53"/>
    <p:sldId id="375" r:id="rId54"/>
    <p:sldId id="376" r:id="rId55"/>
    <p:sldId id="377" r:id="rId56"/>
    <p:sldId id="378" r:id="rId57"/>
    <p:sldId id="379" r:id="rId58"/>
    <p:sldId id="380" r:id="rId59"/>
    <p:sldId id="381" r:id="rId60"/>
    <p:sldId id="382" r:id="rId61"/>
    <p:sldId id="383" r:id="rId62"/>
    <p:sldId id="326" r:id="rId63"/>
    <p:sldId id="327" r:id="rId64"/>
    <p:sldId id="328" r:id="rId65"/>
    <p:sldId id="329" r:id="rId66"/>
    <p:sldId id="330" r:id="rId67"/>
    <p:sldId id="331" r:id="rId68"/>
    <p:sldId id="333" r:id="rId69"/>
    <p:sldId id="332" r:id="rId70"/>
    <p:sldId id="334" r:id="rId71"/>
    <p:sldId id="335" r:id="rId72"/>
    <p:sldId id="336" r:id="rId73"/>
    <p:sldId id="337" r:id="rId74"/>
    <p:sldId id="338" r:id="rId75"/>
    <p:sldId id="339" r:id="rId76"/>
    <p:sldId id="340" r:id="rId77"/>
    <p:sldId id="341" r:id="rId78"/>
    <p:sldId id="342" r:id="rId79"/>
    <p:sldId id="343" r:id="rId80"/>
    <p:sldId id="344" r:id="rId81"/>
    <p:sldId id="345" r:id="rId82"/>
    <p:sldId id="352" r:id="rId83"/>
    <p:sldId id="353" r:id="rId84"/>
    <p:sldId id="354" r:id="rId85"/>
    <p:sldId id="355" r:id="rId86"/>
    <p:sldId id="359" r:id="rId87"/>
    <p:sldId id="360" r:id="rId88"/>
    <p:sldId id="361" r:id="rId89"/>
    <p:sldId id="362" r:id="rId90"/>
    <p:sldId id="363" r:id="rId91"/>
    <p:sldId id="364" r:id="rId92"/>
    <p:sldId id="365" r:id="rId93"/>
    <p:sldId id="384" r:id="rId94"/>
  </p:sldIdLst>
  <p:sldSz cx="9144000" cy="6858000" type="screen4x3"/>
  <p:notesSz cx="6858000" cy="9144000"/>
  <p:defaultTextStyle>
    <a:defPPr>
      <a:defRPr lang="ar-EG"/>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111"/>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FFFF66"/>
    <a:srgbClr val="FFFF99"/>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66" autoAdjust="0"/>
    <p:restoredTop sz="94624" autoAdjust="0"/>
  </p:normalViewPr>
  <p:slideViewPr>
    <p:cSldViewPr>
      <p:cViewPr varScale="1">
        <p:scale>
          <a:sx n="65" d="100"/>
          <a:sy n="65" d="100"/>
        </p:scale>
        <p:origin x="-1296"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ar-EG"/>
          </a:p>
        </p:txBody>
      </p:sp>
      <p:sp>
        <p:nvSpPr>
          <p:cNvPr id="3" name="عنصر نائب للتاريخ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FCCE16E7-95B0-4D45-A760-FA8980DCE4C3}" type="datetimeFigureOut">
              <a:rPr lang="ar-EG" smtClean="0"/>
              <a:pPr/>
              <a:t>21/04/1447</a:t>
            </a:fld>
            <a:endParaRPr lang="ar-EG"/>
          </a:p>
        </p:txBody>
      </p:sp>
      <p:sp>
        <p:nvSpPr>
          <p:cNvPr id="4" name="عنصر نائب لصورة الشريحة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ar-EG"/>
          </a:p>
        </p:txBody>
      </p:sp>
      <p:sp>
        <p:nvSpPr>
          <p:cNvPr id="5" name="عنصر نائب للملاحظات 4"/>
          <p:cNvSpPr>
            <a:spLocks noGrp="1"/>
          </p:cNvSpPr>
          <p:nvPr>
            <p:ph type="body" sz="quarter" idx="3"/>
          </p:nvPr>
        </p:nvSpPr>
        <p:spPr>
          <a:xfrm>
            <a:off x="685800" y="4343400"/>
            <a:ext cx="5486400" cy="4114800"/>
          </a:xfrm>
          <a:prstGeom prst="rect">
            <a:avLst/>
          </a:prstGeom>
        </p:spPr>
        <p:txBody>
          <a:bodyPr vert="horz" lIns="91440" tIns="45720" rIns="91440" bIns="45720" rtlCol="1">
            <a:normAutofit/>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EG"/>
          </a:p>
        </p:txBody>
      </p:sp>
      <p:sp>
        <p:nvSpPr>
          <p:cNvPr id="6" name="عنصر نائب للتذييل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ar-EG"/>
          </a:p>
        </p:txBody>
      </p:sp>
      <p:sp>
        <p:nvSpPr>
          <p:cNvPr id="7" name="عنصر نائب لرقم الشريحة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7E859479-5145-47C4-A24A-F399F3FA763D}" type="slidenum">
              <a:rPr lang="ar-EG" smtClean="0"/>
              <a:pPr/>
              <a:t>‹#›</a:t>
            </a:fld>
            <a:endParaRPr lang="ar-EG"/>
          </a:p>
        </p:txBody>
      </p:sp>
    </p:spTree>
    <p:extLst>
      <p:ext uri="{BB962C8B-B14F-4D97-AF65-F5344CB8AC3E}">
        <p14:creationId xmlns:p14="http://schemas.microsoft.com/office/powerpoint/2010/main" val="181018980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8478838" cy="6173788"/>
            <a:chOff x="0" y="0"/>
            <a:chExt cx="5341" cy="3889"/>
          </a:xfrm>
        </p:grpSpPr>
        <p:sp>
          <p:nvSpPr>
            <p:cNvPr id="5" name="Freeform 3"/>
            <p:cNvSpPr>
              <a:spLocks/>
            </p:cNvSpPr>
            <p:nvPr/>
          </p:nvSpPr>
          <p:spPr bwMode="auto">
            <a:xfrm>
              <a:off x="0" y="0"/>
              <a:ext cx="3863" cy="3889"/>
            </a:xfrm>
            <a:custGeom>
              <a:avLst/>
              <a:gdLst/>
              <a:ahLst/>
              <a:cxnLst>
                <a:cxn ang="0">
                  <a:pos x="3862" y="3418"/>
                </a:cxn>
                <a:cxn ang="0">
                  <a:pos x="457" y="0"/>
                </a:cxn>
                <a:cxn ang="0">
                  <a:pos x="0" y="0"/>
                </a:cxn>
                <a:cxn ang="0">
                  <a:pos x="0" y="481"/>
                </a:cxn>
                <a:cxn ang="0">
                  <a:pos x="3394" y="3888"/>
                </a:cxn>
                <a:cxn ang="0">
                  <a:pos x="3862" y="3418"/>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000"/>
              </a:schemeClr>
            </a:solidFill>
            <a:ln w="9525">
              <a:noFill/>
              <a:round/>
              <a:headEnd type="none" w="sm" len="sm"/>
              <a:tailEnd type="none" w="sm" len="sm"/>
            </a:ln>
            <a:effectLst/>
          </p:spPr>
          <p:txBody>
            <a:bodyPr/>
            <a:lstStyle/>
            <a:p>
              <a:pPr algn="l" rtl="0" eaLnBrk="0" hangingPunct="0">
                <a:defRPr/>
              </a:pPr>
              <a:endParaRPr lang="ar-SA">
                <a:cs typeface="+mn-cs"/>
              </a:endParaRPr>
            </a:p>
          </p:txBody>
        </p:sp>
        <p:sp>
          <p:nvSpPr>
            <p:cNvPr id="6" name="Freeform 4"/>
            <p:cNvSpPr>
              <a:spLocks/>
            </p:cNvSpPr>
            <p:nvPr/>
          </p:nvSpPr>
          <p:spPr bwMode="auto">
            <a:xfrm>
              <a:off x="860" y="0"/>
              <a:ext cx="3394" cy="3223"/>
            </a:xfrm>
            <a:custGeom>
              <a:avLst/>
              <a:gdLst/>
              <a:ahLst/>
              <a:cxnLst>
                <a:cxn ang="0">
                  <a:pos x="370" y="0"/>
                </a:cxn>
                <a:cxn ang="0">
                  <a:pos x="3393" y="3036"/>
                </a:cxn>
                <a:cxn ang="0">
                  <a:pos x="3208" y="3222"/>
                </a:cxn>
                <a:cxn ang="0">
                  <a:pos x="0" y="0"/>
                </a:cxn>
                <a:cxn ang="0">
                  <a:pos x="370" y="0"/>
                </a:cxn>
              </a:cxnLst>
              <a:rect l="0" t="0" r="r" b="b"/>
              <a:pathLst>
                <a:path w="3394" h="3223">
                  <a:moveTo>
                    <a:pt x="370" y="0"/>
                  </a:moveTo>
                  <a:lnTo>
                    <a:pt x="3393" y="3036"/>
                  </a:lnTo>
                  <a:lnTo>
                    <a:pt x="3208" y="3222"/>
                  </a:lnTo>
                  <a:lnTo>
                    <a:pt x="0" y="0"/>
                  </a:lnTo>
                  <a:lnTo>
                    <a:pt x="370" y="0"/>
                  </a:lnTo>
                </a:path>
              </a:pathLst>
            </a:custGeom>
            <a:solidFill>
              <a:schemeClr val="bg1">
                <a:alpha val="50000"/>
              </a:schemeClr>
            </a:solidFill>
            <a:ln w="9525">
              <a:noFill/>
              <a:round/>
              <a:headEnd type="none" w="sm" len="sm"/>
              <a:tailEnd type="none" w="sm" len="sm"/>
            </a:ln>
            <a:effectLst/>
          </p:spPr>
          <p:txBody>
            <a:bodyPr/>
            <a:lstStyle/>
            <a:p>
              <a:pPr algn="l" rtl="0" eaLnBrk="0" hangingPunct="0">
                <a:defRPr/>
              </a:pPr>
              <a:endParaRPr lang="ar-SA">
                <a:cs typeface="+mn-cs"/>
              </a:endParaRPr>
            </a:p>
          </p:txBody>
        </p:sp>
        <p:sp>
          <p:nvSpPr>
            <p:cNvPr id="7" name="Freeform 5"/>
            <p:cNvSpPr>
              <a:spLocks/>
            </p:cNvSpPr>
            <p:nvPr/>
          </p:nvSpPr>
          <p:spPr bwMode="auto">
            <a:xfrm>
              <a:off x="2187" y="0"/>
              <a:ext cx="2859" cy="2556"/>
            </a:xfrm>
            <a:custGeom>
              <a:avLst/>
              <a:gdLst/>
              <a:ahLst/>
              <a:cxnLst>
                <a:cxn ang="0">
                  <a:pos x="630" y="0"/>
                </a:cxn>
                <a:cxn ang="0">
                  <a:pos x="2858" y="2238"/>
                </a:cxn>
                <a:cxn ang="0">
                  <a:pos x="2543" y="2555"/>
                </a:cxn>
                <a:cxn ang="0">
                  <a:pos x="0" y="0"/>
                </a:cxn>
                <a:cxn ang="0">
                  <a:pos x="630" y="0"/>
                </a:cxn>
              </a:cxnLst>
              <a:rect l="0" t="0" r="r" b="b"/>
              <a:pathLst>
                <a:path w="2859" h="2556">
                  <a:moveTo>
                    <a:pt x="630" y="0"/>
                  </a:moveTo>
                  <a:lnTo>
                    <a:pt x="2858" y="2238"/>
                  </a:lnTo>
                  <a:lnTo>
                    <a:pt x="2543" y="2555"/>
                  </a:lnTo>
                  <a:lnTo>
                    <a:pt x="0" y="0"/>
                  </a:lnTo>
                  <a:lnTo>
                    <a:pt x="630" y="0"/>
                  </a:lnTo>
                </a:path>
              </a:pathLst>
            </a:custGeom>
            <a:solidFill>
              <a:schemeClr val="bg1">
                <a:alpha val="50000"/>
              </a:schemeClr>
            </a:solidFill>
            <a:ln w="9525">
              <a:noFill/>
              <a:round/>
              <a:headEnd type="none" w="sm" len="sm"/>
              <a:tailEnd type="none" w="sm" len="sm"/>
            </a:ln>
            <a:effectLst/>
          </p:spPr>
          <p:txBody>
            <a:bodyPr/>
            <a:lstStyle/>
            <a:p>
              <a:pPr algn="l" rtl="0" eaLnBrk="0" hangingPunct="0">
                <a:defRPr/>
              </a:pPr>
              <a:endParaRPr lang="ar-SA">
                <a:cs typeface="+mn-cs"/>
              </a:endParaRPr>
            </a:p>
          </p:txBody>
        </p:sp>
        <p:sp>
          <p:nvSpPr>
            <p:cNvPr id="8" name="Freeform 6"/>
            <p:cNvSpPr>
              <a:spLocks/>
            </p:cNvSpPr>
            <p:nvPr/>
          </p:nvSpPr>
          <p:spPr bwMode="auto">
            <a:xfrm>
              <a:off x="3055" y="0"/>
              <a:ext cx="2286" cy="2121"/>
            </a:xfrm>
            <a:custGeom>
              <a:avLst/>
              <a:gdLst/>
              <a:ahLst/>
              <a:cxnLst>
                <a:cxn ang="0">
                  <a:pos x="0" y="0"/>
                </a:cxn>
                <a:cxn ang="0">
                  <a:pos x="2111" y="2120"/>
                </a:cxn>
                <a:cxn ang="0">
                  <a:pos x="2285" y="1945"/>
                </a:cxn>
                <a:cxn ang="0">
                  <a:pos x="348" y="0"/>
                </a:cxn>
                <a:cxn ang="0">
                  <a:pos x="0" y="0"/>
                </a:cxn>
              </a:cxnLst>
              <a:rect l="0" t="0" r="r" b="b"/>
              <a:pathLst>
                <a:path w="2286" h="2121">
                  <a:moveTo>
                    <a:pt x="0" y="0"/>
                  </a:moveTo>
                  <a:lnTo>
                    <a:pt x="2111" y="2120"/>
                  </a:lnTo>
                  <a:lnTo>
                    <a:pt x="2285" y="1945"/>
                  </a:lnTo>
                  <a:lnTo>
                    <a:pt x="348" y="0"/>
                  </a:lnTo>
                  <a:lnTo>
                    <a:pt x="0" y="0"/>
                  </a:lnTo>
                </a:path>
              </a:pathLst>
            </a:custGeom>
            <a:solidFill>
              <a:schemeClr val="bg1">
                <a:alpha val="50000"/>
              </a:schemeClr>
            </a:solidFill>
            <a:ln w="9525">
              <a:noFill/>
              <a:round/>
              <a:headEnd type="none" w="sm" len="sm"/>
              <a:tailEnd type="none" w="sm" len="sm"/>
            </a:ln>
            <a:effectLst/>
          </p:spPr>
          <p:txBody>
            <a:bodyPr/>
            <a:lstStyle/>
            <a:p>
              <a:pPr algn="l" rtl="0" eaLnBrk="0" hangingPunct="0">
                <a:defRPr/>
              </a:pPr>
              <a:endParaRPr lang="ar-SA">
                <a:cs typeface="+mn-cs"/>
              </a:endParaRPr>
            </a:p>
          </p:txBody>
        </p:sp>
      </p:grpSp>
      <p:sp>
        <p:nvSpPr>
          <p:cNvPr id="3079" name="Rectangle 7"/>
          <p:cNvSpPr>
            <a:spLocks noGrp="1" noChangeArrowheads="1"/>
          </p:cNvSpPr>
          <p:nvPr>
            <p:ph type="ctrTitle" sz="quarter"/>
          </p:nvPr>
        </p:nvSpPr>
        <p:spPr>
          <a:xfrm>
            <a:off x="685800" y="1143000"/>
            <a:ext cx="7772400" cy="1143000"/>
          </a:xfrm>
        </p:spPr>
        <p:txBody>
          <a:bodyPr/>
          <a:lstStyle>
            <a:lvl1pPr>
              <a:defRPr/>
            </a:lvl1pPr>
          </a:lstStyle>
          <a:p>
            <a:r>
              <a:rPr lang="en-US"/>
              <a:t>Click to edit Master title style</a:t>
            </a:r>
          </a:p>
        </p:txBody>
      </p:sp>
      <p:sp>
        <p:nvSpPr>
          <p:cNvPr id="3080" name="Rectangle 8"/>
          <p:cNvSpPr>
            <a:spLocks noGrp="1" noChangeArrowheads="1"/>
          </p:cNvSpPr>
          <p:nvPr>
            <p:ph type="subTitle" sz="quarter" idx="1"/>
          </p:nvPr>
        </p:nvSpPr>
        <p:spPr>
          <a:xfrm>
            <a:off x="1371600" y="2819400"/>
            <a:ext cx="6400800" cy="1752600"/>
          </a:xfrm>
        </p:spPr>
        <p:txBody>
          <a:bodyPr/>
          <a:lstStyle>
            <a:lvl1pPr marL="0" indent="0" algn="ctr">
              <a:buFont typeface="Monotype Sorts" pitchFamily="2" charset="2"/>
              <a:buNone/>
              <a:defRPr/>
            </a:lvl1pPr>
          </a:lstStyle>
          <a:p>
            <a:r>
              <a:rPr lang="en-US"/>
              <a:t>Click to edit Master subtitle style</a:t>
            </a:r>
          </a:p>
        </p:txBody>
      </p:sp>
    </p:spTree>
    <p:extLst>
      <p:ext uri="{BB962C8B-B14F-4D97-AF65-F5344CB8AC3E}">
        <p14:creationId xmlns:p14="http://schemas.microsoft.com/office/powerpoint/2010/main" val="1798299316"/>
      </p:ext>
    </p:extLst>
  </p:cSld>
  <p:clrMapOvr>
    <a:masterClrMapping/>
  </p:clrMapOvr>
  <p:transition>
    <p:blinds/>
    <p:sndAc>
      <p:stSnd>
        <p:snd r:embed="rId1" name="HARP.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SA"/>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a:p>
        </p:txBody>
      </p:sp>
    </p:spTree>
    <p:extLst>
      <p:ext uri="{BB962C8B-B14F-4D97-AF65-F5344CB8AC3E}">
        <p14:creationId xmlns:p14="http://schemas.microsoft.com/office/powerpoint/2010/main" val="2754991759"/>
      </p:ext>
    </p:extLst>
  </p:cSld>
  <p:clrMapOvr>
    <a:masterClrMapping/>
  </p:clrMapOvr>
  <p:transition>
    <p:blinds/>
    <p:sndAc>
      <p:stSnd>
        <p:snd r:embed="rId1" name="HARP.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r">
              <a:defRPr sz="4000" b="1" cap="all"/>
            </a:lvl1pPr>
          </a:lstStyle>
          <a:p>
            <a:r>
              <a:rPr lang="en-US"/>
              <a:t>Click to edit Master title style</a:t>
            </a:r>
            <a:endParaRPr lang="ar-S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Tree>
    <p:extLst>
      <p:ext uri="{BB962C8B-B14F-4D97-AF65-F5344CB8AC3E}">
        <p14:creationId xmlns:p14="http://schemas.microsoft.com/office/powerpoint/2010/main" val="2496467945"/>
      </p:ext>
    </p:extLst>
  </p:cSld>
  <p:clrMapOvr>
    <a:masterClrMapping/>
  </p:clrMapOvr>
  <p:transition>
    <p:blinds/>
    <p:sndAc>
      <p:stSnd>
        <p:snd r:embed="rId1" name="HARP.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SA"/>
          </a:p>
        </p:txBody>
      </p:sp>
      <p:sp>
        <p:nvSpPr>
          <p:cNvPr id="3" name="Content Placeholder 2"/>
          <p:cNvSpPr>
            <a:spLocks noGrp="1"/>
          </p:cNvSpPr>
          <p:nvPr>
            <p:ph sz="half" idx="1"/>
          </p:nvPr>
        </p:nvSpPr>
        <p:spPr>
          <a:xfrm>
            <a:off x="685800" y="18288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Content Placeholder 3"/>
          <p:cNvSpPr>
            <a:spLocks noGrp="1"/>
          </p:cNvSpPr>
          <p:nvPr>
            <p:ph sz="half" idx="2"/>
          </p:nvPr>
        </p:nvSpPr>
        <p:spPr>
          <a:xfrm>
            <a:off x="4648200" y="18288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a:p>
        </p:txBody>
      </p:sp>
    </p:spTree>
    <p:extLst>
      <p:ext uri="{BB962C8B-B14F-4D97-AF65-F5344CB8AC3E}">
        <p14:creationId xmlns:p14="http://schemas.microsoft.com/office/powerpoint/2010/main" val="1308772126"/>
      </p:ext>
    </p:extLst>
  </p:cSld>
  <p:clrMapOvr>
    <a:masterClrMapping/>
  </p:clrMapOvr>
  <p:transition>
    <p:blinds/>
    <p:sndAc>
      <p:stSnd>
        <p:snd r:embed="rId1" name="HARP.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ar-S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a:p>
        </p:txBody>
      </p:sp>
    </p:spTree>
    <p:extLst>
      <p:ext uri="{BB962C8B-B14F-4D97-AF65-F5344CB8AC3E}">
        <p14:creationId xmlns:p14="http://schemas.microsoft.com/office/powerpoint/2010/main" val="3400845165"/>
      </p:ext>
    </p:extLst>
  </p:cSld>
  <p:clrMapOvr>
    <a:masterClrMapping/>
  </p:clrMapOvr>
  <p:transition>
    <p:blinds/>
    <p:sndAc>
      <p:stSnd>
        <p:snd r:embed="rId1" name="HARP.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SA"/>
          </a:p>
        </p:txBody>
      </p:sp>
    </p:spTree>
    <p:extLst>
      <p:ext uri="{BB962C8B-B14F-4D97-AF65-F5344CB8AC3E}">
        <p14:creationId xmlns:p14="http://schemas.microsoft.com/office/powerpoint/2010/main" val="2228204123"/>
      </p:ext>
    </p:extLst>
  </p:cSld>
  <p:clrMapOvr>
    <a:masterClrMapping/>
  </p:clrMapOvr>
  <p:transition>
    <p:blinds/>
    <p:sndAc>
      <p:stSnd>
        <p:snd r:embed="rId1" name="HARP.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651120"/>
      </p:ext>
    </p:extLst>
  </p:cSld>
  <p:clrMapOvr>
    <a:masterClrMapping/>
  </p:clrMapOvr>
  <p:transition>
    <p:blinds/>
    <p:sndAc>
      <p:stSnd>
        <p:snd r:embed="rId1" name="HARP.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r">
              <a:defRPr sz="2000" b="1"/>
            </a:lvl1pPr>
          </a:lstStyle>
          <a:p>
            <a:r>
              <a:rPr lang="en-US"/>
              <a:t>Click to edit Master title style</a:t>
            </a:r>
            <a:endParaRPr lang="ar-S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163800753"/>
      </p:ext>
    </p:extLst>
  </p:cSld>
  <p:clrMapOvr>
    <a:masterClrMapping/>
  </p:clrMapOvr>
  <p:transition>
    <p:blinds/>
    <p:sndAc>
      <p:stSnd>
        <p:snd r:embed="rId1" name="HARP.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r">
              <a:defRPr sz="2000" b="1"/>
            </a:lvl1pPr>
          </a:lstStyle>
          <a:p>
            <a:r>
              <a:rPr lang="en-US"/>
              <a:t>Click to edit Master title style</a:t>
            </a:r>
            <a:endParaRPr lang="ar-S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ar-S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1190698957"/>
      </p:ext>
    </p:extLst>
  </p:cSld>
  <p:clrMapOvr>
    <a:masterClrMapping/>
  </p:clrMapOvr>
  <p:transition>
    <p:blinds/>
    <p:sndAc>
      <p:stSnd>
        <p:snd r:embed="rId1" name="HARP.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S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a:p>
        </p:txBody>
      </p:sp>
    </p:spTree>
    <p:extLst>
      <p:ext uri="{BB962C8B-B14F-4D97-AF65-F5344CB8AC3E}">
        <p14:creationId xmlns:p14="http://schemas.microsoft.com/office/powerpoint/2010/main" val="137745253"/>
      </p:ext>
    </p:extLst>
  </p:cSld>
  <p:clrMapOvr>
    <a:masterClrMapping/>
  </p:clrMapOvr>
  <p:transition>
    <p:blinds/>
    <p:sndAc>
      <p:stSnd>
        <p:snd r:embed="rId1" name="HARP.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715000"/>
          </a:xfrm>
        </p:spPr>
        <p:txBody>
          <a:bodyPr vert="eaVert"/>
          <a:lstStyle/>
          <a:p>
            <a:r>
              <a:rPr lang="en-US"/>
              <a:t>Click to edit Master title style</a:t>
            </a:r>
            <a:endParaRPr lang="ar-SA"/>
          </a:p>
        </p:txBody>
      </p:sp>
      <p:sp>
        <p:nvSpPr>
          <p:cNvPr id="3" name="Vertical Text Placeholder 2"/>
          <p:cNvSpPr>
            <a:spLocks noGrp="1"/>
          </p:cNvSpPr>
          <p:nvPr>
            <p:ph type="body" orient="vert" idx="1"/>
          </p:nvPr>
        </p:nvSpPr>
        <p:spPr>
          <a:xfrm>
            <a:off x="685800" y="228600"/>
            <a:ext cx="5676900" cy="57150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a:p>
        </p:txBody>
      </p:sp>
    </p:spTree>
    <p:extLst>
      <p:ext uri="{BB962C8B-B14F-4D97-AF65-F5344CB8AC3E}">
        <p14:creationId xmlns:p14="http://schemas.microsoft.com/office/powerpoint/2010/main" val="1368317197"/>
      </p:ext>
    </p:extLst>
  </p:cSld>
  <p:clrMapOvr>
    <a:masterClrMapping/>
  </p:clrMapOvr>
  <p:transition>
    <p:blinds/>
    <p:sndAc>
      <p:stSnd>
        <p:snd r:embed="rId1" name="HARP.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lin ang="5400000" scaled="1"/>
        </a:gradFill>
        <a:effectLst/>
      </p:bgPr>
    </p:bg>
    <p:spTree>
      <p:nvGrpSpPr>
        <p:cNvPr id="1" name=""/>
        <p:cNvGrpSpPr/>
        <p:nvPr/>
      </p:nvGrpSpPr>
      <p:grpSpPr>
        <a:xfrm>
          <a:off x="0" y="0"/>
          <a:ext cx="0" cy="0"/>
          <a:chOff x="0" y="0"/>
          <a:chExt cx="0" cy="0"/>
        </a:xfrm>
      </p:grpSpPr>
      <p:grpSp>
        <p:nvGrpSpPr>
          <p:cNvPr id="2" name="Group 2"/>
          <p:cNvGrpSpPr>
            <a:grpSpLocks/>
          </p:cNvGrpSpPr>
          <p:nvPr/>
        </p:nvGrpSpPr>
        <p:grpSpPr bwMode="auto">
          <a:xfrm>
            <a:off x="0" y="0"/>
            <a:ext cx="8478838" cy="6173788"/>
            <a:chOff x="0" y="0"/>
            <a:chExt cx="5341" cy="3889"/>
          </a:xfrm>
        </p:grpSpPr>
        <p:sp>
          <p:nvSpPr>
            <p:cNvPr id="2051" name="Freeform 3"/>
            <p:cNvSpPr>
              <a:spLocks/>
            </p:cNvSpPr>
            <p:nvPr/>
          </p:nvSpPr>
          <p:spPr bwMode="auto">
            <a:xfrm>
              <a:off x="0" y="0"/>
              <a:ext cx="3863" cy="3889"/>
            </a:xfrm>
            <a:custGeom>
              <a:avLst/>
              <a:gdLst/>
              <a:ahLst/>
              <a:cxnLst>
                <a:cxn ang="0">
                  <a:pos x="3862" y="3418"/>
                </a:cxn>
                <a:cxn ang="0">
                  <a:pos x="457" y="0"/>
                </a:cxn>
                <a:cxn ang="0">
                  <a:pos x="0" y="0"/>
                </a:cxn>
                <a:cxn ang="0">
                  <a:pos x="0" y="481"/>
                </a:cxn>
                <a:cxn ang="0">
                  <a:pos x="3394" y="3888"/>
                </a:cxn>
                <a:cxn ang="0">
                  <a:pos x="3862" y="3418"/>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000"/>
              </a:schemeClr>
            </a:solidFill>
            <a:ln w="9525">
              <a:noFill/>
              <a:round/>
              <a:headEnd type="none" w="sm" len="sm"/>
              <a:tailEnd type="none" w="sm" len="sm"/>
            </a:ln>
            <a:effectLst/>
          </p:spPr>
          <p:txBody>
            <a:bodyPr/>
            <a:lstStyle/>
            <a:p>
              <a:pPr algn="l" rtl="0" eaLnBrk="0" hangingPunct="0">
                <a:defRPr/>
              </a:pPr>
              <a:endParaRPr lang="ar-SA">
                <a:cs typeface="+mn-cs"/>
              </a:endParaRPr>
            </a:p>
          </p:txBody>
        </p:sp>
        <p:sp>
          <p:nvSpPr>
            <p:cNvPr id="2052" name="Freeform 4"/>
            <p:cNvSpPr>
              <a:spLocks/>
            </p:cNvSpPr>
            <p:nvPr/>
          </p:nvSpPr>
          <p:spPr bwMode="auto">
            <a:xfrm>
              <a:off x="860" y="0"/>
              <a:ext cx="3394" cy="3223"/>
            </a:xfrm>
            <a:custGeom>
              <a:avLst/>
              <a:gdLst/>
              <a:ahLst/>
              <a:cxnLst>
                <a:cxn ang="0">
                  <a:pos x="370" y="0"/>
                </a:cxn>
                <a:cxn ang="0">
                  <a:pos x="3393" y="3036"/>
                </a:cxn>
                <a:cxn ang="0">
                  <a:pos x="3208" y="3222"/>
                </a:cxn>
                <a:cxn ang="0">
                  <a:pos x="0" y="0"/>
                </a:cxn>
                <a:cxn ang="0">
                  <a:pos x="370" y="0"/>
                </a:cxn>
              </a:cxnLst>
              <a:rect l="0" t="0" r="r" b="b"/>
              <a:pathLst>
                <a:path w="3394" h="3223">
                  <a:moveTo>
                    <a:pt x="370" y="0"/>
                  </a:moveTo>
                  <a:lnTo>
                    <a:pt x="3393" y="3036"/>
                  </a:lnTo>
                  <a:lnTo>
                    <a:pt x="3208" y="3222"/>
                  </a:lnTo>
                  <a:lnTo>
                    <a:pt x="0" y="0"/>
                  </a:lnTo>
                  <a:lnTo>
                    <a:pt x="370" y="0"/>
                  </a:lnTo>
                </a:path>
              </a:pathLst>
            </a:custGeom>
            <a:solidFill>
              <a:schemeClr val="bg1">
                <a:alpha val="50000"/>
              </a:schemeClr>
            </a:solidFill>
            <a:ln w="9525">
              <a:noFill/>
              <a:round/>
              <a:headEnd type="none" w="sm" len="sm"/>
              <a:tailEnd type="none" w="sm" len="sm"/>
            </a:ln>
            <a:effectLst/>
          </p:spPr>
          <p:txBody>
            <a:bodyPr/>
            <a:lstStyle/>
            <a:p>
              <a:pPr algn="l" rtl="0" eaLnBrk="0" hangingPunct="0">
                <a:defRPr/>
              </a:pPr>
              <a:endParaRPr lang="ar-SA">
                <a:cs typeface="+mn-cs"/>
              </a:endParaRPr>
            </a:p>
          </p:txBody>
        </p:sp>
        <p:sp>
          <p:nvSpPr>
            <p:cNvPr id="2053" name="Freeform 5"/>
            <p:cNvSpPr>
              <a:spLocks/>
            </p:cNvSpPr>
            <p:nvPr/>
          </p:nvSpPr>
          <p:spPr bwMode="auto">
            <a:xfrm>
              <a:off x="2187" y="0"/>
              <a:ext cx="2859" cy="2556"/>
            </a:xfrm>
            <a:custGeom>
              <a:avLst/>
              <a:gdLst/>
              <a:ahLst/>
              <a:cxnLst>
                <a:cxn ang="0">
                  <a:pos x="630" y="0"/>
                </a:cxn>
                <a:cxn ang="0">
                  <a:pos x="2858" y="2238"/>
                </a:cxn>
                <a:cxn ang="0">
                  <a:pos x="2543" y="2555"/>
                </a:cxn>
                <a:cxn ang="0">
                  <a:pos x="0" y="0"/>
                </a:cxn>
                <a:cxn ang="0">
                  <a:pos x="630" y="0"/>
                </a:cxn>
              </a:cxnLst>
              <a:rect l="0" t="0" r="r" b="b"/>
              <a:pathLst>
                <a:path w="2859" h="2556">
                  <a:moveTo>
                    <a:pt x="630" y="0"/>
                  </a:moveTo>
                  <a:lnTo>
                    <a:pt x="2858" y="2238"/>
                  </a:lnTo>
                  <a:lnTo>
                    <a:pt x="2543" y="2555"/>
                  </a:lnTo>
                  <a:lnTo>
                    <a:pt x="0" y="0"/>
                  </a:lnTo>
                  <a:lnTo>
                    <a:pt x="630" y="0"/>
                  </a:lnTo>
                </a:path>
              </a:pathLst>
            </a:custGeom>
            <a:solidFill>
              <a:schemeClr val="bg1">
                <a:alpha val="50000"/>
              </a:schemeClr>
            </a:solidFill>
            <a:ln w="9525">
              <a:noFill/>
              <a:round/>
              <a:headEnd type="none" w="sm" len="sm"/>
              <a:tailEnd type="none" w="sm" len="sm"/>
            </a:ln>
            <a:effectLst/>
          </p:spPr>
          <p:txBody>
            <a:bodyPr/>
            <a:lstStyle/>
            <a:p>
              <a:pPr algn="l" rtl="0" eaLnBrk="0" hangingPunct="0">
                <a:defRPr/>
              </a:pPr>
              <a:endParaRPr lang="ar-SA">
                <a:cs typeface="+mn-cs"/>
              </a:endParaRPr>
            </a:p>
          </p:txBody>
        </p:sp>
        <p:sp>
          <p:nvSpPr>
            <p:cNvPr id="2054" name="Freeform 6"/>
            <p:cNvSpPr>
              <a:spLocks/>
            </p:cNvSpPr>
            <p:nvPr/>
          </p:nvSpPr>
          <p:spPr bwMode="auto">
            <a:xfrm>
              <a:off x="3055" y="0"/>
              <a:ext cx="2286" cy="2121"/>
            </a:xfrm>
            <a:custGeom>
              <a:avLst/>
              <a:gdLst/>
              <a:ahLst/>
              <a:cxnLst>
                <a:cxn ang="0">
                  <a:pos x="0" y="0"/>
                </a:cxn>
                <a:cxn ang="0">
                  <a:pos x="2111" y="2120"/>
                </a:cxn>
                <a:cxn ang="0">
                  <a:pos x="2285" y="1945"/>
                </a:cxn>
                <a:cxn ang="0">
                  <a:pos x="348" y="0"/>
                </a:cxn>
                <a:cxn ang="0">
                  <a:pos x="0" y="0"/>
                </a:cxn>
              </a:cxnLst>
              <a:rect l="0" t="0" r="r" b="b"/>
              <a:pathLst>
                <a:path w="2286" h="2121">
                  <a:moveTo>
                    <a:pt x="0" y="0"/>
                  </a:moveTo>
                  <a:lnTo>
                    <a:pt x="2111" y="2120"/>
                  </a:lnTo>
                  <a:lnTo>
                    <a:pt x="2285" y="1945"/>
                  </a:lnTo>
                  <a:lnTo>
                    <a:pt x="348" y="0"/>
                  </a:lnTo>
                  <a:lnTo>
                    <a:pt x="0" y="0"/>
                  </a:lnTo>
                </a:path>
              </a:pathLst>
            </a:custGeom>
            <a:solidFill>
              <a:schemeClr val="bg1">
                <a:alpha val="50000"/>
              </a:schemeClr>
            </a:solidFill>
            <a:ln w="9525">
              <a:noFill/>
              <a:round/>
              <a:headEnd type="none" w="sm" len="sm"/>
              <a:tailEnd type="none" w="sm" len="sm"/>
            </a:ln>
            <a:effectLst/>
          </p:spPr>
          <p:txBody>
            <a:bodyPr/>
            <a:lstStyle/>
            <a:p>
              <a:pPr algn="l" rtl="0" eaLnBrk="0" hangingPunct="0">
                <a:defRPr/>
              </a:pPr>
              <a:endParaRPr lang="ar-SA">
                <a:cs typeface="+mn-cs"/>
              </a:endParaRPr>
            </a:p>
          </p:txBody>
        </p:sp>
      </p:grpSp>
      <p:sp>
        <p:nvSpPr>
          <p:cNvPr id="2055" name="Rectangle 7"/>
          <p:cNvSpPr>
            <a:spLocks noGrp="1" noChangeArrowheads="1"/>
          </p:cNvSpPr>
          <p:nvPr>
            <p:ph type="title"/>
          </p:nvPr>
        </p:nvSpPr>
        <p:spPr bwMode="auto">
          <a:xfrm>
            <a:off x="685800" y="228600"/>
            <a:ext cx="7772400" cy="12192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2056" name="Rectangle 8"/>
          <p:cNvSpPr>
            <a:spLocks noGrp="1" noChangeArrowheads="1"/>
          </p:cNvSpPr>
          <p:nvPr>
            <p:ph type="body" idx="1"/>
          </p:nvPr>
        </p:nvSpPr>
        <p:spPr bwMode="auto">
          <a:xfrm>
            <a:off x="685800" y="1828800"/>
            <a:ext cx="77724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5374058"/>
      </p:ext>
    </p:extLst>
  </p:cSld>
  <p:clrMap bg1="dk2" tx1="lt1" bg2="dk1" tx2="lt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p:blinds/>
    <p:sndAc>
      <p:stSnd>
        <p:snd r:embed="rId13" name="HARP.WAV"/>
      </p:stSnd>
    </p:sndAc>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par>
                          <p:cTn id="8" fill="hold" nodeType="afterGroup">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2055"/>
                                        </p:tgtEl>
                                        <p:attrNameLst>
                                          <p:attrName>style.visibility</p:attrName>
                                        </p:attrNameLst>
                                      </p:cBhvr>
                                      <p:to>
                                        <p:strVal val="visible"/>
                                      </p:to>
                                    </p:set>
                                    <p:anim calcmode="lin" valueType="num">
                                      <p:cBhvr additive="base">
                                        <p:cTn id="11" dur="500" fill="hold"/>
                                        <p:tgtEl>
                                          <p:spTgt spid="2055"/>
                                        </p:tgtEl>
                                        <p:attrNameLst>
                                          <p:attrName>ppt_x</p:attrName>
                                        </p:attrNameLst>
                                      </p:cBhvr>
                                      <p:tavLst>
                                        <p:tav tm="0">
                                          <p:val>
                                            <p:strVal val="1+#ppt_w/2"/>
                                          </p:val>
                                        </p:tav>
                                        <p:tav tm="100000">
                                          <p:val>
                                            <p:strVal val="#ppt_x"/>
                                          </p:val>
                                        </p:tav>
                                      </p:tavLst>
                                    </p:anim>
                                    <p:anim calcmode="lin" valueType="num">
                                      <p:cBhvr additive="base">
                                        <p:cTn id="12" dur="500" fill="hold"/>
                                        <p:tgtEl>
                                          <p:spTgt spid="2055"/>
                                        </p:tgtEl>
                                        <p:attrNameLst>
                                          <p:attrName>ppt_y</p:attrName>
                                        </p:attrNameLst>
                                      </p:cBhvr>
                                      <p:tavLst>
                                        <p:tav tm="0">
                                          <p:val>
                                            <p:strVal val="1+#ppt_h/2"/>
                                          </p:val>
                                        </p:tav>
                                        <p:tav tm="100000">
                                          <p:val>
                                            <p:strVal val="#ppt_y"/>
                                          </p:val>
                                        </p:tav>
                                      </p:tavLst>
                                    </p:anim>
                                  </p:childTnLst>
                                </p:cTn>
                              </p:par>
                            </p:childTnLst>
                          </p:cTn>
                        </p:par>
                        <p:par>
                          <p:cTn id="13" fill="hold" nodeType="afterGroup">
                            <p:stCondLst>
                              <p:cond delay="1000"/>
                            </p:stCondLst>
                            <p:childTnLst>
                              <p:par>
                                <p:cTn id="14" presetID="23" presetClass="entr" presetSubtype="528" fill="hold" grpId="0" nodeType="afterEffect">
                                  <p:stCondLst>
                                    <p:cond delay="1000"/>
                                  </p:stCondLst>
                                  <p:childTnLst>
                                    <p:set>
                                      <p:cBhvr>
                                        <p:cTn id="15" dur="1" fill="hold">
                                          <p:stCondLst>
                                            <p:cond delay="0"/>
                                          </p:stCondLst>
                                        </p:cTn>
                                        <p:tgtEl>
                                          <p:spTgt spid="2056">
                                            <p:txEl>
                                              <p:pRg st="0" end="0"/>
                                            </p:txEl>
                                          </p:spTgt>
                                        </p:tgtEl>
                                        <p:attrNameLst>
                                          <p:attrName>style.visibility</p:attrName>
                                        </p:attrNameLst>
                                      </p:cBhvr>
                                      <p:to>
                                        <p:strVal val="visible"/>
                                      </p:to>
                                    </p:set>
                                    <p:anim calcmode="lin" valueType="num">
                                      <p:cBhvr>
                                        <p:cTn id="16" dur="500" fill="hold"/>
                                        <p:tgtEl>
                                          <p:spTgt spid="2056">
                                            <p:txEl>
                                              <p:pRg st="0" end="0"/>
                                            </p:txEl>
                                          </p:spTgt>
                                        </p:tgtEl>
                                        <p:attrNameLst>
                                          <p:attrName>ppt_w</p:attrName>
                                        </p:attrNameLst>
                                      </p:cBhvr>
                                      <p:tavLst>
                                        <p:tav tm="0">
                                          <p:val>
                                            <p:fltVal val="0"/>
                                          </p:val>
                                        </p:tav>
                                        <p:tav tm="100000">
                                          <p:val>
                                            <p:strVal val="#ppt_w"/>
                                          </p:val>
                                        </p:tav>
                                      </p:tavLst>
                                    </p:anim>
                                    <p:anim calcmode="lin" valueType="num">
                                      <p:cBhvr>
                                        <p:cTn id="17" dur="500" fill="hold"/>
                                        <p:tgtEl>
                                          <p:spTgt spid="2056">
                                            <p:txEl>
                                              <p:pRg st="0" end="0"/>
                                            </p:txEl>
                                          </p:spTgt>
                                        </p:tgtEl>
                                        <p:attrNameLst>
                                          <p:attrName>ppt_h</p:attrName>
                                        </p:attrNameLst>
                                      </p:cBhvr>
                                      <p:tavLst>
                                        <p:tav tm="0">
                                          <p:val>
                                            <p:fltVal val="0"/>
                                          </p:val>
                                        </p:tav>
                                        <p:tav tm="100000">
                                          <p:val>
                                            <p:strVal val="#ppt_h"/>
                                          </p:val>
                                        </p:tav>
                                      </p:tavLst>
                                    </p:anim>
                                    <p:anim calcmode="lin" valueType="num">
                                      <p:cBhvr>
                                        <p:cTn id="18" dur="500" fill="hold"/>
                                        <p:tgtEl>
                                          <p:spTgt spid="2056">
                                            <p:txEl>
                                              <p:pRg st="0" end="0"/>
                                            </p:txEl>
                                          </p:spTgt>
                                        </p:tgtEl>
                                        <p:attrNameLst>
                                          <p:attrName>ppt_x</p:attrName>
                                        </p:attrNameLst>
                                      </p:cBhvr>
                                      <p:tavLst>
                                        <p:tav tm="0">
                                          <p:val>
                                            <p:fltVal val="0.5"/>
                                          </p:val>
                                        </p:tav>
                                        <p:tav tm="100000">
                                          <p:val>
                                            <p:strVal val="#ppt_x"/>
                                          </p:val>
                                        </p:tav>
                                      </p:tavLst>
                                    </p:anim>
                                    <p:anim calcmode="lin" valueType="num">
                                      <p:cBhvr>
                                        <p:cTn id="19" dur="500" fill="hold"/>
                                        <p:tgtEl>
                                          <p:spTgt spid="2056">
                                            <p:txEl>
                                              <p:pRg st="0" end="0"/>
                                            </p:txEl>
                                          </p:spTgt>
                                        </p:tgtEl>
                                        <p:attrNameLst>
                                          <p:attrName>ppt_y</p:attrName>
                                        </p:attrNameLst>
                                      </p:cBhvr>
                                      <p:tavLst>
                                        <p:tav tm="0">
                                          <p:val>
                                            <p:fltVal val="0.5"/>
                                          </p:val>
                                        </p:tav>
                                        <p:tav tm="100000">
                                          <p:val>
                                            <p:strVal val="#ppt_y"/>
                                          </p:val>
                                        </p:tav>
                                      </p:tavLst>
                                    </p:anim>
                                  </p:childTnLst>
                                </p:cTn>
                              </p:par>
                            </p:childTnLst>
                          </p:cTn>
                        </p:par>
                        <p:par>
                          <p:cTn id="20" fill="hold" nodeType="afterGroup">
                            <p:stCondLst>
                              <p:cond delay="2500"/>
                            </p:stCondLst>
                            <p:childTnLst>
                              <p:par>
                                <p:cTn id="21" presetID="23" presetClass="entr" presetSubtype="528" fill="hold" grpId="0" nodeType="afterEffect">
                                  <p:stCondLst>
                                    <p:cond delay="1000"/>
                                  </p:stCondLst>
                                  <p:childTnLst>
                                    <p:set>
                                      <p:cBhvr>
                                        <p:cTn id="22" dur="1" fill="hold">
                                          <p:stCondLst>
                                            <p:cond delay="0"/>
                                          </p:stCondLst>
                                        </p:cTn>
                                        <p:tgtEl>
                                          <p:spTgt spid="2056">
                                            <p:txEl>
                                              <p:pRg st="1" end="1"/>
                                            </p:txEl>
                                          </p:spTgt>
                                        </p:tgtEl>
                                        <p:attrNameLst>
                                          <p:attrName>style.visibility</p:attrName>
                                        </p:attrNameLst>
                                      </p:cBhvr>
                                      <p:to>
                                        <p:strVal val="visible"/>
                                      </p:to>
                                    </p:set>
                                    <p:anim calcmode="lin" valueType="num">
                                      <p:cBhvr>
                                        <p:cTn id="23" dur="500" fill="hold"/>
                                        <p:tgtEl>
                                          <p:spTgt spid="2056">
                                            <p:txEl>
                                              <p:pRg st="1" end="1"/>
                                            </p:txEl>
                                          </p:spTgt>
                                        </p:tgtEl>
                                        <p:attrNameLst>
                                          <p:attrName>ppt_w</p:attrName>
                                        </p:attrNameLst>
                                      </p:cBhvr>
                                      <p:tavLst>
                                        <p:tav tm="0">
                                          <p:val>
                                            <p:fltVal val="0"/>
                                          </p:val>
                                        </p:tav>
                                        <p:tav tm="100000">
                                          <p:val>
                                            <p:strVal val="#ppt_w"/>
                                          </p:val>
                                        </p:tav>
                                      </p:tavLst>
                                    </p:anim>
                                    <p:anim calcmode="lin" valueType="num">
                                      <p:cBhvr>
                                        <p:cTn id="24" dur="500" fill="hold"/>
                                        <p:tgtEl>
                                          <p:spTgt spid="2056">
                                            <p:txEl>
                                              <p:pRg st="1" end="1"/>
                                            </p:txEl>
                                          </p:spTgt>
                                        </p:tgtEl>
                                        <p:attrNameLst>
                                          <p:attrName>ppt_h</p:attrName>
                                        </p:attrNameLst>
                                      </p:cBhvr>
                                      <p:tavLst>
                                        <p:tav tm="0">
                                          <p:val>
                                            <p:fltVal val="0"/>
                                          </p:val>
                                        </p:tav>
                                        <p:tav tm="100000">
                                          <p:val>
                                            <p:strVal val="#ppt_h"/>
                                          </p:val>
                                        </p:tav>
                                      </p:tavLst>
                                    </p:anim>
                                    <p:anim calcmode="lin" valueType="num">
                                      <p:cBhvr>
                                        <p:cTn id="25" dur="500" fill="hold"/>
                                        <p:tgtEl>
                                          <p:spTgt spid="2056">
                                            <p:txEl>
                                              <p:pRg st="1" end="1"/>
                                            </p:txEl>
                                          </p:spTgt>
                                        </p:tgtEl>
                                        <p:attrNameLst>
                                          <p:attrName>ppt_x</p:attrName>
                                        </p:attrNameLst>
                                      </p:cBhvr>
                                      <p:tavLst>
                                        <p:tav tm="0">
                                          <p:val>
                                            <p:fltVal val="0.5"/>
                                          </p:val>
                                        </p:tav>
                                        <p:tav tm="100000">
                                          <p:val>
                                            <p:strVal val="#ppt_x"/>
                                          </p:val>
                                        </p:tav>
                                      </p:tavLst>
                                    </p:anim>
                                    <p:anim calcmode="lin" valueType="num">
                                      <p:cBhvr>
                                        <p:cTn id="26" dur="500" fill="hold"/>
                                        <p:tgtEl>
                                          <p:spTgt spid="2056">
                                            <p:txEl>
                                              <p:pRg st="1" end="1"/>
                                            </p:txEl>
                                          </p:spTgt>
                                        </p:tgtEl>
                                        <p:attrNameLst>
                                          <p:attrName>ppt_y</p:attrName>
                                        </p:attrNameLst>
                                      </p:cBhvr>
                                      <p:tavLst>
                                        <p:tav tm="0">
                                          <p:val>
                                            <p:fltVal val="0.5"/>
                                          </p:val>
                                        </p:tav>
                                        <p:tav tm="100000">
                                          <p:val>
                                            <p:strVal val="#ppt_y"/>
                                          </p:val>
                                        </p:tav>
                                      </p:tavLst>
                                    </p:anim>
                                  </p:childTnLst>
                                </p:cTn>
                              </p:par>
                            </p:childTnLst>
                          </p:cTn>
                        </p:par>
                        <p:par>
                          <p:cTn id="27" fill="hold" nodeType="afterGroup">
                            <p:stCondLst>
                              <p:cond delay="4000"/>
                            </p:stCondLst>
                            <p:childTnLst>
                              <p:par>
                                <p:cTn id="28" presetID="23" presetClass="entr" presetSubtype="528" fill="hold" grpId="0" nodeType="afterEffect">
                                  <p:stCondLst>
                                    <p:cond delay="1000"/>
                                  </p:stCondLst>
                                  <p:childTnLst>
                                    <p:set>
                                      <p:cBhvr>
                                        <p:cTn id="29" dur="1" fill="hold">
                                          <p:stCondLst>
                                            <p:cond delay="0"/>
                                          </p:stCondLst>
                                        </p:cTn>
                                        <p:tgtEl>
                                          <p:spTgt spid="2056">
                                            <p:txEl>
                                              <p:pRg st="2" end="2"/>
                                            </p:txEl>
                                          </p:spTgt>
                                        </p:tgtEl>
                                        <p:attrNameLst>
                                          <p:attrName>style.visibility</p:attrName>
                                        </p:attrNameLst>
                                      </p:cBhvr>
                                      <p:to>
                                        <p:strVal val="visible"/>
                                      </p:to>
                                    </p:set>
                                    <p:anim calcmode="lin" valueType="num">
                                      <p:cBhvr>
                                        <p:cTn id="30" dur="500" fill="hold"/>
                                        <p:tgtEl>
                                          <p:spTgt spid="2056">
                                            <p:txEl>
                                              <p:pRg st="2" end="2"/>
                                            </p:txEl>
                                          </p:spTgt>
                                        </p:tgtEl>
                                        <p:attrNameLst>
                                          <p:attrName>ppt_w</p:attrName>
                                        </p:attrNameLst>
                                      </p:cBhvr>
                                      <p:tavLst>
                                        <p:tav tm="0">
                                          <p:val>
                                            <p:fltVal val="0"/>
                                          </p:val>
                                        </p:tav>
                                        <p:tav tm="100000">
                                          <p:val>
                                            <p:strVal val="#ppt_w"/>
                                          </p:val>
                                        </p:tav>
                                      </p:tavLst>
                                    </p:anim>
                                    <p:anim calcmode="lin" valueType="num">
                                      <p:cBhvr>
                                        <p:cTn id="31" dur="500" fill="hold"/>
                                        <p:tgtEl>
                                          <p:spTgt spid="2056">
                                            <p:txEl>
                                              <p:pRg st="2" end="2"/>
                                            </p:txEl>
                                          </p:spTgt>
                                        </p:tgtEl>
                                        <p:attrNameLst>
                                          <p:attrName>ppt_h</p:attrName>
                                        </p:attrNameLst>
                                      </p:cBhvr>
                                      <p:tavLst>
                                        <p:tav tm="0">
                                          <p:val>
                                            <p:fltVal val="0"/>
                                          </p:val>
                                        </p:tav>
                                        <p:tav tm="100000">
                                          <p:val>
                                            <p:strVal val="#ppt_h"/>
                                          </p:val>
                                        </p:tav>
                                      </p:tavLst>
                                    </p:anim>
                                    <p:anim calcmode="lin" valueType="num">
                                      <p:cBhvr>
                                        <p:cTn id="32" dur="500" fill="hold"/>
                                        <p:tgtEl>
                                          <p:spTgt spid="2056">
                                            <p:txEl>
                                              <p:pRg st="2" end="2"/>
                                            </p:txEl>
                                          </p:spTgt>
                                        </p:tgtEl>
                                        <p:attrNameLst>
                                          <p:attrName>ppt_x</p:attrName>
                                        </p:attrNameLst>
                                      </p:cBhvr>
                                      <p:tavLst>
                                        <p:tav tm="0">
                                          <p:val>
                                            <p:fltVal val="0.5"/>
                                          </p:val>
                                        </p:tav>
                                        <p:tav tm="100000">
                                          <p:val>
                                            <p:strVal val="#ppt_x"/>
                                          </p:val>
                                        </p:tav>
                                      </p:tavLst>
                                    </p:anim>
                                    <p:anim calcmode="lin" valueType="num">
                                      <p:cBhvr>
                                        <p:cTn id="33" dur="500" fill="hold"/>
                                        <p:tgtEl>
                                          <p:spTgt spid="2056">
                                            <p:txEl>
                                              <p:pRg st="2" end="2"/>
                                            </p:txEl>
                                          </p:spTgt>
                                        </p:tgtEl>
                                        <p:attrNameLst>
                                          <p:attrName>ppt_y</p:attrName>
                                        </p:attrNameLst>
                                      </p:cBhvr>
                                      <p:tavLst>
                                        <p:tav tm="0">
                                          <p:val>
                                            <p:fltVal val="0.5"/>
                                          </p:val>
                                        </p:tav>
                                        <p:tav tm="100000">
                                          <p:val>
                                            <p:strVal val="#ppt_y"/>
                                          </p:val>
                                        </p:tav>
                                      </p:tavLst>
                                    </p:anim>
                                  </p:childTnLst>
                                </p:cTn>
                              </p:par>
                              <p:par>
                                <p:cTn id="34" presetID="23" presetClass="entr" presetSubtype="528" fill="hold" grpId="0" nodeType="withEffect">
                                  <p:stCondLst>
                                    <p:cond delay="1000"/>
                                  </p:stCondLst>
                                  <p:childTnLst>
                                    <p:set>
                                      <p:cBhvr>
                                        <p:cTn id="35" dur="1" fill="hold">
                                          <p:stCondLst>
                                            <p:cond delay="0"/>
                                          </p:stCondLst>
                                        </p:cTn>
                                        <p:tgtEl>
                                          <p:spTgt spid="2056">
                                            <p:txEl>
                                              <p:pRg st="3" end="3"/>
                                            </p:txEl>
                                          </p:spTgt>
                                        </p:tgtEl>
                                        <p:attrNameLst>
                                          <p:attrName>style.visibility</p:attrName>
                                        </p:attrNameLst>
                                      </p:cBhvr>
                                      <p:to>
                                        <p:strVal val="visible"/>
                                      </p:to>
                                    </p:set>
                                    <p:anim calcmode="lin" valueType="num">
                                      <p:cBhvr>
                                        <p:cTn id="36" dur="500" fill="hold"/>
                                        <p:tgtEl>
                                          <p:spTgt spid="2056">
                                            <p:txEl>
                                              <p:pRg st="3" end="3"/>
                                            </p:txEl>
                                          </p:spTgt>
                                        </p:tgtEl>
                                        <p:attrNameLst>
                                          <p:attrName>ppt_w</p:attrName>
                                        </p:attrNameLst>
                                      </p:cBhvr>
                                      <p:tavLst>
                                        <p:tav tm="0">
                                          <p:val>
                                            <p:fltVal val="0"/>
                                          </p:val>
                                        </p:tav>
                                        <p:tav tm="100000">
                                          <p:val>
                                            <p:strVal val="#ppt_w"/>
                                          </p:val>
                                        </p:tav>
                                      </p:tavLst>
                                    </p:anim>
                                    <p:anim calcmode="lin" valueType="num">
                                      <p:cBhvr>
                                        <p:cTn id="37" dur="500" fill="hold"/>
                                        <p:tgtEl>
                                          <p:spTgt spid="2056">
                                            <p:txEl>
                                              <p:pRg st="3" end="3"/>
                                            </p:txEl>
                                          </p:spTgt>
                                        </p:tgtEl>
                                        <p:attrNameLst>
                                          <p:attrName>ppt_h</p:attrName>
                                        </p:attrNameLst>
                                      </p:cBhvr>
                                      <p:tavLst>
                                        <p:tav tm="0">
                                          <p:val>
                                            <p:fltVal val="0"/>
                                          </p:val>
                                        </p:tav>
                                        <p:tav tm="100000">
                                          <p:val>
                                            <p:strVal val="#ppt_h"/>
                                          </p:val>
                                        </p:tav>
                                      </p:tavLst>
                                    </p:anim>
                                    <p:anim calcmode="lin" valueType="num">
                                      <p:cBhvr>
                                        <p:cTn id="38" dur="500" fill="hold"/>
                                        <p:tgtEl>
                                          <p:spTgt spid="2056">
                                            <p:txEl>
                                              <p:pRg st="3" end="3"/>
                                            </p:txEl>
                                          </p:spTgt>
                                        </p:tgtEl>
                                        <p:attrNameLst>
                                          <p:attrName>ppt_x</p:attrName>
                                        </p:attrNameLst>
                                      </p:cBhvr>
                                      <p:tavLst>
                                        <p:tav tm="0">
                                          <p:val>
                                            <p:fltVal val="0.5"/>
                                          </p:val>
                                        </p:tav>
                                        <p:tav tm="100000">
                                          <p:val>
                                            <p:strVal val="#ppt_x"/>
                                          </p:val>
                                        </p:tav>
                                      </p:tavLst>
                                    </p:anim>
                                    <p:anim calcmode="lin" valueType="num">
                                      <p:cBhvr>
                                        <p:cTn id="39" dur="500" fill="hold"/>
                                        <p:tgtEl>
                                          <p:spTgt spid="2056">
                                            <p:txEl>
                                              <p:pRg st="3" end="3"/>
                                            </p:txEl>
                                          </p:spTgt>
                                        </p:tgtEl>
                                        <p:attrNameLst>
                                          <p:attrName>ppt_y</p:attrName>
                                        </p:attrNameLst>
                                      </p:cBhvr>
                                      <p:tavLst>
                                        <p:tav tm="0">
                                          <p:val>
                                            <p:fltVal val="0.5"/>
                                          </p:val>
                                        </p:tav>
                                        <p:tav tm="100000">
                                          <p:val>
                                            <p:strVal val="#ppt_y"/>
                                          </p:val>
                                        </p:tav>
                                      </p:tavLst>
                                    </p:anim>
                                  </p:childTnLst>
                                </p:cTn>
                              </p:par>
                              <p:par>
                                <p:cTn id="40" presetID="23" presetClass="entr" presetSubtype="528" fill="hold" grpId="0" nodeType="withEffect">
                                  <p:stCondLst>
                                    <p:cond delay="1000"/>
                                  </p:stCondLst>
                                  <p:childTnLst>
                                    <p:set>
                                      <p:cBhvr>
                                        <p:cTn id="41" dur="1" fill="hold">
                                          <p:stCondLst>
                                            <p:cond delay="0"/>
                                          </p:stCondLst>
                                        </p:cTn>
                                        <p:tgtEl>
                                          <p:spTgt spid="2056">
                                            <p:txEl>
                                              <p:pRg st="4" end="4"/>
                                            </p:txEl>
                                          </p:spTgt>
                                        </p:tgtEl>
                                        <p:attrNameLst>
                                          <p:attrName>style.visibility</p:attrName>
                                        </p:attrNameLst>
                                      </p:cBhvr>
                                      <p:to>
                                        <p:strVal val="visible"/>
                                      </p:to>
                                    </p:set>
                                    <p:anim calcmode="lin" valueType="num">
                                      <p:cBhvr>
                                        <p:cTn id="42" dur="500" fill="hold"/>
                                        <p:tgtEl>
                                          <p:spTgt spid="2056">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2056">
                                            <p:txEl>
                                              <p:pRg st="4" end="4"/>
                                            </p:txEl>
                                          </p:spTgt>
                                        </p:tgtEl>
                                        <p:attrNameLst>
                                          <p:attrName>ppt_h</p:attrName>
                                        </p:attrNameLst>
                                      </p:cBhvr>
                                      <p:tavLst>
                                        <p:tav tm="0">
                                          <p:val>
                                            <p:fltVal val="0"/>
                                          </p:val>
                                        </p:tav>
                                        <p:tav tm="100000">
                                          <p:val>
                                            <p:strVal val="#ppt_h"/>
                                          </p:val>
                                        </p:tav>
                                      </p:tavLst>
                                    </p:anim>
                                    <p:anim calcmode="lin" valueType="num">
                                      <p:cBhvr>
                                        <p:cTn id="44" dur="500" fill="hold"/>
                                        <p:tgtEl>
                                          <p:spTgt spid="2056">
                                            <p:txEl>
                                              <p:pRg st="4" end="4"/>
                                            </p:txEl>
                                          </p:spTgt>
                                        </p:tgtEl>
                                        <p:attrNameLst>
                                          <p:attrName>ppt_x</p:attrName>
                                        </p:attrNameLst>
                                      </p:cBhvr>
                                      <p:tavLst>
                                        <p:tav tm="0">
                                          <p:val>
                                            <p:fltVal val="0.5"/>
                                          </p:val>
                                        </p:tav>
                                        <p:tav tm="100000">
                                          <p:val>
                                            <p:strVal val="#ppt_x"/>
                                          </p:val>
                                        </p:tav>
                                      </p:tavLst>
                                    </p:anim>
                                    <p:anim calcmode="lin" valueType="num">
                                      <p:cBhvr>
                                        <p:cTn id="45" dur="500" fill="hold"/>
                                        <p:tgtEl>
                                          <p:spTgt spid="2056">
                                            <p:txEl>
                                              <p:pRg st="4" end="4"/>
                                            </p:txEl>
                                          </p:spTgt>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5" grpId="0" autoUpdateAnimBg="0"/>
      <p:bldP spid="2056" grpId="0" build="p" bldLvl="3" autoUpdateAnimBg="0" advAuto="1000">
        <p:tmplLst>
          <p:tmpl lvl="1">
            <p:tnLst>
              <p:par>
                <p:cTn presetID="23" presetClass="entr" presetSubtype="528" fill="hold" nodeType="afterEffect">
                  <p:stCondLst>
                    <p:cond delay="1000"/>
                  </p:stCondLst>
                  <p:childTnLst>
                    <p:set>
                      <p:cBhvr>
                        <p:cTn dur="1" fill="hold">
                          <p:stCondLst>
                            <p:cond delay="0"/>
                          </p:stCondLst>
                        </p:cTn>
                        <p:tgtEl>
                          <p:spTgt spid="2056"/>
                        </p:tgtEl>
                        <p:attrNameLst>
                          <p:attrName>style.visibility</p:attrName>
                        </p:attrNameLst>
                      </p:cBhvr>
                      <p:to>
                        <p:strVal val="visible"/>
                      </p:to>
                    </p:set>
                    <p:anim calcmode="lin" valueType="num">
                      <p:cBhvr>
                        <p:cTn dur="500" fill="hold"/>
                        <p:tgtEl>
                          <p:spTgt spid="2056"/>
                        </p:tgtEl>
                        <p:attrNameLst>
                          <p:attrName>ppt_w</p:attrName>
                        </p:attrNameLst>
                      </p:cBhvr>
                      <p:tavLst>
                        <p:tav tm="0">
                          <p:val>
                            <p:fltVal val="0"/>
                          </p:val>
                        </p:tav>
                        <p:tav tm="100000">
                          <p:val>
                            <p:strVal val="#ppt_w"/>
                          </p:val>
                        </p:tav>
                      </p:tavLst>
                    </p:anim>
                    <p:anim calcmode="lin" valueType="num">
                      <p:cBhvr>
                        <p:cTn dur="500" fill="hold"/>
                        <p:tgtEl>
                          <p:spTgt spid="2056"/>
                        </p:tgtEl>
                        <p:attrNameLst>
                          <p:attrName>ppt_h</p:attrName>
                        </p:attrNameLst>
                      </p:cBhvr>
                      <p:tavLst>
                        <p:tav tm="0">
                          <p:val>
                            <p:fltVal val="0"/>
                          </p:val>
                        </p:tav>
                        <p:tav tm="100000">
                          <p:val>
                            <p:strVal val="#ppt_h"/>
                          </p:val>
                        </p:tav>
                      </p:tavLst>
                    </p:anim>
                    <p:anim calcmode="lin" valueType="num">
                      <p:cBhvr>
                        <p:cTn dur="500" fill="hold"/>
                        <p:tgtEl>
                          <p:spTgt spid="2056"/>
                        </p:tgtEl>
                        <p:attrNameLst>
                          <p:attrName>ppt_x</p:attrName>
                        </p:attrNameLst>
                      </p:cBhvr>
                      <p:tavLst>
                        <p:tav tm="0">
                          <p:val>
                            <p:fltVal val="0.5"/>
                          </p:val>
                        </p:tav>
                        <p:tav tm="100000">
                          <p:val>
                            <p:strVal val="#ppt_x"/>
                          </p:val>
                        </p:tav>
                      </p:tavLst>
                    </p:anim>
                    <p:anim calcmode="lin" valueType="num">
                      <p:cBhvr>
                        <p:cTn dur="500" fill="hold"/>
                        <p:tgtEl>
                          <p:spTgt spid="2056"/>
                        </p:tgtEl>
                        <p:attrNameLst>
                          <p:attrName>ppt_y</p:attrName>
                        </p:attrNameLst>
                      </p:cBhvr>
                      <p:tavLst>
                        <p:tav tm="0">
                          <p:val>
                            <p:fltVal val="0.5"/>
                          </p:val>
                        </p:tav>
                        <p:tav tm="100000">
                          <p:val>
                            <p:strVal val="#ppt_y"/>
                          </p:val>
                        </p:tav>
                      </p:tavLst>
                    </p:anim>
                  </p:childTnLst>
                </p:cTn>
              </p:par>
            </p:tnLst>
          </p:tmpl>
          <p:tmpl lvl="2">
            <p:tnLst>
              <p:par>
                <p:cTn presetID="23" presetClass="entr" presetSubtype="528" fill="hold" nodeType="afterEffect">
                  <p:stCondLst>
                    <p:cond delay="1000"/>
                  </p:stCondLst>
                  <p:childTnLst>
                    <p:set>
                      <p:cBhvr>
                        <p:cTn dur="1" fill="hold">
                          <p:stCondLst>
                            <p:cond delay="0"/>
                          </p:stCondLst>
                        </p:cTn>
                        <p:tgtEl>
                          <p:spTgt spid="2056"/>
                        </p:tgtEl>
                        <p:attrNameLst>
                          <p:attrName>style.visibility</p:attrName>
                        </p:attrNameLst>
                      </p:cBhvr>
                      <p:to>
                        <p:strVal val="visible"/>
                      </p:to>
                    </p:set>
                    <p:anim calcmode="lin" valueType="num">
                      <p:cBhvr>
                        <p:cTn dur="500" fill="hold"/>
                        <p:tgtEl>
                          <p:spTgt spid="2056"/>
                        </p:tgtEl>
                        <p:attrNameLst>
                          <p:attrName>ppt_w</p:attrName>
                        </p:attrNameLst>
                      </p:cBhvr>
                      <p:tavLst>
                        <p:tav tm="0">
                          <p:val>
                            <p:fltVal val="0"/>
                          </p:val>
                        </p:tav>
                        <p:tav tm="100000">
                          <p:val>
                            <p:strVal val="#ppt_w"/>
                          </p:val>
                        </p:tav>
                      </p:tavLst>
                    </p:anim>
                    <p:anim calcmode="lin" valueType="num">
                      <p:cBhvr>
                        <p:cTn dur="500" fill="hold"/>
                        <p:tgtEl>
                          <p:spTgt spid="2056"/>
                        </p:tgtEl>
                        <p:attrNameLst>
                          <p:attrName>ppt_h</p:attrName>
                        </p:attrNameLst>
                      </p:cBhvr>
                      <p:tavLst>
                        <p:tav tm="0">
                          <p:val>
                            <p:fltVal val="0"/>
                          </p:val>
                        </p:tav>
                        <p:tav tm="100000">
                          <p:val>
                            <p:strVal val="#ppt_h"/>
                          </p:val>
                        </p:tav>
                      </p:tavLst>
                    </p:anim>
                    <p:anim calcmode="lin" valueType="num">
                      <p:cBhvr>
                        <p:cTn dur="500" fill="hold"/>
                        <p:tgtEl>
                          <p:spTgt spid="2056"/>
                        </p:tgtEl>
                        <p:attrNameLst>
                          <p:attrName>ppt_x</p:attrName>
                        </p:attrNameLst>
                      </p:cBhvr>
                      <p:tavLst>
                        <p:tav tm="0">
                          <p:val>
                            <p:fltVal val="0.5"/>
                          </p:val>
                        </p:tav>
                        <p:tav tm="100000">
                          <p:val>
                            <p:strVal val="#ppt_x"/>
                          </p:val>
                        </p:tav>
                      </p:tavLst>
                    </p:anim>
                    <p:anim calcmode="lin" valueType="num">
                      <p:cBhvr>
                        <p:cTn dur="500" fill="hold"/>
                        <p:tgtEl>
                          <p:spTgt spid="2056"/>
                        </p:tgtEl>
                        <p:attrNameLst>
                          <p:attrName>ppt_y</p:attrName>
                        </p:attrNameLst>
                      </p:cBhvr>
                      <p:tavLst>
                        <p:tav tm="0">
                          <p:val>
                            <p:fltVal val="0.5"/>
                          </p:val>
                        </p:tav>
                        <p:tav tm="100000">
                          <p:val>
                            <p:strVal val="#ppt_y"/>
                          </p:val>
                        </p:tav>
                      </p:tavLst>
                    </p:anim>
                  </p:childTnLst>
                </p:cTn>
              </p:par>
            </p:tnLst>
          </p:tmpl>
          <p:tmpl lvl="3">
            <p:tnLst>
              <p:par>
                <p:cTn presetID="23" presetClass="entr" presetSubtype="528" fill="hold" nodeType="afterEffect">
                  <p:stCondLst>
                    <p:cond delay="1000"/>
                  </p:stCondLst>
                  <p:childTnLst>
                    <p:set>
                      <p:cBhvr>
                        <p:cTn dur="1" fill="hold">
                          <p:stCondLst>
                            <p:cond delay="0"/>
                          </p:stCondLst>
                        </p:cTn>
                        <p:tgtEl>
                          <p:spTgt spid="2056"/>
                        </p:tgtEl>
                        <p:attrNameLst>
                          <p:attrName>style.visibility</p:attrName>
                        </p:attrNameLst>
                      </p:cBhvr>
                      <p:to>
                        <p:strVal val="visible"/>
                      </p:to>
                    </p:set>
                    <p:anim calcmode="lin" valueType="num">
                      <p:cBhvr>
                        <p:cTn dur="500" fill="hold"/>
                        <p:tgtEl>
                          <p:spTgt spid="2056"/>
                        </p:tgtEl>
                        <p:attrNameLst>
                          <p:attrName>ppt_w</p:attrName>
                        </p:attrNameLst>
                      </p:cBhvr>
                      <p:tavLst>
                        <p:tav tm="0">
                          <p:val>
                            <p:fltVal val="0"/>
                          </p:val>
                        </p:tav>
                        <p:tav tm="100000">
                          <p:val>
                            <p:strVal val="#ppt_w"/>
                          </p:val>
                        </p:tav>
                      </p:tavLst>
                    </p:anim>
                    <p:anim calcmode="lin" valueType="num">
                      <p:cBhvr>
                        <p:cTn dur="500" fill="hold"/>
                        <p:tgtEl>
                          <p:spTgt spid="2056"/>
                        </p:tgtEl>
                        <p:attrNameLst>
                          <p:attrName>ppt_h</p:attrName>
                        </p:attrNameLst>
                      </p:cBhvr>
                      <p:tavLst>
                        <p:tav tm="0">
                          <p:val>
                            <p:fltVal val="0"/>
                          </p:val>
                        </p:tav>
                        <p:tav tm="100000">
                          <p:val>
                            <p:strVal val="#ppt_h"/>
                          </p:val>
                        </p:tav>
                      </p:tavLst>
                    </p:anim>
                    <p:anim calcmode="lin" valueType="num">
                      <p:cBhvr>
                        <p:cTn dur="500" fill="hold"/>
                        <p:tgtEl>
                          <p:spTgt spid="2056"/>
                        </p:tgtEl>
                        <p:attrNameLst>
                          <p:attrName>ppt_x</p:attrName>
                        </p:attrNameLst>
                      </p:cBhvr>
                      <p:tavLst>
                        <p:tav tm="0">
                          <p:val>
                            <p:fltVal val="0.5"/>
                          </p:val>
                        </p:tav>
                        <p:tav tm="100000">
                          <p:val>
                            <p:strVal val="#ppt_x"/>
                          </p:val>
                        </p:tav>
                      </p:tavLst>
                    </p:anim>
                    <p:anim calcmode="lin" valueType="num">
                      <p:cBhvr>
                        <p:cTn dur="500" fill="hold"/>
                        <p:tgtEl>
                          <p:spTgt spid="2056"/>
                        </p:tgtEl>
                        <p:attrNameLst>
                          <p:attrName>ppt_y</p:attrName>
                        </p:attrNameLst>
                      </p:cBhvr>
                      <p:tavLst>
                        <p:tav tm="0">
                          <p:val>
                            <p:fltVal val="0.5"/>
                          </p:val>
                        </p:tav>
                        <p:tav tm="100000">
                          <p:val>
                            <p:strVal val="#ppt_y"/>
                          </p:val>
                        </p:tav>
                      </p:tavLst>
                    </p:anim>
                  </p:childTnLst>
                </p:cTn>
              </p:par>
            </p:tnLst>
          </p:tmpl>
          <p:tmpl lvl="4">
            <p:tnLst>
              <p:par>
                <p:cTn presetID="23" presetClass="entr" presetSubtype="528" fill="hold" nodeType="withEffect">
                  <p:stCondLst>
                    <p:cond delay="1000"/>
                  </p:stCondLst>
                  <p:childTnLst>
                    <p:set>
                      <p:cBhvr>
                        <p:cTn dur="1" fill="hold">
                          <p:stCondLst>
                            <p:cond delay="0"/>
                          </p:stCondLst>
                        </p:cTn>
                        <p:tgtEl>
                          <p:spTgt spid="2056"/>
                        </p:tgtEl>
                        <p:attrNameLst>
                          <p:attrName>style.visibility</p:attrName>
                        </p:attrNameLst>
                      </p:cBhvr>
                      <p:to>
                        <p:strVal val="visible"/>
                      </p:to>
                    </p:set>
                    <p:anim calcmode="lin" valueType="num">
                      <p:cBhvr>
                        <p:cTn dur="500" fill="hold"/>
                        <p:tgtEl>
                          <p:spTgt spid="2056"/>
                        </p:tgtEl>
                        <p:attrNameLst>
                          <p:attrName>ppt_w</p:attrName>
                        </p:attrNameLst>
                      </p:cBhvr>
                      <p:tavLst>
                        <p:tav tm="0">
                          <p:val>
                            <p:fltVal val="0"/>
                          </p:val>
                        </p:tav>
                        <p:tav tm="100000">
                          <p:val>
                            <p:strVal val="#ppt_w"/>
                          </p:val>
                        </p:tav>
                      </p:tavLst>
                    </p:anim>
                    <p:anim calcmode="lin" valueType="num">
                      <p:cBhvr>
                        <p:cTn dur="500" fill="hold"/>
                        <p:tgtEl>
                          <p:spTgt spid="2056"/>
                        </p:tgtEl>
                        <p:attrNameLst>
                          <p:attrName>ppt_h</p:attrName>
                        </p:attrNameLst>
                      </p:cBhvr>
                      <p:tavLst>
                        <p:tav tm="0">
                          <p:val>
                            <p:fltVal val="0"/>
                          </p:val>
                        </p:tav>
                        <p:tav tm="100000">
                          <p:val>
                            <p:strVal val="#ppt_h"/>
                          </p:val>
                        </p:tav>
                      </p:tavLst>
                    </p:anim>
                    <p:anim calcmode="lin" valueType="num">
                      <p:cBhvr>
                        <p:cTn dur="500" fill="hold"/>
                        <p:tgtEl>
                          <p:spTgt spid="2056"/>
                        </p:tgtEl>
                        <p:attrNameLst>
                          <p:attrName>ppt_x</p:attrName>
                        </p:attrNameLst>
                      </p:cBhvr>
                      <p:tavLst>
                        <p:tav tm="0">
                          <p:val>
                            <p:fltVal val="0.5"/>
                          </p:val>
                        </p:tav>
                        <p:tav tm="100000">
                          <p:val>
                            <p:strVal val="#ppt_x"/>
                          </p:val>
                        </p:tav>
                      </p:tavLst>
                    </p:anim>
                    <p:anim calcmode="lin" valueType="num">
                      <p:cBhvr>
                        <p:cTn dur="500" fill="hold"/>
                        <p:tgtEl>
                          <p:spTgt spid="2056"/>
                        </p:tgtEl>
                        <p:attrNameLst>
                          <p:attrName>ppt_y</p:attrName>
                        </p:attrNameLst>
                      </p:cBhvr>
                      <p:tavLst>
                        <p:tav tm="0">
                          <p:val>
                            <p:fltVal val="0.5"/>
                          </p:val>
                        </p:tav>
                        <p:tav tm="100000">
                          <p:val>
                            <p:strVal val="#ppt_y"/>
                          </p:val>
                        </p:tav>
                      </p:tavLst>
                    </p:anim>
                  </p:childTnLst>
                </p:cTn>
              </p:par>
            </p:tnLst>
          </p:tmpl>
          <p:tmpl lvl="5">
            <p:tnLst>
              <p:par>
                <p:cTn presetID="23" presetClass="entr" presetSubtype="528" fill="hold" nodeType="withEffect">
                  <p:stCondLst>
                    <p:cond delay="1000"/>
                  </p:stCondLst>
                  <p:childTnLst>
                    <p:set>
                      <p:cBhvr>
                        <p:cTn dur="1" fill="hold">
                          <p:stCondLst>
                            <p:cond delay="0"/>
                          </p:stCondLst>
                        </p:cTn>
                        <p:tgtEl>
                          <p:spTgt spid="2056"/>
                        </p:tgtEl>
                        <p:attrNameLst>
                          <p:attrName>style.visibility</p:attrName>
                        </p:attrNameLst>
                      </p:cBhvr>
                      <p:to>
                        <p:strVal val="visible"/>
                      </p:to>
                    </p:set>
                    <p:anim calcmode="lin" valueType="num">
                      <p:cBhvr>
                        <p:cTn dur="500" fill="hold"/>
                        <p:tgtEl>
                          <p:spTgt spid="2056"/>
                        </p:tgtEl>
                        <p:attrNameLst>
                          <p:attrName>ppt_w</p:attrName>
                        </p:attrNameLst>
                      </p:cBhvr>
                      <p:tavLst>
                        <p:tav tm="0">
                          <p:val>
                            <p:fltVal val="0"/>
                          </p:val>
                        </p:tav>
                        <p:tav tm="100000">
                          <p:val>
                            <p:strVal val="#ppt_w"/>
                          </p:val>
                        </p:tav>
                      </p:tavLst>
                    </p:anim>
                    <p:anim calcmode="lin" valueType="num">
                      <p:cBhvr>
                        <p:cTn dur="500" fill="hold"/>
                        <p:tgtEl>
                          <p:spTgt spid="2056"/>
                        </p:tgtEl>
                        <p:attrNameLst>
                          <p:attrName>ppt_h</p:attrName>
                        </p:attrNameLst>
                      </p:cBhvr>
                      <p:tavLst>
                        <p:tav tm="0">
                          <p:val>
                            <p:fltVal val="0"/>
                          </p:val>
                        </p:tav>
                        <p:tav tm="100000">
                          <p:val>
                            <p:strVal val="#ppt_h"/>
                          </p:val>
                        </p:tav>
                      </p:tavLst>
                    </p:anim>
                    <p:anim calcmode="lin" valueType="num">
                      <p:cBhvr>
                        <p:cTn dur="500" fill="hold"/>
                        <p:tgtEl>
                          <p:spTgt spid="2056"/>
                        </p:tgtEl>
                        <p:attrNameLst>
                          <p:attrName>ppt_x</p:attrName>
                        </p:attrNameLst>
                      </p:cBhvr>
                      <p:tavLst>
                        <p:tav tm="0">
                          <p:val>
                            <p:fltVal val="0.5"/>
                          </p:val>
                        </p:tav>
                        <p:tav tm="100000">
                          <p:val>
                            <p:strVal val="#ppt_x"/>
                          </p:val>
                        </p:tav>
                      </p:tavLst>
                    </p:anim>
                    <p:anim calcmode="lin" valueType="num">
                      <p:cBhvr>
                        <p:cTn dur="500" fill="hold"/>
                        <p:tgtEl>
                          <p:spTgt spid="2056"/>
                        </p:tgtEl>
                        <p:attrNameLst>
                          <p:attrName>ppt_y</p:attrName>
                        </p:attrNameLst>
                      </p:cBhvr>
                      <p:tavLst>
                        <p:tav tm="0">
                          <p:val>
                            <p:fltVal val="0.5"/>
                          </p:val>
                        </p:tav>
                        <p:tav tm="100000">
                          <p:val>
                            <p:strVal val="#ppt_y"/>
                          </p:val>
                        </p:tav>
                      </p:tavLst>
                    </p:anim>
                  </p:childTnLst>
                </p:cTn>
              </p:par>
            </p:tnLst>
          </p:tmpl>
        </p:tmplLst>
      </p:bldP>
    </p:bldLst>
  </p:timing>
  <p:txStyles>
    <p:titleStyle>
      <a:lvl1pPr algn="ctr" rtl="0" eaLnBrk="1" fontAlgn="base" hangingPunct="1">
        <a:spcBef>
          <a:spcPct val="0"/>
        </a:spcBef>
        <a:spcAft>
          <a:spcPct val="0"/>
        </a:spcAft>
        <a:defRPr kumimoji="1" sz="4400">
          <a:solidFill>
            <a:schemeClr val="tx2"/>
          </a:solidFill>
          <a:effectLst>
            <a:outerShdw blurRad="38100" dist="38100" dir="2700000" algn="tl">
              <a:srgbClr val="000000"/>
            </a:outerShdw>
          </a:effectLst>
          <a:latin typeface="+mj-lt"/>
          <a:ea typeface="+mj-ea"/>
          <a:cs typeface="+mj-cs"/>
        </a:defRPr>
      </a:lvl1pPr>
      <a:lvl2pPr algn="ctr" rtl="0"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pitchFamily="18" charset="0"/>
        </a:defRPr>
      </a:lvl2pPr>
      <a:lvl3pPr algn="ctr" rtl="0"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pitchFamily="18" charset="0"/>
        </a:defRPr>
      </a:lvl3pPr>
      <a:lvl4pPr algn="ctr" rtl="0"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pitchFamily="18" charset="0"/>
        </a:defRPr>
      </a:lvl4pPr>
      <a:lvl5pPr algn="ctr" rtl="0"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pitchFamily="18" charset="0"/>
        </a:defRPr>
      </a:lvl5pPr>
      <a:lvl6pPr marL="457200" algn="ctr" rtl="0"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pitchFamily="18" charset="0"/>
        </a:defRPr>
      </a:lvl6pPr>
      <a:lvl7pPr marL="914400" algn="ctr" rtl="0"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pitchFamily="18" charset="0"/>
        </a:defRPr>
      </a:lvl7pPr>
      <a:lvl8pPr marL="1371600" algn="ctr" rtl="0"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pitchFamily="18" charset="0"/>
        </a:defRPr>
      </a:lvl8pPr>
      <a:lvl9pPr marL="1828800" algn="ctr" rtl="0" eaLnBrk="1" fontAlgn="base" hangingPunct="1">
        <a:spcBef>
          <a:spcPct val="0"/>
        </a:spcBef>
        <a:spcAft>
          <a:spcPct val="0"/>
        </a:spcAft>
        <a:defRPr kumimoji="1" sz="4400">
          <a:solidFill>
            <a:schemeClr val="tx2"/>
          </a:solidFill>
          <a:effectLst>
            <a:outerShdw blurRad="38100" dist="38100" dir="2700000" algn="tl">
              <a:srgbClr val="000000"/>
            </a:outerShdw>
          </a:effectLst>
          <a:latin typeface="Times New Roman" pitchFamily="18" charset="0"/>
        </a:defRPr>
      </a:lvl9pPr>
    </p:titleStyle>
    <p:bodyStyle>
      <a:lvl1pPr marL="342900" indent="-342900" algn="l" rtl="0" eaLnBrk="1" fontAlgn="base" hangingPunct="1">
        <a:spcBef>
          <a:spcPct val="20000"/>
        </a:spcBef>
        <a:spcAft>
          <a:spcPct val="0"/>
        </a:spcAft>
        <a:buClr>
          <a:schemeClr val="tx2"/>
        </a:buClr>
        <a:buSzPct val="75000"/>
        <a:buFont typeface="Monotype Sorts"/>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1" fontAlgn="base" hangingPunct="1">
        <a:spcBef>
          <a:spcPct val="20000"/>
        </a:spcBef>
        <a:spcAft>
          <a:spcPct val="0"/>
        </a:spcAft>
        <a:buClr>
          <a:schemeClr val="tx1"/>
        </a:buClr>
        <a:buChar char="–"/>
        <a:defRPr kumimoji="1" sz="2800">
          <a:solidFill>
            <a:schemeClr val="tx1"/>
          </a:solidFill>
          <a:effectLst>
            <a:outerShdw blurRad="38100" dist="38100" dir="2700000" algn="tl">
              <a:srgbClr val="000000"/>
            </a:outerShdw>
          </a:effectLst>
          <a:latin typeface="+mn-lt"/>
        </a:defRPr>
      </a:lvl2pPr>
      <a:lvl3pPr marL="1143000" indent="-228600" algn="l" rtl="0" eaLnBrk="1" fontAlgn="base" hangingPunct="1">
        <a:spcBef>
          <a:spcPct val="20000"/>
        </a:spcBef>
        <a:spcAft>
          <a:spcPct val="0"/>
        </a:spcAft>
        <a:buClr>
          <a:schemeClr val="tx1"/>
        </a:buClr>
        <a:buChar char="»"/>
        <a:defRPr kumimoji="1" sz="2400">
          <a:solidFill>
            <a:schemeClr val="tx1"/>
          </a:solidFill>
          <a:effectLst>
            <a:outerShdw blurRad="38100" dist="38100" dir="2700000" algn="tl">
              <a:srgbClr val="000000"/>
            </a:outerShdw>
          </a:effectLst>
          <a:latin typeface="+mn-lt"/>
        </a:defRPr>
      </a:lvl3pPr>
      <a:lvl4pPr marL="1600200" indent="-228600" algn="l" rtl="0" eaLnBrk="1" fontAlgn="base" hangingPunct="1">
        <a:spcBef>
          <a:spcPct val="20000"/>
        </a:spcBef>
        <a:spcAft>
          <a:spcPct val="0"/>
        </a:spcAft>
        <a:buClr>
          <a:schemeClr val="tx2"/>
        </a:buClr>
        <a:buSzPct val="65000"/>
        <a:buFont typeface="Monotype Sorts"/>
        <a:buChar char="n"/>
        <a:defRPr kumimoji="1" sz="2000">
          <a:solidFill>
            <a:schemeClr val="tx1"/>
          </a:solidFill>
          <a:effectLst>
            <a:outerShdw blurRad="38100" dist="38100" dir="2700000" algn="tl">
              <a:srgbClr val="000000"/>
            </a:outerShdw>
          </a:effectLst>
          <a:latin typeface="+mn-lt"/>
        </a:defRPr>
      </a:lvl4pPr>
      <a:lvl5pPr marL="2057400" indent="-228600" algn="l" rtl="0" eaLnBrk="1" fontAlgn="base" hangingPunct="1">
        <a:spcBef>
          <a:spcPct val="20000"/>
        </a:spcBef>
        <a:spcAft>
          <a:spcPct val="0"/>
        </a:spcAft>
        <a:buClr>
          <a:schemeClr val="tx1"/>
        </a:buClr>
        <a:buChar char="–"/>
        <a:defRPr kumimoji="1" sz="2000">
          <a:solidFill>
            <a:schemeClr val="tx1"/>
          </a:solidFill>
          <a:effectLst>
            <a:outerShdw blurRad="38100" dist="38100" dir="2700000" algn="tl">
              <a:srgbClr val="000000"/>
            </a:outerShdw>
          </a:effectLst>
          <a:latin typeface="+mn-lt"/>
        </a:defRPr>
      </a:lvl5pPr>
      <a:lvl6pPr marL="2514600" indent="-228600" algn="l" rtl="0" eaLnBrk="1" fontAlgn="base" hangingPunct="1">
        <a:spcBef>
          <a:spcPct val="20000"/>
        </a:spcBef>
        <a:spcAft>
          <a:spcPct val="0"/>
        </a:spcAft>
        <a:buClr>
          <a:schemeClr val="tx1"/>
        </a:buClr>
        <a:buChar char="–"/>
        <a:defRPr kumimoji="1" sz="2000">
          <a:solidFill>
            <a:schemeClr val="tx1"/>
          </a:solidFill>
          <a:effectLst>
            <a:outerShdw blurRad="38100" dist="38100" dir="2700000" algn="tl">
              <a:srgbClr val="000000"/>
            </a:outerShdw>
          </a:effectLst>
          <a:latin typeface="+mn-lt"/>
        </a:defRPr>
      </a:lvl6pPr>
      <a:lvl7pPr marL="2971800" indent="-228600" algn="l" rtl="0" eaLnBrk="1" fontAlgn="base" hangingPunct="1">
        <a:spcBef>
          <a:spcPct val="20000"/>
        </a:spcBef>
        <a:spcAft>
          <a:spcPct val="0"/>
        </a:spcAft>
        <a:buClr>
          <a:schemeClr val="tx1"/>
        </a:buClr>
        <a:buChar char="–"/>
        <a:defRPr kumimoji="1" sz="2000">
          <a:solidFill>
            <a:schemeClr val="tx1"/>
          </a:solidFill>
          <a:effectLst>
            <a:outerShdw blurRad="38100" dist="38100" dir="2700000" algn="tl">
              <a:srgbClr val="000000"/>
            </a:outerShdw>
          </a:effectLst>
          <a:latin typeface="+mn-lt"/>
        </a:defRPr>
      </a:lvl7pPr>
      <a:lvl8pPr marL="3429000" indent="-228600" algn="l" rtl="0" eaLnBrk="1" fontAlgn="base" hangingPunct="1">
        <a:spcBef>
          <a:spcPct val="20000"/>
        </a:spcBef>
        <a:spcAft>
          <a:spcPct val="0"/>
        </a:spcAft>
        <a:buClr>
          <a:schemeClr val="tx1"/>
        </a:buClr>
        <a:buChar char="–"/>
        <a:defRPr kumimoji="1" sz="2000">
          <a:solidFill>
            <a:schemeClr val="tx1"/>
          </a:solidFill>
          <a:effectLst>
            <a:outerShdw blurRad="38100" dist="38100" dir="2700000" algn="tl">
              <a:srgbClr val="000000"/>
            </a:outerShdw>
          </a:effectLst>
          <a:latin typeface="+mn-lt"/>
        </a:defRPr>
      </a:lvl8pPr>
      <a:lvl9pPr marL="3886200" indent="-228600" algn="l" rtl="0" eaLnBrk="1" fontAlgn="base" hangingPunct="1">
        <a:spcBef>
          <a:spcPct val="20000"/>
        </a:spcBef>
        <a:spcAft>
          <a:spcPct val="0"/>
        </a:spcAft>
        <a:buClr>
          <a:schemeClr val="tx1"/>
        </a:buClr>
        <a:buChar char="–"/>
        <a:defRPr kumimoji="1" sz="2000">
          <a:solidFill>
            <a:schemeClr val="tx1"/>
          </a:solidFill>
          <a:effectLst>
            <a:outerShdw blurRad="38100" dist="38100" dir="2700000" algn="tl">
              <a:srgbClr val="000000"/>
            </a:outerShdw>
          </a:effectLst>
          <a:latin typeface="+mn-lt"/>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685800" y="2667000"/>
            <a:ext cx="7772400" cy="1828800"/>
          </a:xfrm>
        </p:spPr>
        <p:txBody>
          <a:bodyPr/>
          <a:lstStyle/>
          <a:p>
            <a:pPr rtl="1"/>
            <a:r>
              <a:rPr lang="ar-SA" sz="3600" b="1" dirty="0">
                <a:ln w="17780" cmpd="sng">
                  <a:solidFill>
                    <a:srgbClr val="FFFFFF"/>
                  </a:solidFill>
                  <a:prstDash val="solid"/>
                  <a:miter lim="800000"/>
                </a:ln>
                <a:solidFill>
                  <a:schemeClr val="tx1"/>
                </a:solidFill>
                <a:effectLst/>
              </a:rPr>
              <a:t>اسم المقرر:نظم الوسائط المتعددة(2)</a:t>
            </a:r>
            <a:br>
              <a:rPr lang="ar-SA" sz="3600" b="1" dirty="0">
                <a:ln w="17780" cmpd="sng">
                  <a:solidFill>
                    <a:srgbClr val="FFFFFF"/>
                  </a:solidFill>
                  <a:prstDash val="solid"/>
                  <a:miter lim="800000"/>
                </a:ln>
                <a:solidFill>
                  <a:schemeClr val="tx1"/>
                </a:solidFill>
                <a:effectLst/>
              </a:rPr>
            </a:br>
            <a:r>
              <a:rPr lang="ar-SA" sz="3600" b="1" dirty="0">
                <a:ln w="17780" cmpd="sng">
                  <a:solidFill>
                    <a:srgbClr val="FFFFFF"/>
                  </a:solidFill>
                  <a:prstDash val="solid"/>
                  <a:miter lim="800000"/>
                </a:ln>
                <a:solidFill>
                  <a:schemeClr val="tx1"/>
                </a:solidFill>
                <a:effectLst/>
              </a:rPr>
              <a:t>الدفعة </a:t>
            </a:r>
            <a:r>
              <a:rPr lang="ar-SA" sz="3600" b="1" dirty="0" smtClean="0">
                <a:ln w="17780" cmpd="sng">
                  <a:solidFill>
                    <a:srgbClr val="FFFFFF"/>
                  </a:solidFill>
                  <a:prstDash val="solid"/>
                  <a:miter lim="800000"/>
                </a:ln>
                <a:solidFill>
                  <a:schemeClr val="tx1"/>
                </a:solidFill>
                <a:effectLst/>
              </a:rPr>
              <a:t>(</a:t>
            </a:r>
            <a:r>
              <a:rPr lang="ar-SA" sz="3600" b="1" dirty="0" smtClean="0">
                <a:ln w="17780" cmpd="sng">
                  <a:solidFill>
                    <a:srgbClr val="FFFFFF"/>
                  </a:solidFill>
                  <a:prstDash val="solid"/>
                  <a:miter lim="800000"/>
                </a:ln>
                <a:solidFill>
                  <a:schemeClr val="tx1"/>
                </a:solidFill>
                <a:effectLst/>
              </a:rPr>
              <a:t>1</a:t>
            </a:r>
            <a:r>
              <a:rPr lang="ar-SA" sz="3600" b="1" dirty="0">
                <a:ln w="17780" cmpd="sng">
                  <a:solidFill>
                    <a:srgbClr val="FFFFFF"/>
                  </a:solidFill>
                  <a:prstDash val="solid"/>
                  <a:miter lim="800000"/>
                </a:ln>
                <a:solidFill>
                  <a:schemeClr val="tx1"/>
                </a:solidFill>
                <a:effectLst/>
              </a:rPr>
              <a:t>2</a:t>
            </a:r>
            <a:r>
              <a:rPr lang="ar-SA" sz="3600" b="1" dirty="0" smtClean="0">
                <a:ln w="17780" cmpd="sng">
                  <a:solidFill>
                    <a:srgbClr val="FFFFFF"/>
                  </a:solidFill>
                  <a:prstDash val="solid"/>
                  <a:miter lim="800000"/>
                </a:ln>
                <a:solidFill>
                  <a:schemeClr val="tx1"/>
                </a:solidFill>
                <a:effectLst/>
              </a:rPr>
              <a:t>) </a:t>
            </a:r>
            <a:r>
              <a:rPr lang="ar-SA" sz="3600" b="1" dirty="0">
                <a:ln w="17780" cmpd="sng">
                  <a:solidFill>
                    <a:srgbClr val="FFFFFF"/>
                  </a:solidFill>
                  <a:prstDash val="solid"/>
                  <a:miter lim="800000"/>
                </a:ln>
                <a:solidFill>
                  <a:schemeClr val="tx1"/>
                </a:solidFill>
                <a:effectLst/>
              </a:rPr>
              <a:t>(تقانة المعلومات)</a:t>
            </a:r>
            <a:br>
              <a:rPr lang="ar-SA" sz="3600" b="1" dirty="0">
                <a:ln w="17780" cmpd="sng">
                  <a:solidFill>
                    <a:srgbClr val="FFFFFF"/>
                  </a:solidFill>
                  <a:prstDash val="solid"/>
                  <a:miter lim="800000"/>
                </a:ln>
                <a:solidFill>
                  <a:schemeClr val="tx1"/>
                </a:solidFill>
                <a:effectLst/>
              </a:rPr>
            </a:br>
            <a:r>
              <a:rPr lang="ar-SA" sz="3600" b="1" dirty="0">
                <a:ln w="17780" cmpd="sng">
                  <a:solidFill>
                    <a:srgbClr val="FFFFFF"/>
                  </a:solidFill>
                  <a:prstDash val="solid"/>
                  <a:miter lim="800000"/>
                </a:ln>
                <a:solidFill>
                  <a:schemeClr val="tx1"/>
                </a:solidFill>
                <a:effectLst/>
              </a:rPr>
              <a:t>الفصل الدراسي التاسع</a:t>
            </a:r>
            <a:endParaRPr lang="en-GB" sz="3600" b="1" dirty="0">
              <a:ln w="17780" cmpd="sng">
                <a:solidFill>
                  <a:srgbClr val="FFFFFF"/>
                </a:solidFill>
                <a:prstDash val="solid"/>
                <a:miter lim="800000"/>
              </a:ln>
              <a:solidFill>
                <a:schemeClr val="tx1"/>
              </a:solidFill>
              <a:effectLst/>
            </a:endParaRPr>
          </a:p>
        </p:txBody>
      </p:sp>
      <p:sp>
        <p:nvSpPr>
          <p:cNvPr id="3" name="Subtitle 2"/>
          <p:cNvSpPr>
            <a:spLocks noGrp="1"/>
          </p:cNvSpPr>
          <p:nvPr>
            <p:ph type="subTitle" sz="quarter" idx="1"/>
          </p:nvPr>
        </p:nvSpPr>
        <p:spPr>
          <a:xfrm>
            <a:off x="1371600" y="4790940"/>
            <a:ext cx="6400800" cy="1381260"/>
          </a:xfrm>
        </p:spPr>
        <p:txBody>
          <a:bodyPr/>
          <a:lstStyle/>
          <a:p>
            <a:pPr rtl="1"/>
            <a:r>
              <a:rPr lang="ar-SA" b="1" dirty="0">
                <a:ln w="17780" cmpd="sng">
                  <a:solidFill>
                    <a:srgbClr val="FFFFFF"/>
                  </a:solidFill>
                  <a:prstDash val="solid"/>
                  <a:miter lim="800000"/>
                </a:ln>
                <a:solidFill>
                  <a:srgbClr val="FFC000"/>
                </a:solidFill>
                <a:effectLst>
                  <a:outerShdw blurRad="50800" algn="tl" rotWithShape="0">
                    <a:srgbClr val="000000"/>
                  </a:outerShdw>
                </a:effectLst>
              </a:rPr>
              <a:t>  اعداد: </a:t>
            </a:r>
            <a:r>
              <a:rPr lang="ar-SA" b="1" dirty="0" smtClean="0">
                <a:ln w="17780" cmpd="sng">
                  <a:solidFill>
                    <a:srgbClr val="FFFFFF"/>
                  </a:solidFill>
                  <a:prstDash val="solid"/>
                  <a:miter lim="800000"/>
                </a:ln>
                <a:solidFill>
                  <a:srgbClr val="FFC000"/>
                </a:solidFill>
                <a:effectLst>
                  <a:outerShdw blurRad="50800" algn="tl" rotWithShape="0">
                    <a:srgbClr val="000000"/>
                  </a:outerShdw>
                </a:effectLst>
              </a:rPr>
              <a:t>د. </a:t>
            </a:r>
            <a:r>
              <a:rPr lang="ar-SA" b="1" dirty="0">
                <a:ln w="17780" cmpd="sng">
                  <a:solidFill>
                    <a:srgbClr val="FFFFFF"/>
                  </a:solidFill>
                  <a:prstDash val="solid"/>
                  <a:miter lim="800000"/>
                </a:ln>
                <a:solidFill>
                  <a:srgbClr val="FFC000"/>
                </a:solidFill>
                <a:effectLst>
                  <a:outerShdw blurRad="50800" algn="tl" rotWithShape="0">
                    <a:srgbClr val="000000"/>
                  </a:outerShdw>
                </a:effectLst>
              </a:rPr>
              <a:t>ياسر بله عبدالسلام </a:t>
            </a:r>
          </a:p>
          <a:p>
            <a:pPr rtl="1"/>
            <a:r>
              <a:rPr lang="en-US" b="1" dirty="0">
                <a:effectLst/>
              </a:rPr>
              <a:t>yassir32@gmail.com</a:t>
            </a:r>
          </a:p>
          <a:p>
            <a:pPr rtl="1"/>
            <a:endParaRPr lang="en-GB" b="1" dirty="0">
              <a:ln w="17780" cmpd="sng">
                <a:solidFill>
                  <a:srgbClr val="FFFFFF"/>
                </a:solidFill>
                <a:prstDash val="solid"/>
                <a:miter lim="800000"/>
              </a:ln>
              <a:solidFill>
                <a:srgbClr val="FFC000"/>
              </a:solidFill>
              <a:effectLst>
                <a:outerShdw blurRad="50800" algn="tl" rotWithShape="0">
                  <a:srgbClr val="000000"/>
                </a:outerShdw>
              </a:effectLst>
            </a:endParaRPr>
          </a:p>
        </p:txBody>
      </p:sp>
      <p:sp>
        <p:nvSpPr>
          <p:cNvPr id="4" name="Rectangle 3"/>
          <p:cNvSpPr/>
          <p:nvPr/>
        </p:nvSpPr>
        <p:spPr>
          <a:xfrm>
            <a:off x="2281953" y="304800"/>
            <a:ext cx="4580100" cy="923330"/>
          </a:xfrm>
          <a:prstGeom prst="rect">
            <a:avLst/>
          </a:prstGeom>
          <a:noFill/>
        </p:spPr>
        <p:txBody>
          <a:bodyPr wrap="none" lIns="91440" tIns="45720" rIns="91440" bIns="45720">
            <a:spAutoFit/>
          </a:bodyPr>
          <a:lstStyle/>
          <a:p>
            <a:pPr algn="ctr"/>
            <a:r>
              <a:rPr lang="ar-SA" sz="5400" b="1" cap="none" spc="0" dirty="0">
                <a:ln w="18000">
                  <a:solidFill>
                    <a:schemeClr val="accent2">
                      <a:satMod val="140000"/>
                    </a:schemeClr>
                  </a:solidFill>
                  <a:prstDash val="solid"/>
                  <a:miter lim="800000"/>
                </a:ln>
                <a:solidFill>
                  <a:schemeClr val="bg2"/>
                </a:solidFill>
                <a:effectLst>
                  <a:outerShdw blurRad="25500" dist="23000" dir="7020000" algn="tl">
                    <a:srgbClr val="000000">
                      <a:alpha val="50000"/>
                    </a:srgbClr>
                  </a:outerShdw>
                </a:effectLst>
              </a:rPr>
              <a:t>بسم الله الرحمن الرحيم</a:t>
            </a:r>
            <a:endParaRPr lang="en-US" sz="5400" b="1" cap="none" spc="0" dirty="0">
              <a:ln w="18000">
                <a:solidFill>
                  <a:schemeClr val="accent2">
                    <a:satMod val="140000"/>
                  </a:schemeClr>
                </a:solidFill>
                <a:prstDash val="solid"/>
                <a:miter lim="800000"/>
              </a:ln>
              <a:solidFill>
                <a:schemeClr val="bg2"/>
              </a:solidFill>
              <a:effectLst>
                <a:outerShdw blurRad="25500" dist="23000" dir="7020000" algn="tl">
                  <a:srgbClr val="000000">
                    <a:alpha val="50000"/>
                  </a:srgbClr>
                </a:outerShdw>
              </a:effectLst>
            </a:endParaRPr>
          </a:p>
        </p:txBody>
      </p:sp>
      <p:sp>
        <p:nvSpPr>
          <p:cNvPr id="5" name="Rectangle 4"/>
          <p:cNvSpPr/>
          <p:nvPr/>
        </p:nvSpPr>
        <p:spPr>
          <a:xfrm>
            <a:off x="1971239" y="1302603"/>
            <a:ext cx="5144358" cy="1077218"/>
          </a:xfrm>
          <a:prstGeom prst="rect">
            <a:avLst/>
          </a:prstGeom>
          <a:noFill/>
        </p:spPr>
        <p:txBody>
          <a:bodyPr wrap="non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ar-SA" sz="3200" b="1" cap="all" spc="0" dirty="0">
                <a:ln w="0"/>
                <a:solidFill>
                  <a:schemeClr val="accent3">
                    <a:lumMod val="10000"/>
                  </a:schemeClr>
                </a:solidFill>
                <a:effectLst>
                  <a:reflection blurRad="12700" stA="50000" endPos="50000" dist="5000" dir="5400000" sy="-100000" rotWithShape="0"/>
                </a:effectLst>
              </a:rPr>
              <a:t>جامعة </a:t>
            </a:r>
            <a:r>
              <a:rPr lang="ar-SA" sz="3200" b="1" cap="all" spc="0" dirty="0" err="1">
                <a:ln w="0"/>
                <a:solidFill>
                  <a:schemeClr val="accent3">
                    <a:lumMod val="10000"/>
                  </a:schemeClr>
                </a:solidFill>
                <a:effectLst>
                  <a:reflection blurRad="12700" stA="50000" endPos="50000" dist="5000" dir="5400000" sy="-100000" rotWithShape="0"/>
                </a:effectLst>
              </a:rPr>
              <a:t>القضارف</a:t>
            </a:r>
            <a:endParaRPr lang="ar-SA" sz="3200" b="1" cap="all" spc="0" dirty="0">
              <a:ln w="0"/>
              <a:solidFill>
                <a:schemeClr val="accent3">
                  <a:lumMod val="10000"/>
                </a:schemeClr>
              </a:solidFill>
              <a:effectLst>
                <a:reflection blurRad="12700" stA="50000" endPos="50000" dist="5000" dir="5400000" sy="-100000" rotWithShape="0"/>
              </a:effectLst>
            </a:endParaRPr>
          </a:p>
          <a:p>
            <a:pPr algn="ctr"/>
            <a:r>
              <a:rPr lang="ar-SA" sz="3200" b="1" cap="all" dirty="0">
                <a:ln w="0"/>
                <a:solidFill>
                  <a:schemeClr val="accent3">
                    <a:lumMod val="10000"/>
                  </a:schemeClr>
                </a:solidFill>
                <a:effectLst>
                  <a:reflection blurRad="12700" stA="50000" endPos="50000" dist="5000" dir="5400000" sy="-100000" rotWithShape="0"/>
                </a:effectLst>
              </a:rPr>
              <a:t>كلية علوم الحاسوب وتقانة المعلومات</a:t>
            </a:r>
            <a:endParaRPr lang="en-US" sz="3200" b="1" cap="all" spc="0" dirty="0">
              <a:ln w="0"/>
              <a:solidFill>
                <a:schemeClr val="accent3">
                  <a:lumMod val="10000"/>
                </a:schemeClr>
              </a:solidFill>
              <a:effectLst>
                <a:reflection blurRad="12700" stA="50000" endPos="50000" dist="5000" dir="5400000" sy="-100000" rotWithShape="0"/>
              </a:effectLst>
            </a:endParaRPr>
          </a:p>
        </p:txBody>
      </p:sp>
    </p:spTree>
    <p:extLst>
      <p:ext uri="{BB962C8B-B14F-4D97-AF65-F5344CB8AC3E}">
        <p14:creationId xmlns:p14="http://schemas.microsoft.com/office/powerpoint/2010/main" val="3967739269"/>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5562600" y="76200"/>
            <a:ext cx="3124200" cy="1143000"/>
          </a:xfrm>
        </p:spPr>
        <p:txBody>
          <a:bodyPr>
            <a:normAutofit/>
          </a:bodyPr>
          <a:lstStyle/>
          <a:p>
            <a:pPr algn="r"/>
            <a:r>
              <a:rPr lang="ar-SA" b="1" kern="1200" dirty="0">
                <a:ln w="22225">
                  <a:solidFill>
                    <a:schemeClr val="accent2"/>
                  </a:solidFill>
                  <a:prstDash val="solid"/>
                </a:ln>
                <a:solidFill>
                  <a:schemeClr val="accent2">
                    <a:lumMod val="40000"/>
                    <a:lumOff val="60000"/>
                  </a:schemeClr>
                </a:solidFill>
                <a:effectLst/>
                <a:latin typeface="+mn-lt"/>
                <a:ea typeface="+mn-ea"/>
                <a:cs typeface="+mn-cs"/>
              </a:rPr>
              <a:t>مفردات المقرر:</a:t>
            </a:r>
            <a:endParaRPr lang="en-GB" b="1" kern="1200" dirty="0">
              <a:ln w="22225">
                <a:solidFill>
                  <a:schemeClr val="accent2"/>
                </a:solidFill>
                <a:prstDash val="solid"/>
              </a:ln>
              <a:solidFill>
                <a:schemeClr val="accent2">
                  <a:lumMod val="40000"/>
                  <a:lumOff val="60000"/>
                </a:schemeClr>
              </a:solidFill>
              <a:effectLst/>
              <a:latin typeface="+mn-lt"/>
              <a:ea typeface="+mn-ea"/>
              <a:cs typeface="+mn-cs"/>
            </a:endParaRPr>
          </a:p>
        </p:txBody>
      </p:sp>
      <p:sp>
        <p:nvSpPr>
          <p:cNvPr id="3" name="Subtitle 2"/>
          <p:cNvSpPr>
            <a:spLocks noGrp="1"/>
          </p:cNvSpPr>
          <p:nvPr>
            <p:ph type="subTitle" sz="quarter" idx="1"/>
          </p:nvPr>
        </p:nvSpPr>
        <p:spPr>
          <a:xfrm>
            <a:off x="304800" y="914400"/>
            <a:ext cx="8458200" cy="5715000"/>
          </a:xfrm>
        </p:spPr>
        <p:txBody>
          <a:bodyPr/>
          <a:lstStyle/>
          <a:p>
            <a:pPr algn="r" rtl="1"/>
            <a:r>
              <a:rPr lang="ar-SA" sz="2800" b="1" dirty="0">
                <a:effectLst/>
              </a:rPr>
              <a:t>1.مقدمة عن الوسائط المتعددة .</a:t>
            </a:r>
          </a:p>
          <a:p>
            <a:pPr algn="r" rtl="1"/>
            <a:r>
              <a:rPr lang="ar-SA" sz="2800" b="1" dirty="0">
                <a:effectLst/>
              </a:rPr>
              <a:t>2. ضغط البيانات</a:t>
            </a:r>
            <a:r>
              <a:rPr lang="en-GB" sz="2800" b="1" dirty="0">
                <a:effectLst/>
              </a:rPr>
              <a:t>.</a:t>
            </a:r>
            <a:r>
              <a:rPr lang="en-US" sz="2800" b="1" dirty="0">
                <a:effectLst/>
              </a:rPr>
              <a:t> Data Compression </a:t>
            </a:r>
            <a:endParaRPr lang="ar-SA" sz="2800" b="1" dirty="0">
              <a:effectLst/>
            </a:endParaRPr>
          </a:p>
          <a:p>
            <a:pPr algn="r" rtl="1"/>
            <a:r>
              <a:rPr lang="ar-SA" sz="2800" b="1" dirty="0">
                <a:effectLst/>
              </a:rPr>
              <a:t>3.</a:t>
            </a:r>
            <a:r>
              <a:rPr lang="en-GB" sz="2800" b="1" dirty="0">
                <a:effectLst/>
              </a:rPr>
              <a:t> </a:t>
            </a:r>
            <a:r>
              <a:rPr lang="ar-SA" sz="2800" b="1" dirty="0">
                <a:effectLst/>
              </a:rPr>
              <a:t>خوارزمية هوفمان 1.</a:t>
            </a:r>
          </a:p>
          <a:p>
            <a:pPr algn="r" rtl="1"/>
            <a:r>
              <a:rPr lang="ar-SA" sz="2800" b="1" dirty="0">
                <a:effectLst/>
              </a:rPr>
              <a:t>4. خوارزمية هوفمان 2.</a:t>
            </a:r>
          </a:p>
          <a:p>
            <a:pPr algn="r" rtl="1"/>
            <a:r>
              <a:rPr lang="ar-SA" sz="2800" b="1" dirty="0">
                <a:effectLst/>
              </a:rPr>
              <a:t>5. تصميم وتطبيق الوسائط المتعددة علي صفحات الويب.</a:t>
            </a:r>
            <a:endParaRPr lang="en-GB" sz="2800" b="1" dirty="0">
              <a:effectLst/>
            </a:endParaRPr>
          </a:p>
          <a:p>
            <a:pPr algn="r" rtl="1"/>
            <a:r>
              <a:rPr lang="ar-SA" sz="2800" b="1" dirty="0">
                <a:effectLst/>
              </a:rPr>
              <a:t>6.</a:t>
            </a:r>
            <a:r>
              <a:rPr lang="en-GB" sz="2800" b="1" dirty="0">
                <a:effectLst/>
              </a:rPr>
              <a:t> </a:t>
            </a:r>
            <a:r>
              <a:rPr lang="ar-SA" sz="2800" b="1" dirty="0">
                <a:effectLst/>
              </a:rPr>
              <a:t>تحميل ملفات الوسائط المتعددة علي صفحات الويب.</a:t>
            </a:r>
            <a:endParaRPr lang="en-GB" sz="2800" b="1" dirty="0">
              <a:effectLst/>
            </a:endParaRPr>
          </a:p>
          <a:p>
            <a:pPr algn="r" rtl="1"/>
            <a:r>
              <a:rPr lang="ar-SA" sz="2800" b="1" dirty="0">
                <a:effectLst/>
              </a:rPr>
              <a:t>7. تطبيقات الوسائط المتعددة علي البريد الالكتروني.</a:t>
            </a:r>
          </a:p>
          <a:p>
            <a:pPr algn="r" rtl="1"/>
            <a:r>
              <a:rPr lang="ar-SA" sz="2800" b="1" dirty="0">
                <a:effectLst/>
              </a:rPr>
              <a:t>8. المحادثات والمؤتمرات.</a:t>
            </a:r>
          </a:p>
          <a:p>
            <a:pPr algn="r" rtl="1"/>
            <a:r>
              <a:rPr lang="ar-SA" sz="2800" b="1" dirty="0">
                <a:effectLst/>
              </a:rPr>
              <a:t>برمجيات العملي:</a:t>
            </a:r>
          </a:p>
          <a:p>
            <a:pPr rtl="1"/>
            <a:r>
              <a:rPr lang="en-GB" sz="2800" b="1" dirty="0">
                <a:effectLst/>
              </a:rPr>
              <a:t>Adobe </a:t>
            </a:r>
            <a:r>
              <a:rPr lang="en-GB" sz="2800" b="1" dirty="0" err="1">
                <a:effectLst/>
              </a:rPr>
              <a:t>photoshop</a:t>
            </a:r>
            <a:r>
              <a:rPr lang="en-GB" sz="2800" b="1" dirty="0">
                <a:effectLst/>
              </a:rPr>
              <a:t>, Adobe Flash</a:t>
            </a:r>
            <a:r>
              <a:rPr lang="ar-SA" sz="2800" b="1" dirty="0">
                <a:effectLst/>
              </a:rPr>
              <a:t>،</a:t>
            </a:r>
            <a:r>
              <a:rPr lang="en-US" sz="2800" b="1" dirty="0">
                <a:effectLst/>
              </a:rPr>
              <a:t>director</a:t>
            </a:r>
            <a:endParaRPr lang="ar-SA" sz="2800" b="1" dirty="0">
              <a:effectLst/>
            </a:endParaRPr>
          </a:p>
        </p:txBody>
      </p:sp>
    </p:spTree>
    <p:extLst>
      <p:ext uri="{BB962C8B-B14F-4D97-AF65-F5344CB8AC3E}">
        <p14:creationId xmlns:p14="http://schemas.microsoft.com/office/powerpoint/2010/main" val="2445869682"/>
      </p:ext>
    </p:extLst>
  </p:cSld>
  <p:clrMapOvr>
    <a:masterClrMapping/>
  </p:clrMapOvr>
  <p:transition>
    <p:blinds/>
    <p:sndAc>
      <p:stSnd>
        <p:snd r:embed="rId2" name="HARP.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ar-SA" b="1" dirty="0"/>
              <a:t>التقيـيـم:</a:t>
            </a:r>
            <a:endParaRPr lang="en-GB" b="1" dirty="0"/>
          </a:p>
        </p:txBody>
      </p:sp>
      <p:graphicFrame>
        <p:nvGraphicFramePr>
          <p:cNvPr id="4" name="Content Placeholder 3"/>
          <p:cNvGraphicFramePr>
            <a:graphicFrameLocks noGrp="1"/>
          </p:cNvGraphicFramePr>
          <p:nvPr>
            <p:ph idx="1"/>
          </p:nvPr>
        </p:nvGraphicFramePr>
        <p:xfrm>
          <a:off x="533400" y="1600200"/>
          <a:ext cx="8001000" cy="3276600"/>
        </p:xfrm>
        <a:graphic>
          <a:graphicData uri="http://schemas.openxmlformats.org/drawingml/2006/table">
            <a:tbl>
              <a:tblPr firstRow="1" bandRow="1">
                <a:tableStyleId>{5C22544A-7EE6-4342-B048-85BDC9FD1C3A}</a:tableStyleId>
              </a:tblPr>
              <a:tblGrid>
                <a:gridCol w="4000500">
                  <a:extLst>
                    <a:ext uri="{9D8B030D-6E8A-4147-A177-3AD203B41FA5}">
                      <a16:colId xmlns:a16="http://schemas.microsoft.com/office/drawing/2014/main" xmlns="" val="20000"/>
                    </a:ext>
                  </a:extLst>
                </a:gridCol>
                <a:gridCol w="4000500">
                  <a:extLst>
                    <a:ext uri="{9D8B030D-6E8A-4147-A177-3AD203B41FA5}">
                      <a16:colId xmlns:a16="http://schemas.microsoft.com/office/drawing/2014/main" xmlns="" val="20001"/>
                    </a:ext>
                  </a:extLst>
                </a:gridCol>
              </a:tblGrid>
              <a:tr h="819150">
                <a:tc>
                  <a:txBody>
                    <a:bodyPr/>
                    <a:lstStyle/>
                    <a:p>
                      <a:r>
                        <a:rPr lang="ar-SA" sz="2800" b="1" dirty="0">
                          <a:solidFill>
                            <a:schemeClr val="bg2"/>
                          </a:solidFill>
                        </a:rPr>
                        <a:t>النسبة</a:t>
                      </a:r>
                      <a:endParaRPr lang="en-GB" sz="2800" b="1" dirty="0">
                        <a:solidFill>
                          <a:schemeClr val="bg2"/>
                        </a:solidFill>
                      </a:endParaRPr>
                    </a:p>
                  </a:txBody>
                  <a:tcPr/>
                </a:tc>
                <a:tc>
                  <a:txBody>
                    <a:bodyPr/>
                    <a:lstStyle/>
                    <a:p>
                      <a:r>
                        <a:rPr lang="ar-SA" sz="2800" b="1" dirty="0">
                          <a:solidFill>
                            <a:schemeClr val="bg2"/>
                          </a:solidFill>
                        </a:rPr>
                        <a:t>المكون</a:t>
                      </a:r>
                      <a:endParaRPr lang="en-GB" sz="2800" b="1" dirty="0">
                        <a:solidFill>
                          <a:schemeClr val="bg2"/>
                        </a:solidFill>
                      </a:endParaRPr>
                    </a:p>
                  </a:txBody>
                  <a:tcPr/>
                </a:tc>
                <a:extLst>
                  <a:ext uri="{0D108BD9-81ED-4DB2-BD59-A6C34878D82A}">
                    <a16:rowId xmlns:a16="http://schemas.microsoft.com/office/drawing/2014/main" xmlns="" val="10000"/>
                  </a:ext>
                </a:extLst>
              </a:tr>
              <a:tr h="819150">
                <a:tc>
                  <a:txBody>
                    <a:bodyPr/>
                    <a:lstStyle/>
                    <a:p>
                      <a:r>
                        <a:rPr lang="en-US" sz="2800" b="1" dirty="0">
                          <a:solidFill>
                            <a:schemeClr val="bg2"/>
                          </a:solidFill>
                        </a:rPr>
                        <a:t>20</a:t>
                      </a:r>
                      <a:r>
                        <a:rPr lang="ar-SA" sz="2800" b="1" dirty="0">
                          <a:solidFill>
                            <a:schemeClr val="bg2"/>
                          </a:solidFill>
                        </a:rPr>
                        <a:t>%</a:t>
                      </a:r>
                      <a:endParaRPr lang="en-GB" sz="2800" b="1" dirty="0">
                        <a:solidFill>
                          <a:schemeClr val="bg2"/>
                        </a:solidFill>
                      </a:endParaRPr>
                    </a:p>
                  </a:txBody>
                  <a:tcPr/>
                </a:tc>
                <a:tc>
                  <a:txBody>
                    <a:bodyPr/>
                    <a:lstStyle/>
                    <a:p>
                      <a:r>
                        <a:rPr lang="ar-SA" sz="2800" b="1" dirty="0">
                          <a:solidFill>
                            <a:schemeClr val="bg2"/>
                          </a:solidFill>
                        </a:rPr>
                        <a:t>حضــــــــور+</a:t>
                      </a:r>
                      <a:r>
                        <a:rPr lang="en-US" sz="2800" b="1" dirty="0">
                          <a:solidFill>
                            <a:schemeClr val="bg2"/>
                          </a:solidFill>
                        </a:rPr>
                        <a:t>H.W</a:t>
                      </a:r>
                      <a:endParaRPr lang="en-GB" sz="2800" b="1" dirty="0">
                        <a:solidFill>
                          <a:schemeClr val="bg2"/>
                        </a:solidFill>
                      </a:endParaRPr>
                    </a:p>
                  </a:txBody>
                  <a:tcPr/>
                </a:tc>
                <a:extLst>
                  <a:ext uri="{0D108BD9-81ED-4DB2-BD59-A6C34878D82A}">
                    <a16:rowId xmlns:a16="http://schemas.microsoft.com/office/drawing/2014/main" xmlns="" val="10001"/>
                  </a:ext>
                </a:extLst>
              </a:tr>
              <a:tr h="819150">
                <a:tc>
                  <a:txBody>
                    <a:bodyPr/>
                    <a:lstStyle/>
                    <a:p>
                      <a:r>
                        <a:rPr lang="ar-SA" sz="2800" b="1" dirty="0">
                          <a:solidFill>
                            <a:schemeClr val="bg2"/>
                          </a:solidFill>
                        </a:rPr>
                        <a:t>20%</a:t>
                      </a:r>
                      <a:endParaRPr lang="en-GB" sz="2800" b="1" dirty="0">
                        <a:solidFill>
                          <a:schemeClr val="bg2"/>
                        </a:solidFill>
                      </a:endParaRPr>
                    </a:p>
                  </a:txBody>
                  <a:tcPr/>
                </a:tc>
                <a:tc>
                  <a:txBody>
                    <a:bodyPr/>
                    <a:lstStyle/>
                    <a:p>
                      <a:r>
                        <a:rPr lang="ar-SA" sz="2800" b="1" dirty="0">
                          <a:solidFill>
                            <a:schemeClr val="bg2"/>
                          </a:solidFill>
                        </a:rPr>
                        <a:t>عـمـــــــلي</a:t>
                      </a:r>
                      <a:endParaRPr lang="en-GB" sz="2800" b="1" dirty="0">
                        <a:solidFill>
                          <a:schemeClr val="bg2"/>
                        </a:solidFill>
                      </a:endParaRPr>
                    </a:p>
                  </a:txBody>
                  <a:tcPr/>
                </a:tc>
                <a:extLst>
                  <a:ext uri="{0D108BD9-81ED-4DB2-BD59-A6C34878D82A}">
                    <a16:rowId xmlns:a16="http://schemas.microsoft.com/office/drawing/2014/main" xmlns="" val="10002"/>
                  </a:ext>
                </a:extLst>
              </a:tr>
              <a:tr h="819150">
                <a:tc>
                  <a:txBody>
                    <a:bodyPr/>
                    <a:lstStyle/>
                    <a:p>
                      <a:r>
                        <a:rPr lang="en-US" sz="2800" b="1">
                          <a:solidFill>
                            <a:schemeClr val="bg2"/>
                          </a:solidFill>
                        </a:rPr>
                        <a:t>60</a:t>
                      </a:r>
                      <a:r>
                        <a:rPr lang="ar-SA" sz="2800" b="1">
                          <a:solidFill>
                            <a:schemeClr val="bg2"/>
                          </a:solidFill>
                        </a:rPr>
                        <a:t>%</a:t>
                      </a:r>
                      <a:endParaRPr lang="en-GB" sz="2800" b="1" dirty="0">
                        <a:solidFill>
                          <a:schemeClr val="bg2"/>
                        </a:solidFill>
                      </a:endParaRPr>
                    </a:p>
                  </a:txBody>
                  <a:tcPr/>
                </a:tc>
                <a:tc>
                  <a:txBody>
                    <a:bodyPr/>
                    <a:lstStyle/>
                    <a:p>
                      <a:r>
                        <a:rPr lang="ar-SA" sz="2800" b="1" dirty="0">
                          <a:solidFill>
                            <a:schemeClr val="bg2"/>
                          </a:solidFill>
                        </a:rPr>
                        <a:t>امتحان نهائي</a:t>
                      </a:r>
                      <a:endParaRPr lang="en-GB" sz="2800" b="1" dirty="0">
                        <a:solidFill>
                          <a:schemeClr val="bg2"/>
                        </a:solidFill>
                      </a:endParaRPr>
                    </a:p>
                  </a:txBody>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2903172947"/>
      </p:ext>
    </p:extLst>
  </p:cSld>
  <p:clrMapOvr>
    <a:masterClrMapping/>
  </p:clrMapOvr>
  <p:transition>
    <p:blinds/>
    <p:sndAc>
      <p:stSnd>
        <p:snd r:embed="rId2" name="HARP.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07504" y="260648"/>
            <a:ext cx="8928992" cy="3046988"/>
          </a:xfrm>
          <a:prstGeom prst="rect">
            <a:avLst/>
          </a:prstGeom>
          <a:noFill/>
        </p:spPr>
        <p:txBody>
          <a:bodyPr wrap="square" rtlCol="1">
            <a:spAutoFit/>
          </a:bodyPr>
          <a:lstStyle/>
          <a:p>
            <a:pPr algn="ctr"/>
            <a:r>
              <a:rPr lang="ar-EG" sz="3200" b="1" dirty="0">
                <a:solidFill>
                  <a:schemeClr val="tx2"/>
                </a:solidFill>
              </a:rPr>
              <a:t>الوسائط المتعددة : </a:t>
            </a:r>
            <a:r>
              <a:rPr lang="en-US" sz="3200" b="1" dirty="0">
                <a:solidFill>
                  <a:schemeClr val="tx2"/>
                </a:solidFill>
              </a:rPr>
              <a:t>Multimedia</a:t>
            </a:r>
            <a:endParaRPr lang="en-US" sz="3200" dirty="0">
              <a:solidFill>
                <a:srgbClr val="FFC000"/>
              </a:solidFill>
            </a:endParaRPr>
          </a:p>
          <a:p>
            <a:pPr algn="r"/>
            <a:r>
              <a:rPr lang="ar-EG" sz="3200" dirty="0"/>
              <a:t>عرفت الوسائط المتعددة </a:t>
            </a:r>
            <a:r>
              <a:rPr lang="en-US" sz="3200" dirty="0"/>
              <a:t>Multimedia</a:t>
            </a:r>
            <a:r>
              <a:rPr lang="ar-EG" sz="3200" dirty="0"/>
              <a:t> فى مجال تكنولوجيا التعليم منذ الستينات باعتبار أن استخدام أكثر من وسيلة تعليمية فى الموقف التعليمى الواحد يدخل نطاق الوسائط المتعددة ، ومع ظهور التليفزيون التعليمى الذى يعرض أكثر من وسيلة واحدة (صوت – صورة – حركة – نص مكتوب) .</a:t>
            </a:r>
          </a:p>
        </p:txBody>
      </p:sp>
      <p:sp>
        <p:nvSpPr>
          <p:cNvPr id="3" name="مربع نص 2"/>
          <p:cNvSpPr txBox="1"/>
          <p:nvPr/>
        </p:nvSpPr>
        <p:spPr>
          <a:xfrm>
            <a:off x="107504" y="3089280"/>
            <a:ext cx="8928992" cy="3724096"/>
          </a:xfrm>
          <a:prstGeom prst="rect">
            <a:avLst/>
          </a:prstGeom>
          <a:noFill/>
        </p:spPr>
        <p:txBody>
          <a:bodyPr wrap="square" rtlCol="1">
            <a:spAutoFit/>
          </a:bodyPr>
          <a:lstStyle/>
          <a:p>
            <a:pPr lvl="0"/>
            <a:r>
              <a:rPr lang="ar-EG" sz="3200" b="1" dirty="0">
                <a:solidFill>
                  <a:schemeClr val="tx2"/>
                </a:solidFill>
              </a:rPr>
              <a:t>1- البرنامج </a:t>
            </a:r>
            <a:r>
              <a:rPr lang="en-US" sz="3200" b="1" dirty="0">
                <a:solidFill>
                  <a:schemeClr val="tx2"/>
                </a:solidFill>
              </a:rPr>
              <a:t>Soft Ware</a:t>
            </a:r>
            <a:endParaRPr lang="en-US" sz="3200" dirty="0">
              <a:solidFill>
                <a:schemeClr val="tx2"/>
              </a:solidFill>
            </a:endParaRPr>
          </a:p>
          <a:p>
            <a:r>
              <a:rPr lang="ar-EG" sz="2800" dirty="0"/>
              <a:t>وهى برامج تعمل كوسيط بين جهاز الكمبيوتر ووسط التخزين.</a:t>
            </a:r>
            <a:endParaRPr lang="en-US" sz="2800" dirty="0"/>
          </a:p>
          <a:p>
            <a:pPr lvl="0"/>
            <a:r>
              <a:rPr lang="ar-EG" sz="3200" b="1" dirty="0">
                <a:solidFill>
                  <a:schemeClr val="tx2"/>
                </a:solidFill>
              </a:rPr>
              <a:t>2- الأجهزة </a:t>
            </a:r>
            <a:r>
              <a:rPr lang="en-US" sz="3200" b="1" dirty="0">
                <a:solidFill>
                  <a:schemeClr val="tx2"/>
                </a:solidFill>
              </a:rPr>
              <a:t>Hard Ware</a:t>
            </a:r>
            <a:endParaRPr lang="en-US" sz="3200" dirty="0">
              <a:solidFill>
                <a:schemeClr val="tx2"/>
              </a:solidFill>
            </a:endParaRPr>
          </a:p>
          <a:p>
            <a:r>
              <a:rPr lang="ar-EG" sz="2800" dirty="0"/>
              <a:t>يتضمن نظام الوسائط المتعددة الكامل نظام كمبيوتر متكامل بالإضافة الى مكونات خاصة تعطيه الاسم الخاص بنظام الوسائط.</a:t>
            </a:r>
            <a:endParaRPr lang="en-US" sz="2800" dirty="0"/>
          </a:p>
          <a:p>
            <a:pPr lvl="0"/>
            <a:r>
              <a:rPr lang="ar-EG" sz="3200" b="1" dirty="0">
                <a:solidFill>
                  <a:schemeClr val="tx2"/>
                </a:solidFill>
              </a:rPr>
              <a:t>3- أدوات التوصيل </a:t>
            </a:r>
            <a:r>
              <a:rPr lang="en-US" sz="3200" b="1" dirty="0">
                <a:solidFill>
                  <a:schemeClr val="tx2"/>
                </a:solidFill>
              </a:rPr>
              <a:t>Wires and Connectors</a:t>
            </a:r>
            <a:endParaRPr lang="en-US" sz="3200" dirty="0">
              <a:solidFill>
                <a:schemeClr val="tx2"/>
              </a:solidFill>
            </a:endParaRPr>
          </a:p>
          <a:p>
            <a:r>
              <a:rPr lang="ar-EG" sz="2800" dirty="0"/>
              <a:t>وتعنى </a:t>
            </a:r>
            <a:r>
              <a:rPr lang="ar-EG" sz="2800" dirty="0" err="1"/>
              <a:t>الآدوات</a:t>
            </a:r>
            <a:r>
              <a:rPr lang="ar-EG" sz="2800" dirty="0"/>
              <a:t> المستخدمة </a:t>
            </a:r>
            <a:r>
              <a:rPr lang="ar-EG" sz="2800" dirty="0" err="1"/>
              <a:t>فى</a:t>
            </a:r>
            <a:r>
              <a:rPr lang="ar-EG" sz="2800" dirty="0"/>
              <a:t> توصيل </a:t>
            </a:r>
            <a:r>
              <a:rPr lang="ar-EG" sz="2800" dirty="0" err="1"/>
              <a:t>الآجهزة</a:t>
            </a:r>
            <a:r>
              <a:rPr lang="ar-EG" sz="2800" dirty="0"/>
              <a:t> وقواعد البيانات معاً مثل الكابلات والأسلاك.</a:t>
            </a:r>
            <a:endParaRPr lang="en-US" sz="2800" dirty="0"/>
          </a:p>
        </p:txBody>
      </p:sp>
    </p:spTree>
  </p:cSld>
  <p:clrMapOvr>
    <a:masterClrMapping/>
  </p:clrMapOvr>
  <p:transition spd="slow">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strVal val="#ppt_w+.3"/>
                                          </p:val>
                                        </p:tav>
                                        <p:tav tm="100000">
                                          <p:val>
                                            <p:strVal val="#ppt_w"/>
                                          </p:val>
                                        </p:tav>
                                      </p:tavLst>
                                    </p:anim>
                                    <p:anim calcmode="lin" valueType="num">
                                      <p:cBhvr>
                                        <p:cTn id="8" dur="1000" fill="hold"/>
                                        <p:tgtEl>
                                          <p:spTgt spid="2">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checkerboard(across)">
                                      <p:cBhvr>
                                        <p:cTn id="14" dur="1000"/>
                                        <p:tgtEl>
                                          <p:spTgt spid="2">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p:cTn id="19"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20" dur="1000" fill="hold"/>
                                        <p:tgtEl>
                                          <p:spTgt spid="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47"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fade">
                                      <p:cBhvr>
                                        <p:cTn id="25" dur="1000"/>
                                        <p:tgtEl>
                                          <p:spTgt spid="3">
                                            <p:txEl>
                                              <p:pRg st="1" end="1"/>
                                            </p:txEl>
                                          </p:spTgt>
                                        </p:tgtEl>
                                      </p:cBhvr>
                                    </p:animEffect>
                                    <p:anim calcmode="lin" valueType="num">
                                      <p:cBhvr>
                                        <p:cTn id="26"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7" presetClass="entr" presetSubtype="10" fill="hold"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 calcmode="lin" valueType="num">
                                      <p:cBhvr>
                                        <p:cTn id="32"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3" dur="10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47" presetClass="entr" presetSubtype="0" fill="hold" nodeType="click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animEffect transition="in" filter="fade">
                                      <p:cBhvr>
                                        <p:cTn id="38" dur="1000"/>
                                        <p:tgtEl>
                                          <p:spTgt spid="3">
                                            <p:txEl>
                                              <p:pRg st="3" end="3"/>
                                            </p:txEl>
                                          </p:spTgt>
                                        </p:tgtEl>
                                      </p:cBhvr>
                                    </p:animEffect>
                                    <p:anim calcmode="lin" valueType="num">
                                      <p:cBhvr>
                                        <p:cTn id="3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10" fill="hold" nodeType="click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anim calcmode="lin" valueType="num">
                                      <p:cBhvr>
                                        <p:cTn id="45"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6" dur="1000" fill="hold"/>
                                        <p:tgtEl>
                                          <p:spTgt spid="3">
                                            <p:txEl>
                                              <p:pRg st="4" end="4"/>
                                            </p:txEl>
                                          </p:spTgt>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47" presetClass="entr" presetSubtype="0" fill="hold" nodeType="click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animEffect transition="in" filter="fade">
                                      <p:cBhvr>
                                        <p:cTn id="51" dur="1000"/>
                                        <p:tgtEl>
                                          <p:spTgt spid="3">
                                            <p:txEl>
                                              <p:pRg st="5" end="5"/>
                                            </p:txEl>
                                          </p:spTgt>
                                        </p:tgtEl>
                                      </p:cBhvr>
                                    </p:animEffect>
                                    <p:anim calcmode="lin" valueType="num">
                                      <p:cBhvr>
                                        <p:cTn id="5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79512" y="404664"/>
            <a:ext cx="8784975" cy="1877437"/>
          </a:xfrm>
          <a:prstGeom prst="rect">
            <a:avLst/>
          </a:prstGeom>
          <a:noFill/>
        </p:spPr>
        <p:txBody>
          <a:bodyPr wrap="square" rtlCol="1">
            <a:spAutoFit/>
          </a:bodyPr>
          <a:lstStyle/>
          <a:p>
            <a:r>
              <a:rPr lang="ar-EG" sz="3200" b="1" dirty="0">
                <a:solidFill>
                  <a:schemeClr val="tx2"/>
                </a:solidFill>
              </a:rPr>
              <a:t>وقد اتفقت جميع التعريفات على أن الوسائط المتعددة </a:t>
            </a:r>
          </a:p>
          <a:p>
            <a:r>
              <a:rPr lang="ar-EG" sz="2800" dirty="0" err="1"/>
              <a:t>هى</a:t>
            </a:r>
            <a:r>
              <a:rPr lang="ar-EG" sz="2800" dirty="0"/>
              <a:t> تكامل أكثر من وسيلتين معاً ( النصوص – الصوت – الموسيقى – الفيديو – الرسوم </a:t>
            </a:r>
            <a:r>
              <a:rPr lang="ar-EG" sz="2800" dirty="0" err="1"/>
              <a:t>الثابته</a:t>
            </a:r>
            <a:r>
              <a:rPr lang="ar-EG" sz="2800" dirty="0"/>
              <a:t> – الرسوم </a:t>
            </a:r>
            <a:r>
              <a:rPr lang="ar-EG" sz="2800" dirty="0" err="1"/>
              <a:t>المتحركه</a:t>
            </a:r>
            <a:r>
              <a:rPr lang="ar-EG" sz="2800" dirty="0"/>
              <a:t> ) بشكل متكامل متفاعل مترابط لتحقيق أهداف تعليمية محددة .</a:t>
            </a:r>
            <a:endParaRPr lang="en-US" sz="2800" dirty="0"/>
          </a:p>
        </p:txBody>
      </p:sp>
      <p:sp>
        <p:nvSpPr>
          <p:cNvPr id="3" name="مربع نص 2"/>
          <p:cNvSpPr txBox="1"/>
          <p:nvPr/>
        </p:nvSpPr>
        <p:spPr>
          <a:xfrm>
            <a:off x="179511" y="2852936"/>
            <a:ext cx="8784975" cy="3970318"/>
          </a:xfrm>
          <a:prstGeom prst="rect">
            <a:avLst/>
          </a:prstGeom>
          <a:noFill/>
        </p:spPr>
        <p:txBody>
          <a:bodyPr wrap="square" rtlCol="1">
            <a:spAutoFit/>
          </a:bodyPr>
          <a:lstStyle/>
          <a:p>
            <a:pPr lvl="0">
              <a:buFontTx/>
              <a:buChar char="-"/>
            </a:pPr>
            <a:r>
              <a:rPr lang="ar-EG" sz="2800" dirty="0"/>
              <a:t>خلق مرونة فائقة </a:t>
            </a:r>
            <a:r>
              <a:rPr lang="ar-EG" sz="2800" dirty="0" err="1"/>
              <a:t>فى</a:t>
            </a:r>
            <a:r>
              <a:rPr lang="ar-EG" sz="2800" dirty="0"/>
              <a:t> الحصول على المعلومات ونقلها.</a:t>
            </a:r>
            <a:endParaRPr lang="en-US" sz="2800" dirty="0"/>
          </a:p>
          <a:p>
            <a:pPr lvl="0">
              <a:buFontTx/>
              <a:buChar char="-"/>
            </a:pPr>
            <a:r>
              <a:rPr lang="ar-EG" sz="2800" dirty="0"/>
              <a:t>تيسير نمو القدرات </a:t>
            </a:r>
            <a:r>
              <a:rPr lang="ar-EG" sz="2800" dirty="0" err="1"/>
              <a:t>الادراكية</a:t>
            </a:r>
            <a:r>
              <a:rPr lang="ar-EG" sz="2800" dirty="0"/>
              <a:t> لدى المتعلم.</a:t>
            </a:r>
            <a:endParaRPr lang="en-US" sz="2800" dirty="0"/>
          </a:p>
          <a:p>
            <a:pPr lvl="0">
              <a:buFontTx/>
              <a:buChar char="-"/>
            </a:pPr>
            <a:r>
              <a:rPr lang="ar-EG" sz="2800" dirty="0"/>
              <a:t>تيسير نمو القدرات لدى المتعلم لاتخاذ </a:t>
            </a:r>
            <a:r>
              <a:rPr lang="ar-EG" sz="2800" dirty="0" err="1"/>
              <a:t>القرارت</a:t>
            </a:r>
            <a:r>
              <a:rPr lang="ar-EG" sz="2800" dirty="0"/>
              <a:t> وحل المشكلات.</a:t>
            </a:r>
            <a:endParaRPr lang="en-US" sz="2800" dirty="0"/>
          </a:p>
          <a:p>
            <a:pPr lvl="0"/>
            <a:r>
              <a:rPr lang="ar-EG" sz="2800" dirty="0"/>
              <a:t>زيادة النشاط </a:t>
            </a:r>
            <a:r>
              <a:rPr lang="ar-EG" sz="2800" dirty="0" err="1"/>
              <a:t>الذاتى</a:t>
            </a:r>
            <a:r>
              <a:rPr lang="ar-EG" sz="2800" dirty="0"/>
              <a:t> </a:t>
            </a:r>
            <a:r>
              <a:rPr lang="ar-EG" sz="2800" dirty="0" err="1"/>
              <a:t>والتلقائى</a:t>
            </a:r>
            <a:r>
              <a:rPr lang="ar-EG" sz="2800" dirty="0"/>
              <a:t> للمتعلم وزيادة ايجابيته.</a:t>
            </a:r>
            <a:endParaRPr lang="en-US" sz="2800" dirty="0"/>
          </a:p>
          <a:p>
            <a:pPr lvl="0"/>
            <a:r>
              <a:rPr lang="ar-EG" sz="2800" dirty="0"/>
              <a:t>- استخدام الوسائط المتعددة داخل برنامج كمبيوتر ، يجعل هناك مجالاً للانتقال من النصوص والبيانات </a:t>
            </a:r>
            <a:r>
              <a:rPr lang="ar-EG" sz="2800" dirty="0" err="1"/>
              <a:t>الى</a:t>
            </a:r>
            <a:r>
              <a:rPr lang="ar-EG" sz="2800" dirty="0"/>
              <a:t> عالم </a:t>
            </a:r>
            <a:r>
              <a:rPr lang="ar-EG" sz="2800" dirty="0" err="1"/>
              <a:t>الجرافيك</a:t>
            </a:r>
            <a:r>
              <a:rPr lang="ar-EG" sz="2800" dirty="0"/>
              <a:t> ( التمثيل </a:t>
            </a:r>
            <a:r>
              <a:rPr lang="ar-EG" sz="2800" dirty="0" err="1"/>
              <a:t>البيانى</a:t>
            </a:r>
            <a:r>
              <a:rPr lang="ar-EG" sz="2800" dirty="0"/>
              <a:t> ) والصوت والصورة.</a:t>
            </a:r>
            <a:endParaRPr lang="en-US" sz="2800" dirty="0"/>
          </a:p>
          <a:p>
            <a:pPr lvl="0"/>
            <a:r>
              <a:rPr lang="ar-EG" sz="2800" dirty="0"/>
              <a:t>- زيادة التحصيل وتعديل الاتجاهات وزيادة القدرة على الاستيعاب.</a:t>
            </a:r>
            <a:endParaRPr lang="en-US" sz="2800" dirty="0"/>
          </a:p>
          <a:p>
            <a:pPr lvl="0"/>
            <a:r>
              <a:rPr lang="ar-EG" sz="2800" dirty="0"/>
              <a:t>جعل المنهج مرنا بادخال التعديلات على </a:t>
            </a:r>
            <a:r>
              <a:rPr lang="ar-EG" sz="2800" dirty="0" smtClean="0"/>
              <a:t>تنظيمات</a:t>
            </a:r>
            <a:r>
              <a:rPr lang="ar-SA" sz="2800" dirty="0"/>
              <a:t>ه</a:t>
            </a:r>
            <a:r>
              <a:rPr lang="ar-EG" sz="2800" dirty="0" smtClean="0"/>
              <a:t> </a:t>
            </a:r>
            <a:r>
              <a:rPr lang="ar-EG" sz="2800" dirty="0"/>
              <a:t>الحالية.</a:t>
            </a:r>
            <a:endParaRPr lang="en-US" sz="2800" dirty="0"/>
          </a:p>
        </p:txBody>
      </p:sp>
      <p:sp>
        <p:nvSpPr>
          <p:cNvPr id="4" name="مربع نص 3"/>
          <p:cNvSpPr txBox="1"/>
          <p:nvPr/>
        </p:nvSpPr>
        <p:spPr>
          <a:xfrm>
            <a:off x="1907704" y="2276872"/>
            <a:ext cx="5328592" cy="584775"/>
          </a:xfrm>
          <a:prstGeom prst="rect">
            <a:avLst/>
          </a:prstGeom>
          <a:solidFill>
            <a:schemeClr val="accent6">
              <a:lumMod val="75000"/>
            </a:schemeClr>
          </a:solidFill>
        </p:spPr>
        <p:txBody>
          <a:bodyPr wrap="square" rtlCol="1">
            <a:spAutoFit/>
          </a:bodyPr>
          <a:lstStyle/>
          <a:p>
            <a:r>
              <a:rPr lang="ar-EG" sz="3200" b="1" dirty="0"/>
              <a:t>مميزات استخدام الوسائط المتعددة </a:t>
            </a:r>
            <a:endParaRPr lang="en-US" sz="3200" dirty="0"/>
          </a:p>
        </p:txBody>
      </p:sp>
    </p:spTree>
  </p:cSld>
  <p:clrMapOvr>
    <a:masterClrMapping/>
  </p:clrMapOvr>
  <p:transition spd="slow">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nodeType="clickEffect">
                                  <p:stCondLst>
                                    <p:cond delay="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1"/>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Scale>
                                      <p:cBhvr>
                                        <p:cTn id="14" dur="1000" decel="50000" fill="hold">
                                          <p:stCondLst>
                                            <p:cond delay="0"/>
                                          </p:stCondLst>
                                        </p:cTn>
                                        <p:tgtEl>
                                          <p:spTgt spid="2">
                                            <p:txEl>
                                              <p:pRg st="1" end="1"/>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2">
                                            <p:txEl>
                                              <p:pRg st="1" end="1"/>
                                            </p:txEl>
                                          </p:spTgt>
                                        </p:tgtEl>
                                        <p:attrNameLst>
                                          <p:attrName>ppt_x</p:attrName>
                                          <p:attrName>ppt_y</p:attrName>
                                        </p:attrNameLst>
                                      </p:cBhvr>
                                    </p:animMotion>
                                    <p:animEffect transition="in" filter="fade">
                                      <p:cBhvr>
                                        <p:cTn id="16" dur="1000"/>
                                        <p:tgtEl>
                                          <p:spTgt spid="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edge">
                                      <p:cBhvr>
                                        <p:cTn id="21" dur="2000"/>
                                        <p:tgtEl>
                                          <p:spTgt spid="4"/>
                                        </p:tgtEl>
                                      </p:cBhvr>
                                    </p:animEffect>
                                  </p:childTnLst>
                                </p:cTn>
                              </p:par>
                            </p:childTnLst>
                          </p:cTn>
                        </p:par>
                        <p:par>
                          <p:cTn id="22" fill="hold">
                            <p:stCondLst>
                              <p:cond delay="2000"/>
                            </p:stCondLst>
                            <p:childTnLst>
                              <p:par>
                                <p:cTn id="23" presetID="10" presetClass="path" presetSubtype="0" accel="50000" decel="50000" fill="hold" grpId="1" nodeType="afterEffect">
                                  <p:stCondLst>
                                    <p:cond delay="0"/>
                                  </p:stCondLst>
                                  <p:childTnLst>
                                    <p:animMotion origin="layout" path="M -0.13108 -0.03472 L 0.07205 -0.15208 L 0.23715 -0.10949 L 0.29774 0.01366 L 0.29166 0.19352 L 0.18715 0.26829 L 0.00382 0.30255 L -0.09618 0.1551 L -0.13108 -0.03472 Z " pathEditMode="relative" rAng="0" ptsTypes="FFFFFFFFF">
                                      <p:cBhvr>
                                        <p:cTn id="24" dur="2000" fill="hold"/>
                                        <p:tgtEl>
                                          <p:spTgt spid="4"/>
                                        </p:tgtEl>
                                        <p:attrNameLst>
                                          <p:attrName>ppt_x</p:attrName>
                                          <p:attrName>ppt_y</p:attrName>
                                        </p:attrNameLst>
                                      </p:cBhvr>
                                      <p:rCtr x="21400" y="11000"/>
                                    </p:animMotion>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nodeType="click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slide(fromBottom)">
                                      <p:cBhvr>
                                        <p:cTn id="29" dur="1000"/>
                                        <p:tgtEl>
                                          <p:spTgt spid="3">
                                            <p:txEl>
                                              <p:pRg st="0" end="0"/>
                                            </p:txEl>
                                          </p:spTgt>
                                        </p:tgtEl>
                                      </p:cBhvr>
                                    </p:animEffect>
                                  </p:childTnLst>
                                </p:cTn>
                              </p:par>
                              <p:par>
                                <p:cTn id="30" presetID="12" presetClass="entr" presetSubtype="4" fill="hold" nodeType="with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slide(fromBottom)">
                                      <p:cBhvr>
                                        <p:cTn id="32" dur="1000"/>
                                        <p:tgtEl>
                                          <p:spTgt spid="3">
                                            <p:txEl>
                                              <p:pRg st="1" end="1"/>
                                            </p:txEl>
                                          </p:spTgt>
                                        </p:tgtEl>
                                      </p:cBhvr>
                                    </p:animEffect>
                                  </p:childTnLst>
                                </p:cTn>
                              </p:par>
                              <p:par>
                                <p:cTn id="33" presetID="12" presetClass="entr" presetSubtype="4" fill="hold" nodeType="with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slide(fromBottom)">
                                      <p:cBhvr>
                                        <p:cTn id="35" dur="1000"/>
                                        <p:tgtEl>
                                          <p:spTgt spid="3">
                                            <p:txEl>
                                              <p:pRg st="2" end="2"/>
                                            </p:txEl>
                                          </p:spTgt>
                                        </p:tgtEl>
                                      </p:cBhvr>
                                    </p:animEffect>
                                  </p:childTnLst>
                                </p:cTn>
                              </p:par>
                              <p:par>
                                <p:cTn id="36" presetID="12" presetClass="entr" presetSubtype="4" fill="hold" nodeType="with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animEffect transition="in" filter="slide(fromBottom)">
                                      <p:cBhvr>
                                        <p:cTn id="38" dur="1000"/>
                                        <p:tgtEl>
                                          <p:spTgt spid="3">
                                            <p:txEl>
                                              <p:pRg st="3" end="3"/>
                                            </p:txEl>
                                          </p:spTgt>
                                        </p:tgtEl>
                                      </p:cBhvr>
                                    </p:animEffect>
                                  </p:childTnLst>
                                </p:cTn>
                              </p:par>
                              <p:par>
                                <p:cTn id="39" presetID="12" presetClass="entr" presetSubtype="4" fill="hold" nodeType="with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slide(fromBottom)">
                                      <p:cBhvr>
                                        <p:cTn id="41" dur="1000"/>
                                        <p:tgtEl>
                                          <p:spTgt spid="3">
                                            <p:txEl>
                                              <p:pRg st="4" end="4"/>
                                            </p:txEl>
                                          </p:spTgt>
                                        </p:tgtEl>
                                      </p:cBhvr>
                                    </p:animEffect>
                                  </p:childTnLst>
                                </p:cTn>
                              </p:par>
                              <p:par>
                                <p:cTn id="42" presetID="12" presetClass="entr" presetSubtype="4" fill="hold" nodeType="with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slide(fromBottom)">
                                      <p:cBhvr>
                                        <p:cTn id="44" dur="1000"/>
                                        <p:tgtEl>
                                          <p:spTgt spid="3">
                                            <p:txEl>
                                              <p:pRg st="5" end="5"/>
                                            </p:txEl>
                                          </p:spTgt>
                                        </p:tgtEl>
                                      </p:cBhvr>
                                    </p:animEffect>
                                  </p:childTnLst>
                                </p:cTn>
                              </p:par>
                              <p:par>
                                <p:cTn id="45" presetID="12" presetClass="entr" presetSubtype="4" fill="hold" nodeType="with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slide(fromBottom)">
                                      <p:cBhvr>
                                        <p:cTn id="47"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467544" y="1052736"/>
            <a:ext cx="8143932" cy="5693866"/>
          </a:xfrm>
          <a:prstGeom prst="rect">
            <a:avLst/>
          </a:prstGeom>
          <a:noFill/>
        </p:spPr>
        <p:txBody>
          <a:bodyPr wrap="square" rtlCol="1">
            <a:spAutoFit/>
          </a:bodyPr>
          <a:lstStyle/>
          <a:p>
            <a:r>
              <a:rPr lang="ar-EG" sz="2800" b="1" dirty="0">
                <a:solidFill>
                  <a:srgbClr val="FFFF00"/>
                </a:solidFill>
              </a:rPr>
              <a:t>أولاً : </a:t>
            </a:r>
            <a:r>
              <a:rPr lang="ar-EG" sz="2800" b="1" dirty="0"/>
              <a:t>النصوص المكتوبة  </a:t>
            </a:r>
            <a:r>
              <a:rPr lang="en-US" sz="2800" b="1" dirty="0"/>
              <a:t>Text</a:t>
            </a:r>
          </a:p>
          <a:p>
            <a:endParaRPr lang="en-US" sz="2800" b="1" dirty="0"/>
          </a:p>
          <a:p>
            <a:r>
              <a:rPr lang="ar-EG" sz="2800" b="1" dirty="0">
                <a:solidFill>
                  <a:srgbClr val="FFFF00"/>
                </a:solidFill>
              </a:rPr>
              <a:t>ثانياً : </a:t>
            </a:r>
            <a:r>
              <a:rPr lang="ar-EG" sz="2800" b="1" dirty="0"/>
              <a:t>الصوت </a:t>
            </a:r>
            <a:r>
              <a:rPr lang="en-US" sz="2800" b="1" dirty="0"/>
              <a:t>Sound</a:t>
            </a:r>
            <a:endParaRPr lang="ar-EG" sz="2800" b="1" dirty="0"/>
          </a:p>
          <a:p>
            <a:endParaRPr lang="en-US" sz="2800" b="1" dirty="0"/>
          </a:p>
          <a:p>
            <a:r>
              <a:rPr lang="ar-EG" sz="2800" b="1" dirty="0">
                <a:solidFill>
                  <a:srgbClr val="FFFF00"/>
                </a:solidFill>
              </a:rPr>
              <a:t>ثالثاً : </a:t>
            </a:r>
            <a:r>
              <a:rPr lang="ar-EG" sz="2800" b="1" dirty="0"/>
              <a:t>الرسوم الخطية </a:t>
            </a:r>
            <a:r>
              <a:rPr lang="en-US" sz="2800" b="1" dirty="0"/>
              <a:t>Graphics</a:t>
            </a:r>
            <a:endParaRPr lang="ar-EG" sz="2800" b="1" dirty="0"/>
          </a:p>
          <a:p>
            <a:endParaRPr lang="en-US" sz="2800" b="1" dirty="0"/>
          </a:p>
          <a:p>
            <a:r>
              <a:rPr lang="ar-EG" sz="2800" b="1" dirty="0">
                <a:solidFill>
                  <a:srgbClr val="FFFF00"/>
                </a:solidFill>
              </a:rPr>
              <a:t>رابعاً : </a:t>
            </a:r>
            <a:r>
              <a:rPr lang="ar-EG" sz="2800" b="1" dirty="0"/>
              <a:t>الرسوم الثابتة </a:t>
            </a:r>
            <a:r>
              <a:rPr lang="en-US" sz="2800" b="1" dirty="0"/>
              <a:t>Still Pictures</a:t>
            </a:r>
            <a:endParaRPr lang="ar-EG" sz="2800" b="1" dirty="0"/>
          </a:p>
          <a:p>
            <a:endParaRPr lang="en-US" sz="2800" b="1" dirty="0">
              <a:solidFill>
                <a:srgbClr val="FFFF00"/>
              </a:solidFill>
            </a:endParaRPr>
          </a:p>
          <a:p>
            <a:r>
              <a:rPr lang="ar-EG" sz="2800" b="1" dirty="0">
                <a:solidFill>
                  <a:srgbClr val="FFFF00"/>
                </a:solidFill>
              </a:rPr>
              <a:t>خامساً : </a:t>
            </a:r>
            <a:r>
              <a:rPr lang="ar-EG" sz="2800" b="1" dirty="0"/>
              <a:t>الصور المتحركة </a:t>
            </a:r>
            <a:r>
              <a:rPr lang="en-US" sz="2800" b="1" dirty="0"/>
              <a:t>Motion Pictures</a:t>
            </a:r>
          </a:p>
          <a:p>
            <a:endParaRPr lang="en-US" sz="2800" b="1" dirty="0"/>
          </a:p>
          <a:p>
            <a:r>
              <a:rPr lang="ar-EG" sz="2800" b="1" dirty="0">
                <a:solidFill>
                  <a:srgbClr val="FFFF00"/>
                </a:solidFill>
              </a:rPr>
              <a:t>سادساً : </a:t>
            </a:r>
            <a:r>
              <a:rPr lang="ar-EG" sz="2800" b="1" dirty="0"/>
              <a:t>الرسوم المتحركة </a:t>
            </a:r>
            <a:r>
              <a:rPr lang="en-US" sz="2800" b="1" dirty="0"/>
              <a:t>Animations</a:t>
            </a:r>
          </a:p>
          <a:p>
            <a:endParaRPr lang="en-US" sz="2800" b="1" dirty="0"/>
          </a:p>
          <a:p>
            <a:r>
              <a:rPr lang="ar-EG" sz="2800" b="1" dirty="0">
                <a:solidFill>
                  <a:srgbClr val="FFFF00"/>
                </a:solidFill>
              </a:rPr>
              <a:t>سابعاً : </a:t>
            </a:r>
            <a:r>
              <a:rPr lang="ar-EG" sz="2800" b="1" dirty="0"/>
              <a:t>الواقع الافتراضي </a:t>
            </a:r>
            <a:r>
              <a:rPr lang="en-US" sz="2800" b="1" dirty="0"/>
              <a:t>Virtual Reality</a:t>
            </a:r>
            <a:endParaRPr lang="ar-EG" sz="2800" b="1" dirty="0"/>
          </a:p>
        </p:txBody>
      </p:sp>
      <p:sp>
        <p:nvSpPr>
          <p:cNvPr id="3" name="مربع نص 2"/>
          <p:cNvSpPr txBox="1"/>
          <p:nvPr/>
        </p:nvSpPr>
        <p:spPr>
          <a:xfrm>
            <a:off x="2339752" y="260648"/>
            <a:ext cx="4161075" cy="646331"/>
          </a:xfrm>
          <a:prstGeom prst="rect">
            <a:avLst/>
          </a:prstGeom>
          <a:solidFill>
            <a:schemeClr val="accent6">
              <a:lumMod val="75000"/>
            </a:schemeClr>
          </a:solidFill>
        </p:spPr>
        <p:txBody>
          <a:bodyPr wrap="square" rtlCol="1">
            <a:spAutoFit/>
          </a:bodyPr>
          <a:lstStyle/>
          <a:p>
            <a:r>
              <a:rPr lang="ar-EG" sz="3600" b="1" dirty="0"/>
              <a:t>عناصر الوسائط المتعددة </a:t>
            </a:r>
          </a:p>
        </p:txBody>
      </p:sp>
    </p:spTree>
  </p:cSld>
  <p:clrMapOvr>
    <a:masterClrMapping/>
  </p:clrMapOvr>
  <p:transition spd="slow">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3"/>
                                        </p:tgtEl>
                                        <p:attrNameLst>
                                          <p:attrName>ppt_x</p:attrName>
                                          <p:attrName>ppt_y</p:attrName>
                                        </p:attrNameLst>
                                      </p:cBhvr>
                                    </p:animMotion>
                                    <p:animRot by="1500000">
                                      <p:cBhvr>
                                        <p:cTn id="7" dur="125" fill="hold">
                                          <p:stCondLst>
                                            <p:cond delay="0"/>
                                          </p:stCondLst>
                                        </p:cTn>
                                        <p:tgtEl>
                                          <p:spTgt spid="3"/>
                                        </p:tgtEl>
                                        <p:attrNameLst>
                                          <p:attrName>r</p:attrName>
                                        </p:attrNameLst>
                                      </p:cBhvr>
                                    </p:animRot>
                                    <p:animRot by="-1500000">
                                      <p:cBhvr>
                                        <p:cTn id="8" dur="125" fill="hold">
                                          <p:stCondLst>
                                            <p:cond delay="125"/>
                                          </p:stCondLst>
                                        </p:cTn>
                                        <p:tgtEl>
                                          <p:spTgt spid="3"/>
                                        </p:tgtEl>
                                        <p:attrNameLst>
                                          <p:attrName>r</p:attrName>
                                        </p:attrNameLst>
                                      </p:cBhvr>
                                    </p:animRot>
                                    <p:animRot by="-1500000">
                                      <p:cBhvr>
                                        <p:cTn id="9" dur="125" fill="hold">
                                          <p:stCondLst>
                                            <p:cond delay="250"/>
                                          </p:stCondLst>
                                        </p:cTn>
                                        <p:tgtEl>
                                          <p:spTgt spid="3"/>
                                        </p:tgtEl>
                                        <p:attrNameLst>
                                          <p:attrName>r</p:attrName>
                                        </p:attrNameLst>
                                      </p:cBhvr>
                                    </p:animRot>
                                    <p:animRot by="1500000">
                                      <p:cBhvr>
                                        <p:cTn id="10" dur="125" fill="hold">
                                          <p:stCondLst>
                                            <p:cond delay="375"/>
                                          </p:stCondLst>
                                        </p:cTn>
                                        <p:tgtEl>
                                          <p:spTgt spid="3"/>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0"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animEffect transition="in" filter="fade">
                                      <p:cBhvr>
                                        <p:cTn id="15" dur="800" decel="100000"/>
                                        <p:tgtEl>
                                          <p:spTgt spid="2">
                                            <p:txEl>
                                              <p:pRg st="0" end="0"/>
                                            </p:txEl>
                                          </p:spTgt>
                                        </p:tgtEl>
                                      </p:cBhvr>
                                    </p:animEffect>
                                    <p:anim calcmode="lin" valueType="num">
                                      <p:cBhvr>
                                        <p:cTn id="16" dur="800" decel="100000" fill="hold"/>
                                        <p:tgtEl>
                                          <p:spTgt spid="2">
                                            <p:txEl>
                                              <p:pRg st="0" end="0"/>
                                            </p:txEl>
                                          </p:spTgt>
                                        </p:tgtEl>
                                        <p:attrNameLst>
                                          <p:attrName>style.rotation</p:attrName>
                                        </p:attrNameLst>
                                      </p:cBhvr>
                                      <p:tavLst>
                                        <p:tav tm="0">
                                          <p:val>
                                            <p:fltVal val="-90"/>
                                          </p:val>
                                        </p:tav>
                                        <p:tav tm="100000">
                                          <p:val>
                                            <p:fltVal val="0"/>
                                          </p:val>
                                        </p:tav>
                                      </p:tavLst>
                                    </p:anim>
                                    <p:anim calcmode="lin" valueType="num">
                                      <p:cBhvr>
                                        <p:cTn id="17" dur="800" decel="100000" fill="hold"/>
                                        <p:tgtEl>
                                          <p:spTgt spid="2">
                                            <p:txEl>
                                              <p:pRg st="0" end="0"/>
                                            </p:txEl>
                                          </p:spTgt>
                                        </p:tgtEl>
                                        <p:attrNameLst>
                                          <p:attrName>ppt_x</p:attrName>
                                        </p:attrNameLst>
                                      </p:cBhvr>
                                      <p:tavLst>
                                        <p:tav tm="0">
                                          <p:val>
                                            <p:strVal val="#ppt_x+0.4"/>
                                          </p:val>
                                        </p:tav>
                                        <p:tav tm="100000">
                                          <p:val>
                                            <p:strVal val="#ppt_x-0.05"/>
                                          </p:val>
                                        </p:tav>
                                      </p:tavLst>
                                    </p:anim>
                                    <p:anim calcmode="lin" valueType="num">
                                      <p:cBhvr>
                                        <p:cTn id="18" dur="800" decel="100000" fill="hold"/>
                                        <p:tgtEl>
                                          <p:spTgt spid="2">
                                            <p:txEl>
                                              <p:pRg st="0" end="0"/>
                                            </p:txEl>
                                          </p:spTgt>
                                        </p:tgtEl>
                                        <p:attrNameLst>
                                          <p:attrName>ppt_y</p:attrName>
                                        </p:attrNameLst>
                                      </p:cBhvr>
                                      <p:tavLst>
                                        <p:tav tm="0">
                                          <p:val>
                                            <p:strVal val="#ppt_y-0.4"/>
                                          </p:val>
                                        </p:tav>
                                        <p:tav tm="100000">
                                          <p:val>
                                            <p:strVal val="#ppt_y+0.1"/>
                                          </p:val>
                                        </p:tav>
                                      </p:tavLst>
                                    </p:anim>
                                    <p:anim calcmode="lin" valueType="num">
                                      <p:cBhvr>
                                        <p:cTn id="19" dur="200" accel="100000" fill="hold">
                                          <p:stCondLst>
                                            <p:cond delay="800"/>
                                          </p:stCondLst>
                                        </p:cTn>
                                        <p:tgtEl>
                                          <p:spTgt spid="2">
                                            <p:txEl>
                                              <p:pRg st="0" end="0"/>
                                            </p:txEl>
                                          </p:spTgt>
                                        </p:tgtEl>
                                        <p:attrNameLst>
                                          <p:attrName>ppt_x</p:attrName>
                                        </p:attrNameLst>
                                      </p:cBhvr>
                                      <p:tavLst>
                                        <p:tav tm="0">
                                          <p:val>
                                            <p:strVal val="#ppt_x-0.05"/>
                                          </p:val>
                                        </p:tav>
                                        <p:tav tm="100000">
                                          <p:val>
                                            <p:strVal val="#ppt_x"/>
                                          </p:val>
                                        </p:tav>
                                      </p:tavLst>
                                    </p:anim>
                                    <p:anim calcmode="lin" valueType="num">
                                      <p:cBhvr>
                                        <p:cTn id="20" dur="200" accel="100000" fill="hold">
                                          <p:stCondLst>
                                            <p:cond delay="800"/>
                                          </p:stCondLst>
                                        </p:cTn>
                                        <p:tgtEl>
                                          <p:spTgt spid="2">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0" presetClass="entr" presetSubtype="0" fill="hold"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Effect transition="in" filter="fade">
                                      <p:cBhvr>
                                        <p:cTn id="25" dur="800" decel="100000"/>
                                        <p:tgtEl>
                                          <p:spTgt spid="2">
                                            <p:txEl>
                                              <p:pRg st="2" end="2"/>
                                            </p:txEl>
                                          </p:spTgt>
                                        </p:tgtEl>
                                      </p:cBhvr>
                                    </p:animEffect>
                                    <p:anim calcmode="lin" valueType="num">
                                      <p:cBhvr>
                                        <p:cTn id="26" dur="800" decel="100000" fill="hold"/>
                                        <p:tgtEl>
                                          <p:spTgt spid="2">
                                            <p:txEl>
                                              <p:pRg st="2" end="2"/>
                                            </p:txEl>
                                          </p:spTgt>
                                        </p:tgtEl>
                                        <p:attrNameLst>
                                          <p:attrName>style.rotation</p:attrName>
                                        </p:attrNameLst>
                                      </p:cBhvr>
                                      <p:tavLst>
                                        <p:tav tm="0">
                                          <p:val>
                                            <p:fltVal val="-90"/>
                                          </p:val>
                                        </p:tav>
                                        <p:tav tm="100000">
                                          <p:val>
                                            <p:fltVal val="0"/>
                                          </p:val>
                                        </p:tav>
                                      </p:tavLst>
                                    </p:anim>
                                    <p:anim calcmode="lin" valueType="num">
                                      <p:cBhvr>
                                        <p:cTn id="27" dur="800" decel="100000" fill="hold"/>
                                        <p:tgtEl>
                                          <p:spTgt spid="2">
                                            <p:txEl>
                                              <p:pRg st="2" end="2"/>
                                            </p:txEl>
                                          </p:spTgt>
                                        </p:tgtEl>
                                        <p:attrNameLst>
                                          <p:attrName>ppt_x</p:attrName>
                                        </p:attrNameLst>
                                      </p:cBhvr>
                                      <p:tavLst>
                                        <p:tav tm="0">
                                          <p:val>
                                            <p:strVal val="#ppt_x+0.4"/>
                                          </p:val>
                                        </p:tav>
                                        <p:tav tm="100000">
                                          <p:val>
                                            <p:strVal val="#ppt_x-0.05"/>
                                          </p:val>
                                        </p:tav>
                                      </p:tavLst>
                                    </p:anim>
                                    <p:anim calcmode="lin" valueType="num">
                                      <p:cBhvr>
                                        <p:cTn id="28" dur="800" decel="100000" fill="hold"/>
                                        <p:tgtEl>
                                          <p:spTgt spid="2">
                                            <p:txEl>
                                              <p:pRg st="2" end="2"/>
                                            </p:txEl>
                                          </p:spTgt>
                                        </p:tgtEl>
                                        <p:attrNameLst>
                                          <p:attrName>ppt_y</p:attrName>
                                        </p:attrNameLst>
                                      </p:cBhvr>
                                      <p:tavLst>
                                        <p:tav tm="0">
                                          <p:val>
                                            <p:strVal val="#ppt_y-0.4"/>
                                          </p:val>
                                        </p:tav>
                                        <p:tav tm="100000">
                                          <p:val>
                                            <p:strVal val="#ppt_y+0.1"/>
                                          </p:val>
                                        </p:tav>
                                      </p:tavLst>
                                    </p:anim>
                                    <p:anim calcmode="lin" valueType="num">
                                      <p:cBhvr>
                                        <p:cTn id="29" dur="200" accel="100000" fill="hold">
                                          <p:stCondLst>
                                            <p:cond delay="800"/>
                                          </p:stCondLst>
                                        </p:cTn>
                                        <p:tgtEl>
                                          <p:spTgt spid="2">
                                            <p:txEl>
                                              <p:pRg st="2" end="2"/>
                                            </p:txEl>
                                          </p:spTgt>
                                        </p:tgtEl>
                                        <p:attrNameLst>
                                          <p:attrName>ppt_x</p:attrName>
                                        </p:attrNameLst>
                                      </p:cBhvr>
                                      <p:tavLst>
                                        <p:tav tm="0">
                                          <p:val>
                                            <p:strVal val="#ppt_x-0.05"/>
                                          </p:val>
                                        </p:tav>
                                        <p:tav tm="100000">
                                          <p:val>
                                            <p:strVal val="#ppt_x"/>
                                          </p:val>
                                        </p:tav>
                                      </p:tavLst>
                                    </p:anim>
                                    <p:anim calcmode="lin" valueType="num">
                                      <p:cBhvr>
                                        <p:cTn id="30" dur="200" accel="100000" fill="hold">
                                          <p:stCondLst>
                                            <p:cond delay="800"/>
                                          </p:stCondLst>
                                        </p:cTn>
                                        <p:tgtEl>
                                          <p:spTgt spid="2">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0"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800" decel="100000"/>
                                        <p:tgtEl>
                                          <p:spTgt spid="2">
                                            <p:txEl>
                                              <p:pRg st="4" end="4"/>
                                            </p:txEl>
                                          </p:spTgt>
                                        </p:tgtEl>
                                      </p:cBhvr>
                                    </p:animEffect>
                                    <p:anim calcmode="lin" valueType="num">
                                      <p:cBhvr>
                                        <p:cTn id="36" dur="800" decel="100000" fill="hold"/>
                                        <p:tgtEl>
                                          <p:spTgt spid="2">
                                            <p:txEl>
                                              <p:pRg st="4" end="4"/>
                                            </p:txEl>
                                          </p:spTgt>
                                        </p:tgtEl>
                                        <p:attrNameLst>
                                          <p:attrName>style.rotation</p:attrName>
                                        </p:attrNameLst>
                                      </p:cBhvr>
                                      <p:tavLst>
                                        <p:tav tm="0">
                                          <p:val>
                                            <p:fltVal val="-90"/>
                                          </p:val>
                                        </p:tav>
                                        <p:tav tm="100000">
                                          <p:val>
                                            <p:fltVal val="0"/>
                                          </p:val>
                                        </p:tav>
                                      </p:tavLst>
                                    </p:anim>
                                    <p:anim calcmode="lin" valueType="num">
                                      <p:cBhvr>
                                        <p:cTn id="37" dur="800" decel="100000" fill="hold"/>
                                        <p:tgtEl>
                                          <p:spTgt spid="2">
                                            <p:txEl>
                                              <p:pRg st="4" end="4"/>
                                            </p:txEl>
                                          </p:spTgt>
                                        </p:tgtEl>
                                        <p:attrNameLst>
                                          <p:attrName>ppt_x</p:attrName>
                                        </p:attrNameLst>
                                      </p:cBhvr>
                                      <p:tavLst>
                                        <p:tav tm="0">
                                          <p:val>
                                            <p:strVal val="#ppt_x+0.4"/>
                                          </p:val>
                                        </p:tav>
                                        <p:tav tm="100000">
                                          <p:val>
                                            <p:strVal val="#ppt_x-0.05"/>
                                          </p:val>
                                        </p:tav>
                                      </p:tavLst>
                                    </p:anim>
                                    <p:anim calcmode="lin" valueType="num">
                                      <p:cBhvr>
                                        <p:cTn id="38" dur="800" decel="100000" fill="hold"/>
                                        <p:tgtEl>
                                          <p:spTgt spid="2">
                                            <p:txEl>
                                              <p:pRg st="4" end="4"/>
                                            </p:txEl>
                                          </p:spTgt>
                                        </p:tgtEl>
                                        <p:attrNameLst>
                                          <p:attrName>ppt_y</p:attrName>
                                        </p:attrNameLst>
                                      </p:cBhvr>
                                      <p:tavLst>
                                        <p:tav tm="0">
                                          <p:val>
                                            <p:strVal val="#ppt_y-0.4"/>
                                          </p:val>
                                        </p:tav>
                                        <p:tav tm="100000">
                                          <p:val>
                                            <p:strVal val="#ppt_y+0.1"/>
                                          </p:val>
                                        </p:tav>
                                      </p:tavLst>
                                    </p:anim>
                                    <p:anim calcmode="lin" valueType="num">
                                      <p:cBhvr>
                                        <p:cTn id="39" dur="200" accel="100000" fill="hold">
                                          <p:stCondLst>
                                            <p:cond delay="800"/>
                                          </p:stCondLst>
                                        </p:cTn>
                                        <p:tgtEl>
                                          <p:spTgt spid="2">
                                            <p:txEl>
                                              <p:pRg st="4" end="4"/>
                                            </p:txEl>
                                          </p:spTgt>
                                        </p:tgtEl>
                                        <p:attrNameLst>
                                          <p:attrName>ppt_x</p:attrName>
                                        </p:attrNameLst>
                                      </p:cBhvr>
                                      <p:tavLst>
                                        <p:tav tm="0">
                                          <p:val>
                                            <p:strVal val="#ppt_x-0.05"/>
                                          </p:val>
                                        </p:tav>
                                        <p:tav tm="100000">
                                          <p:val>
                                            <p:strVal val="#ppt_x"/>
                                          </p:val>
                                        </p:tav>
                                      </p:tavLst>
                                    </p:anim>
                                    <p:anim calcmode="lin" valueType="num">
                                      <p:cBhvr>
                                        <p:cTn id="40" dur="200" accel="100000" fill="hold">
                                          <p:stCondLst>
                                            <p:cond delay="800"/>
                                          </p:stCondLst>
                                        </p:cTn>
                                        <p:tgtEl>
                                          <p:spTgt spid="2">
                                            <p:txEl>
                                              <p:pRg st="4" end="4"/>
                                            </p:txEl>
                                          </p:spTgt>
                                        </p:tgtEl>
                                        <p:attrNameLst>
                                          <p:attrName>ppt_y</p:attrName>
                                        </p:attrNameLst>
                                      </p:cBhvr>
                                      <p:tavLst>
                                        <p:tav tm="0">
                                          <p:val>
                                            <p:strVal val="#ppt_y+0.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0" presetClass="entr" presetSubtype="0" fill="hold" nodeType="clickEffect">
                                  <p:stCondLst>
                                    <p:cond delay="0"/>
                                  </p:stCondLst>
                                  <p:childTnLst>
                                    <p:set>
                                      <p:cBhvr>
                                        <p:cTn id="44" dur="1" fill="hold">
                                          <p:stCondLst>
                                            <p:cond delay="0"/>
                                          </p:stCondLst>
                                        </p:cTn>
                                        <p:tgtEl>
                                          <p:spTgt spid="2">
                                            <p:txEl>
                                              <p:pRg st="6" end="6"/>
                                            </p:txEl>
                                          </p:spTgt>
                                        </p:tgtEl>
                                        <p:attrNameLst>
                                          <p:attrName>style.visibility</p:attrName>
                                        </p:attrNameLst>
                                      </p:cBhvr>
                                      <p:to>
                                        <p:strVal val="visible"/>
                                      </p:to>
                                    </p:set>
                                    <p:animEffect transition="in" filter="fade">
                                      <p:cBhvr>
                                        <p:cTn id="45" dur="800" decel="100000"/>
                                        <p:tgtEl>
                                          <p:spTgt spid="2">
                                            <p:txEl>
                                              <p:pRg st="6" end="6"/>
                                            </p:txEl>
                                          </p:spTgt>
                                        </p:tgtEl>
                                      </p:cBhvr>
                                    </p:animEffect>
                                    <p:anim calcmode="lin" valueType="num">
                                      <p:cBhvr>
                                        <p:cTn id="46" dur="800" decel="100000" fill="hold"/>
                                        <p:tgtEl>
                                          <p:spTgt spid="2">
                                            <p:txEl>
                                              <p:pRg st="6" end="6"/>
                                            </p:txEl>
                                          </p:spTgt>
                                        </p:tgtEl>
                                        <p:attrNameLst>
                                          <p:attrName>style.rotation</p:attrName>
                                        </p:attrNameLst>
                                      </p:cBhvr>
                                      <p:tavLst>
                                        <p:tav tm="0">
                                          <p:val>
                                            <p:fltVal val="-90"/>
                                          </p:val>
                                        </p:tav>
                                        <p:tav tm="100000">
                                          <p:val>
                                            <p:fltVal val="0"/>
                                          </p:val>
                                        </p:tav>
                                      </p:tavLst>
                                    </p:anim>
                                    <p:anim calcmode="lin" valueType="num">
                                      <p:cBhvr>
                                        <p:cTn id="47" dur="800" decel="100000" fill="hold"/>
                                        <p:tgtEl>
                                          <p:spTgt spid="2">
                                            <p:txEl>
                                              <p:pRg st="6" end="6"/>
                                            </p:txEl>
                                          </p:spTgt>
                                        </p:tgtEl>
                                        <p:attrNameLst>
                                          <p:attrName>ppt_x</p:attrName>
                                        </p:attrNameLst>
                                      </p:cBhvr>
                                      <p:tavLst>
                                        <p:tav tm="0">
                                          <p:val>
                                            <p:strVal val="#ppt_x+0.4"/>
                                          </p:val>
                                        </p:tav>
                                        <p:tav tm="100000">
                                          <p:val>
                                            <p:strVal val="#ppt_x-0.05"/>
                                          </p:val>
                                        </p:tav>
                                      </p:tavLst>
                                    </p:anim>
                                    <p:anim calcmode="lin" valueType="num">
                                      <p:cBhvr>
                                        <p:cTn id="48" dur="800" decel="100000" fill="hold"/>
                                        <p:tgtEl>
                                          <p:spTgt spid="2">
                                            <p:txEl>
                                              <p:pRg st="6" end="6"/>
                                            </p:txEl>
                                          </p:spTgt>
                                        </p:tgtEl>
                                        <p:attrNameLst>
                                          <p:attrName>ppt_y</p:attrName>
                                        </p:attrNameLst>
                                      </p:cBhvr>
                                      <p:tavLst>
                                        <p:tav tm="0">
                                          <p:val>
                                            <p:strVal val="#ppt_y-0.4"/>
                                          </p:val>
                                        </p:tav>
                                        <p:tav tm="100000">
                                          <p:val>
                                            <p:strVal val="#ppt_y+0.1"/>
                                          </p:val>
                                        </p:tav>
                                      </p:tavLst>
                                    </p:anim>
                                    <p:anim calcmode="lin" valueType="num">
                                      <p:cBhvr>
                                        <p:cTn id="49" dur="200" accel="100000" fill="hold">
                                          <p:stCondLst>
                                            <p:cond delay="800"/>
                                          </p:stCondLst>
                                        </p:cTn>
                                        <p:tgtEl>
                                          <p:spTgt spid="2">
                                            <p:txEl>
                                              <p:pRg st="6" end="6"/>
                                            </p:txEl>
                                          </p:spTgt>
                                        </p:tgtEl>
                                        <p:attrNameLst>
                                          <p:attrName>ppt_x</p:attrName>
                                        </p:attrNameLst>
                                      </p:cBhvr>
                                      <p:tavLst>
                                        <p:tav tm="0">
                                          <p:val>
                                            <p:strVal val="#ppt_x-0.05"/>
                                          </p:val>
                                        </p:tav>
                                        <p:tav tm="100000">
                                          <p:val>
                                            <p:strVal val="#ppt_x"/>
                                          </p:val>
                                        </p:tav>
                                      </p:tavLst>
                                    </p:anim>
                                    <p:anim calcmode="lin" valueType="num">
                                      <p:cBhvr>
                                        <p:cTn id="50" dur="200" accel="100000" fill="hold">
                                          <p:stCondLst>
                                            <p:cond delay="800"/>
                                          </p:stCondLst>
                                        </p:cTn>
                                        <p:tgtEl>
                                          <p:spTgt spid="2">
                                            <p:txEl>
                                              <p:pRg st="6" end="6"/>
                                            </p:txEl>
                                          </p:spTgt>
                                        </p:tgtEl>
                                        <p:attrNameLst>
                                          <p:attrName>ppt_y</p:attrName>
                                        </p:attrNameLst>
                                      </p:cBhvr>
                                      <p:tavLst>
                                        <p:tav tm="0">
                                          <p:val>
                                            <p:strVal val="#ppt_y+0.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30" presetClass="entr" presetSubtype="0" fill="hold" nodeType="click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animEffect transition="in" filter="fade">
                                      <p:cBhvr>
                                        <p:cTn id="55" dur="800" decel="100000"/>
                                        <p:tgtEl>
                                          <p:spTgt spid="2">
                                            <p:txEl>
                                              <p:pRg st="8" end="8"/>
                                            </p:txEl>
                                          </p:spTgt>
                                        </p:tgtEl>
                                      </p:cBhvr>
                                    </p:animEffect>
                                    <p:anim calcmode="lin" valueType="num">
                                      <p:cBhvr>
                                        <p:cTn id="56" dur="800" decel="100000" fill="hold"/>
                                        <p:tgtEl>
                                          <p:spTgt spid="2">
                                            <p:txEl>
                                              <p:pRg st="8" end="8"/>
                                            </p:txEl>
                                          </p:spTgt>
                                        </p:tgtEl>
                                        <p:attrNameLst>
                                          <p:attrName>style.rotation</p:attrName>
                                        </p:attrNameLst>
                                      </p:cBhvr>
                                      <p:tavLst>
                                        <p:tav tm="0">
                                          <p:val>
                                            <p:fltVal val="-90"/>
                                          </p:val>
                                        </p:tav>
                                        <p:tav tm="100000">
                                          <p:val>
                                            <p:fltVal val="0"/>
                                          </p:val>
                                        </p:tav>
                                      </p:tavLst>
                                    </p:anim>
                                    <p:anim calcmode="lin" valueType="num">
                                      <p:cBhvr>
                                        <p:cTn id="57" dur="800" decel="100000" fill="hold"/>
                                        <p:tgtEl>
                                          <p:spTgt spid="2">
                                            <p:txEl>
                                              <p:pRg st="8" end="8"/>
                                            </p:txEl>
                                          </p:spTgt>
                                        </p:tgtEl>
                                        <p:attrNameLst>
                                          <p:attrName>ppt_x</p:attrName>
                                        </p:attrNameLst>
                                      </p:cBhvr>
                                      <p:tavLst>
                                        <p:tav tm="0">
                                          <p:val>
                                            <p:strVal val="#ppt_x+0.4"/>
                                          </p:val>
                                        </p:tav>
                                        <p:tav tm="100000">
                                          <p:val>
                                            <p:strVal val="#ppt_x-0.05"/>
                                          </p:val>
                                        </p:tav>
                                      </p:tavLst>
                                    </p:anim>
                                    <p:anim calcmode="lin" valueType="num">
                                      <p:cBhvr>
                                        <p:cTn id="58" dur="800" decel="100000" fill="hold"/>
                                        <p:tgtEl>
                                          <p:spTgt spid="2">
                                            <p:txEl>
                                              <p:pRg st="8" end="8"/>
                                            </p:txEl>
                                          </p:spTgt>
                                        </p:tgtEl>
                                        <p:attrNameLst>
                                          <p:attrName>ppt_y</p:attrName>
                                        </p:attrNameLst>
                                      </p:cBhvr>
                                      <p:tavLst>
                                        <p:tav tm="0">
                                          <p:val>
                                            <p:strVal val="#ppt_y-0.4"/>
                                          </p:val>
                                        </p:tav>
                                        <p:tav tm="100000">
                                          <p:val>
                                            <p:strVal val="#ppt_y+0.1"/>
                                          </p:val>
                                        </p:tav>
                                      </p:tavLst>
                                    </p:anim>
                                    <p:anim calcmode="lin" valueType="num">
                                      <p:cBhvr>
                                        <p:cTn id="59" dur="200" accel="100000" fill="hold">
                                          <p:stCondLst>
                                            <p:cond delay="800"/>
                                          </p:stCondLst>
                                        </p:cTn>
                                        <p:tgtEl>
                                          <p:spTgt spid="2">
                                            <p:txEl>
                                              <p:pRg st="8" end="8"/>
                                            </p:txEl>
                                          </p:spTgt>
                                        </p:tgtEl>
                                        <p:attrNameLst>
                                          <p:attrName>ppt_x</p:attrName>
                                        </p:attrNameLst>
                                      </p:cBhvr>
                                      <p:tavLst>
                                        <p:tav tm="0">
                                          <p:val>
                                            <p:strVal val="#ppt_x-0.05"/>
                                          </p:val>
                                        </p:tav>
                                        <p:tav tm="100000">
                                          <p:val>
                                            <p:strVal val="#ppt_x"/>
                                          </p:val>
                                        </p:tav>
                                      </p:tavLst>
                                    </p:anim>
                                    <p:anim calcmode="lin" valueType="num">
                                      <p:cBhvr>
                                        <p:cTn id="60" dur="200" accel="100000" fill="hold">
                                          <p:stCondLst>
                                            <p:cond delay="800"/>
                                          </p:stCondLst>
                                        </p:cTn>
                                        <p:tgtEl>
                                          <p:spTgt spid="2">
                                            <p:txEl>
                                              <p:pRg st="8" end="8"/>
                                            </p:txEl>
                                          </p:spTgt>
                                        </p:tgtEl>
                                        <p:attrNameLst>
                                          <p:attrName>ppt_y</p:attrName>
                                        </p:attrNameLst>
                                      </p:cBhvr>
                                      <p:tavLst>
                                        <p:tav tm="0">
                                          <p:val>
                                            <p:strVal val="#ppt_y+0.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30" presetClass="entr" presetSubtype="0" fill="hold" nodeType="clickEffect">
                                  <p:stCondLst>
                                    <p:cond delay="0"/>
                                  </p:stCondLst>
                                  <p:childTnLst>
                                    <p:set>
                                      <p:cBhvr>
                                        <p:cTn id="64" dur="1" fill="hold">
                                          <p:stCondLst>
                                            <p:cond delay="0"/>
                                          </p:stCondLst>
                                        </p:cTn>
                                        <p:tgtEl>
                                          <p:spTgt spid="2">
                                            <p:txEl>
                                              <p:pRg st="10" end="10"/>
                                            </p:txEl>
                                          </p:spTgt>
                                        </p:tgtEl>
                                        <p:attrNameLst>
                                          <p:attrName>style.visibility</p:attrName>
                                        </p:attrNameLst>
                                      </p:cBhvr>
                                      <p:to>
                                        <p:strVal val="visible"/>
                                      </p:to>
                                    </p:set>
                                    <p:animEffect transition="in" filter="fade">
                                      <p:cBhvr>
                                        <p:cTn id="65" dur="800" decel="100000"/>
                                        <p:tgtEl>
                                          <p:spTgt spid="2">
                                            <p:txEl>
                                              <p:pRg st="10" end="10"/>
                                            </p:txEl>
                                          </p:spTgt>
                                        </p:tgtEl>
                                      </p:cBhvr>
                                    </p:animEffect>
                                    <p:anim calcmode="lin" valueType="num">
                                      <p:cBhvr>
                                        <p:cTn id="66" dur="800" decel="100000" fill="hold"/>
                                        <p:tgtEl>
                                          <p:spTgt spid="2">
                                            <p:txEl>
                                              <p:pRg st="10" end="10"/>
                                            </p:txEl>
                                          </p:spTgt>
                                        </p:tgtEl>
                                        <p:attrNameLst>
                                          <p:attrName>style.rotation</p:attrName>
                                        </p:attrNameLst>
                                      </p:cBhvr>
                                      <p:tavLst>
                                        <p:tav tm="0">
                                          <p:val>
                                            <p:fltVal val="-90"/>
                                          </p:val>
                                        </p:tav>
                                        <p:tav tm="100000">
                                          <p:val>
                                            <p:fltVal val="0"/>
                                          </p:val>
                                        </p:tav>
                                      </p:tavLst>
                                    </p:anim>
                                    <p:anim calcmode="lin" valueType="num">
                                      <p:cBhvr>
                                        <p:cTn id="67" dur="800" decel="100000" fill="hold"/>
                                        <p:tgtEl>
                                          <p:spTgt spid="2">
                                            <p:txEl>
                                              <p:pRg st="10" end="10"/>
                                            </p:txEl>
                                          </p:spTgt>
                                        </p:tgtEl>
                                        <p:attrNameLst>
                                          <p:attrName>ppt_x</p:attrName>
                                        </p:attrNameLst>
                                      </p:cBhvr>
                                      <p:tavLst>
                                        <p:tav tm="0">
                                          <p:val>
                                            <p:strVal val="#ppt_x+0.4"/>
                                          </p:val>
                                        </p:tav>
                                        <p:tav tm="100000">
                                          <p:val>
                                            <p:strVal val="#ppt_x-0.05"/>
                                          </p:val>
                                        </p:tav>
                                      </p:tavLst>
                                    </p:anim>
                                    <p:anim calcmode="lin" valueType="num">
                                      <p:cBhvr>
                                        <p:cTn id="68" dur="800" decel="100000" fill="hold"/>
                                        <p:tgtEl>
                                          <p:spTgt spid="2">
                                            <p:txEl>
                                              <p:pRg st="10" end="10"/>
                                            </p:txEl>
                                          </p:spTgt>
                                        </p:tgtEl>
                                        <p:attrNameLst>
                                          <p:attrName>ppt_y</p:attrName>
                                        </p:attrNameLst>
                                      </p:cBhvr>
                                      <p:tavLst>
                                        <p:tav tm="0">
                                          <p:val>
                                            <p:strVal val="#ppt_y-0.4"/>
                                          </p:val>
                                        </p:tav>
                                        <p:tav tm="100000">
                                          <p:val>
                                            <p:strVal val="#ppt_y+0.1"/>
                                          </p:val>
                                        </p:tav>
                                      </p:tavLst>
                                    </p:anim>
                                    <p:anim calcmode="lin" valueType="num">
                                      <p:cBhvr>
                                        <p:cTn id="69" dur="200" accel="100000" fill="hold">
                                          <p:stCondLst>
                                            <p:cond delay="800"/>
                                          </p:stCondLst>
                                        </p:cTn>
                                        <p:tgtEl>
                                          <p:spTgt spid="2">
                                            <p:txEl>
                                              <p:pRg st="10" end="10"/>
                                            </p:txEl>
                                          </p:spTgt>
                                        </p:tgtEl>
                                        <p:attrNameLst>
                                          <p:attrName>ppt_x</p:attrName>
                                        </p:attrNameLst>
                                      </p:cBhvr>
                                      <p:tavLst>
                                        <p:tav tm="0">
                                          <p:val>
                                            <p:strVal val="#ppt_x-0.05"/>
                                          </p:val>
                                        </p:tav>
                                        <p:tav tm="100000">
                                          <p:val>
                                            <p:strVal val="#ppt_x"/>
                                          </p:val>
                                        </p:tav>
                                      </p:tavLst>
                                    </p:anim>
                                    <p:anim calcmode="lin" valueType="num">
                                      <p:cBhvr>
                                        <p:cTn id="70" dur="200" accel="100000" fill="hold">
                                          <p:stCondLst>
                                            <p:cond delay="800"/>
                                          </p:stCondLst>
                                        </p:cTn>
                                        <p:tgtEl>
                                          <p:spTgt spid="2">
                                            <p:txEl>
                                              <p:pRg st="10" end="10"/>
                                            </p:txEl>
                                          </p:spTgt>
                                        </p:tgtEl>
                                        <p:attrNameLst>
                                          <p:attrName>ppt_y</p:attrName>
                                        </p:attrNameLst>
                                      </p:cBhvr>
                                      <p:tavLst>
                                        <p:tav tm="0">
                                          <p:val>
                                            <p:strVal val="#ppt_y+0.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30" presetClass="entr" presetSubtype="0" fill="hold" nodeType="clickEffect">
                                  <p:stCondLst>
                                    <p:cond delay="0"/>
                                  </p:stCondLst>
                                  <p:childTnLst>
                                    <p:set>
                                      <p:cBhvr>
                                        <p:cTn id="74" dur="1" fill="hold">
                                          <p:stCondLst>
                                            <p:cond delay="0"/>
                                          </p:stCondLst>
                                        </p:cTn>
                                        <p:tgtEl>
                                          <p:spTgt spid="2">
                                            <p:txEl>
                                              <p:pRg st="12" end="12"/>
                                            </p:txEl>
                                          </p:spTgt>
                                        </p:tgtEl>
                                        <p:attrNameLst>
                                          <p:attrName>style.visibility</p:attrName>
                                        </p:attrNameLst>
                                      </p:cBhvr>
                                      <p:to>
                                        <p:strVal val="visible"/>
                                      </p:to>
                                    </p:set>
                                    <p:animEffect transition="in" filter="fade">
                                      <p:cBhvr>
                                        <p:cTn id="75" dur="800" decel="100000"/>
                                        <p:tgtEl>
                                          <p:spTgt spid="2">
                                            <p:txEl>
                                              <p:pRg st="12" end="12"/>
                                            </p:txEl>
                                          </p:spTgt>
                                        </p:tgtEl>
                                      </p:cBhvr>
                                    </p:animEffect>
                                    <p:anim calcmode="lin" valueType="num">
                                      <p:cBhvr>
                                        <p:cTn id="76" dur="800" decel="100000" fill="hold"/>
                                        <p:tgtEl>
                                          <p:spTgt spid="2">
                                            <p:txEl>
                                              <p:pRg st="12" end="12"/>
                                            </p:txEl>
                                          </p:spTgt>
                                        </p:tgtEl>
                                        <p:attrNameLst>
                                          <p:attrName>style.rotation</p:attrName>
                                        </p:attrNameLst>
                                      </p:cBhvr>
                                      <p:tavLst>
                                        <p:tav tm="0">
                                          <p:val>
                                            <p:fltVal val="-90"/>
                                          </p:val>
                                        </p:tav>
                                        <p:tav tm="100000">
                                          <p:val>
                                            <p:fltVal val="0"/>
                                          </p:val>
                                        </p:tav>
                                      </p:tavLst>
                                    </p:anim>
                                    <p:anim calcmode="lin" valueType="num">
                                      <p:cBhvr>
                                        <p:cTn id="77" dur="800" decel="100000" fill="hold"/>
                                        <p:tgtEl>
                                          <p:spTgt spid="2">
                                            <p:txEl>
                                              <p:pRg st="12" end="12"/>
                                            </p:txEl>
                                          </p:spTgt>
                                        </p:tgtEl>
                                        <p:attrNameLst>
                                          <p:attrName>ppt_x</p:attrName>
                                        </p:attrNameLst>
                                      </p:cBhvr>
                                      <p:tavLst>
                                        <p:tav tm="0">
                                          <p:val>
                                            <p:strVal val="#ppt_x+0.4"/>
                                          </p:val>
                                        </p:tav>
                                        <p:tav tm="100000">
                                          <p:val>
                                            <p:strVal val="#ppt_x-0.05"/>
                                          </p:val>
                                        </p:tav>
                                      </p:tavLst>
                                    </p:anim>
                                    <p:anim calcmode="lin" valueType="num">
                                      <p:cBhvr>
                                        <p:cTn id="78" dur="800" decel="100000" fill="hold"/>
                                        <p:tgtEl>
                                          <p:spTgt spid="2">
                                            <p:txEl>
                                              <p:pRg st="12" end="12"/>
                                            </p:txEl>
                                          </p:spTgt>
                                        </p:tgtEl>
                                        <p:attrNameLst>
                                          <p:attrName>ppt_y</p:attrName>
                                        </p:attrNameLst>
                                      </p:cBhvr>
                                      <p:tavLst>
                                        <p:tav tm="0">
                                          <p:val>
                                            <p:strVal val="#ppt_y-0.4"/>
                                          </p:val>
                                        </p:tav>
                                        <p:tav tm="100000">
                                          <p:val>
                                            <p:strVal val="#ppt_y+0.1"/>
                                          </p:val>
                                        </p:tav>
                                      </p:tavLst>
                                    </p:anim>
                                    <p:anim calcmode="lin" valueType="num">
                                      <p:cBhvr>
                                        <p:cTn id="79" dur="200" accel="100000" fill="hold">
                                          <p:stCondLst>
                                            <p:cond delay="800"/>
                                          </p:stCondLst>
                                        </p:cTn>
                                        <p:tgtEl>
                                          <p:spTgt spid="2">
                                            <p:txEl>
                                              <p:pRg st="12" end="12"/>
                                            </p:txEl>
                                          </p:spTgt>
                                        </p:tgtEl>
                                        <p:attrNameLst>
                                          <p:attrName>ppt_x</p:attrName>
                                        </p:attrNameLst>
                                      </p:cBhvr>
                                      <p:tavLst>
                                        <p:tav tm="0">
                                          <p:val>
                                            <p:strVal val="#ppt_x-0.05"/>
                                          </p:val>
                                        </p:tav>
                                        <p:tav tm="100000">
                                          <p:val>
                                            <p:strVal val="#ppt_x"/>
                                          </p:val>
                                        </p:tav>
                                      </p:tavLst>
                                    </p:anim>
                                    <p:anim calcmode="lin" valueType="num">
                                      <p:cBhvr>
                                        <p:cTn id="80" dur="200" accel="100000" fill="hold">
                                          <p:stCondLst>
                                            <p:cond delay="800"/>
                                          </p:stCondLst>
                                        </p:cTn>
                                        <p:tgtEl>
                                          <p:spTgt spid="2">
                                            <p:txEl>
                                              <p:pRg st="12" end="12"/>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323528" y="1124744"/>
            <a:ext cx="8640959" cy="1261884"/>
          </a:xfrm>
          <a:prstGeom prst="rect">
            <a:avLst/>
          </a:prstGeom>
          <a:noFill/>
        </p:spPr>
        <p:txBody>
          <a:bodyPr wrap="square" rtlCol="1">
            <a:spAutoFit/>
          </a:bodyPr>
          <a:lstStyle/>
          <a:p>
            <a:r>
              <a:rPr lang="ar-EG" sz="2800" dirty="0"/>
              <a:t>يقصد بالنصوص المكتوبة كل ما </a:t>
            </a:r>
            <a:r>
              <a:rPr lang="ar-EG" sz="2800" dirty="0" err="1"/>
              <a:t>تحتوية</a:t>
            </a:r>
            <a:r>
              <a:rPr lang="ar-EG" sz="2800" dirty="0"/>
              <a:t> الشاشة من بيانات مكتوبة تعرض على المتعلم أثناء </a:t>
            </a:r>
            <a:r>
              <a:rPr lang="ar-EG" sz="2800" dirty="0" err="1"/>
              <a:t>تفاعلة</a:t>
            </a:r>
            <a:r>
              <a:rPr lang="ar-EG" sz="2800" dirty="0"/>
              <a:t> مع البرنامج .</a:t>
            </a:r>
            <a:endParaRPr lang="en-US" sz="2800" dirty="0"/>
          </a:p>
          <a:p>
            <a:endParaRPr lang="ar-EG" sz="2000" dirty="0"/>
          </a:p>
        </p:txBody>
      </p:sp>
      <p:sp>
        <p:nvSpPr>
          <p:cNvPr id="3" name="مربع نص 2"/>
          <p:cNvSpPr txBox="1"/>
          <p:nvPr/>
        </p:nvSpPr>
        <p:spPr>
          <a:xfrm>
            <a:off x="107504" y="2564904"/>
            <a:ext cx="9036495" cy="4154984"/>
          </a:xfrm>
          <a:prstGeom prst="rect">
            <a:avLst/>
          </a:prstGeom>
          <a:noFill/>
        </p:spPr>
        <p:txBody>
          <a:bodyPr wrap="square" rtlCol="1">
            <a:spAutoFit/>
          </a:bodyPr>
          <a:lstStyle/>
          <a:p>
            <a:pPr algn="ctr"/>
            <a:r>
              <a:rPr lang="ar-EG" sz="2800" b="1" dirty="0">
                <a:solidFill>
                  <a:schemeClr val="tx2"/>
                </a:solidFill>
              </a:rPr>
              <a:t>وهناك عاملين مهمين يرتبطان بالنص المكتوب </a:t>
            </a:r>
            <a:r>
              <a:rPr lang="ar-EG" sz="2800" b="1" dirty="0" err="1">
                <a:solidFill>
                  <a:schemeClr val="tx2"/>
                </a:solidFill>
              </a:rPr>
              <a:t>فى</a:t>
            </a:r>
            <a:r>
              <a:rPr lang="ar-EG" sz="2800" b="1" dirty="0">
                <a:solidFill>
                  <a:schemeClr val="tx2"/>
                </a:solidFill>
              </a:rPr>
              <a:t> برامج الوسائط المتعددة :-</a:t>
            </a:r>
          </a:p>
          <a:p>
            <a:endParaRPr lang="en-US" sz="2000" dirty="0"/>
          </a:p>
          <a:p>
            <a:pPr lvl="0">
              <a:buFontTx/>
              <a:buChar char="-"/>
            </a:pPr>
            <a:r>
              <a:rPr lang="ar-EG" sz="2800" b="1" dirty="0">
                <a:solidFill>
                  <a:schemeClr val="tx2"/>
                </a:solidFill>
              </a:rPr>
              <a:t>القابلية </a:t>
            </a:r>
            <a:r>
              <a:rPr lang="en-US" sz="2800" b="1" dirty="0">
                <a:solidFill>
                  <a:schemeClr val="tx2"/>
                </a:solidFill>
              </a:rPr>
              <a:t>Faculty</a:t>
            </a:r>
            <a:r>
              <a:rPr lang="ar-EG" sz="2800" b="1" dirty="0">
                <a:solidFill>
                  <a:schemeClr val="tx2"/>
                </a:solidFill>
              </a:rPr>
              <a:t> :-</a:t>
            </a:r>
            <a:endParaRPr lang="en-US" sz="2800" dirty="0">
              <a:solidFill>
                <a:schemeClr val="tx2"/>
              </a:solidFill>
            </a:endParaRPr>
          </a:p>
          <a:p>
            <a:r>
              <a:rPr lang="ar-EG" sz="2800" dirty="0"/>
              <a:t>وهى ترتبط بقدرة القارئ على أن يحدد بنجاح ويستخلص من النص ما يريده ، بعد أن يتعرف علي</a:t>
            </a:r>
            <a:r>
              <a:rPr lang="ar-SA" sz="2800" dirty="0"/>
              <a:t>ه</a:t>
            </a:r>
            <a:r>
              <a:rPr lang="ar-EG" sz="2800" dirty="0"/>
              <a:t> ويميزه ، وتقاس القابلية بسرعة قراء النص وفهمه.</a:t>
            </a:r>
          </a:p>
          <a:p>
            <a:endParaRPr lang="en-US" sz="2800" dirty="0"/>
          </a:p>
          <a:p>
            <a:pPr lvl="0"/>
            <a:r>
              <a:rPr lang="ar-EG" sz="2800" b="1" dirty="0">
                <a:solidFill>
                  <a:schemeClr val="tx2"/>
                </a:solidFill>
              </a:rPr>
              <a:t>- </a:t>
            </a:r>
            <a:r>
              <a:rPr lang="ar-EG" sz="2800" b="1" dirty="0" smtClean="0">
                <a:solidFill>
                  <a:schemeClr val="tx2"/>
                </a:solidFill>
              </a:rPr>
              <a:t>ال</a:t>
            </a:r>
            <a:r>
              <a:rPr lang="ar-SA" sz="2800" b="1" dirty="0" smtClean="0">
                <a:solidFill>
                  <a:schemeClr val="tx2"/>
                </a:solidFill>
              </a:rPr>
              <a:t>ا</a:t>
            </a:r>
            <a:r>
              <a:rPr lang="ar-EG" sz="2800" b="1" dirty="0" smtClean="0">
                <a:solidFill>
                  <a:schemeClr val="tx2"/>
                </a:solidFill>
              </a:rPr>
              <a:t>نقرائية </a:t>
            </a:r>
            <a:r>
              <a:rPr lang="en-US" sz="2800" b="1" dirty="0">
                <a:solidFill>
                  <a:schemeClr val="tx2"/>
                </a:solidFill>
              </a:rPr>
              <a:t>Readability</a:t>
            </a:r>
            <a:r>
              <a:rPr lang="ar-EG" sz="2800" b="1" dirty="0">
                <a:solidFill>
                  <a:schemeClr val="tx2"/>
                </a:solidFill>
              </a:rPr>
              <a:t> :-</a:t>
            </a:r>
            <a:endParaRPr lang="en-US" sz="2800" dirty="0">
              <a:solidFill>
                <a:schemeClr val="tx2"/>
              </a:solidFill>
            </a:endParaRPr>
          </a:p>
          <a:p>
            <a:r>
              <a:rPr lang="ar-EG" sz="2800" dirty="0"/>
              <a:t>وهى ترتبط بمدى السهولة </a:t>
            </a:r>
            <a:r>
              <a:rPr lang="ar-EG" sz="2800" dirty="0" err="1"/>
              <a:t>فى</a:t>
            </a:r>
            <a:r>
              <a:rPr lang="ar-EG" sz="2800" dirty="0"/>
              <a:t> تفسير العلاقات الحادثة بين جمل النص ومكوناتها وسهولة فهمها واستعادتها .</a:t>
            </a:r>
            <a:endParaRPr lang="en-US" sz="2800" dirty="0"/>
          </a:p>
          <a:p>
            <a:endParaRPr lang="ar-EG" sz="2000" dirty="0"/>
          </a:p>
        </p:txBody>
      </p:sp>
      <p:sp>
        <p:nvSpPr>
          <p:cNvPr id="4" name="مربع نص 3"/>
          <p:cNvSpPr txBox="1"/>
          <p:nvPr/>
        </p:nvSpPr>
        <p:spPr>
          <a:xfrm>
            <a:off x="2928926" y="241484"/>
            <a:ext cx="4076729" cy="523220"/>
          </a:xfrm>
          <a:prstGeom prst="rect">
            <a:avLst/>
          </a:prstGeom>
        </p:spPr>
        <p:style>
          <a:lnRef idx="0">
            <a:schemeClr val="accent4"/>
          </a:lnRef>
          <a:fillRef idx="3">
            <a:schemeClr val="accent4"/>
          </a:fillRef>
          <a:effectRef idx="3">
            <a:schemeClr val="accent4"/>
          </a:effectRef>
          <a:fontRef idx="minor">
            <a:schemeClr val="lt1"/>
          </a:fontRef>
        </p:style>
        <p:txBody>
          <a:bodyPr wrap="square" rtlCol="1">
            <a:spAutoFit/>
          </a:bodyPr>
          <a:lstStyle/>
          <a:p>
            <a:pPr algn="ctr"/>
            <a:r>
              <a:rPr lang="ar-EG" sz="2800" b="1" dirty="0"/>
              <a:t>أولاً : النصوص المكتوبة   </a:t>
            </a:r>
            <a:r>
              <a:rPr lang="en-US" sz="2800" b="1" dirty="0"/>
              <a:t>Text</a:t>
            </a:r>
            <a:endParaRPr lang="en-US" sz="2800" dirty="0"/>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slide(fromBottom)">
                                      <p:cBhvr>
                                        <p:cTn id="25" dur="500"/>
                                        <p:tgtEl>
                                          <p:spTgt spid="2">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nodeType="clickEffect">
                                  <p:stCondLst>
                                    <p:cond delay="0"/>
                                  </p:stCondLst>
                                  <p:iterate type="lt">
                                    <p:tmPct val="5000"/>
                                  </p:iterate>
                                  <p:childTnLst>
                                    <p:set>
                                      <p:cBhvr>
                                        <p:cTn id="29" dur="1" fill="hold">
                                          <p:stCondLst>
                                            <p:cond delay="0"/>
                                          </p:stCondLst>
                                        </p:cTn>
                                        <p:tgtEl>
                                          <p:spTgt spid="3">
                                            <p:txEl>
                                              <p:pRg st="0" end="0"/>
                                            </p:txEl>
                                          </p:spTgt>
                                        </p:tgtEl>
                                        <p:attrNameLst>
                                          <p:attrName>style.visibility</p:attrName>
                                        </p:attrNameLst>
                                      </p:cBhvr>
                                      <p:to>
                                        <p:strVal val="visible"/>
                                      </p:to>
                                    </p:set>
                                    <p:anim calcmode="lin" valueType="num">
                                      <p:cBhvr>
                                        <p:cTn id="30"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31"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32"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33" dur="1000"/>
                                        <p:tgtEl>
                                          <p:spTgt spid="3">
                                            <p:txEl>
                                              <p:pRg st="0" end="0"/>
                                            </p:txEl>
                                          </p:spTgt>
                                        </p:tgtEl>
                                      </p:cBhvr>
                                    </p:animEffect>
                                  </p:childTnLst>
                                </p:cTn>
                              </p:par>
                            </p:childTnLst>
                          </p:cTn>
                        </p:par>
                        <p:par>
                          <p:cTn id="34" fill="hold">
                            <p:stCondLst>
                              <p:cond delay="3900"/>
                            </p:stCondLst>
                            <p:childTnLst>
                              <p:par>
                                <p:cTn id="35" presetID="46" presetClass="path" presetSubtype="0" accel="50000" decel="50000" fill="hold" nodeType="afterEffect">
                                  <p:stCondLst>
                                    <p:cond delay="0"/>
                                  </p:stCondLst>
                                  <p:iterate type="lt">
                                    <p:tmPct val="0"/>
                                  </p:iterate>
                                  <p:childTnLst>
                                    <p:animMotion origin="layout" path="M 0 0  C -0.004 -0.08933  0.046 -0.16667  0.113 -0.172  C 0.177 -0.17867  0.237 -0.11867  0.241 -0.032  C 0.246 0.048  0.204 0.12267  0.144 0.128  C 0.089 0.132  0.037 0.08267  0.033 0.008  C 0.029 -0.06  0.064 -0.124  0.115 -0.12933  C 0.162 -0.13333  0.206 -0.092  0.209 -0.02933  C 0.212 0.02667  0.184 0.08133  0.142 0.084  C 0.104 0.088  0.068 0.056  0.065 0.00533  C 0.063 -0.04  0.084 -0.084  0.117 -0.08667  C 0.146 -0.08933  0.175 -0.06533  0.177 -0.02667  C 0.179 0.00667  0.164 0.03867  0.14 0.04133  C 0.12 0.044  0.099 0.02933  0.098 0.00267  C 0.096 -0.01867  0.104 -0.04133  0.119 -0.044  C 0.131 -0.044  0.143 -0.03867  0.145 -0.024  C 0.146 -0.01467  0.144 -0.00533  0.138 -0.00133  C 0.135 0  0.133 0  0.13 -0.00133  E" pathEditMode="relative" ptsTypes="">
                                      <p:cBhvr>
                                        <p:cTn id="36" dur="2000" fill="hold"/>
                                        <p:tgtEl>
                                          <p:spTgt spid="3">
                                            <p:txEl>
                                              <p:pRg st="0" end="0"/>
                                            </p:txEl>
                                          </p:spTgt>
                                        </p:tgtEl>
                                        <p:attrNameLst>
                                          <p:attrName>ppt_x</p:attrName>
                                          <p:attrName>ppt_y</p:attrName>
                                        </p:attrNameLst>
                                      </p:cBhvr>
                                    </p:animMotion>
                                  </p:childTnLst>
                                </p:cTn>
                              </p:par>
                            </p:childTnLst>
                          </p:cTn>
                        </p:par>
                      </p:childTnLst>
                    </p:cTn>
                  </p:par>
                  <p:par>
                    <p:cTn id="37" fill="hold">
                      <p:stCondLst>
                        <p:cond delay="indefinite"/>
                      </p:stCondLst>
                      <p:childTnLst>
                        <p:par>
                          <p:cTn id="38" fill="hold">
                            <p:stCondLst>
                              <p:cond delay="0"/>
                            </p:stCondLst>
                            <p:childTnLst>
                              <p:par>
                                <p:cTn id="39" presetID="43" presetClass="entr" presetSubtype="0" fill="hold" nodeType="click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animEffect transition="in" filter="fade">
                                      <p:cBhvr>
                                        <p:cTn id="41" dur="100"/>
                                        <p:tgtEl>
                                          <p:spTgt spid="3">
                                            <p:txEl>
                                              <p:pRg st="2" end="2"/>
                                            </p:txEl>
                                          </p:spTgt>
                                        </p:tgtEl>
                                      </p:cBhvr>
                                    </p:animEffect>
                                    <p:anim calcmode="lin" valueType="num">
                                      <p:cBhvr>
                                        <p:cTn id="42" dur="4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43" dur="400" fill="hold"/>
                                        <p:tgtEl>
                                          <p:spTgt spid="3">
                                            <p:txEl>
                                              <p:pRg st="2" end="2"/>
                                            </p:txEl>
                                          </p:spTgt>
                                        </p:tgtEl>
                                        <p:attrNameLst>
                                          <p:attrName>ppt_y</p:attrName>
                                        </p:attrNameLst>
                                      </p:cBhvr>
                                      <p:tavLst>
                                        <p:tav tm="0">
                                          <p:val>
                                            <p:strVal val="#ppt_y+0.31"/>
                                          </p:val>
                                        </p:tav>
                                        <p:tav tm="100000">
                                          <p:val>
                                            <p:strVal val="#ppt_y+0.31"/>
                                          </p:val>
                                        </p:tav>
                                      </p:tavLst>
                                    </p:anim>
                                    <p:anim calcmode="lin" valueType="num">
                                      <p:cBhvr>
                                        <p:cTn id="44" dur="600" decel="50000" fill="hold">
                                          <p:stCondLst>
                                            <p:cond delay="400"/>
                                          </p:stCondLst>
                                        </p:cTn>
                                        <p:tgtEl>
                                          <p:spTgt spid="3">
                                            <p:txEl>
                                              <p:pRg st="2" end="2"/>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5" dur="600" decel="50000" fill="hold">
                                          <p:stCondLst>
                                            <p:cond delay="400"/>
                                          </p:stCondLst>
                                        </p:cTn>
                                        <p:tgtEl>
                                          <p:spTgt spid="3">
                                            <p:txEl>
                                              <p:pRg st="2" end="2"/>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7" presetClass="entr" presetSubtype="0" fill="hold" nodeType="clickEffect">
                                  <p:stCondLst>
                                    <p:cond delay="0"/>
                                  </p:stCondLst>
                                  <p:childTnLst>
                                    <p:set>
                                      <p:cBhvr>
                                        <p:cTn id="49" dur="1" fill="hold">
                                          <p:stCondLst>
                                            <p:cond delay="0"/>
                                          </p:stCondLst>
                                        </p:cTn>
                                        <p:tgtEl>
                                          <p:spTgt spid="3">
                                            <p:txEl>
                                              <p:pRg st="3" end="3"/>
                                            </p:txEl>
                                          </p:spTgt>
                                        </p:tgtEl>
                                        <p:attrNameLst>
                                          <p:attrName>style.visibility</p:attrName>
                                        </p:attrNameLst>
                                      </p:cBhvr>
                                      <p:to>
                                        <p:strVal val="visible"/>
                                      </p:to>
                                    </p:set>
                                    <p:animEffect transition="in" filter="fade">
                                      <p:cBhvr>
                                        <p:cTn id="50" dur="1000"/>
                                        <p:tgtEl>
                                          <p:spTgt spid="3">
                                            <p:txEl>
                                              <p:pRg st="3" end="3"/>
                                            </p:txEl>
                                          </p:spTgt>
                                        </p:tgtEl>
                                      </p:cBhvr>
                                    </p:animEffect>
                                    <p:anim calcmode="lin" valueType="num">
                                      <p:cBhvr>
                                        <p:cTn id="5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3" presetClass="entr" presetSubtype="0" fill="hold" nodeType="clickEffect">
                                  <p:stCondLst>
                                    <p:cond delay="0"/>
                                  </p:stCondLst>
                                  <p:childTnLst>
                                    <p:set>
                                      <p:cBhvr>
                                        <p:cTn id="56" dur="1" fill="hold">
                                          <p:stCondLst>
                                            <p:cond delay="0"/>
                                          </p:stCondLst>
                                        </p:cTn>
                                        <p:tgtEl>
                                          <p:spTgt spid="3">
                                            <p:txEl>
                                              <p:pRg st="5" end="5"/>
                                            </p:txEl>
                                          </p:spTgt>
                                        </p:tgtEl>
                                        <p:attrNameLst>
                                          <p:attrName>style.visibility</p:attrName>
                                        </p:attrNameLst>
                                      </p:cBhvr>
                                      <p:to>
                                        <p:strVal val="visible"/>
                                      </p:to>
                                    </p:set>
                                    <p:animEffect transition="in" filter="fade">
                                      <p:cBhvr>
                                        <p:cTn id="57" dur="100"/>
                                        <p:tgtEl>
                                          <p:spTgt spid="3">
                                            <p:txEl>
                                              <p:pRg st="5" end="5"/>
                                            </p:txEl>
                                          </p:spTgt>
                                        </p:tgtEl>
                                      </p:cBhvr>
                                    </p:animEffect>
                                    <p:anim calcmode="lin" valueType="num">
                                      <p:cBhvr>
                                        <p:cTn id="58" dur="4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9" dur="400" fill="hold"/>
                                        <p:tgtEl>
                                          <p:spTgt spid="3">
                                            <p:txEl>
                                              <p:pRg st="5" end="5"/>
                                            </p:txEl>
                                          </p:spTgt>
                                        </p:tgtEl>
                                        <p:attrNameLst>
                                          <p:attrName>ppt_y</p:attrName>
                                        </p:attrNameLst>
                                      </p:cBhvr>
                                      <p:tavLst>
                                        <p:tav tm="0">
                                          <p:val>
                                            <p:strVal val="#ppt_y+0.31"/>
                                          </p:val>
                                        </p:tav>
                                        <p:tav tm="100000">
                                          <p:val>
                                            <p:strVal val="#ppt_y+0.31"/>
                                          </p:val>
                                        </p:tav>
                                      </p:tavLst>
                                    </p:anim>
                                    <p:anim calcmode="lin" valueType="num">
                                      <p:cBhvr>
                                        <p:cTn id="60" dur="600" decel="50000" fill="hold">
                                          <p:stCondLst>
                                            <p:cond delay="400"/>
                                          </p:stCondLst>
                                        </p:cTn>
                                        <p:tgtEl>
                                          <p:spTgt spid="3">
                                            <p:txEl>
                                              <p:pRg st="5" end="5"/>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61" dur="600" decel="50000" fill="hold">
                                          <p:stCondLst>
                                            <p:cond delay="400"/>
                                          </p:stCondLst>
                                        </p:cTn>
                                        <p:tgtEl>
                                          <p:spTgt spid="3">
                                            <p:txEl>
                                              <p:pRg st="5" end="5"/>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7" presetClass="entr" presetSubtype="0" fill="hold" nodeType="clickEffect">
                                  <p:stCondLst>
                                    <p:cond delay="0"/>
                                  </p:stCondLst>
                                  <p:childTnLst>
                                    <p:set>
                                      <p:cBhvr>
                                        <p:cTn id="65" dur="1" fill="hold">
                                          <p:stCondLst>
                                            <p:cond delay="0"/>
                                          </p:stCondLst>
                                        </p:cTn>
                                        <p:tgtEl>
                                          <p:spTgt spid="3">
                                            <p:txEl>
                                              <p:pRg st="6" end="6"/>
                                            </p:txEl>
                                          </p:spTgt>
                                        </p:tgtEl>
                                        <p:attrNameLst>
                                          <p:attrName>style.visibility</p:attrName>
                                        </p:attrNameLst>
                                      </p:cBhvr>
                                      <p:to>
                                        <p:strVal val="visible"/>
                                      </p:to>
                                    </p:set>
                                    <p:animEffect transition="in" filter="fade">
                                      <p:cBhvr>
                                        <p:cTn id="66" dur="1000"/>
                                        <p:tgtEl>
                                          <p:spTgt spid="3">
                                            <p:txEl>
                                              <p:pRg st="6" end="6"/>
                                            </p:txEl>
                                          </p:spTgt>
                                        </p:tgtEl>
                                      </p:cBhvr>
                                    </p:animEffect>
                                    <p:anim calcmode="lin" valueType="num">
                                      <p:cBhvr>
                                        <p:cTn id="6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79512" y="-29136"/>
            <a:ext cx="8784976" cy="6555641"/>
          </a:xfrm>
          <a:prstGeom prst="rect">
            <a:avLst/>
          </a:prstGeom>
          <a:noFill/>
        </p:spPr>
        <p:txBody>
          <a:bodyPr wrap="square" rtlCol="1">
            <a:spAutoFit/>
          </a:bodyPr>
          <a:lstStyle/>
          <a:p>
            <a:pPr algn="ctr"/>
            <a:r>
              <a:rPr lang="ar-EG" sz="2800" b="1" dirty="0">
                <a:solidFill>
                  <a:schemeClr val="tx2"/>
                </a:solidFill>
              </a:rPr>
              <a:t>تأخذ النصوص المكتوبة أحد الأشكال الآتية :-</a:t>
            </a:r>
            <a:endParaRPr lang="en-US" sz="2800" b="1" dirty="0">
              <a:solidFill>
                <a:schemeClr val="tx2"/>
              </a:solidFill>
            </a:endParaRPr>
          </a:p>
          <a:p>
            <a:pPr lvl="0" algn="r"/>
            <a:r>
              <a:rPr lang="ar-EG" sz="2800" b="1" dirty="0">
                <a:solidFill>
                  <a:schemeClr val="tx2"/>
                </a:solidFill>
              </a:rPr>
              <a:t>- النصوص المطبوعة </a:t>
            </a:r>
            <a:r>
              <a:rPr lang="en-US" sz="2800" b="1" dirty="0">
                <a:solidFill>
                  <a:schemeClr val="tx2"/>
                </a:solidFill>
              </a:rPr>
              <a:t>Printing Texts</a:t>
            </a:r>
            <a:r>
              <a:rPr lang="ar-EG" sz="2800" b="1" dirty="0">
                <a:solidFill>
                  <a:schemeClr val="tx2"/>
                </a:solidFill>
              </a:rPr>
              <a:t> :-</a:t>
            </a:r>
            <a:endParaRPr lang="en-US" sz="2800" dirty="0">
              <a:solidFill>
                <a:schemeClr val="tx2"/>
              </a:solidFill>
            </a:endParaRPr>
          </a:p>
          <a:p>
            <a:pPr algn="r"/>
            <a:r>
              <a:rPr lang="ar-EG" sz="2800" dirty="0"/>
              <a:t>وهى النصوص المنقولة الى الكمبيوتر عن طريق لوحة المفاتيح بواسطة معالج الكلمات.</a:t>
            </a:r>
            <a:endParaRPr lang="en-US" sz="2800" dirty="0"/>
          </a:p>
          <a:p>
            <a:pPr lvl="0" algn="r"/>
            <a:r>
              <a:rPr lang="ar-EG" sz="2800" b="1" dirty="0">
                <a:solidFill>
                  <a:schemeClr val="tx2"/>
                </a:solidFill>
              </a:rPr>
              <a:t>- النصوص الفائقة </a:t>
            </a:r>
            <a:r>
              <a:rPr lang="en-US" sz="2800" b="1" dirty="0">
                <a:solidFill>
                  <a:schemeClr val="tx2"/>
                </a:solidFill>
              </a:rPr>
              <a:t>Hyper Text</a:t>
            </a:r>
            <a:r>
              <a:rPr lang="ar-EG" sz="2800" b="1" dirty="0">
                <a:solidFill>
                  <a:schemeClr val="tx2"/>
                </a:solidFill>
              </a:rPr>
              <a:t> :-</a:t>
            </a:r>
            <a:endParaRPr lang="en-US" sz="2800" dirty="0">
              <a:solidFill>
                <a:schemeClr val="tx2"/>
              </a:solidFill>
            </a:endParaRPr>
          </a:p>
          <a:p>
            <a:pPr algn="r"/>
            <a:r>
              <a:rPr lang="ar-EG" sz="2800" dirty="0"/>
              <a:t>وهى عمليه الربط بين النصوص وكيفية إظهار اى نص ، أو </a:t>
            </a:r>
            <a:r>
              <a:rPr lang="ar-EG" sz="2800" dirty="0" smtClean="0"/>
              <a:t>إخفاء</a:t>
            </a:r>
            <a:r>
              <a:rPr lang="ar-SA" sz="2800" smtClean="0"/>
              <a:t>ه</a:t>
            </a:r>
            <a:r>
              <a:rPr lang="ar-EG" sz="2800" smtClean="0"/>
              <a:t> </a:t>
            </a:r>
            <a:r>
              <a:rPr lang="ar-EG" sz="2800" dirty="0"/>
              <a:t>.</a:t>
            </a:r>
          </a:p>
          <a:p>
            <a:pPr lvl="0" algn="r"/>
            <a:r>
              <a:rPr lang="ar-EG" sz="2800" b="1" dirty="0">
                <a:solidFill>
                  <a:schemeClr val="tx2"/>
                </a:solidFill>
              </a:rPr>
              <a:t>- النصوص المنقولة باستخدام الماسح </a:t>
            </a:r>
            <a:r>
              <a:rPr lang="ar-EG" sz="2800" b="1" dirty="0" err="1">
                <a:solidFill>
                  <a:schemeClr val="tx2"/>
                </a:solidFill>
              </a:rPr>
              <a:t>الضوئى</a:t>
            </a:r>
            <a:r>
              <a:rPr lang="ar-EG" sz="2800" b="1" dirty="0">
                <a:solidFill>
                  <a:schemeClr val="tx2"/>
                </a:solidFill>
              </a:rPr>
              <a:t>  </a:t>
            </a:r>
            <a:r>
              <a:rPr lang="en-US" sz="2800" b="1" dirty="0">
                <a:solidFill>
                  <a:schemeClr val="tx2"/>
                </a:solidFill>
              </a:rPr>
              <a:t>Scanning Text</a:t>
            </a:r>
            <a:r>
              <a:rPr lang="ar-EG" sz="2800" b="1" dirty="0">
                <a:solidFill>
                  <a:schemeClr val="tx2"/>
                </a:solidFill>
              </a:rPr>
              <a:t> :-</a:t>
            </a:r>
            <a:endParaRPr lang="en-US" sz="2800" dirty="0">
              <a:solidFill>
                <a:schemeClr val="tx2"/>
              </a:solidFill>
            </a:endParaRPr>
          </a:p>
          <a:p>
            <a:pPr algn="r"/>
            <a:r>
              <a:rPr lang="ar-EG" sz="2800" dirty="0"/>
              <a:t>فيه يتم نقل النصوص باستخدام الماسح الضوئى كصورة .</a:t>
            </a:r>
            <a:endParaRPr lang="en-US" sz="2800" dirty="0"/>
          </a:p>
          <a:p>
            <a:pPr algn="r"/>
            <a:r>
              <a:rPr lang="ar-EG" sz="2800" b="1" dirty="0">
                <a:solidFill>
                  <a:schemeClr val="tx2"/>
                </a:solidFill>
              </a:rPr>
              <a:t>هناك بعض الاعتبارات يجب </a:t>
            </a:r>
            <a:r>
              <a:rPr lang="ar-EG" sz="2800" b="1" dirty="0" err="1">
                <a:solidFill>
                  <a:schemeClr val="tx2"/>
                </a:solidFill>
              </a:rPr>
              <a:t>مراعتها</a:t>
            </a:r>
            <a:r>
              <a:rPr lang="ar-EG" sz="2800" b="1" dirty="0">
                <a:solidFill>
                  <a:schemeClr val="tx2"/>
                </a:solidFill>
              </a:rPr>
              <a:t> عند استخدام النصوص وتصميمها </a:t>
            </a:r>
            <a:r>
              <a:rPr lang="ar-EG" sz="2800" b="1" dirty="0" err="1">
                <a:solidFill>
                  <a:schemeClr val="tx2"/>
                </a:solidFill>
              </a:rPr>
              <a:t>فى</a:t>
            </a:r>
            <a:r>
              <a:rPr lang="ar-EG" sz="2800" b="1" dirty="0">
                <a:solidFill>
                  <a:schemeClr val="tx2"/>
                </a:solidFill>
              </a:rPr>
              <a:t> برامج الوسائط </a:t>
            </a:r>
            <a:r>
              <a:rPr lang="ar-EG" sz="2800" b="1" dirty="0" err="1">
                <a:solidFill>
                  <a:schemeClr val="tx2"/>
                </a:solidFill>
              </a:rPr>
              <a:t>المتعددى</a:t>
            </a:r>
            <a:r>
              <a:rPr lang="ar-EG" sz="2800" b="1" dirty="0">
                <a:solidFill>
                  <a:schemeClr val="tx2"/>
                </a:solidFill>
              </a:rPr>
              <a:t> وهى :-</a:t>
            </a:r>
            <a:endParaRPr lang="en-US" sz="2800" dirty="0">
              <a:solidFill>
                <a:schemeClr val="tx2"/>
              </a:solidFill>
            </a:endParaRPr>
          </a:p>
          <a:p>
            <a:pPr lvl="0" algn="r"/>
            <a:r>
              <a:rPr lang="ar-EG" sz="2800" dirty="0"/>
              <a:t>- التأكد من قدرة المتعلم على قراءة النصوص الموجودة بالبرنامج.</a:t>
            </a:r>
            <a:endParaRPr lang="en-US" sz="2800" dirty="0"/>
          </a:p>
          <a:p>
            <a:pPr algn="r"/>
            <a:r>
              <a:rPr lang="ar-EG" sz="2800" dirty="0"/>
              <a:t>ـ استعمال خط سميك.</a:t>
            </a:r>
            <a:endParaRPr lang="en-US" sz="2800" dirty="0"/>
          </a:p>
          <a:p>
            <a:pPr algn="r"/>
            <a:r>
              <a:rPr lang="ar-EG" sz="2800" dirty="0"/>
              <a:t>ـ وضع النص داخل إطار.</a:t>
            </a:r>
            <a:endParaRPr lang="en-US" sz="2800" dirty="0"/>
          </a:p>
          <a:p>
            <a:pPr algn="r"/>
            <a:r>
              <a:rPr lang="ar-EG" sz="2800" dirty="0"/>
              <a:t>ـ وضع خط تحت النص.</a:t>
            </a:r>
            <a:endParaRPr lang="en-US" sz="2800" dirty="0"/>
          </a:p>
          <a:p>
            <a:pPr algn="r"/>
            <a:r>
              <a:rPr lang="ar-EG" sz="2800" dirty="0"/>
              <a:t>- وضع النص بحجم كبير.</a:t>
            </a:r>
            <a:endParaRPr lang="en-US" sz="2800" dirty="0"/>
          </a:p>
        </p:txBody>
      </p:sp>
    </p:spTree>
  </p:cSld>
  <p:clrMapOvr>
    <a:masterClrMapping/>
  </p:clrMapOvr>
  <p:transition spd="slow">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strVal val="#ppt_w*0.05"/>
                                          </p:val>
                                        </p:tav>
                                        <p:tav tm="100000">
                                          <p:val>
                                            <p:strVal val="#ppt_w"/>
                                          </p:val>
                                        </p:tav>
                                      </p:tavLst>
                                    </p:anim>
                                    <p:anim calcmode="lin" valueType="num">
                                      <p:cBhvr>
                                        <p:cTn id="8" dur="500" fill="hold"/>
                                        <p:tgtEl>
                                          <p:spTgt spid="2">
                                            <p:txEl>
                                              <p:pRg st="0" end="0"/>
                                            </p:txEl>
                                          </p:spTgt>
                                        </p:tgtEl>
                                        <p:attrNameLst>
                                          <p:attrName>ppt_h</p:attrName>
                                        </p:attrNameLst>
                                      </p:cBhvr>
                                      <p:tavLst>
                                        <p:tav tm="0">
                                          <p:val>
                                            <p:strVal val="#ppt_h"/>
                                          </p:val>
                                        </p:tav>
                                        <p:tav tm="100000">
                                          <p:val>
                                            <p:strVal val="#ppt_h"/>
                                          </p:val>
                                        </p:tav>
                                      </p:tavLst>
                                    </p:anim>
                                    <p:anim calcmode="lin" valueType="num">
                                      <p:cBhvr>
                                        <p:cTn id="9" dur="500" fill="hold"/>
                                        <p:tgtEl>
                                          <p:spTgt spid="2">
                                            <p:txEl>
                                              <p:pRg st="0" end="0"/>
                                            </p:txEl>
                                          </p:spTgt>
                                        </p:tgtEl>
                                        <p:attrNameLst>
                                          <p:attrName>ppt_x</p:attrName>
                                        </p:attrNameLst>
                                      </p:cBhvr>
                                      <p:tavLst>
                                        <p:tav tm="0">
                                          <p:val>
                                            <p:strVal val="#ppt_x-.2"/>
                                          </p:val>
                                        </p:tav>
                                        <p:tav tm="100000">
                                          <p:val>
                                            <p:strVal val="#ppt_x"/>
                                          </p:val>
                                        </p:tav>
                                      </p:tavLst>
                                    </p:anim>
                                    <p:anim calcmode="lin" valueType="num">
                                      <p:cBhvr>
                                        <p:cTn id="10" dur="500" fill="hold"/>
                                        <p:tgtEl>
                                          <p:spTgt spid="2">
                                            <p:txEl>
                                              <p:pRg st="0" end="0"/>
                                            </p:txEl>
                                          </p:spTgt>
                                        </p:tgtEl>
                                        <p:attrNameLst>
                                          <p:attrName>ppt_y</p:attrName>
                                        </p:attrNameLst>
                                      </p:cBhvr>
                                      <p:tavLst>
                                        <p:tav tm="0">
                                          <p:val>
                                            <p:strVal val="#ppt_y"/>
                                          </p:val>
                                        </p:tav>
                                        <p:tav tm="100000">
                                          <p:val>
                                            <p:strVal val="#ppt_y"/>
                                          </p:val>
                                        </p:tav>
                                      </p:tavLst>
                                    </p:anim>
                                    <p:animEffect transition="in" filter="fade">
                                      <p:cBhvr>
                                        <p:cTn id="11" dur="500"/>
                                        <p:tgtEl>
                                          <p:spTgt spid="2">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animEffect transition="in" filter="fade">
                                      <p:cBhvr>
                                        <p:cTn id="16" dur="1000"/>
                                        <p:tgtEl>
                                          <p:spTgt spid="2">
                                            <p:txEl>
                                              <p:pRg st="1" end="1"/>
                                            </p:txEl>
                                          </p:spTgt>
                                        </p:tgtEl>
                                      </p:cBhvr>
                                    </p:animEffect>
                                    <p:anim calcmode="lin" valueType="num">
                                      <p:cBhvr>
                                        <p:cTn id="17"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8"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7" presetClass="entr" presetSubtype="0" fill="hold"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Effect transition="in" filter="fade">
                                      <p:cBhvr>
                                        <p:cTn id="23" dur="1000"/>
                                        <p:tgtEl>
                                          <p:spTgt spid="2">
                                            <p:txEl>
                                              <p:pRg st="2" end="2"/>
                                            </p:txEl>
                                          </p:spTgt>
                                        </p:tgtEl>
                                      </p:cBhvr>
                                    </p:animEffect>
                                    <p:anim calcmode="lin" valueType="num">
                                      <p:cBhvr>
                                        <p:cTn id="24"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2">
                                            <p:txEl>
                                              <p:pRg st="3" end="3"/>
                                            </p:txEl>
                                          </p:spTgt>
                                        </p:tgtEl>
                                        <p:attrNameLst>
                                          <p:attrName>style.visibility</p:attrName>
                                        </p:attrNameLst>
                                      </p:cBhvr>
                                      <p:to>
                                        <p:strVal val="visible"/>
                                      </p:to>
                                    </p:set>
                                    <p:animEffect transition="in" filter="fade">
                                      <p:cBhvr>
                                        <p:cTn id="30" dur="1000"/>
                                        <p:tgtEl>
                                          <p:spTgt spid="2">
                                            <p:txEl>
                                              <p:pRg st="3" end="3"/>
                                            </p:txEl>
                                          </p:spTgt>
                                        </p:tgtEl>
                                      </p:cBhvr>
                                    </p:animEffect>
                                    <p:anim calcmode="lin" valueType="num">
                                      <p:cBhvr>
                                        <p:cTn id="31"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2"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7" presetClass="entr" presetSubtype="0" fill="hold" nodeType="clickEffect">
                                  <p:stCondLst>
                                    <p:cond delay="0"/>
                                  </p:stCondLst>
                                  <p:childTnLst>
                                    <p:set>
                                      <p:cBhvr>
                                        <p:cTn id="36" dur="1" fill="hold">
                                          <p:stCondLst>
                                            <p:cond delay="0"/>
                                          </p:stCondLst>
                                        </p:cTn>
                                        <p:tgtEl>
                                          <p:spTgt spid="2">
                                            <p:txEl>
                                              <p:pRg st="4" end="4"/>
                                            </p:txEl>
                                          </p:spTgt>
                                        </p:tgtEl>
                                        <p:attrNameLst>
                                          <p:attrName>style.visibility</p:attrName>
                                        </p:attrNameLst>
                                      </p:cBhvr>
                                      <p:to>
                                        <p:strVal val="visible"/>
                                      </p:to>
                                    </p:set>
                                    <p:animEffect transition="in" filter="fade">
                                      <p:cBhvr>
                                        <p:cTn id="37" dur="1000"/>
                                        <p:tgtEl>
                                          <p:spTgt spid="2">
                                            <p:txEl>
                                              <p:pRg st="4" end="4"/>
                                            </p:txEl>
                                          </p:spTgt>
                                        </p:tgtEl>
                                      </p:cBhvr>
                                    </p:animEffect>
                                    <p:anim calcmode="lin" valueType="num">
                                      <p:cBhvr>
                                        <p:cTn id="38"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9"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2">
                                            <p:txEl>
                                              <p:pRg st="5" end="5"/>
                                            </p:txEl>
                                          </p:spTgt>
                                        </p:tgtEl>
                                        <p:attrNameLst>
                                          <p:attrName>style.visibility</p:attrName>
                                        </p:attrNameLst>
                                      </p:cBhvr>
                                      <p:to>
                                        <p:strVal val="visible"/>
                                      </p:to>
                                    </p:set>
                                    <p:animEffect transition="in" filter="fade">
                                      <p:cBhvr>
                                        <p:cTn id="44" dur="1000"/>
                                        <p:tgtEl>
                                          <p:spTgt spid="2">
                                            <p:txEl>
                                              <p:pRg st="5" end="5"/>
                                            </p:txEl>
                                          </p:spTgt>
                                        </p:tgtEl>
                                      </p:cBhvr>
                                    </p:animEffect>
                                    <p:anim calcmode="lin" valueType="num">
                                      <p:cBhvr>
                                        <p:cTn id="45"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6"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7" presetClass="entr" presetSubtype="0" fill="hold" nodeType="clickEffect">
                                  <p:stCondLst>
                                    <p:cond delay="0"/>
                                  </p:stCondLst>
                                  <p:childTnLst>
                                    <p:set>
                                      <p:cBhvr>
                                        <p:cTn id="50" dur="1" fill="hold">
                                          <p:stCondLst>
                                            <p:cond delay="0"/>
                                          </p:stCondLst>
                                        </p:cTn>
                                        <p:tgtEl>
                                          <p:spTgt spid="2">
                                            <p:txEl>
                                              <p:pRg st="6" end="6"/>
                                            </p:txEl>
                                          </p:spTgt>
                                        </p:tgtEl>
                                        <p:attrNameLst>
                                          <p:attrName>style.visibility</p:attrName>
                                        </p:attrNameLst>
                                      </p:cBhvr>
                                      <p:to>
                                        <p:strVal val="visible"/>
                                      </p:to>
                                    </p:set>
                                    <p:animEffect transition="in" filter="fade">
                                      <p:cBhvr>
                                        <p:cTn id="51" dur="1000"/>
                                        <p:tgtEl>
                                          <p:spTgt spid="2">
                                            <p:txEl>
                                              <p:pRg st="6" end="6"/>
                                            </p:txEl>
                                          </p:spTgt>
                                        </p:tgtEl>
                                      </p:cBhvr>
                                    </p:animEffect>
                                    <p:anim calcmode="lin" valueType="num">
                                      <p:cBhvr>
                                        <p:cTn id="52"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3"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34" presetClass="entr" presetSubtype="0" fill="hold" nodeType="clickEffect">
                                  <p:stCondLst>
                                    <p:cond delay="0"/>
                                  </p:stCondLst>
                                  <p:childTnLst>
                                    <p:set>
                                      <p:cBhvr>
                                        <p:cTn id="57" dur="1" fill="hold">
                                          <p:stCondLst>
                                            <p:cond delay="0"/>
                                          </p:stCondLst>
                                        </p:cTn>
                                        <p:tgtEl>
                                          <p:spTgt spid="2">
                                            <p:txEl>
                                              <p:pRg st="7" end="7"/>
                                            </p:txEl>
                                          </p:spTgt>
                                        </p:tgtEl>
                                        <p:attrNameLst>
                                          <p:attrName>style.visibility</p:attrName>
                                        </p:attrNameLst>
                                      </p:cBhvr>
                                      <p:to>
                                        <p:strVal val="visible"/>
                                      </p:to>
                                    </p:set>
                                    <p:anim from="(-#ppt_w/2)" to="(#ppt_x)" calcmode="lin" valueType="num">
                                      <p:cBhvr>
                                        <p:cTn id="58" dur="600" fill="hold">
                                          <p:stCondLst>
                                            <p:cond delay="0"/>
                                          </p:stCondLst>
                                        </p:cTn>
                                        <p:tgtEl>
                                          <p:spTgt spid="2">
                                            <p:txEl>
                                              <p:pRg st="7" end="7"/>
                                            </p:txEl>
                                          </p:spTgt>
                                        </p:tgtEl>
                                        <p:attrNameLst>
                                          <p:attrName>ppt_x</p:attrName>
                                        </p:attrNameLst>
                                      </p:cBhvr>
                                    </p:anim>
                                    <p:anim from="0" to="-1.0" calcmode="lin" valueType="num">
                                      <p:cBhvr>
                                        <p:cTn id="59" dur="200" decel="50000" autoRev="1" fill="hold">
                                          <p:stCondLst>
                                            <p:cond delay="600"/>
                                          </p:stCondLst>
                                        </p:cTn>
                                        <p:tgtEl>
                                          <p:spTgt spid="2">
                                            <p:txEl>
                                              <p:pRg st="7" end="7"/>
                                            </p:txEl>
                                          </p:spTgt>
                                        </p:tgtEl>
                                        <p:attrNameLst>
                                          <p:attrName>xshear</p:attrName>
                                        </p:attrNameLst>
                                      </p:cBhvr>
                                    </p:anim>
                                    <p:animScale>
                                      <p:cBhvr>
                                        <p:cTn id="60" dur="200" decel="100000" autoRev="1" fill="hold">
                                          <p:stCondLst>
                                            <p:cond delay="600"/>
                                          </p:stCondLst>
                                        </p:cTn>
                                        <p:tgtEl>
                                          <p:spTgt spid="2">
                                            <p:txEl>
                                              <p:pRg st="7" end="7"/>
                                            </p:txEl>
                                          </p:spTgt>
                                        </p:tgtEl>
                                      </p:cBhvr>
                                      <p:from x="100000" y="100000"/>
                                      <p:to x="80000" y="100000"/>
                                    </p:animScale>
                                    <p:anim by="(#ppt_h/3+#ppt_w*0.1)" calcmode="lin" valueType="num">
                                      <p:cBhvr additive="sum">
                                        <p:cTn id="61" dur="200" decel="100000" autoRev="1" fill="hold">
                                          <p:stCondLst>
                                            <p:cond delay="600"/>
                                          </p:stCondLst>
                                        </p:cTn>
                                        <p:tgtEl>
                                          <p:spTgt spid="2">
                                            <p:txEl>
                                              <p:pRg st="7" end="7"/>
                                            </p:txEl>
                                          </p:spTgt>
                                        </p:tgtEl>
                                        <p:attrNameLst>
                                          <p:attrName>ppt_x</p:attrName>
                                        </p:attrNameLst>
                                      </p:cBhvr>
                                    </p:anim>
                                  </p:childTnLst>
                                </p:cTn>
                              </p:par>
                            </p:childTnLst>
                          </p:cTn>
                        </p:par>
                      </p:childTnLst>
                    </p:cTn>
                  </p:par>
                  <p:par>
                    <p:cTn id="62" fill="hold">
                      <p:stCondLst>
                        <p:cond delay="indefinite"/>
                      </p:stCondLst>
                      <p:childTnLst>
                        <p:par>
                          <p:cTn id="63" fill="hold">
                            <p:stCondLst>
                              <p:cond delay="0"/>
                            </p:stCondLst>
                            <p:childTnLst>
                              <p:par>
                                <p:cTn id="64" presetID="25" presetClass="entr" presetSubtype="0" fill="hold" nodeType="clickEffect">
                                  <p:stCondLst>
                                    <p:cond delay="0"/>
                                  </p:stCondLst>
                                  <p:childTnLst>
                                    <p:set>
                                      <p:cBhvr>
                                        <p:cTn id="65" dur="1" fill="hold">
                                          <p:stCondLst>
                                            <p:cond delay="0"/>
                                          </p:stCondLst>
                                        </p:cTn>
                                        <p:tgtEl>
                                          <p:spTgt spid="2">
                                            <p:txEl>
                                              <p:pRg st="8" end="8"/>
                                            </p:txEl>
                                          </p:spTgt>
                                        </p:tgtEl>
                                        <p:attrNameLst>
                                          <p:attrName>style.visibility</p:attrName>
                                        </p:attrNameLst>
                                      </p:cBhvr>
                                      <p:to>
                                        <p:strVal val="visible"/>
                                      </p:to>
                                    </p:set>
                                    <p:anim calcmode="lin" valueType="num">
                                      <p:cBhvr>
                                        <p:cTn id="66" dur="500" decel="50000" fill="hold">
                                          <p:stCondLst>
                                            <p:cond delay="0"/>
                                          </p:stCondLst>
                                        </p:cTn>
                                        <p:tgtEl>
                                          <p:spTgt spid="2">
                                            <p:txEl>
                                              <p:pRg st="8" end="8"/>
                                            </p:txEl>
                                          </p:spTgt>
                                        </p:tgtEl>
                                        <p:attrNameLst>
                                          <p:attrName>style.rotation</p:attrName>
                                        </p:attrNameLst>
                                      </p:cBhvr>
                                      <p:tavLst>
                                        <p:tav tm="0">
                                          <p:val>
                                            <p:fltVal val="-90"/>
                                          </p:val>
                                        </p:tav>
                                        <p:tav tm="100000">
                                          <p:val>
                                            <p:fltVal val="0"/>
                                          </p:val>
                                        </p:tav>
                                      </p:tavLst>
                                    </p:anim>
                                    <p:anim calcmode="lin" valueType="num">
                                      <p:cBhvr>
                                        <p:cTn id="67" dur="500" decel="50000" fill="hold">
                                          <p:stCondLst>
                                            <p:cond delay="0"/>
                                          </p:stCondLst>
                                        </p:cTn>
                                        <p:tgtEl>
                                          <p:spTgt spid="2">
                                            <p:txEl>
                                              <p:pRg st="8" end="8"/>
                                            </p:txEl>
                                          </p:spTgt>
                                        </p:tgtEl>
                                        <p:attrNameLst>
                                          <p:attrName>ppt_w</p:attrName>
                                        </p:attrNameLst>
                                      </p:cBhvr>
                                      <p:tavLst>
                                        <p:tav tm="0">
                                          <p:val>
                                            <p:strVal val="#ppt_w"/>
                                          </p:val>
                                        </p:tav>
                                        <p:tav tm="100000">
                                          <p:val>
                                            <p:strVal val="#ppt_w*.05"/>
                                          </p:val>
                                        </p:tav>
                                      </p:tavLst>
                                    </p:anim>
                                    <p:anim calcmode="lin" valueType="num">
                                      <p:cBhvr>
                                        <p:cTn id="68" dur="500" accel="50000" fill="hold">
                                          <p:stCondLst>
                                            <p:cond delay="500"/>
                                          </p:stCondLst>
                                        </p:cTn>
                                        <p:tgtEl>
                                          <p:spTgt spid="2">
                                            <p:txEl>
                                              <p:pRg st="8" end="8"/>
                                            </p:txEl>
                                          </p:spTgt>
                                        </p:tgtEl>
                                        <p:attrNameLst>
                                          <p:attrName>ppt_w</p:attrName>
                                        </p:attrNameLst>
                                      </p:cBhvr>
                                      <p:tavLst>
                                        <p:tav tm="0">
                                          <p:val>
                                            <p:strVal val="#ppt_w*.05"/>
                                          </p:val>
                                        </p:tav>
                                        <p:tav tm="100000">
                                          <p:val>
                                            <p:strVal val="#ppt_w"/>
                                          </p:val>
                                        </p:tav>
                                      </p:tavLst>
                                    </p:anim>
                                    <p:anim calcmode="lin" valueType="num">
                                      <p:cBhvr>
                                        <p:cTn id="69" dur="1000" fill="hold"/>
                                        <p:tgtEl>
                                          <p:spTgt spid="2">
                                            <p:txEl>
                                              <p:pRg st="8" end="8"/>
                                            </p:txEl>
                                          </p:spTgt>
                                        </p:tgtEl>
                                        <p:attrNameLst>
                                          <p:attrName>ppt_h</p:attrName>
                                        </p:attrNameLst>
                                      </p:cBhvr>
                                      <p:tavLst>
                                        <p:tav tm="0">
                                          <p:val>
                                            <p:strVal val="#ppt_h"/>
                                          </p:val>
                                        </p:tav>
                                        <p:tav tm="100000">
                                          <p:val>
                                            <p:strVal val="#ppt_h"/>
                                          </p:val>
                                        </p:tav>
                                      </p:tavLst>
                                    </p:anim>
                                    <p:anim calcmode="lin" valueType="num">
                                      <p:cBhvr>
                                        <p:cTn id="70" dur="500" decel="50000" fill="hold">
                                          <p:stCondLst>
                                            <p:cond delay="0"/>
                                          </p:stCondLst>
                                        </p:cTn>
                                        <p:tgtEl>
                                          <p:spTgt spid="2">
                                            <p:txEl>
                                              <p:pRg st="8" end="8"/>
                                            </p:txEl>
                                          </p:spTgt>
                                        </p:tgtEl>
                                        <p:attrNameLst>
                                          <p:attrName>ppt_x</p:attrName>
                                        </p:attrNameLst>
                                      </p:cBhvr>
                                      <p:tavLst>
                                        <p:tav tm="0">
                                          <p:val>
                                            <p:strVal val="#ppt_x+.4"/>
                                          </p:val>
                                        </p:tav>
                                        <p:tav tm="100000">
                                          <p:val>
                                            <p:strVal val="#ppt_x"/>
                                          </p:val>
                                        </p:tav>
                                      </p:tavLst>
                                    </p:anim>
                                    <p:anim calcmode="lin" valueType="num">
                                      <p:cBhvr>
                                        <p:cTn id="71" dur="500" decel="50000" fill="hold">
                                          <p:stCondLst>
                                            <p:cond delay="0"/>
                                          </p:stCondLst>
                                        </p:cTn>
                                        <p:tgtEl>
                                          <p:spTgt spid="2">
                                            <p:txEl>
                                              <p:pRg st="8" end="8"/>
                                            </p:txEl>
                                          </p:spTgt>
                                        </p:tgtEl>
                                        <p:attrNameLst>
                                          <p:attrName>ppt_y</p:attrName>
                                        </p:attrNameLst>
                                      </p:cBhvr>
                                      <p:tavLst>
                                        <p:tav tm="0">
                                          <p:val>
                                            <p:strVal val="#ppt_y-.2"/>
                                          </p:val>
                                        </p:tav>
                                        <p:tav tm="100000">
                                          <p:val>
                                            <p:strVal val="#ppt_y+.1"/>
                                          </p:val>
                                        </p:tav>
                                      </p:tavLst>
                                    </p:anim>
                                    <p:anim calcmode="lin" valueType="num">
                                      <p:cBhvr>
                                        <p:cTn id="72" dur="500" accel="50000" fill="hold">
                                          <p:stCondLst>
                                            <p:cond delay="500"/>
                                          </p:stCondLst>
                                        </p:cTn>
                                        <p:tgtEl>
                                          <p:spTgt spid="2">
                                            <p:txEl>
                                              <p:pRg st="8" end="8"/>
                                            </p:txEl>
                                          </p:spTgt>
                                        </p:tgtEl>
                                        <p:attrNameLst>
                                          <p:attrName>ppt_y</p:attrName>
                                        </p:attrNameLst>
                                      </p:cBhvr>
                                      <p:tavLst>
                                        <p:tav tm="0">
                                          <p:val>
                                            <p:strVal val="#ppt_y+.1"/>
                                          </p:val>
                                        </p:tav>
                                        <p:tav tm="100000">
                                          <p:val>
                                            <p:strVal val="#ppt_y"/>
                                          </p:val>
                                        </p:tav>
                                      </p:tavLst>
                                    </p:anim>
                                    <p:animEffect transition="in" filter="fade">
                                      <p:cBhvr>
                                        <p:cTn id="73" dur="1000" decel="50000">
                                          <p:stCondLst>
                                            <p:cond delay="0"/>
                                          </p:stCondLst>
                                        </p:cTn>
                                        <p:tgtEl>
                                          <p:spTgt spid="2">
                                            <p:txEl>
                                              <p:pRg st="8" end="8"/>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5" presetClass="entr" presetSubtype="0" fill="hold" nodeType="clickEffect">
                                  <p:stCondLst>
                                    <p:cond delay="0"/>
                                  </p:stCondLst>
                                  <p:childTnLst>
                                    <p:set>
                                      <p:cBhvr>
                                        <p:cTn id="77" dur="1" fill="hold">
                                          <p:stCondLst>
                                            <p:cond delay="0"/>
                                          </p:stCondLst>
                                        </p:cTn>
                                        <p:tgtEl>
                                          <p:spTgt spid="2">
                                            <p:txEl>
                                              <p:pRg st="9" end="9"/>
                                            </p:txEl>
                                          </p:spTgt>
                                        </p:tgtEl>
                                        <p:attrNameLst>
                                          <p:attrName>style.visibility</p:attrName>
                                        </p:attrNameLst>
                                      </p:cBhvr>
                                      <p:to>
                                        <p:strVal val="visible"/>
                                      </p:to>
                                    </p:set>
                                    <p:anim calcmode="lin" valueType="num">
                                      <p:cBhvr>
                                        <p:cTn id="78" dur="500" decel="50000" fill="hold">
                                          <p:stCondLst>
                                            <p:cond delay="0"/>
                                          </p:stCondLst>
                                        </p:cTn>
                                        <p:tgtEl>
                                          <p:spTgt spid="2">
                                            <p:txEl>
                                              <p:pRg st="9" end="9"/>
                                            </p:txEl>
                                          </p:spTgt>
                                        </p:tgtEl>
                                        <p:attrNameLst>
                                          <p:attrName>style.rotation</p:attrName>
                                        </p:attrNameLst>
                                      </p:cBhvr>
                                      <p:tavLst>
                                        <p:tav tm="0">
                                          <p:val>
                                            <p:fltVal val="-90"/>
                                          </p:val>
                                        </p:tav>
                                        <p:tav tm="100000">
                                          <p:val>
                                            <p:fltVal val="0"/>
                                          </p:val>
                                        </p:tav>
                                      </p:tavLst>
                                    </p:anim>
                                    <p:anim calcmode="lin" valueType="num">
                                      <p:cBhvr>
                                        <p:cTn id="79" dur="500" decel="50000" fill="hold">
                                          <p:stCondLst>
                                            <p:cond delay="0"/>
                                          </p:stCondLst>
                                        </p:cTn>
                                        <p:tgtEl>
                                          <p:spTgt spid="2">
                                            <p:txEl>
                                              <p:pRg st="9" end="9"/>
                                            </p:txEl>
                                          </p:spTgt>
                                        </p:tgtEl>
                                        <p:attrNameLst>
                                          <p:attrName>ppt_w</p:attrName>
                                        </p:attrNameLst>
                                      </p:cBhvr>
                                      <p:tavLst>
                                        <p:tav tm="0">
                                          <p:val>
                                            <p:strVal val="#ppt_w"/>
                                          </p:val>
                                        </p:tav>
                                        <p:tav tm="100000">
                                          <p:val>
                                            <p:strVal val="#ppt_w*.05"/>
                                          </p:val>
                                        </p:tav>
                                      </p:tavLst>
                                    </p:anim>
                                    <p:anim calcmode="lin" valueType="num">
                                      <p:cBhvr>
                                        <p:cTn id="80" dur="500" accel="50000" fill="hold">
                                          <p:stCondLst>
                                            <p:cond delay="500"/>
                                          </p:stCondLst>
                                        </p:cTn>
                                        <p:tgtEl>
                                          <p:spTgt spid="2">
                                            <p:txEl>
                                              <p:pRg st="9" end="9"/>
                                            </p:txEl>
                                          </p:spTgt>
                                        </p:tgtEl>
                                        <p:attrNameLst>
                                          <p:attrName>ppt_w</p:attrName>
                                        </p:attrNameLst>
                                      </p:cBhvr>
                                      <p:tavLst>
                                        <p:tav tm="0">
                                          <p:val>
                                            <p:strVal val="#ppt_w*.05"/>
                                          </p:val>
                                        </p:tav>
                                        <p:tav tm="100000">
                                          <p:val>
                                            <p:strVal val="#ppt_w"/>
                                          </p:val>
                                        </p:tav>
                                      </p:tavLst>
                                    </p:anim>
                                    <p:anim calcmode="lin" valueType="num">
                                      <p:cBhvr>
                                        <p:cTn id="81" dur="1000" fill="hold"/>
                                        <p:tgtEl>
                                          <p:spTgt spid="2">
                                            <p:txEl>
                                              <p:pRg st="9" end="9"/>
                                            </p:txEl>
                                          </p:spTgt>
                                        </p:tgtEl>
                                        <p:attrNameLst>
                                          <p:attrName>ppt_h</p:attrName>
                                        </p:attrNameLst>
                                      </p:cBhvr>
                                      <p:tavLst>
                                        <p:tav tm="0">
                                          <p:val>
                                            <p:strVal val="#ppt_h"/>
                                          </p:val>
                                        </p:tav>
                                        <p:tav tm="100000">
                                          <p:val>
                                            <p:strVal val="#ppt_h"/>
                                          </p:val>
                                        </p:tav>
                                      </p:tavLst>
                                    </p:anim>
                                    <p:anim calcmode="lin" valueType="num">
                                      <p:cBhvr>
                                        <p:cTn id="82" dur="500" decel="50000" fill="hold">
                                          <p:stCondLst>
                                            <p:cond delay="0"/>
                                          </p:stCondLst>
                                        </p:cTn>
                                        <p:tgtEl>
                                          <p:spTgt spid="2">
                                            <p:txEl>
                                              <p:pRg st="9" end="9"/>
                                            </p:txEl>
                                          </p:spTgt>
                                        </p:tgtEl>
                                        <p:attrNameLst>
                                          <p:attrName>ppt_x</p:attrName>
                                        </p:attrNameLst>
                                      </p:cBhvr>
                                      <p:tavLst>
                                        <p:tav tm="0">
                                          <p:val>
                                            <p:strVal val="#ppt_x+.4"/>
                                          </p:val>
                                        </p:tav>
                                        <p:tav tm="100000">
                                          <p:val>
                                            <p:strVal val="#ppt_x"/>
                                          </p:val>
                                        </p:tav>
                                      </p:tavLst>
                                    </p:anim>
                                    <p:anim calcmode="lin" valueType="num">
                                      <p:cBhvr>
                                        <p:cTn id="83" dur="500" decel="50000" fill="hold">
                                          <p:stCondLst>
                                            <p:cond delay="0"/>
                                          </p:stCondLst>
                                        </p:cTn>
                                        <p:tgtEl>
                                          <p:spTgt spid="2">
                                            <p:txEl>
                                              <p:pRg st="9" end="9"/>
                                            </p:txEl>
                                          </p:spTgt>
                                        </p:tgtEl>
                                        <p:attrNameLst>
                                          <p:attrName>ppt_y</p:attrName>
                                        </p:attrNameLst>
                                      </p:cBhvr>
                                      <p:tavLst>
                                        <p:tav tm="0">
                                          <p:val>
                                            <p:strVal val="#ppt_y-.2"/>
                                          </p:val>
                                        </p:tav>
                                        <p:tav tm="100000">
                                          <p:val>
                                            <p:strVal val="#ppt_y+.1"/>
                                          </p:val>
                                        </p:tav>
                                      </p:tavLst>
                                    </p:anim>
                                    <p:anim calcmode="lin" valueType="num">
                                      <p:cBhvr>
                                        <p:cTn id="84" dur="500" accel="50000" fill="hold">
                                          <p:stCondLst>
                                            <p:cond delay="500"/>
                                          </p:stCondLst>
                                        </p:cTn>
                                        <p:tgtEl>
                                          <p:spTgt spid="2">
                                            <p:txEl>
                                              <p:pRg st="9" end="9"/>
                                            </p:txEl>
                                          </p:spTgt>
                                        </p:tgtEl>
                                        <p:attrNameLst>
                                          <p:attrName>ppt_y</p:attrName>
                                        </p:attrNameLst>
                                      </p:cBhvr>
                                      <p:tavLst>
                                        <p:tav tm="0">
                                          <p:val>
                                            <p:strVal val="#ppt_y+.1"/>
                                          </p:val>
                                        </p:tav>
                                        <p:tav tm="100000">
                                          <p:val>
                                            <p:strVal val="#ppt_y"/>
                                          </p:val>
                                        </p:tav>
                                      </p:tavLst>
                                    </p:anim>
                                    <p:animEffect transition="in" filter="fade">
                                      <p:cBhvr>
                                        <p:cTn id="85" dur="1000" decel="50000">
                                          <p:stCondLst>
                                            <p:cond delay="0"/>
                                          </p:stCondLst>
                                        </p:cTn>
                                        <p:tgtEl>
                                          <p:spTgt spid="2">
                                            <p:txEl>
                                              <p:pRg st="9" end="9"/>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5" presetClass="entr" presetSubtype="0" fill="hold" nodeType="clickEffect">
                                  <p:stCondLst>
                                    <p:cond delay="0"/>
                                  </p:stCondLst>
                                  <p:childTnLst>
                                    <p:set>
                                      <p:cBhvr>
                                        <p:cTn id="89" dur="1" fill="hold">
                                          <p:stCondLst>
                                            <p:cond delay="0"/>
                                          </p:stCondLst>
                                        </p:cTn>
                                        <p:tgtEl>
                                          <p:spTgt spid="2">
                                            <p:txEl>
                                              <p:pRg st="10" end="10"/>
                                            </p:txEl>
                                          </p:spTgt>
                                        </p:tgtEl>
                                        <p:attrNameLst>
                                          <p:attrName>style.visibility</p:attrName>
                                        </p:attrNameLst>
                                      </p:cBhvr>
                                      <p:to>
                                        <p:strVal val="visible"/>
                                      </p:to>
                                    </p:set>
                                    <p:anim calcmode="lin" valueType="num">
                                      <p:cBhvr>
                                        <p:cTn id="90" dur="500" decel="50000" fill="hold">
                                          <p:stCondLst>
                                            <p:cond delay="0"/>
                                          </p:stCondLst>
                                        </p:cTn>
                                        <p:tgtEl>
                                          <p:spTgt spid="2">
                                            <p:txEl>
                                              <p:pRg st="10" end="10"/>
                                            </p:txEl>
                                          </p:spTgt>
                                        </p:tgtEl>
                                        <p:attrNameLst>
                                          <p:attrName>style.rotation</p:attrName>
                                        </p:attrNameLst>
                                      </p:cBhvr>
                                      <p:tavLst>
                                        <p:tav tm="0">
                                          <p:val>
                                            <p:fltVal val="-90"/>
                                          </p:val>
                                        </p:tav>
                                        <p:tav tm="100000">
                                          <p:val>
                                            <p:fltVal val="0"/>
                                          </p:val>
                                        </p:tav>
                                      </p:tavLst>
                                    </p:anim>
                                    <p:anim calcmode="lin" valueType="num">
                                      <p:cBhvr>
                                        <p:cTn id="91" dur="500" decel="50000" fill="hold">
                                          <p:stCondLst>
                                            <p:cond delay="0"/>
                                          </p:stCondLst>
                                        </p:cTn>
                                        <p:tgtEl>
                                          <p:spTgt spid="2">
                                            <p:txEl>
                                              <p:pRg st="10" end="10"/>
                                            </p:txEl>
                                          </p:spTgt>
                                        </p:tgtEl>
                                        <p:attrNameLst>
                                          <p:attrName>ppt_w</p:attrName>
                                        </p:attrNameLst>
                                      </p:cBhvr>
                                      <p:tavLst>
                                        <p:tav tm="0">
                                          <p:val>
                                            <p:strVal val="#ppt_w"/>
                                          </p:val>
                                        </p:tav>
                                        <p:tav tm="100000">
                                          <p:val>
                                            <p:strVal val="#ppt_w*.05"/>
                                          </p:val>
                                        </p:tav>
                                      </p:tavLst>
                                    </p:anim>
                                    <p:anim calcmode="lin" valueType="num">
                                      <p:cBhvr>
                                        <p:cTn id="92" dur="500" accel="50000" fill="hold">
                                          <p:stCondLst>
                                            <p:cond delay="500"/>
                                          </p:stCondLst>
                                        </p:cTn>
                                        <p:tgtEl>
                                          <p:spTgt spid="2">
                                            <p:txEl>
                                              <p:pRg st="10" end="10"/>
                                            </p:txEl>
                                          </p:spTgt>
                                        </p:tgtEl>
                                        <p:attrNameLst>
                                          <p:attrName>ppt_w</p:attrName>
                                        </p:attrNameLst>
                                      </p:cBhvr>
                                      <p:tavLst>
                                        <p:tav tm="0">
                                          <p:val>
                                            <p:strVal val="#ppt_w*.05"/>
                                          </p:val>
                                        </p:tav>
                                        <p:tav tm="100000">
                                          <p:val>
                                            <p:strVal val="#ppt_w"/>
                                          </p:val>
                                        </p:tav>
                                      </p:tavLst>
                                    </p:anim>
                                    <p:anim calcmode="lin" valueType="num">
                                      <p:cBhvr>
                                        <p:cTn id="93" dur="1000" fill="hold"/>
                                        <p:tgtEl>
                                          <p:spTgt spid="2">
                                            <p:txEl>
                                              <p:pRg st="10" end="10"/>
                                            </p:txEl>
                                          </p:spTgt>
                                        </p:tgtEl>
                                        <p:attrNameLst>
                                          <p:attrName>ppt_h</p:attrName>
                                        </p:attrNameLst>
                                      </p:cBhvr>
                                      <p:tavLst>
                                        <p:tav tm="0">
                                          <p:val>
                                            <p:strVal val="#ppt_h"/>
                                          </p:val>
                                        </p:tav>
                                        <p:tav tm="100000">
                                          <p:val>
                                            <p:strVal val="#ppt_h"/>
                                          </p:val>
                                        </p:tav>
                                      </p:tavLst>
                                    </p:anim>
                                    <p:anim calcmode="lin" valueType="num">
                                      <p:cBhvr>
                                        <p:cTn id="94" dur="500" decel="50000" fill="hold">
                                          <p:stCondLst>
                                            <p:cond delay="0"/>
                                          </p:stCondLst>
                                        </p:cTn>
                                        <p:tgtEl>
                                          <p:spTgt spid="2">
                                            <p:txEl>
                                              <p:pRg st="10" end="10"/>
                                            </p:txEl>
                                          </p:spTgt>
                                        </p:tgtEl>
                                        <p:attrNameLst>
                                          <p:attrName>ppt_x</p:attrName>
                                        </p:attrNameLst>
                                      </p:cBhvr>
                                      <p:tavLst>
                                        <p:tav tm="0">
                                          <p:val>
                                            <p:strVal val="#ppt_x+.4"/>
                                          </p:val>
                                        </p:tav>
                                        <p:tav tm="100000">
                                          <p:val>
                                            <p:strVal val="#ppt_x"/>
                                          </p:val>
                                        </p:tav>
                                      </p:tavLst>
                                    </p:anim>
                                    <p:anim calcmode="lin" valueType="num">
                                      <p:cBhvr>
                                        <p:cTn id="95" dur="500" decel="50000" fill="hold">
                                          <p:stCondLst>
                                            <p:cond delay="0"/>
                                          </p:stCondLst>
                                        </p:cTn>
                                        <p:tgtEl>
                                          <p:spTgt spid="2">
                                            <p:txEl>
                                              <p:pRg st="10" end="10"/>
                                            </p:txEl>
                                          </p:spTgt>
                                        </p:tgtEl>
                                        <p:attrNameLst>
                                          <p:attrName>ppt_y</p:attrName>
                                        </p:attrNameLst>
                                      </p:cBhvr>
                                      <p:tavLst>
                                        <p:tav tm="0">
                                          <p:val>
                                            <p:strVal val="#ppt_y-.2"/>
                                          </p:val>
                                        </p:tav>
                                        <p:tav tm="100000">
                                          <p:val>
                                            <p:strVal val="#ppt_y+.1"/>
                                          </p:val>
                                        </p:tav>
                                      </p:tavLst>
                                    </p:anim>
                                    <p:anim calcmode="lin" valueType="num">
                                      <p:cBhvr>
                                        <p:cTn id="96" dur="500" accel="50000" fill="hold">
                                          <p:stCondLst>
                                            <p:cond delay="500"/>
                                          </p:stCondLst>
                                        </p:cTn>
                                        <p:tgtEl>
                                          <p:spTgt spid="2">
                                            <p:txEl>
                                              <p:pRg st="10" end="10"/>
                                            </p:txEl>
                                          </p:spTgt>
                                        </p:tgtEl>
                                        <p:attrNameLst>
                                          <p:attrName>ppt_y</p:attrName>
                                        </p:attrNameLst>
                                      </p:cBhvr>
                                      <p:tavLst>
                                        <p:tav tm="0">
                                          <p:val>
                                            <p:strVal val="#ppt_y+.1"/>
                                          </p:val>
                                        </p:tav>
                                        <p:tav tm="100000">
                                          <p:val>
                                            <p:strVal val="#ppt_y"/>
                                          </p:val>
                                        </p:tav>
                                      </p:tavLst>
                                    </p:anim>
                                    <p:animEffect transition="in" filter="fade">
                                      <p:cBhvr>
                                        <p:cTn id="97" dur="1000" decel="50000">
                                          <p:stCondLst>
                                            <p:cond delay="0"/>
                                          </p:stCondLst>
                                        </p:cTn>
                                        <p:tgtEl>
                                          <p:spTgt spid="2">
                                            <p:txEl>
                                              <p:pRg st="10" end="10"/>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25" presetClass="entr" presetSubtype="0" fill="hold" nodeType="clickEffect">
                                  <p:stCondLst>
                                    <p:cond delay="0"/>
                                  </p:stCondLst>
                                  <p:childTnLst>
                                    <p:set>
                                      <p:cBhvr>
                                        <p:cTn id="101" dur="1" fill="hold">
                                          <p:stCondLst>
                                            <p:cond delay="0"/>
                                          </p:stCondLst>
                                        </p:cTn>
                                        <p:tgtEl>
                                          <p:spTgt spid="2">
                                            <p:txEl>
                                              <p:pRg st="11" end="11"/>
                                            </p:txEl>
                                          </p:spTgt>
                                        </p:tgtEl>
                                        <p:attrNameLst>
                                          <p:attrName>style.visibility</p:attrName>
                                        </p:attrNameLst>
                                      </p:cBhvr>
                                      <p:to>
                                        <p:strVal val="visible"/>
                                      </p:to>
                                    </p:set>
                                    <p:anim calcmode="lin" valueType="num">
                                      <p:cBhvr>
                                        <p:cTn id="102" dur="500" decel="50000" fill="hold">
                                          <p:stCondLst>
                                            <p:cond delay="0"/>
                                          </p:stCondLst>
                                        </p:cTn>
                                        <p:tgtEl>
                                          <p:spTgt spid="2">
                                            <p:txEl>
                                              <p:pRg st="11" end="11"/>
                                            </p:txEl>
                                          </p:spTgt>
                                        </p:tgtEl>
                                        <p:attrNameLst>
                                          <p:attrName>style.rotation</p:attrName>
                                        </p:attrNameLst>
                                      </p:cBhvr>
                                      <p:tavLst>
                                        <p:tav tm="0">
                                          <p:val>
                                            <p:fltVal val="-90"/>
                                          </p:val>
                                        </p:tav>
                                        <p:tav tm="100000">
                                          <p:val>
                                            <p:fltVal val="0"/>
                                          </p:val>
                                        </p:tav>
                                      </p:tavLst>
                                    </p:anim>
                                    <p:anim calcmode="lin" valueType="num">
                                      <p:cBhvr>
                                        <p:cTn id="103" dur="500" decel="50000" fill="hold">
                                          <p:stCondLst>
                                            <p:cond delay="0"/>
                                          </p:stCondLst>
                                        </p:cTn>
                                        <p:tgtEl>
                                          <p:spTgt spid="2">
                                            <p:txEl>
                                              <p:pRg st="11" end="11"/>
                                            </p:txEl>
                                          </p:spTgt>
                                        </p:tgtEl>
                                        <p:attrNameLst>
                                          <p:attrName>ppt_w</p:attrName>
                                        </p:attrNameLst>
                                      </p:cBhvr>
                                      <p:tavLst>
                                        <p:tav tm="0">
                                          <p:val>
                                            <p:strVal val="#ppt_w"/>
                                          </p:val>
                                        </p:tav>
                                        <p:tav tm="100000">
                                          <p:val>
                                            <p:strVal val="#ppt_w*.05"/>
                                          </p:val>
                                        </p:tav>
                                      </p:tavLst>
                                    </p:anim>
                                    <p:anim calcmode="lin" valueType="num">
                                      <p:cBhvr>
                                        <p:cTn id="104" dur="500" accel="50000" fill="hold">
                                          <p:stCondLst>
                                            <p:cond delay="500"/>
                                          </p:stCondLst>
                                        </p:cTn>
                                        <p:tgtEl>
                                          <p:spTgt spid="2">
                                            <p:txEl>
                                              <p:pRg st="11" end="11"/>
                                            </p:txEl>
                                          </p:spTgt>
                                        </p:tgtEl>
                                        <p:attrNameLst>
                                          <p:attrName>ppt_w</p:attrName>
                                        </p:attrNameLst>
                                      </p:cBhvr>
                                      <p:tavLst>
                                        <p:tav tm="0">
                                          <p:val>
                                            <p:strVal val="#ppt_w*.05"/>
                                          </p:val>
                                        </p:tav>
                                        <p:tav tm="100000">
                                          <p:val>
                                            <p:strVal val="#ppt_w"/>
                                          </p:val>
                                        </p:tav>
                                      </p:tavLst>
                                    </p:anim>
                                    <p:anim calcmode="lin" valueType="num">
                                      <p:cBhvr>
                                        <p:cTn id="105" dur="1000" fill="hold"/>
                                        <p:tgtEl>
                                          <p:spTgt spid="2">
                                            <p:txEl>
                                              <p:pRg st="11" end="11"/>
                                            </p:txEl>
                                          </p:spTgt>
                                        </p:tgtEl>
                                        <p:attrNameLst>
                                          <p:attrName>ppt_h</p:attrName>
                                        </p:attrNameLst>
                                      </p:cBhvr>
                                      <p:tavLst>
                                        <p:tav tm="0">
                                          <p:val>
                                            <p:strVal val="#ppt_h"/>
                                          </p:val>
                                        </p:tav>
                                        <p:tav tm="100000">
                                          <p:val>
                                            <p:strVal val="#ppt_h"/>
                                          </p:val>
                                        </p:tav>
                                      </p:tavLst>
                                    </p:anim>
                                    <p:anim calcmode="lin" valueType="num">
                                      <p:cBhvr>
                                        <p:cTn id="106" dur="500" decel="50000" fill="hold">
                                          <p:stCondLst>
                                            <p:cond delay="0"/>
                                          </p:stCondLst>
                                        </p:cTn>
                                        <p:tgtEl>
                                          <p:spTgt spid="2">
                                            <p:txEl>
                                              <p:pRg st="11" end="11"/>
                                            </p:txEl>
                                          </p:spTgt>
                                        </p:tgtEl>
                                        <p:attrNameLst>
                                          <p:attrName>ppt_x</p:attrName>
                                        </p:attrNameLst>
                                      </p:cBhvr>
                                      <p:tavLst>
                                        <p:tav tm="0">
                                          <p:val>
                                            <p:strVal val="#ppt_x+.4"/>
                                          </p:val>
                                        </p:tav>
                                        <p:tav tm="100000">
                                          <p:val>
                                            <p:strVal val="#ppt_x"/>
                                          </p:val>
                                        </p:tav>
                                      </p:tavLst>
                                    </p:anim>
                                    <p:anim calcmode="lin" valueType="num">
                                      <p:cBhvr>
                                        <p:cTn id="107" dur="500" decel="50000" fill="hold">
                                          <p:stCondLst>
                                            <p:cond delay="0"/>
                                          </p:stCondLst>
                                        </p:cTn>
                                        <p:tgtEl>
                                          <p:spTgt spid="2">
                                            <p:txEl>
                                              <p:pRg st="11" end="11"/>
                                            </p:txEl>
                                          </p:spTgt>
                                        </p:tgtEl>
                                        <p:attrNameLst>
                                          <p:attrName>ppt_y</p:attrName>
                                        </p:attrNameLst>
                                      </p:cBhvr>
                                      <p:tavLst>
                                        <p:tav tm="0">
                                          <p:val>
                                            <p:strVal val="#ppt_y-.2"/>
                                          </p:val>
                                        </p:tav>
                                        <p:tav tm="100000">
                                          <p:val>
                                            <p:strVal val="#ppt_y+.1"/>
                                          </p:val>
                                        </p:tav>
                                      </p:tavLst>
                                    </p:anim>
                                    <p:anim calcmode="lin" valueType="num">
                                      <p:cBhvr>
                                        <p:cTn id="108" dur="500" accel="50000" fill="hold">
                                          <p:stCondLst>
                                            <p:cond delay="500"/>
                                          </p:stCondLst>
                                        </p:cTn>
                                        <p:tgtEl>
                                          <p:spTgt spid="2">
                                            <p:txEl>
                                              <p:pRg st="11" end="11"/>
                                            </p:txEl>
                                          </p:spTgt>
                                        </p:tgtEl>
                                        <p:attrNameLst>
                                          <p:attrName>ppt_y</p:attrName>
                                        </p:attrNameLst>
                                      </p:cBhvr>
                                      <p:tavLst>
                                        <p:tav tm="0">
                                          <p:val>
                                            <p:strVal val="#ppt_y+.1"/>
                                          </p:val>
                                        </p:tav>
                                        <p:tav tm="100000">
                                          <p:val>
                                            <p:strVal val="#ppt_y"/>
                                          </p:val>
                                        </p:tav>
                                      </p:tavLst>
                                    </p:anim>
                                    <p:animEffect transition="in" filter="fade">
                                      <p:cBhvr>
                                        <p:cTn id="109" dur="1000" decel="50000">
                                          <p:stCondLst>
                                            <p:cond delay="0"/>
                                          </p:stCondLst>
                                        </p:cTn>
                                        <p:tgtEl>
                                          <p:spTgt spid="2">
                                            <p:txEl>
                                              <p:pRg st="11" end="11"/>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25" presetClass="entr" presetSubtype="0" fill="hold" nodeType="clickEffect">
                                  <p:stCondLst>
                                    <p:cond delay="0"/>
                                  </p:stCondLst>
                                  <p:childTnLst>
                                    <p:set>
                                      <p:cBhvr>
                                        <p:cTn id="113" dur="1" fill="hold">
                                          <p:stCondLst>
                                            <p:cond delay="0"/>
                                          </p:stCondLst>
                                        </p:cTn>
                                        <p:tgtEl>
                                          <p:spTgt spid="2">
                                            <p:txEl>
                                              <p:pRg st="12" end="12"/>
                                            </p:txEl>
                                          </p:spTgt>
                                        </p:tgtEl>
                                        <p:attrNameLst>
                                          <p:attrName>style.visibility</p:attrName>
                                        </p:attrNameLst>
                                      </p:cBhvr>
                                      <p:to>
                                        <p:strVal val="visible"/>
                                      </p:to>
                                    </p:set>
                                    <p:anim calcmode="lin" valueType="num">
                                      <p:cBhvr>
                                        <p:cTn id="114" dur="500" decel="50000" fill="hold">
                                          <p:stCondLst>
                                            <p:cond delay="0"/>
                                          </p:stCondLst>
                                        </p:cTn>
                                        <p:tgtEl>
                                          <p:spTgt spid="2">
                                            <p:txEl>
                                              <p:pRg st="12" end="12"/>
                                            </p:txEl>
                                          </p:spTgt>
                                        </p:tgtEl>
                                        <p:attrNameLst>
                                          <p:attrName>style.rotation</p:attrName>
                                        </p:attrNameLst>
                                      </p:cBhvr>
                                      <p:tavLst>
                                        <p:tav tm="0">
                                          <p:val>
                                            <p:fltVal val="-90"/>
                                          </p:val>
                                        </p:tav>
                                        <p:tav tm="100000">
                                          <p:val>
                                            <p:fltVal val="0"/>
                                          </p:val>
                                        </p:tav>
                                      </p:tavLst>
                                    </p:anim>
                                    <p:anim calcmode="lin" valueType="num">
                                      <p:cBhvr>
                                        <p:cTn id="115" dur="500" decel="50000" fill="hold">
                                          <p:stCondLst>
                                            <p:cond delay="0"/>
                                          </p:stCondLst>
                                        </p:cTn>
                                        <p:tgtEl>
                                          <p:spTgt spid="2">
                                            <p:txEl>
                                              <p:pRg st="12" end="12"/>
                                            </p:txEl>
                                          </p:spTgt>
                                        </p:tgtEl>
                                        <p:attrNameLst>
                                          <p:attrName>ppt_w</p:attrName>
                                        </p:attrNameLst>
                                      </p:cBhvr>
                                      <p:tavLst>
                                        <p:tav tm="0">
                                          <p:val>
                                            <p:strVal val="#ppt_w"/>
                                          </p:val>
                                        </p:tav>
                                        <p:tav tm="100000">
                                          <p:val>
                                            <p:strVal val="#ppt_w*.05"/>
                                          </p:val>
                                        </p:tav>
                                      </p:tavLst>
                                    </p:anim>
                                    <p:anim calcmode="lin" valueType="num">
                                      <p:cBhvr>
                                        <p:cTn id="116" dur="500" accel="50000" fill="hold">
                                          <p:stCondLst>
                                            <p:cond delay="500"/>
                                          </p:stCondLst>
                                        </p:cTn>
                                        <p:tgtEl>
                                          <p:spTgt spid="2">
                                            <p:txEl>
                                              <p:pRg st="12" end="12"/>
                                            </p:txEl>
                                          </p:spTgt>
                                        </p:tgtEl>
                                        <p:attrNameLst>
                                          <p:attrName>ppt_w</p:attrName>
                                        </p:attrNameLst>
                                      </p:cBhvr>
                                      <p:tavLst>
                                        <p:tav tm="0">
                                          <p:val>
                                            <p:strVal val="#ppt_w*.05"/>
                                          </p:val>
                                        </p:tav>
                                        <p:tav tm="100000">
                                          <p:val>
                                            <p:strVal val="#ppt_w"/>
                                          </p:val>
                                        </p:tav>
                                      </p:tavLst>
                                    </p:anim>
                                    <p:anim calcmode="lin" valueType="num">
                                      <p:cBhvr>
                                        <p:cTn id="117" dur="1000" fill="hold"/>
                                        <p:tgtEl>
                                          <p:spTgt spid="2">
                                            <p:txEl>
                                              <p:pRg st="12" end="12"/>
                                            </p:txEl>
                                          </p:spTgt>
                                        </p:tgtEl>
                                        <p:attrNameLst>
                                          <p:attrName>ppt_h</p:attrName>
                                        </p:attrNameLst>
                                      </p:cBhvr>
                                      <p:tavLst>
                                        <p:tav tm="0">
                                          <p:val>
                                            <p:strVal val="#ppt_h"/>
                                          </p:val>
                                        </p:tav>
                                        <p:tav tm="100000">
                                          <p:val>
                                            <p:strVal val="#ppt_h"/>
                                          </p:val>
                                        </p:tav>
                                      </p:tavLst>
                                    </p:anim>
                                    <p:anim calcmode="lin" valueType="num">
                                      <p:cBhvr>
                                        <p:cTn id="118" dur="500" decel="50000" fill="hold">
                                          <p:stCondLst>
                                            <p:cond delay="0"/>
                                          </p:stCondLst>
                                        </p:cTn>
                                        <p:tgtEl>
                                          <p:spTgt spid="2">
                                            <p:txEl>
                                              <p:pRg st="12" end="12"/>
                                            </p:txEl>
                                          </p:spTgt>
                                        </p:tgtEl>
                                        <p:attrNameLst>
                                          <p:attrName>ppt_x</p:attrName>
                                        </p:attrNameLst>
                                      </p:cBhvr>
                                      <p:tavLst>
                                        <p:tav tm="0">
                                          <p:val>
                                            <p:strVal val="#ppt_x+.4"/>
                                          </p:val>
                                        </p:tav>
                                        <p:tav tm="100000">
                                          <p:val>
                                            <p:strVal val="#ppt_x"/>
                                          </p:val>
                                        </p:tav>
                                      </p:tavLst>
                                    </p:anim>
                                    <p:anim calcmode="lin" valueType="num">
                                      <p:cBhvr>
                                        <p:cTn id="119" dur="500" decel="50000" fill="hold">
                                          <p:stCondLst>
                                            <p:cond delay="0"/>
                                          </p:stCondLst>
                                        </p:cTn>
                                        <p:tgtEl>
                                          <p:spTgt spid="2">
                                            <p:txEl>
                                              <p:pRg st="12" end="12"/>
                                            </p:txEl>
                                          </p:spTgt>
                                        </p:tgtEl>
                                        <p:attrNameLst>
                                          <p:attrName>ppt_y</p:attrName>
                                        </p:attrNameLst>
                                      </p:cBhvr>
                                      <p:tavLst>
                                        <p:tav tm="0">
                                          <p:val>
                                            <p:strVal val="#ppt_y-.2"/>
                                          </p:val>
                                        </p:tav>
                                        <p:tav tm="100000">
                                          <p:val>
                                            <p:strVal val="#ppt_y+.1"/>
                                          </p:val>
                                        </p:tav>
                                      </p:tavLst>
                                    </p:anim>
                                    <p:anim calcmode="lin" valueType="num">
                                      <p:cBhvr>
                                        <p:cTn id="120" dur="500" accel="50000" fill="hold">
                                          <p:stCondLst>
                                            <p:cond delay="500"/>
                                          </p:stCondLst>
                                        </p:cTn>
                                        <p:tgtEl>
                                          <p:spTgt spid="2">
                                            <p:txEl>
                                              <p:pRg st="12" end="12"/>
                                            </p:txEl>
                                          </p:spTgt>
                                        </p:tgtEl>
                                        <p:attrNameLst>
                                          <p:attrName>ppt_y</p:attrName>
                                        </p:attrNameLst>
                                      </p:cBhvr>
                                      <p:tavLst>
                                        <p:tav tm="0">
                                          <p:val>
                                            <p:strVal val="#ppt_y+.1"/>
                                          </p:val>
                                        </p:tav>
                                        <p:tav tm="100000">
                                          <p:val>
                                            <p:strVal val="#ppt_y"/>
                                          </p:val>
                                        </p:tav>
                                      </p:tavLst>
                                    </p:anim>
                                    <p:animEffect transition="in" filter="fade">
                                      <p:cBhvr>
                                        <p:cTn id="121" dur="1000" decel="50000">
                                          <p:stCondLst>
                                            <p:cond delay="0"/>
                                          </p:stCondLst>
                                        </p:cTn>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07504" y="404664"/>
            <a:ext cx="8856983" cy="6247864"/>
          </a:xfrm>
          <a:prstGeom prst="rect">
            <a:avLst/>
          </a:prstGeom>
          <a:noFill/>
        </p:spPr>
        <p:txBody>
          <a:bodyPr wrap="square" rtlCol="1">
            <a:spAutoFit/>
          </a:bodyPr>
          <a:lstStyle/>
          <a:p>
            <a:r>
              <a:rPr lang="ar-EG" sz="3200" b="1" dirty="0">
                <a:solidFill>
                  <a:schemeClr val="tx2"/>
                </a:solidFill>
              </a:rPr>
              <a:t>وأشار (مصطفى جودت ، 1999) </a:t>
            </a:r>
            <a:r>
              <a:rPr lang="ar-EG" sz="3200" b="1" dirty="0" err="1">
                <a:solidFill>
                  <a:schemeClr val="tx2"/>
                </a:solidFill>
              </a:rPr>
              <a:t>الى</a:t>
            </a:r>
            <a:r>
              <a:rPr lang="ar-EG" sz="3200" b="1" dirty="0">
                <a:solidFill>
                  <a:schemeClr val="tx2"/>
                </a:solidFill>
              </a:rPr>
              <a:t> مجموعه من المعايير </a:t>
            </a:r>
            <a:r>
              <a:rPr lang="ar-EG" sz="3200" b="1" dirty="0" err="1">
                <a:solidFill>
                  <a:schemeClr val="tx2"/>
                </a:solidFill>
              </a:rPr>
              <a:t>التى</a:t>
            </a:r>
            <a:r>
              <a:rPr lang="ar-EG" sz="3200" b="1" dirty="0">
                <a:solidFill>
                  <a:schemeClr val="tx2"/>
                </a:solidFill>
              </a:rPr>
              <a:t> يجب مراعاتها عند كتابة النص </a:t>
            </a:r>
            <a:r>
              <a:rPr lang="ar-EG" sz="3200" b="1" dirty="0" err="1">
                <a:solidFill>
                  <a:schemeClr val="tx2"/>
                </a:solidFill>
              </a:rPr>
              <a:t>فى</a:t>
            </a:r>
            <a:r>
              <a:rPr lang="ar-EG" sz="3200" b="1" dirty="0">
                <a:solidFill>
                  <a:schemeClr val="tx2"/>
                </a:solidFill>
              </a:rPr>
              <a:t> برنامج :-</a:t>
            </a:r>
          </a:p>
          <a:p>
            <a:endParaRPr lang="en-US" sz="2800" dirty="0"/>
          </a:p>
          <a:p>
            <a:pPr lvl="0">
              <a:buFontTx/>
              <a:buChar char="-"/>
            </a:pPr>
            <a:r>
              <a:rPr lang="ar-SA" sz="2800" dirty="0"/>
              <a:t> </a:t>
            </a:r>
            <a:r>
              <a:rPr lang="ar-EG" sz="2800" dirty="0"/>
              <a:t>بنط الكتابة للنص كبير ، كمية المعلومات على الشاشة بسيطة.</a:t>
            </a:r>
          </a:p>
          <a:p>
            <a:pPr lvl="0"/>
            <a:endParaRPr lang="en-US" sz="2800" dirty="0"/>
          </a:p>
          <a:p>
            <a:pPr lvl="0">
              <a:buFontTx/>
              <a:buChar char="-"/>
            </a:pPr>
            <a:r>
              <a:rPr lang="ar-SA" sz="2800" dirty="0"/>
              <a:t> </a:t>
            </a:r>
            <a:r>
              <a:rPr lang="ar-EG" sz="2800" dirty="0"/>
              <a:t>تجنب استخدام الفقرات واستبدالها بعبارات تلغرافية.</a:t>
            </a:r>
          </a:p>
          <a:p>
            <a:pPr lvl="0"/>
            <a:endParaRPr lang="en-US" sz="2800" dirty="0"/>
          </a:p>
          <a:p>
            <a:pPr lvl="0">
              <a:buFontTx/>
              <a:buChar char="-"/>
            </a:pPr>
            <a:r>
              <a:rPr lang="ar-SA" sz="2800" dirty="0"/>
              <a:t> </a:t>
            </a:r>
            <a:r>
              <a:rPr lang="ar-EG" sz="2800" dirty="0"/>
              <a:t>استخدام سطور قصيرة فى الفقرات.</a:t>
            </a:r>
          </a:p>
          <a:p>
            <a:pPr lvl="0"/>
            <a:endParaRPr lang="en-US" sz="2800" dirty="0"/>
          </a:p>
          <a:p>
            <a:pPr lvl="0">
              <a:buFontTx/>
              <a:buChar char="-"/>
            </a:pPr>
            <a:r>
              <a:rPr lang="ar-SA" sz="2800" dirty="0"/>
              <a:t> </a:t>
            </a:r>
            <a:r>
              <a:rPr lang="ar-EG" sz="2800" dirty="0"/>
              <a:t>تجنب المبالغة فى تمييز النص حيث أن المبالغة فى التمييز تؤدى الى تشتت المتعلم.</a:t>
            </a:r>
          </a:p>
          <a:p>
            <a:pPr lvl="0"/>
            <a:endParaRPr lang="en-US" sz="2800" dirty="0"/>
          </a:p>
          <a:p>
            <a:pPr lvl="0"/>
            <a:r>
              <a:rPr lang="ar-EG" sz="2800" dirty="0"/>
              <a:t>- حجم الخط المثالي (ارتفاع الحرف) حيث يتأثر التحديد الأمثل للخط بعدة عوامل .</a:t>
            </a:r>
            <a:endParaRPr lang="en-US" sz="2800" dirty="0"/>
          </a:p>
        </p:txBody>
      </p:sp>
    </p:spTree>
  </p:cSld>
  <p:clrMapOvr>
    <a:masterClrMapping/>
  </p:clrMapOvr>
  <p:transition spd="slow">
    <p:comb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nodeType="clickEffect">
                                  <p:stCondLst>
                                    <p:cond delay="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 by="(-#ppt_w*2)" calcmode="lin" valueType="num">
                                      <p:cBhvr rctx="PPT">
                                        <p:cTn id="7" dur="250" autoRev="1" fill="hold">
                                          <p:stCondLst>
                                            <p:cond delay="0"/>
                                          </p:stCondLst>
                                        </p:cTn>
                                        <p:tgtEl>
                                          <p:spTgt spid="2">
                                            <p:txEl>
                                              <p:pRg st="0" end="0"/>
                                            </p:txEl>
                                          </p:spTgt>
                                        </p:tgtEl>
                                        <p:attrNameLst>
                                          <p:attrName>ppt_w</p:attrName>
                                        </p:attrNameLst>
                                      </p:cBhvr>
                                    </p:anim>
                                    <p:anim by="(#ppt_w*0.50)" calcmode="lin" valueType="num">
                                      <p:cBhvr>
                                        <p:cTn id="8" dur="250" decel="50000" autoRev="1" fill="hold">
                                          <p:stCondLst>
                                            <p:cond delay="0"/>
                                          </p:stCondLst>
                                        </p:cTn>
                                        <p:tgtEl>
                                          <p:spTgt spid="2">
                                            <p:txEl>
                                              <p:pRg st="0" end="0"/>
                                            </p:txEl>
                                          </p:spTgt>
                                        </p:tgtEl>
                                        <p:attrNameLst>
                                          <p:attrName>ppt_x</p:attrName>
                                        </p:attrNameLst>
                                      </p:cBhvr>
                                    </p:anim>
                                    <p:anim from="(-#ppt_h/2)" to="(#ppt_y)" calcmode="lin" valueType="num">
                                      <p:cBhvr>
                                        <p:cTn id="9" dur="500" fill="hold">
                                          <p:stCondLst>
                                            <p:cond delay="0"/>
                                          </p:stCondLst>
                                        </p:cTn>
                                        <p:tgtEl>
                                          <p:spTgt spid="2">
                                            <p:txEl>
                                              <p:pRg st="0" end="0"/>
                                            </p:txEl>
                                          </p:spTgt>
                                        </p:tgtEl>
                                        <p:attrNameLst>
                                          <p:attrName>ppt_y</p:attrName>
                                        </p:attrNameLst>
                                      </p:cBhvr>
                                    </p:anim>
                                    <p:animRot by="21600000">
                                      <p:cBhvr>
                                        <p:cTn id="10" dur="500" fill="hold">
                                          <p:stCondLst>
                                            <p:cond delay="0"/>
                                          </p:stCondLst>
                                        </p:cTn>
                                        <p:tgtEl>
                                          <p:spTgt spid="2">
                                            <p:txEl>
                                              <p:pRg st="0" end="0"/>
                                            </p:txEl>
                                          </p:spTgt>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p:cTn id="15"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16" dur="500" fill="hold"/>
                                        <p:tgtEl>
                                          <p:spTgt spid="2">
                                            <p:txEl>
                                              <p:pRg st="2" end="2"/>
                                            </p:txEl>
                                          </p:spTgt>
                                        </p:tgtEl>
                                        <p:attrNameLst>
                                          <p:attrName>ppt_h</p:attrName>
                                        </p:attrNameLst>
                                      </p:cBhvr>
                                      <p:tavLst>
                                        <p:tav tm="0">
                                          <p:val>
                                            <p:fltVal val="0"/>
                                          </p:val>
                                        </p:tav>
                                        <p:tav tm="100000">
                                          <p:val>
                                            <p:strVal val="#ppt_h"/>
                                          </p:val>
                                        </p:tav>
                                      </p:tavLst>
                                    </p:anim>
                                    <p:anim calcmode="lin" valueType="num">
                                      <p:cBhvr>
                                        <p:cTn id="17" dur="500" fill="hold"/>
                                        <p:tgtEl>
                                          <p:spTgt spid="2">
                                            <p:txEl>
                                              <p:pRg st="2" end="2"/>
                                            </p:txEl>
                                          </p:spTgt>
                                        </p:tgtEl>
                                        <p:attrNameLst>
                                          <p:attrName>style.rotation</p:attrName>
                                        </p:attrNameLst>
                                      </p:cBhvr>
                                      <p:tavLst>
                                        <p:tav tm="0">
                                          <p:val>
                                            <p:fltVal val="360"/>
                                          </p:val>
                                        </p:tav>
                                        <p:tav tm="100000">
                                          <p:val>
                                            <p:fltVal val="0"/>
                                          </p:val>
                                        </p:tav>
                                      </p:tavLst>
                                    </p:anim>
                                    <p:animEffect transition="in" filter="fade">
                                      <p:cBhvr>
                                        <p:cTn id="18" dur="500"/>
                                        <p:tgtEl>
                                          <p:spTgt spid="2">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 calcmode="lin" valueType="num">
                                      <p:cBhvr>
                                        <p:cTn id="23" dur="500" fill="hold"/>
                                        <p:tgtEl>
                                          <p:spTgt spid="2">
                                            <p:txEl>
                                              <p:pRg st="4" end="4"/>
                                            </p:txEl>
                                          </p:spTgt>
                                        </p:tgtEl>
                                        <p:attrNameLst>
                                          <p:attrName>ppt_w</p:attrName>
                                        </p:attrNameLst>
                                      </p:cBhvr>
                                      <p:tavLst>
                                        <p:tav tm="0">
                                          <p:val>
                                            <p:fltVal val="0"/>
                                          </p:val>
                                        </p:tav>
                                        <p:tav tm="100000">
                                          <p:val>
                                            <p:strVal val="#ppt_w"/>
                                          </p:val>
                                        </p:tav>
                                      </p:tavLst>
                                    </p:anim>
                                    <p:anim calcmode="lin" valueType="num">
                                      <p:cBhvr>
                                        <p:cTn id="24" dur="500" fill="hold"/>
                                        <p:tgtEl>
                                          <p:spTgt spid="2">
                                            <p:txEl>
                                              <p:pRg st="4" end="4"/>
                                            </p:txEl>
                                          </p:spTgt>
                                        </p:tgtEl>
                                        <p:attrNameLst>
                                          <p:attrName>ppt_h</p:attrName>
                                        </p:attrNameLst>
                                      </p:cBhvr>
                                      <p:tavLst>
                                        <p:tav tm="0">
                                          <p:val>
                                            <p:fltVal val="0"/>
                                          </p:val>
                                        </p:tav>
                                        <p:tav tm="100000">
                                          <p:val>
                                            <p:strVal val="#ppt_h"/>
                                          </p:val>
                                        </p:tav>
                                      </p:tavLst>
                                    </p:anim>
                                    <p:anim calcmode="lin" valueType="num">
                                      <p:cBhvr>
                                        <p:cTn id="25" dur="500" fill="hold"/>
                                        <p:tgtEl>
                                          <p:spTgt spid="2">
                                            <p:txEl>
                                              <p:pRg st="4" end="4"/>
                                            </p:txEl>
                                          </p:spTgt>
                                        </p:tgtEl>
                                        <p:attrNameLst>
                                          <p:attrName>style.rotation</p:attrName>
                                        </p:attrNameLst>
                                      </p:cBhvr>
                                      <p:tavLst>
                                        <p:tav tm="0">
                                          <p:val>
                                            <p:fltVal val="360"/>
                                          </p:val>
                                        </p:tav>
                                        <p:tav tm="100000">
                                          <p:val>
                                            <p:fltVal val="0"/>
                                          </p:val>
                                        </p:tav>
                                      </p:tavLst>
                                    </p:anim>
                                    <p:animEffect transition="in" filter="fade">
                                      <p:cBhvr>
                                        <p:cTn id="26" dur="500"/>
                                        <p:tgtEl>
                                          <p:spTgt spid="2">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9" presetClass="entr" presetSubtype="0" decel="10000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 calcmode="lin" valueType="num">
                                      <p:cBhvr>
                                        <p:cTn id="31" dur="500" fill="hold"/>
                                        <p:tgtEl>
                                          <p:spTgt spid="2">
                                            <p:txEl>
                                              <p:pRg st="6" end="6"/>
                                            </p:txEl>
                                          </p:spTgt>
                                        </p:tgtEl>
                                        <p:attrNameLst>
                                          <p:attrName>ppt_w</p:attrName>
                                        </p:attrNameLst>
                                      </p:cBhvr>
                                      <p:tavLst>
                                        <p:tav tm="0">
                                          <p:val>
                                            <p:fltVal val="0"/>
                                          </p:val>
                                        </p:tav>
                                        <p:tav tm="100000">
                                          <p:val>
                                            <p:strVal val="#ppt_w"/>
                                          </p:val>
                                        </p:tav>
                                      </p:tavLst>
                                    </p:anim>
                                    <p:anim calcmode="lin" valueType="num">
                                      <p:cBhvr>
                                        <p:cTn id="32" dur="500" fill="hold"/>
                                        <p:tgtEl>
                                          <p:spTgt spid="2">
                                            <p:txEl>
                                              <p:pRg st="6" end="6"/>
                                            </p:txEl>
                                          </p:spTgt>
                                        </p:tgtEl>
                                        <p:attrNameLst>
                                          <p:attrName>ppt_h</p:attrName>
                                        </p:attrNameLst>
                                      </p:cBhvr>
                                      <p:tavLst>
                                        <p:tav tm="0">
                                          <p:val>
                                            <p:fltVal val="0"/>
                                          </p:val>
                                        </p:tav>
                                        <p:tav tm="100000">
                                          <p:val>
                                            <p:strVal val="#ppt_h"/>
                                          </p:val>
                                        </p:tav>
                                      </p:tavLst>
                                    </p:anim>
                                    <p:anim calcmode="lin" valueType="num">
                                      <p:cBhvr>
                                        <p:cTn id="33" dur="500" fill="hold"/>
                                        <p:tgtEl>
                                          <p:spTgt spid="2">
                                            <p:txEl>
                                              <p:pRg st="6" end="6"/>
                                            </p:txEl>
                                          </p:spTgt>
                                        </p:tgtEl>
                                        <p:attrNameLst>
                                          <p:attrName>style.rotation</p:attrName>
                                        </p:attrNameLst>
                                      </p:cBhvr>
                                      <p:tavLst>
                                        <p:tav tm="0">
                                          <p:val>
                                            <p:fltVal val="360"/>
                                          </p:val>
                                        </p:tav>
                                        <p:tav tm="100000">
                                          <p:val>
                                            <p:fltVal val="0"/>
                                          </p:val>
                                        </p:tav>
                                      </p:tavLst>
                                    </p:anim>
                                    <p:animEffect transition="in" filter="fade">
                                      <p:cBhvr>
                                        <p:cTn id="34" dur="500"/>
                                        <p:tgtEl>
                                          <p:spTgt spid="2">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9" presetClass="entr" presetSubtype="0" decel="10000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 calcmode="lin" valueType="num">
                                      <p:cBhvr>
                                        <p:cTn id="39" dur="500" fill="hold"/>
                                        <p:tgtEl>
                                          <p:spTgt spid="2">
                                            <p:txEl>
                                              <p:pRg st="8" end="8"/>
                                            </p:txEl>
                                          </p:spTgt>
                                        </p:tgtEl>
                                        <p:attrNameLst>
                                          <p:attrName>ppt_w</p:attrName>
                                        </p:attrNameLst>
                                      </p:cBhvr>
                                      <p:tavLst>
                                        <p:tav tm="0">
                                          <p:val>
                                            <p:fltVal val="0"/>
                                          </p:val>
                                        </p:tav>
                                        <p:tav tm="100000">
                                          <p:val>
                                            <p:strVal val="#ppt_w"/>
                                          </p:val>
                                        </p:tav>
                                      </p:tavLst>
                                    </p:anim>
                                    <p:anim calcmode="lin" valueType="num">
                                      <p:cBhvr>
                                        <p:cTn id="40" dur="500" fill="hold"/>
                                        <p:tgtEl>
                                          <p:spTgt spid="2">
                                            <p:txEl>
                                              <p:pRg st="8" end="8"/>
                                            </p:txEl>
                                          </p:spTgt>
                                        </p:tgtEl>
                                        <p:attrNameLst>
                                          <p:attrName>ppt_h</p:attrName>
                                        </p:attrNameLst>
                                      </p:cBhvr>
                                      <p:tavLst>
                                        <p:tav tm="0">
                                          <p:val>
                                            <p:fltVal val="0"/>
                                          </p:val>
                                        </p:tav>
                                        <p:tav tm="100000">
                                          <p:val>
                                            <p:strVal val="#ppt_h"/>
                                          </p:val>
                                        </p:tav>
                                      </p:tavLst>
                                    </p:anim>
                                    <p:anim calcmode="lin" valueType="num">
                                      <p:cBhvr>
                                        <p:cTn id="41" dur="500" fill="hold"/>
                                        <p:tgtEl>
                                          <p:spTgt spid="2">
                                            <p:txEl>
                                              <p:pRg st="8" end="8"/>
                                            </p:txEl>
                                          </p:spTgt>
                                        </p:tgtEl>
                                        <p:attrNameLst>
                                          <p:attrName>style.rotation</p:attrName>
                                        </p:attrNameLst>
                                      </p:cBhvr>
                                      <p:tavLst>
                                        <p:tav tm="0">
                                          <p:val>
                                            <p:fltVal val="360"/>
                                          </p:val>
                                        </p:tav>
                                        <p:tav tm="100000">
                                          <p:val>
                                            <p:fltVal val="0"/>
                                          </p:val>
                                        </p:tav>
                                      </p:tavLst>
                                    </p:anim>
                                    <p:animEffect transition="in" filter="fade">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9" presetClass="entr" presetSubtype="0" decel="10000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anim calcmode="lin" valueType="num">
                                      <p:cBhvr>
                                        <p:cTn id="47" dur="500" fill="hold"/>
                                        <p:tgtEl>
                                          <p:spTgt spid="2">
                                            <p:txEl>
                                              <p:pRg st="10" end="10"/>
                                            </p:txEl>
                                          </p:spTgt>
                                        </p:tgtEl>
                                        <p:attrNameLst>
                                          <p:attrName>ppt_w</p:attrName>
                                        </p:attrNameLst>
                                      </p:cBhvr>
                                      <p:tavLst>
                                        <p:tav tm="0">
                                          <p:val>
                                            <p:fltVal val="0"/>
                                          </p:val>
                                        </p:tav>
                                        <p:tav tm="100000">
                                          <p:val>
                                            <p:strVal val="#ppt_w"/>
                                          </p:val>
                                        </p:tav>
                                      </p:tavLst>
                                    </p:anim>
                                    <p:anim calcmode="lin" valueType="num">
                                      <p:cBhvr>
                                        <p:cTn id="48" dur="500" fill="hold"/>
                                        <p:tgtEl>
                                          <p:spTgt spid="2">
                                            <p:txEl>
                                              <p:pRg st="10" end="10"/>
                                            </p:txEl>
                                          </p:spTgt>
                                        </p:tgtEl>
                                        <p:attrNameLst>
                                          <p:attrName>ppt_h</p:attrName>
                                        </p:attrNameLst>
                                      </p:cBhvr>
                                      <p:tavLst>
                                        <p:tav tm="0">
                                          <p:val>
                                            <p:fltVal val="0"/>
                                          </p:val>
                                        </p:tav>
                                        <p:tav tm="100000">
                                          <p:val>
                                            <p:strVal val="#ppt_h"/>
                                          </p:val>
                                        </p:tav>
                                      </p:tavLst>
                                    </p:anim>
                                    <p:anim calcmode="lin" valueType="num">
                                      <p:cBhvr>
                                        <p:cTn id="49" dur="500" fill="hold"/>
                                        <p:tgtEl>
                                          <p:spTgt spid="2">
                                            <p:txEl>
                                              <p:pRg st="10" end="10"/>
                                            </p:txEl>
                                          </p:spTgt>
                                        </p:tgtEl>
                                        <p:attrNameLst>
                                          <p:attrName>style.rotation</p:attrName>
                                        </p:attrNameLst>
                                      </p:cBhvr>
                                      <p:tavLst>
                                        <p:tav tm="0">
                                          <p:val>
                                            <p:fltVal val="360"/>
                                          </p:val>
                                        </p:tav>
                                        <p:tav tm="100000">
                                          <p:val>
                                            <p:fltVal val="0"/>
                                          </p:val>
                                        </p:tav>
                                      </p:tavLst>
                                    </p:anim>
                                    <p:animEffect transition="in" filter="fade">
                                      <p:cBhvr>
                                        <p:cTn id="50"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مربع نص 3"/>
          <p:cNvSpPr txBox="1"/>
          <p:nvPr/>
        </p:nvSpPr>
        <p:spPr>
          <a:xfrm>
            <a:off x="3131840" y="289214"/>
            <a:ext cx="3357587" cy="523220"/>
          </a:xfrm>
          <a:prstGeom prst="rect">
            <a:avLst/>
          </a:prstGeom>
        </p:spPr>
        <p:style>
          <a:lnRef idx="0">
            <a:schemeClr val="accent4"/>
          </a:lnRef>
          <a:fillRef idx="3">
            <a:schemeClr val="accent4"/>
          </a:fillRef>
          <a:effectRef idx="3">
            <a:schemeClr val="accent4"/>
          </a:effectRef>
          <a:fontRef idx="minor">
            <a:schemeClr val="lt1"/>
          </a:fontRef>
        </p:style>
        <p:txBody>
          <a:bodyPr wrap="square" rtlCol="1">
            <a:spAutoFit/>
          </a:bodyPr>
          <a:lstStyle/>
          <a:p>
            <a:pPr algn="ctr"/>
            <a:r>
              <a:rPr lang="ar-EG" sz="2800" b="1" dirty="0"/>
              <a:t>ثانياً : الصوت </a:t>
            </a:r>
            <a:r>
              <a:rPr lang="en-US" sz="2800" b="1" dirty="0"/>
              <a:t>Sound</a:t>
            </a:r>
          </a:p>
        </p:txBody>
      </p:sp>
      <p:sp>
        <p:nvSpPr>
          <p:cNvPr id="5" name="مربع نص 4"/>
          <p:cNvSpPr txBox="1"/>
          <p:nvPr/>
        </p:nvSpPr>
        <p:spPr>
          <a:xfrm>
            <a:off x="1" y="1124744"/>
            <a:ext cx="9036496" cy="1569660"/>
          </a:xfrm>
          <a:prstGeom prst="rect">
            <a:avLst/>
          </a:prstGeom>
          <a:noFill/>
        </p:spPr>
        <p:txBody>
          <a:bodyPr wrap="square" rtlCol="1">
            <a:spAutoFit/>
          </a:bodyPr>
          <a:lstStyle/>
          <a:p>
            <a:r>
              <a:rPr lang="ar-EG" sz="3200" dirty="0"/>
              <a:t>يقصد بالصوت أحاديث مسموعة ومنطوقة بلغة ما تنبعث من السماعة الملحقة بجهاز الكمبيوتر بغرض إعطاء توجيهات أو إرشادات للمتعلم أو توصيل معلومة أو مهارة معينة .</a:t>
            </a:r>
          </a:p>
        </p:txBody>
      </p:sp>
      <p:sp>
        <p:nvSpPr>
          <p:cNvPr id="6" name="مربع نص 5"/>
          <p:cNvSpPr txBox="1"/>
          <p:nvPr/>
        </p:nvSpPr>
        <p:spPr>
          <a:xfrm>
            <a:off x="214283" y="3000373"/>
            <a:ext cx="8572528" cy="3539430"/>
          </a:xfrm>
          <a:prstGeom prst="rect">
            <a:avLst/>
          </a:prstGeom>
          <a:noFill/>
        </p:spPr>
        <p:txBody>
          <a:bodyPr wrap="square" rtlCol="1">
            <a:spAutoFit/>
          </a:bodyPr>
          <a:lstStyle/>
          <a:p>
            <a:r>
              <a:rPr lang="ar-EG" sz="3200" b="1" dirty="0">
                <a:solidFill>
                  <a:schemeClr val="tx2"/>
                </a:solidFill>
              </a:rPr>
              <a:t>وأكدت دراسات على مراعاة ما يلي :-</a:t>
            </a:r>
          </a:p>
          <a:p>
            <a:endParaRPr lang="en-US" sz="2400" dirty="0"/>
          </a:p>
          <a:p>
            <a:r>
              <a:rPr lang="ar-EG" sz="2400" dirty="0"/>
              <a:t>  </a:t>
            </a:r>
            <a:r>
              <a:rPr lang="ar-EG" sz="2800" dirty="0"/>
              <a:t>ـ دقة و وضوح الصوت وسهولة استقبال المتعلم له.</a:t>
            </a:r>
            <a:endParaRPr lang="en-US" sz="2800" dirty="0"/>
          </a:p>
          <a:p>
            <a:r>
              <a:rPr lang="ar-EG" sz="2800" dirty="0"/>
              <a:t>  ـ تلافى عيوب التزامن عند استخدام تعليق صوتي على لقطة فيديو أو رسوم متحركة.</a:t>
            </a:r>
            <a:endParaRPr lang="en-US" sz="2800" dirty="0"/>
          </a:p>
          <a:p>
            <a:r>
              <a:rPr lang="ar-EG" sz="2800" dirty="0"/>
              <a:t>  ـ عند استخدام تعليق صوتي على صورة ثابتة يفضل بتمهيد لموضوع الصورة ،ثم تظهر الصورة ويلي ذلك التعليق.</a:t>
            </a:r>
            <a:endParaRPr lang="en-US" sz="2800" dirty="0"/>
          </a:p>
          <a:p>
            <a:r>
              <a:rPr lang="ar-EG" sz="2800" dirty="0"/>
              <a:t>  ـ يجب استخدام عناصر بصرية على الشاشة إلى جانب الصوت.</a:t>
            </a:r>
            <a:endParaRPr lang="en-US" sz="2800" dirty="0"/>
          </a:p>
        </p:txBody>
      </p:sp>
    </p:spTree>
  </p:cSld>
  <p:clrMapOvr>
    <a:masterClrMapping/>
  </p:clrMapOvr>
  <p:transition spd="slow">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iterate type="lt">
                                    <p:tmPct val="0"/>
                                  </p:iterate>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iterate type="lt">
                                    <p:tmPct val="5000"/>
                                  </p:iterate>
                                  <p:childTnLst>
                                    <p:set>
                                      <p:cBhvr>
                                        <p:cTn id="24" dur="1" fill="hold">
                                          <p:stCondLst>
                                            <p:cond delay="0"/>
                                          </p:stCondLst>
                                        </p:cTn>
                                        <p:tgtEl>
                                          <p:spTgt spid="5">
                                            <p:txEl>
                                              <p:pRg st="0" end="0"/>
                                            </p:txEl>
                                          </p:spTgt>
                                        </p:tgtEl>
                                        <p:attrNameLst>
                                          <p:attrName>style.visibility</p:attrName>
                                        </p:attrNameLst>
                                      </p:cBhvr>
                                      <p:to>
                                        <p:strVal val="visible"/>
                                      </p:to>
                                    </p:set>
                                    <p:anim calcmode="lin" valueType="num">
                                      <p:cBhvr>
                                        <p:cTn id="25" dur="1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26" dur="1000" fill="hold"/>
                                        <p:tgtEl>
                                          <p:spTgt spid="5">
                                            <p:txEl>
                                              <p:pRg st="0" end="0"/>
                                            </p:txEl>
                                          </p:spTgt>
                                        </p:tgtEl>
                                        <p:attrNameLst>
                                          <p:attrName>ppt_h</p:attrName>
                                        </p:attrNameLst>
                                      </p:cBhvr>
                                      <p:tavLst>
                                        <p:tav tm="0">
                                          <p:val>
                                            <p:fltVal val="0"/>
                                          </p:val>
                                        </p:tav>
                                        <p:tav tm="100000">
                                          <p:val>
                                            <p:strVal val="#ppt_h"/>
                                          </p:val>
                                        </p:tav>
                                      </p:tavLst>
                                    </p:anim>
                                    <p:anim calcmode="lin" valueType="num">
                                      <p:cBhvr>
                                        <p:cTn id="27" dur="1000" fill="hold"/>
                                        <p:tgtEl>
                                          <p:spTgt spid="5">
                                            <p:txEl>
                                              <p:pRg st="0" end="0"/>
                                            </p:txEl>
                                          </p:spTgt>
                                        </p:tgtEl>
                                        <p:attrNameLst>
                                          <p:attrName>style.rotation</p:attrName>
                                        </p:attrNameLst>
                                      </p:cBhvr>
                                      <p:tavLst>
                                        <p:tav tm="0">
                                          <p:val>
                                            <p:fltVal val="90"/>
                                          </p:val>
                                        </p:tav>
                                        <p:tav tm="100000">
                                          <p:val>
                                            <p:fltVal val="0"/>
                                          </p:val>
                                        </p:tav>
                                      </p:tavLst>
                                    </p:anim>
                                    <p:animEffect transition="in" filter="fade">
                                      <p:cBhvr>
                                        <p:cTn id="28" dur="1000"/>
                                        <p:tgtEl>
                                          <p:spTgt spid="5">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6">
                                            <p:txEl>
                                              <p:pRg st="0" end="0"/>
                                            </p:txEl>
                                          </p:spTgt>
                                        </p:tgtEl>
                                        <p:attrNameLst>
                                          <p:attrName>style.visibility</p:attrName>
                                        </p:attrNameLst>
                                      </p:cBhvr>
                                      <p:to>
                                        <p:strVal val="visible"/>
                                      </p:to>
                                    </p:set>
                                    <p:animEffect transition="in" filter="fade">
                                      <p:cBhvr>
                                        <p:cTn id="33" dur="1000"/>
                                        <p:tgtEl>
                                          <p:spTgt spid="6">
                                            <p:txEl>
                                              <p:pRg st="0" end="0"/>
                                            </p:txEl>
                                          </p:spTgt>
                                        </p:tgtEl>
                                      </p:cBhvr>
                                    </p:animEffect>
                                    <p:anim calcmode="lin" valueType="num">
                                      <p:cBhvr>
                                        <p:cTn id="34"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7" presetClass="entr" presetSubtype="0" fill="hold" nodeType="clickEffect">
                                  <p:stCondLst>
                                    <p:cond delay="0"/>
                                  </p:stCondLst>
                                  <p:childTnLst>
                                    <p:set>
                                      <p:cBhvr>
                                        <p:cTn id="39" dur="1" fill="hold">
                                          <p:stCondLst>
                                            <p:cond delay="0"/>
                                          </p:stCondLst>
                                        </p:cTn>
                                        <p:tgtEl>
                                          <p:spTgt spid="6">
                                            <p:txEl>
                                              <p:pRg st="2" end="2"/>
                                            </p:txEl>
                                          </p:spTgt>
                                        </p:tgtEl>
                                        <p:attrNameLst>
                                          <p:attrName>style.visibility</p:attrName>
                                        </p:attrNameLst>
                                      </p:cBhvr>
                                      <p:to>
                                        <p:strVal val="visible"/>
                                      </p:to>
                                    </p:set>
                                    <p:animEffect transition="in" filter="fade">
                                      <p:cBhvr>
                                        <p:cTn id="40" dur="1000"/>
                                        <p:tgtEl>
                                          <p:spTgt spid="6">
                                            <p:txEl>
                                              <p:pRg st="2" end="2"/>
                                            </p:txEl>
                                          </p:spTgt>
                                        </p:tgtEl>
                                      </p:cBhvr>
                                    </p:animEffect>
                                    <p:anim calcmode="lin" valueType="num">
                                      <p:cBhvr>
                                        <p:cTn id="41"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7" presetClass="entr" presetSubtype="0" fill="hold" nodeType="click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animEffect transition="in" filter="fade">
                                      <p:cBhvr>
                                        <p:cTn id="47" dur="1000"/>
                                        <p:tgtEl>
                                          <p:spTgt spid="6">
                                            <p:txEl>
                                              <p:pRg st="3" end="3"/>
                                            </p:txEl>
                                          </p:spTgt>
                                        </p:tgtEl>
                                      </p:cBhvr>
                                    </p:animEffect>
                                    <p:anim calcmode="lin" valueType="num">
                                      <p:cBhvr>
                                        <p:cTn id="48"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49"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7" presetClass="entr" presetSubtype="0" fill="hold" nodeType="clickEffect">
                                  <p:stCondLst>
                                    <p:cond delay="0"/>
                                  </p:stCondLst>
                                  <p:childTnLst>
                                    <p:set>
                                      <p:cBhvr>
                                        <p:cTn id="53" dur="1" fill="hold">
                                          <p:stCondLst>
                                            <p:cond delay="0"/>
                                          </p:stCondLst>
                                        </p:cTn>
                                        <p:tgtEl>
                                          <p:spTgt spid="6">
                                            <p:txEl>
                                              <p:pRg st="4" end="4"/>
                                            </p:txEl>
                                          </p:spTgt>
                                        </p:tgtEl>
                                        <p:attrNameLst>
                                          <p:attrName>style.visibility</p:attrName>
                                        </p:attrNameLst>
                                      </p:cBhvr>
                                      <p:to>
                                        <p:strVal val="visible"/>
                                      </p:to>
                                    </p:set>
                                    <p:animEffect transition="in" filter="fade">
                                      <p:cBhvr>
                                        <p:cTn id="54" dur="1000"/>
                                        <p:tgtEl>
                                          <p:spTgt spid="6">
                                            <p:txEl>
                                              <p:pRg st="4" end="4"/>
                                            </p:txEl>
                                          </p:spTgt>
                                        </p:tgtEl>
                                      </p:cBhvr>
                                    </p:animEffect>
                                    <p:anim calcmode="lin" valueType="num">
                                      <p:cBhvr>
                                        <p:cTn id="55"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56"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7" presetClass="entr" presetSubtype="0" fill="hold" nodeType="clickEffect">
                                  <p:stCondLst>
                                    <p:cond delay="0"/>
                                  </p:stCondLst>
                                  <p:childTnLst>
                                    <p:set>
                                      <p:cBhvr>
                                        <p:cTn id="60" dur="1" fill="hold">
                                          <p:stCondLst>
                                            <p:cond delay="0"/>
                                          </p:stCondLst>
                                        </p:cTn>
                                        <p:tgtEl>
                                          <p:spTgt spid="6">
                                            <p:txEl>
                                              <p:pRg st="5" end="5"/>
                                            </p:txEl>
                                          </p:spTgt>
                                        </p:tgtEl>
                                        <p:attrNameLst>
                                          <p:attrName>style.visibility</p:attrName>
                                        </p:attrNameLst>
                                      </p:cBhvr>
                                      <p:to>
                                        <p:strVal val="visible"/>
                                      </p:to>
                                    </p:set>
                                    <p:animEffect transition="in" filter="fade">
                                      <p:cBhvr>
                                        <p:cTn id="61" dur="1000"/>
                                        <p:tgtEl>
                                          <p:spTgt spid="6">
                                            <p:txEl>
                                              <p:pRg st="5" end="5"/>
                                            </p:txEl>
                                          </p:spTgt>
                                        </p:tgtEl>
                                      </p:cBhvr>
                                    </p:animEffect>
                                    <p:anim calcmode="lin" valueType="num">
                                      <p:cBhvr>
                                        <p:cTn id="62"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63"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2051720" y="428604"/>
            <a:ext cx="6663684" cy="461665"/>
          </a:xfrm>
          <a:prstGeom prst="rect">
            <a:avLst/>
          </a:prstGeom>
          <a:solidFill>
            <a:schemeClr val="tx2">
              <a:lumMod val="75000"/>
            </a:schemeClr>
          </a:solidFill>
        </p:spPr>
        <p:txBody>
          <a:bodyPr wrap="square" rtlCol="1">
            <a:spAutoFit/>
          </a:bodyPr>
          <a:lstStyle/>
          <a:p>
            <a:r>
              <a:rPr lang="ar-EG" sz="2400" b="1" dirty="0"/>
              <a:t>يأخذ الصوت في برامج الوسائط المتعددة أشكال متعددة منها :-</a:t>
            </a:r>
            <a:endParaRPr lang="ar-EG" sz="2400" dirty="0"/>
          </a:p>
        </p:txBody>
      </p:sp>
      <p:sp>
        <p:nvSpPr>
          <p:cNvPr id="3" name="مربع نص 2"/>
          <p:cNvSpPr txBox="1"/>
          <p:nvPr/>
        </p:nvSpPr>
        <p:spPr>
          <a:xfrm>
            <a:off x="107504" y="928670"/>
            <a:ext cx="8856984" cy="3816429"/>
          </a:xfrm>
          <a:prstGeom prst="rect">
            <a:avLst/>
          </a:prstGeom>
          <a:noFill/>
        </p:spPr>
        <p:txBody>
          <a:bodyPr wrap="square" rtlCol="1">
            <a:spAutoFit/>
          </a:bodyPr>
          <a:lstStyle/>
          <a:p>
            <a:pPr lvl="0"/>
            <a:r>
              <a:rPr lang="ar-EG" sz="2800" b="1" dirty="0">
                <a:solidFill>
                  <a:schemeClr val="tx2"/>
                </a:solidFill>
              </a:rPr>
              <a:t>1- </a:t>
            </a:r>
            <a:r>
              <a:rPr lang="ar-EG" sz="3200" b="1" dirty="0">
                <a:solidFill>
                  <a:schemeClr val="tx2"/>
                </a:solidFill>
              </a:rPr>
              <a:t>اللغة</a:t>
            </a:r>
            <a:r>
              <a:rPr lang="ar-EG" sz="2800" b="1" dirty="0">
                <a:solidFill>
                  <a:schemeClr val="tx2"/>
                </a:solidFill>
              </a:rPr>
              <a:t> المنطوقة </a:t>
            </a:r>
            <a:r>
              <a:rPr lang="en-US" sz="2800" b="1" dirty="0">
                <a:solidFill>
                  <a:schemeClr val="tx2"/>
                </a:solidFill>
              </a:rPr>
              <a:t>Spoken Words </a:t>
            </a:r>
          </a:p>
          <a:p>
            <a:r>
              <a:rPr lang="ar-EG" sz="2400" dirty="0"/>
              <a:t>تتمثل في الحوار والتعليقات الصوتية والإرشادات التوجيهية والشرح لمحتوى العرض بلغة ما وعند تصميم اللغة المنطوقة ينبغي مراعاة الاعتبارات الآتية :-</a:t>
            </a:r>
            <a:endParaRPr lang="en-US" sz="2400" dirty="0"/>
          </a:p>
          <a:p>
            <a:r>
              <a:rPr lang="ar-EG" sz="2400" dirty="0"/>
              <a:t> </a:t>
            </a:r>
            <a:endParaRPr lang="en-US" sz="2400" dirty="0">
              <a:solidFill>
                <a:schemeClr val="tx2"/>
              </a:solidFill>
            </a:endParaRPr>
          </a:p>
          <a:p>
            <a:pPr lvl="0"/>
            <a:r>
              <a:rPr lang="ar-EG" sz="2400" dirty="0">
                <a:solidFill>
                  <a:schemeClr val="tx2"/>
                </a:solidFill>
              </a:rPr>
              <a:t>- العمر الزمني للمستفيدين والمستوى الثقافي والتعليمي.</a:t>
            </a:r>
            <a:endParaRPr lang="en-US" sz="2400" dirty="0">
              <a:solidFill>
                <a:schemeClr val="tx2"/>
              </a:solidFill>
            </a:endParaRPr>
          </a:p>
          <a:p>
            <a:pPr lvl="0"/>
            <a:r>
              <a:rPr lang="ar-EG" sz="2400" dirty="0">
                <a:solidFill>
                  <a:schemeClr val="tx2"/>
                </a:solidFill>
              </a:rPr>
              <a:t>- انفعال المتكلم وسرعة الصوت.</a:t>
            </a:r>
            <a:endParaRPr lang="en-US" sz="2400" dirty="0">
              <a:solidFill>
                <a:schemeClr val="tx2"/>
              </a:solidFill>
            </a:endParaRPr>
          </a:p>
          <a:p>
            <a:pPr lvl="0"/>
            <a:r>
              <a:rPr lang="ar-EG" sz="2400" dirty="0">
                <a:solidFill>
                  <a:schemeClr val="tx2"/>
                </a:solidFill>
              </a:rPr>
              <a:t>- اللغة ونطق الكلمات.</a:t>
            </a:r>
            <a:endParaRPr lang="en-US" sz="2400" dirty="0">
              <a:solidFill>
                <a:schemeClr val="tx2"/>
              </a:solidFill>
            </a:endParaRPr>
          </a:p>
          <a:p>
            <a:pPr lvl="0"/>
            <a:r>
              <a:rPr lang="ar-EG" sz="2400" dirty="0">
                <a:solidFill>
                  <a:schemeClr val="tx2"/>
                </a:solidFill>
              </a:rPr>
              <a:t>- دقة ووضوح الصوت.</a:t>
            </a:r>
            <a:endParaRPr lang="en-US" sz="2400" dirty="0">
              <a:solidFill>
                <a:schemeClr val="tx2"/>
              </a:solidFill>
            </a:endParaRPr>
          </a:p>
          <a:p>
            <a:pPr lvl="0"/>
            <a:r>
              <a:rPr lang="ar-EG" sz="2400" dirty="0">
                <a:solidFill>
                  <a:schemeClr val="tx2"/>
                </a:solidFill>
              </a:rPr>
              <a:t>- التنوع في نغمة الأصوات.</a:t>
            </a:r>
            <a:endParaRPr lang="en-US" sz="2400" dirty="0">
              <a:solidFill>
                <a:schemeClr val="tx2"/>
              </a:solidFill>
            </a:endParaRPr>
          </a:p>
          <a:p>
            <a:endParaRPr lang="ar-EG" sz="2000" dirty="0"/>
          </a:p>
        </p:txBody>
      </p:sp>
      <p:sp>
        <p:nvSpPr>
          <p:cNvPr id="4" name="مربع نص 3"/>
          <p:cNvSpPr txBox="1"/>
          <p:nvPr/>
        </p:nvSpPr>
        <p:spPr>
          <a:xfrm>
            <a:off x="107504" y="4437112"/>
            <a:ext cx="8856984" cy="2246769"/>
          </a:xfrm>
          <a:prstGeom prst="rect">
            <a:avLst/>
          </a:prstGeom>
          <a:noFill/>
        </p:spPr>
        <p:txBody>
          <a:bodyPr wrap="square" rtlCol="1">
            <a:spAutoFit/>
          </a:bodyPr>
          <a:lstStyle/>
          <a:p>
            <a:r>
              <a:rPr lang="ar-EG" sz="2800" b="1" dirty="0">
                <a:solidFill>
                  <a:schemeClr val="tx2"/>
                </a:solidFill>
              </a:rPr>
              <a:t>هناك بعض الإرشادات التي يجب مراعاتها عند توظيف اللغة المنطوقة :-</a:t>
            </a:r>
          </a:p>
          <a:p>
            <a:endParaRPr lang="en-US" sz="2000" dirty="0"/>
          </a:p>
          <a:p>
            <a:pPr lvl="0"/>
            <a:r>
              <a:rPr lang="ar-EG" sz="2400" dirty="0"/>
              <a:t>أن يتناسب الصوت مع الوظيفة التي يقدمها ، فالصوت المستخدم كخلفية يختلف عن الصوت في التغذية الراجعة عن الصوت المستخدم للدلالة على خطأ .</a:t>
            </a:r>
            <a:endParaRPr lang="en-US" sz="2400" dirty="0"/>
          </a:p>
          <a:p>
            <a:pPr lvl="0"/>
            <a:r>
              <a:rPr lang="ar-EG" sz="2400" dirty="0"/>
              <a:t>عدم الإسراف في استخدام الرموز الصوتية غير اللفظية.</a:t>
            </a:r>
            <a:endParaRPr lang="en-US" sz="2400" dirty="0"/>
          </a:p>
          <a:p>
            <a:endParaRPr lang="ar-EG" sz="2000" dirty="0"/>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56" presetClass="entr" presetSubtype="0" fill="hold" nodeType="clickEffect">
                                  <p:stCondLst>
                                    <p:cond delay="0"/>
                                  </p:stCondLst>
                                  <p:iterate type="lt">
                                    <p:tmPct val="10000"/>
                                  </p:iterate>
                                  <p:childTnLst>
                                    <p:set>
                                      <p:cBhvr>
                                        <p:cTn id="13" dur="1" fill="hold">
                                          <p:stCondLst>
                                            <p:cond delay="0"/>
                                          </p:stCondLst>
                                        </p:cTn>
                                        <p:tgtEl>
                                          <p:spTgt spid="3">
                                            <p:txEl>
                                              <p:pRg st="0" end="0"/>
                                            </p:txEl>
                                          </p:spTgt>
                                        </p:tgtEl>
                                        <p:attrNameLst>
                                          <p:attrName>style.visibility</p:attrName>
                                        </p:attrNameLst>
                                      </p:cBhvr>
                                      <p:to>
                                        <p:strVal val="visible"/>
                                      </p:to>
                                    </p:set>
                                    <p:anim by="(-#ppt_w*2)" calcmode="lin" valueType="num">
                                      <p:cBhvr rctx="PPT">
                                        <p:cTn id="14" dur="500" autoRev="1" fill="hold">
                                          <p:stCondLst>
                                            <p:cond delay="0"/>
                                          </p:stCondLst>
                                        </p:cTn>
                                        <p:tgtEl>
                                          <p:spTgt spid="3">
                                            <p:txEl>
                                              <p:pRg st="0" end="0"/>
                                            </p:txEl>
                                          </p:spTgt>
                                        </p:tgtEl>
                                        <p:attrNameLst>
                                          <p:attrName>ppt_w</p:attrName>
                                        </p:attrNameLst>
                                      </p:cBhvr>
                                    </p:anim>
                                    <p:anim by="(#ppt_w*0.50)" calcmode="lin" valueType="num">
                                      <p:cBhvr>
                                        <p:cTn id="15" dur="500" decel="50000" autoRev="1" fill="hold">
                                          <p:stCondLst>
                                            <p:cond delay="0"/>
                                          </p:stCondLst>
                                        </p:cTn>
                                        <p:tgtEl>
                                          <p:spTgt spid="3">
                                            <p:txEl>
                                              <p:pRg st="0" end="0"/>
                                            </p:txEl>
                                          </p:spTgt>
                                        </p:tgtEl>
                                        <p:attrNameLst>
                                          <p:attrName>ppt_x</p:attrName>
                                        </p:attrNameLst>
                                      </p:cBhvr>
                                    </p:anim>
                                    <p:anim from="(-#ppt_h/2)" to="(#ppt_y)" calcmode="lin" valueType="num">
                                      <p:cBhvr>
                                        <p:cTn id="16" dur="1000" fill="hold">
                                          <p:stCondLst>
                                            <p:cond delay="0"/>
                                          </p:stCondLst>
                                        </p:cTn>
                                        <p:tgtEl>
                                          <p:spTgt spid="3">
                                            <p:txEl>
                                              <p:pRg st="0" end="0"/>
                                            </p:txEl>
                                          </p:spTgt>
                                        </p:tgtEl>
                                        <p:attrNameLst>
                                          <p:attrName>ppt_y</p:attrName>
                                        </p:attrNameLst>
                                      </p:cBhvr>
                                    </p:anim>
                                    <p:animRot by="21600000">
                                      <p:cBhvr>
                                        <p:cTn id="17" dur="1000" fill="hold">
                                          <p:stCondLst>
                                            <p:cond delay="0"/>
                                          </p:stCondLst>
                                        </p:cTn>
                                        <p:tgtEl>
                                          <p:spTgt spid="3">
                                            <p:txEl>
                                              <p:pRg st="0" end="0"/>
                                            </p:txEl>
                                          </p:spTgt>
                                        </p:tgtEl>
                                        <p:attrNameLst>
                                          <p:attrName>r</p:attrName>
                                        </p:attrNameLst>
                                      </p:cBhvr>
                                    </p:animRot>
                                  </p:childTnLst>
                                </p:cTn>
                              </p:par>
                            </p:childTnLst>
                          </p:cTn>
                        </p:par>
                      </p:childTnLst>
                    </p:cTn>
                  </p:par>
                  <p:par>
                    <p:cTn id="18" fill="hold">
                      <p:stCondLst>
                        <p:cond delay="indefinite"/>
                      </p:stCondLst>
                      <p:childTnLst>
                        <p:par>
                          <p:cTn id="19" fill="hold">
                            <p:stCondLst>
                              <p:cond delay="0"/>
                            </p:stCondLst>
                            <p:childTnLst>
                              <p:par>
                                <p:cTn id="20" presetID="29"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 calcmode="lin" valueType="num">
                                      <p:cBhvr>
                                        <p:cTn id="22"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24" dur="1000"/>
                                        <p:tgtEl>
                                          <p:spTgt spid="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7"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1000"/>
                                        <p:tgtEl>
                                          <p:spTgt spid="3">
                                            <p:txEl>
                                              <p:pRg st="3" end="3"/>
                                            </p:txEl>
                                          </p:spTgt>
                                        </p:tgtEl>
                                      </p:cBhvr>
                                    </p:animEffect>
                                    <p:anim calcmode="lin" valueType="num">
                                      <p:cBhvr>
                                        <p:cTn id="3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900" decel="100000" fill="hold"/>
                                        <p:tgtEl>
                                          <p:spTgt spid="3">
                                            <p:txEl>
                                              <p:pRg st="3" end="3"/>
                                            </p:txEl>
                                          </p:spTgt>
                                        </p:tgtEl>
                                        <p:attrNameLst>
                                          <p:attrName>ppt_y</p:attrName>
                                        </p:attrNameLst>
                                      </p:cBhvr>
                                      <p:tavLst>
                                        <p:tav tm="0">
                                          <p:val>
                                            <p:strVal val="#ppt_y+1"/>
                                          </p:val>
                                        </p:tav>
                                        <p:tav tm="100000">
                                          <p:val>
                                            <p:strVal val="#ppt_y-.03"/>
                                          </p:val>
                                        </p:tav>
                                      </p:tavLst>
                                    </p:anim>
                                    <p:anim calcmode="lin" valueType="num">
                                      <p:cBhvr>
                                        <p:cTn id="32" dur="100" accel="100000" fill="hold">
                                          <p:stCondLst>
                                            <p:cond delay="900"/>
                                          </p:stCondLst>
                                        </p:cTn>
                                        <p:tgtEl>
                                          <p:spTgt spid="3">
                                            <p:txEl>
                                              <p:pRg st="3" end="3"/>
                                            </p:txEl>
                                          </p:spTgt>
                                        </p:tgtEl>
                                        <p:attrNameLst>
                                          <p:attrName>ppt_y</p:attrName>
                                        </p:attrNameLst>
                                      </p:cBhvr>
                                      <p:tavLst>
                                        <p:tav tm="0">
                                          <p:val>
                                            <p:strVal val="#ppt_y-.03"/>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1000"/>
                                        <p:tgtEl>
                                          <p:spTgt spid="3">
                                            <p:txEl>
                                              <p:pRg st="4" end="4"/>
                                            </p:txEl>
                                          </p:spTgt>
                                        </p:tgtEl>
                                      </p:cBhvr>
                                    </p:animEffect>
                                    <p:anim calcmode="lin" valueType="num">
                                      <p:cBhvr>
                                        <p:cTn id="3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fade">
                                      <p:cBhvr>
                                        <p:cTn id="44" dur="1000"/>
                                        <p:tgtEl>
                                          <p:spTgt spid="3">
                                            <p:txEl>
                                              <p:pRg st="5" end="5"/>
                                            </p:txEl>
                                          </p:spTgt>
                                        </p:tgtEl>
                                      </p:cBhvr>
                                    </p:animEffect>
                                    <p:anim calcmode="lin" valueType="num">
                                      <p:cBhvr>
                                        <p:cTn id="4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3">
                                            <p:txEl>
                                              <p:pRg st="6" end="6"/>
                                            </p:txEl>
                                          </p:spTgt>
                                        </p:tgtEl>
                                        <p:attrNameLst>
                                          <p:attrName>style.visibility</p:attrName>
                                        </p:attrNameLst>
                                      </p:cBhvr>
                                      <p:to>
                                        <p:strVal val="visible"/>
                                      </p:to>
                                    </p:set>
                                    <p:animEffect transition="in" filter="fade">
                                      <p:cBhvr>
                                        <p:cTn id="51" dur="1000"/>
                                        <p:tgtEl>
                                          <p:spTgt spid="3">
                                            <p:txEl>
                                              <p:pRg st="6" end="6"/>
                                            </p:txEl>
                                          </p:spTgt>
                                        </p:tgtEl>
                                      </p:cBhvr>
                                    </p:animEffect>
                                    <p:anim calcmode="lin" valueType="num">
                                      <p:cBhvr>
                                        <p:cTn id="5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3">
                                            <p:txEl>
                                              <p:pRg st="7" end="7"/>
                                            </p:txEl>
                                          </p:spTgt>
                                        </p:tgtEl>
                                        <p:attrNameLst>
                                          <p:attrName>style.visibility</p:attrName>
                                        </p:attrNameLst>
                                      </p:cBhvr>
                                      <p:to>
                                        <p:strVal val="visible"/>
                                      </p:to>
                                    </p:set>
                                    <p:animEffect transition="in" filter="fade">
                                      <p:cBhvr>
                                        <p:cTn id="58" dur="1000"/>
                                        <p:tgtEl>
                                          <p:spTgt spid="3">
                                            <p:txEl>
                                              <p:pRg st="7" end="7"/>
                                            </p:txEl>
                                          </p:spTgt>
                                        </p:tgtEl>
                                      </p:cBhvr>
                                    </p:animEffect>
                                    <p:anim calcmode="lin" valueType="num">
                                      <p:cBhvr>
                                        <p:cTn id="5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5" presetClass="entr" presetSubtype="0" fill="hold" nodeType="clickEffect">
                                  <p:stCondLst>
                                    <p:cond delay="0"/>
                                  </p:stCondLst>
                                  <p:iterate type="lt">
                                    <p:tmPct val="10000"/>
                                  </p:iterate>
                                  <p:childTnLst>
                                    <p:set>
                                      <p:cBhvr>
                                        <p:cTn id="64" dur="1" fill="hold">
                                          <p:stCondLst>
                                            <p:cond delay="0"/>
                                          </p:stCondLst>
                                        </p:cTn>
                                        <p:tgtEl>
                                          <p:spTgt spid="4">
                                            <p:txEl>
                                              <p:pRg st="0" end="0"/>
                                            </p:txEl>
                                          </p:spTgt>
                                        </p:tgtEl>
                                        <p:attrNameLst>
                                          <p:attrName>style.visibility</p:attrName>
                                        </p:attrNameLst>
                                      </p:cBhvr>
                                      <p:to>
                                        <p:strVal val="visible"/>
                                      </p:to>
                                    </p:set>
                                    <p:animEffect transition="in" filter="fade">
                                      <p:cBhvr>
                                        <p:cTn id="65" dur="500"/>
                                        <p:tgtEl>
                                          <p:spTgt spid="4">
                                            <p:txEl>
                                              <p:pRg st="0" end="0"/>
                                            </p:txEl>
                                          </p:spTgt>
                                        </p:tgtEl>
                                      </p:cBhvr>
                                    </p:animEffect>
                                    <p:anim calcmode="lin" valueType="num">
                                      <p:cBhvr>
                                        <p:cTn id="66" dur="500" fill="hold"/>
                                        <p:tgtEl>
                                          <p:spTgt spid="4">
                                            <p:txEl>
                                              <p:pRg st="0" end="0"/>
                                            </p:txEl>
                                          </p:spTgt>
                                        </p:tgtEl>
                                        <p:attrNameLst>
                                          <p:attrName>ppt_w</p:attrName>
                                        </p:attrNameLst>
                                      </p:cBhvr>
                                      <p:tavLst>
                                        <p:tav tm="0" fmla="#ppt_w*sin(2.5*pi*$)">
                                          <p:val>
                                            <p:fltVal val="0"/>
                                          </p:val>
                                        </p:tav>
                                        <p:tav tm="100000">
                                          <p:val>
                                            <p:fltVal val="1"/>
                                          </p:val>
                                        </p:tav>
                                      </p:tavLst>
                                    </p:anim>
                                    <p:anim calcmode="lin" valueType="num">
                                      <p:cBhvr>
                                        <p:cTn id="67" dur="500" fill="hold"/>
                                        <p:tgtEl>
                                          <p:spTgt spid="4">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29" presetClass="entr" presetSubtype="0" fill="hold" nodeType="clickEffect">
                                  <p:stCondLst>
                                    <p:cond delay="0"/>
                                  </p:stCondLst>
                                  <p:childTnLst>
                                    <p:set>
                                      <p:cBhvr>
                                        <p:cTn id="71" dur="1" fill="hold">
                                          <p:stCondLst>
                                            <p:cond delay="0"/>
                                          </p:stCondLst>
                                        </p:cTn>
                                        <p:tgtEl>
                                          <p:spTgt spid="4">
                                            <p:txEl>
                                              <p:pRg st="2" end="2"/>
                                            </p:txEl>
                                          </p:spTgt>
                                        </p:tgtEl>
                                        <p:attrNameLst>
                                          <p:attrName>style.visibility</p:attrName>
                                        </p:attrNameLst>
                                      </p:cBhvr>
                                      <p:to>
                                        <p:strVal val="visible"/>
                                      </p:to>
                                    </p:set>
                                    <p:anim calcmode="lin" valueType="num">
                                      <p:cBhvr>
                                        <p:cTn id="72" dur="1000" fill="hold"/>
                                        <p:tgtEl>
                                          <p:spTgt spid="4">
                                            <p:txEl>
                                              <p:pRg st="2" end="2"/>
                                            </p:txEl>
                                          </p:spTgt>
                                        </p:tgtEl>
                                        <p:attrNameLst>
                                          <p:attrName>ppt_x</p:attrName>
                                        </p:attrNameLst>
                                      </p:cBhvr>
                                      <p:tavLst>
                                        <p:tav tm="0">
                                          <p:val>
                                            <p:strVal val="#ppt_x-.2"/>
                                          </p:val>
                                        </p:tav>
                                        <p:tav tm="100000">
                                          <p:val>
                                            <p:strVal val="#ppt_x"/>
                                          </p:val>
                                        </p:tav>
                                      </p:tavLst>
                                    </p:anim>
                                    <p:anim calcmode="lin" valueType="num">
                                      <p:cBhvr>
                                        <p:cTn id="73" dur="1000" fill="hold"/>
                                        <p:tgtEl>
                                          <p:spTgt spid="4">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74" dur="1000"/>
                                        <p:tgtEl>
                                          <p:spTgt spid="4">
                                            <p:txEl>
                                              <p:pRg st="2" end="2"/>
                                            </p:txEl>
                                          </p:spTgt>
                                        </p:tgtEl>
                                      </p:cBhvr>
                                    </p:animEffect>
                                  </p:childTnLst>
                                </p:cTn>
                              </p:par>
                              <p:par>
                                <p:cTn id="75" presetID="29" presetClass="entr" presetSubtype="0" fill="hold" nodeType="withEffect">
                                  <p:stCondLst>
                                    <p:cond delay="0"/>
                                  </p:stCondLst>
                                  <p:childTnLst>
                                    <p:set>
                                      <p:cBhvr>
                                        <p:cTn id="76" dur="1" fill="hold">
                                          <p:stCondLst>
                                            <p:cond delay="0"/>
                                          </p:stCondLst>
                                        </p:cTn>
                                        <p:tgtEl>
                                          <p:spTgt spid="4">
                                            <p:txEl>
                                              <p:pRg st="3" end="3"/>
                                            </p:txEl>
                                          </p:spTgt>
                                        </p:tgtEl>
                                        <p:attrNameLst>
                                          <p:attrName>style.visibility</p:attrName>
                                        </p:attrNameLst>
                                      </p:cBhvr>
                                      <p:to>
                                        <p:strVal val="visible"/>
                                      </p:to>
                                    </p:set>
                                    <p:anim calcmode="lin" valueType="num">
                                      <p:cBhvr>
                                        <p:cTn id="77" dur="1000" fill="hold"/>
                                        <p:tgtEl>
                                          <p:spTgt spid="4">
                                            <p:txEl>
                                              <p:pRg st="3" end="3"/>
                                            </p:txEl>
                                          </p:spTgt>
                                        </p:tgtEl>
                                        <p:attrNameLst>
                                          <p:attrName>ppt_x</p:attrName>
                                        </p:attrNameLst>
                                      </p:cBhvr>
                                      <p:tavLst>
                                        <p:tav tm="0">
                                          <p:val>
                                            <p:strVal val="#ppt_x-.2"/>
                                          </p:val>
                                        </p:tav>
                                        <p:tav tm="100000">
                                          <p:val>
                                            <p:strVal val="#ppt_x"/>
                                          </p:val>
                                        </p:tav>
                                      </p:tavLst>
                                    </p:anim>
                                    <p:anim calcmode="lin" valueType="num">
                                      <p:cBhvr>
                                        <p:cTn id="78" dur="1000" fill="hold"/>
                                        <p:tgtEl>
                                          <p:spTgt spid="4">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79" dur="1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0" y="1285860"/>
            <a:ext cx="8964488" cy="4955203"/>
          </a:xfrm>
          <a:prstGeom prst="rect">
            <a:avLst/>
          </a:prstGeom>
          <a:noFill/>
        </p:spPr>
        <p:txBody>
          <a:bodyPr wrap="square" rtlCol="1">
            <a:spAutoFit/>
          </a:bodyPr>
          <a:lstStyle/>
          <a:p>
            <a:pPr lvl="0"/>
            <a:r>
              <a:rPr lang="ar-EG" sz="3600" b="1" dirty="0">
                <a:solidFill>
                  <a:schemeClr val="tx2"/>
                </a:solidFill>
              </a:rPr>
              <a:t>2- الموسيقى </a:t>
            </a:r>
            <a:r>
              <a:rPr lang="en-US" sz="3600" b="1" dirty="0">
                <a:solidFill>
                  <a:schemeClr val="tx2"/>
                </a:solidFill>
              </a:rPr>
              <a:t>Music</a:t>
            </a:r>
          </a:p>
          <a:p>
            <a:pPr lvl="0"/>
            <a:endParaRPr lang="en-US" sz="3200" dirty="0">
              <a:solidFill>
                <a:schemeClr val="accent6"/>
              </a:solidFill>
            </a:endParaRPr>
          </a:p>
          <a:p>
            <a:r>
              <a:rPr lang="ar-EG" sz="2800" dirty="0"/>
              <a:t>تعد من أهم عناصر جذب الانتباه وإعطاء البرنامج قيمة ، فقد توضع في مقدمة البرنامج ، أو في الفواصل بين أجزاء البرنامج ، ويجب مراعاة الاعتبارات الآتية عند توظيف الموسيقى في برامج الوسائط المتعددة :-</a:t>
            </a:r>
          </a:p>
          <a:p>
            <a:endParaRPr lang="en-US" sz="2800" dirty="0"/>
          </a:p>
          <a:p>
            <a:pPr lvl="0">
              <a:buFontTx/>
              <a:buChar char="-"/>
            </a:pPr>
            <a:r>
              <a:rPr lang="ar-EG" sz="2800" dirty="0">
                <a:solidFill>
                  <a:srgbClr val="FFFF00"/>
                </a:solidFill>
              </a:rPr>
              <a:t>تستخدم الموسيقى للتعزيز وكخلفية للبرامج وكموضوع للتعلم.</a:t>
            </a:r>
          </a:p>
          <a:p>
            <a:pPr lvl="0"/>
            <a:endParaRPr lang="en-US" sz="2800" dirty="0">
              <a:solidFill>
                <a:srgbClr val="FFFF00"/>
              </a:solidFill>
            </a:endParaRPr>
          </a:p>
          <a:p>
            <a:pPr lvl="0"/>
            <a:r>
              <a:rPr lang="ar-EG" sz="2800" dirty="0">
                <a:solidFill>
                  <a:srgbClr val="FFFF00"/>
                </a:solidFill>
              </a:rPr>
              <a:t>- الموسيقى المستخدمة كخلفية للبرنامج تهدف أساسا لربط عناصر البرنامج حيث يخصص لكل وحدة من الدرس لحناً يميزها عن باقي الوحدات.</a:t>
            </a:r>
            <a:endParaRPr lang="en-US" sz="2800" dirty="0">
              <a:solidFill>
                <a:srgbClr val="FFFF00"/>
              </a:solidFill>
            </a:endParaRPr>
          </a:p>
          <a:p>
            <a:endParaRPr lang="ar-EG" sz="2400" dirty="0"/>
          </a:p>
        </p:txBody>
      </p:sp>
    </p:spTree>
  </p:cSld>
  <p:clrMapOvr>
    <a:masterClrMapping/>
  </p:clrMapOvr>
  <p:transition spd="slow">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nodeType="clickEffect">
                                  <p:stCondLst>
                                    <p:cond delay="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1"/>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blinds(horizontal)">
                                      <p:cBhvr>
                                        <p:cTn id="14" dur="1000"/>
                                        <p:tgtEl>
                                          <p:spTgt spid="2">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8" presetClass="entr" presetSubtype="16"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diamond(in)">
                                      <p:cBhvr>
                                        <p:cTn id="19" dur="1000"/>
                                        <p:tgtEl>
                                          <p:spTgt spid="2">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8" presetClass="entr" presetSubtype="16" fill="hold" nodeType="click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diamond(in)">
                                      <p:cBhvr>
                                        <p:cTn id="24" dur="10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07504" y="357168"/>
            <a:ext cx="8928992" cy="6924973"/>
          </a:xfrm>
          <a:prstGeom prst="rect">
            <a:avLst/>
          </a:prstGeom>
          <a:noFill/>
        </p:spPr>
        <p:txBody>
          <a:bodyPr wrap="square" rtlCol="1">
            <a:spAutoFit/>
          </a:bodyPr>
          <a:lstStyle/>
          <a:p>
            <a:pPr lvl="0" algn="ctr"/>
            <a:r>
              <a:rPr lang="ar-EG" sz="3200" b="1" dirty="0">
                <a:solidFill>
                  <a:schemeClr val="tx2"/>
                </a:solidFill>
              </a:rPr>
              <a:t>المؤثرات الصوتية </a:t>
            </a:r>
            <a:r>
              <a:rPr lang="en-US" sz="3200" b="1" dirty="0">
                <a:solidFill>
                  <a:schemeClr val="tx2"/>
                </a:solidFill>
              </a:rPr>
              <a:t>Sound Effects</a:t>
            </a:r>
            <a:endParaRPr lang="en-US" sz="2000" dirty="0">
              <a:solidFill>
                <a:schemeClr val="tx2"/>
              </a:solidFill>
            </a:endParaRPr>
          </a:p>
          <a:p>
            <a:r>
              <a:rPr lang="ar-EG" sz="2400" dirty="0"/>
              <a:t>إضافة  المؤثرات الصوتية كأصوات رياح وإمطار وحيوانات وطيور وآلات وغيرها لعروض الوسائط المتعددة تعطيها بعد جمالي .</a:t>
            </a:r>
            <a:endParaRPr lang="en-US" sz="2400" dirty="0"/>
          </a:p>
          <a:p>
            <a:r>
              <a:rPr lang="ar-EG" sz="2800" b="1" dirty="0">
                <a:solidFill>
                  <a:schemeClr val="tx2"/>
                </a:solidFill>
              </a:rPr>
              <a:t>هناك بعض الاعتبارات يجب مراعاة عند استخدام المؤثرات الصوتية في برامج الوسائط المتعددة :-</a:t>
            </a:r>
            <a:endParaRPr lang="en-US" sz="2400" b="1" dirty="0">
              <a:solidFill>
                <a:schemeClr val="tx2"/>
              </a:solidFill>
            </a:endParaRPr>
          </a:p>
          <a:p>
            <a:pPr lvl="0"/>
            <a:r>
              <a:rPr lang="ar-EG" sz="2400" dirty="0"/>
              <a:t>- إذا استخدم المثير الصوتي كصوت بديل للبيئة الفعلية ، فينبغي أن يكون بنفس المستوى الذي يتواجد علية في الواقع دون المبالغة فى حشد التأثيرات ، فتبدو مصطنعة.</a:t>
            </a:r>
            <a:endParaRPr lang="en-US" sz="2400" dirty="0"/>
          </a:p>
          <a:p>
            <a:pPr lvl="0"/>
            <a:r>
              <a:rPr lang="ar-EG" sz="2400" dirty="0">
                <a:solidFill>
                  <a:srgbClr val="FFFF00"/>
                </a:solidFill>
              </a:rPr>
              <a:t>- إذا صاحب المؤثر الصوتي تعليق صوتي ، يجب أن يكون المؤثر الصوتي في الخلفية ،اى اقل من حيث شدة الصوت من التعليق الصوتي.</a:t>
            </a:r>
            <a:endParaRPr lang="en-US" sz="2400" dirty="0">
              <a:solidFill>
                <a:srgbClr val="FFFF00"/>
              </a:solidFill>
            </a:endParaRPr>
          </a:p>
          <a:p>
            <a:pPr lvl="0"/>
            <a:r>
              <a:rPr lang="ar-EG" sz="2400" dirty="0"/>
              <a:t>- لا يفضل استخدام الصدى </a:t>
            </a:r>
            <a:r>
              <a:rPr lang="en-US" sz="2400" dirty="0"/>
              <a:t>Echo</a:t>
            </a:r>
            <a:r>
              <a:rPr lang="ar-EG" sz="2400" dirty="0"/>
              <a:t> مع المؤثرات الصوتية.</a:t>
            </a:r>
            <a:endParaRPr lang="en-US" sz="2400" dirty="0"/>
          </a:p>
          <a:p>
            <a:pPr lvl="0"/>
            <a:r>
              <a:rPr lang="ar-EG" sz="2400" dirty="0">
                <a:solidFill>
                  <a:srgbClr val="FFFF00"/>
                </a:solidFill>
              </a:rPr>
              <a:t>- يجب أن يكون الصوت المستخدم متسقاً مع الوظيفة المصاحبة </a:t>
            </a:r>
            <a:r>
              <a:rPr lang="ar-EG" sz="2400" dirty="0" smtClean="0">
                <a:solidFill>
                  <a:srgbClr val="FFFF00"/>
                </a:solidFill>
              </a:rPr>
              <a:t>ل</a:t>
            </a:r>
            <a:r>
              <a:rPr lang="ar-SA" sz="2400" dirty="0" smtClean="0">
                <a:solidFill>
                  <a:srgbClr val="FFFF00"/>
                </a:solidFill>
              </a:rPr>
              <a:t>ه</a:t>
            </a:r>
            <a:r>
              <a:rPr lang="ar-EG" sz="2400" dirty="0" smtClean="0">
                <a:solidFill>
                  <a:srgbClr val="FFFF00"/>
                </a:solidFill>
              </a:rPr>
              <a:t> </a:t>
            </a:r>
            <a:r>
              <a:rPr lang="ar-EG" sz="2400" dirty="0">
                <a:solidFill>
                  <a:srgbClr val="FFFF00"/>
                </a:solidFill>
              </a:rPr>
              <a:t>، فصوت الإنذار يختلف عن صوت التعزيز السلبي أو الايجابي.</a:t>
            </a:r>
            <a:endParaRPr lang="en-US" sz="2400" dirty="0">
              <a:solidFill>
                <a:srgbClr val="FFFF00"/>
              </a:solidFill>
            </a:endParaRPr>
          </a:p>
          <a:p>
            <a:pPr lvl="0"/>
            <a:r>
              <a:rPr lang="ar-EG" sz="2400" dirty="0"/>
              <a:t>- عدم الإسراف في استخدام الرموز الصوتية غير اللفظية حتى لا تختلط </a:t>
            </a:r>
            <a:r>
              <a:rPr lang="ar-EG" sz="2400" dirty="0" err="1"/>
              <a:t>فى</a:t>
            </a:r>
            <a:r>
              <a:rPr lang="ar-EG" sz="2400" dirty="0"/>
              <a:t> مخيلة المستخدم.</a:t>
            </a:r>
            <a:endParaRPr lang="en-US" sz="2400" dirty="0"/>
          </a:p>
          <a:p>
            <a:pPr lvl="0"/>
            <a:r>
              <a:rPr lang="ar-EG" sz="2400" dirty="0">
                <a:solidFill>
                  <a:srgbClr val="FFFF00"/>
                </a:solidFill>
              </a:rPr>
              <a:t>- تجنب استخدام ألحان متقاربة حتى لا يختلط معناها على المستخدم.</a:t>
            </a:r>
            <a:endParaRPr lang="en-US" sz="2400" dirty="0">
              <a:solidFill>
                <a:srgbClr val="FFFF00"/>
              </a:solidFill>
            </a:endParaRPr>
          </a:p>
          <a:p>
            <a:pPr lvl="0"/>
            <a:r>
              <a:rPr lang="ar-EG" sz="2400" dirty="0"/>
              <a:t>- تعريف الرموز الصوتية المستخدمة في البرنامج داخل المساعدات أو المرفقة </a:t>
            </a:r>
            <a:r>
              <a:rPr lang="ar-EG" sz="2400" dirty="0" err="1"/>
              <a:t>فى</a:t>
            </a:r>
            <a:r>
              <a:rPr lang="ar-EG" sz="2400" dirty="0"/>
              <a:t> الكتيب المرفق للبرنامج.</a:t>
            </a:r>
            <a:endParaRPr lang="en-US" sz="2400" dirty="0"/>
          </a:p>
          <a:p>
            <a:endParaRPr lang="ar-EG" sz="2000" dirty="0"/>
          </a:p>
        </p:txBody>
      </p:sp>
    </p:spTree>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edge">
                                      <p:cBhvr>
                                        <p:cTn id="7" dur="1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0" presetClass="entr" presetSubtype="0" fill="hold" nodeType="clickEffect">
                                  <p:stCondLst>
                                    <p:cond delay="0"/>
                                  </p:stCondLst>
                                  <p:iterate type="lt">
                                    <p:tmPct val="10000"/>
                                  </p:iterate>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anim calcmode="lin" valueType="num">
                                      <p:cBhvr>
                                        <p:cTn id="13" dur="500" fill="hold"/>
                                        <p:tgtEl>
                                          <p:spTgt spid="2">
                                            <p:txEl>
                                              <p:pRg st="1" end="1"/>
                                            </p:txEl>
                                          </p:spTgt>
                                        </p:tgtEl>
                                        <p:attrNameLst>
                                          <p:attrName>ppt_x</p:attrName>
                                        </p:attrNameLst>
                                      </p:cBhvr>
                                      <p:tavLst>
                                        <p:tav tm="0">
                                          <p:val>
                                            <p:strVal val="#ppt_x-.1"/>
                                          </p:val>
                                        </p:tav>
                                        <p:tav tm="100000">
                                          <p:val>
                                            <p:strVal val="#ppt_x"/>
                                          </p:val>
                                        </p:tav>
                                      </p:tavLst>
                                    </p:anim>
                                    <p:anim calcmode="lin" valueType="num">
                                      <p:cBhvr>
                                        <p:cTn id="14"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8" presetClass="entr" presetSubtype="16"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diamond(in)">
                                      <p:cBhvr>
                                        <p:cTn id="19" dur="2000"/>
                                        <p:tgtEl>
                                          <p:spTgt spid="2">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2">
                                            <p:txEl>
                                              <p:pRg st="3" end="3"/>
                                            </p:txEl>
                                          </p:spTgt>
                                        </p:tgtEl>
                                        <p:attrNameLst>
                                          <p:attrName>style.visibility</p:attrName>
                                        </p:attrNameLst>
                                      </p:cBhvr>
                                      <p:to>
                                        <p:strVal val="visible"/>
                                      </p:to>
                                    </p:set>
                                    <p:animEffect transition="in" filter="fade">
                                      <p:cBhvr>
                                        <p:cTn id="24" dur="1000"/>
                                        <p:tgtEl>
                                          <p:spTgt spid="2">
                                            <p:txEl>
                                              <p:pRg st="3" end="3"/>
                                            </p:txEl>
                                          </p:spTgt>
                                        </p:tgtEl>
                                      </p:cBhvr>
                                    </p:animEffect>
                                    <p:anim calcmode="lin" valueType="num">
                                      <p:cBhvr>
                                        <p:cTn id="2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Effect transition="in" filter="fade">
                                      <p:cBhvr>
                                        <p:cTn id="31" dur="1000"/>
                                        <p:tgtEl>
                                          <p:spTgt spid="2">
                                            <p:txEl>
                                              <p:pRg st="4" end="4"/>
                                            </p:txEl>
                                          </p:spTgt>
                                        </p:tgtEl>
                                      </p:cBhvr>
                                    </p:animEffect>
                                    <p:anim calcmode="lin" valueType="num">
                                      <p:cBhvr>
                                        <p:cTn id="3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2">
                                            <p:txEl>
                                              <p:pRg st="5" end="5"/>
                                            </p:txEl>
                                          </p:spTgt>
                                        </p:tgtEl>
                                        <p:attrNameLst>
                                          <p:attrName>style.visibility</p:attrName>
                                        </p:attrNameLst>
                                      </p:cBhvr>
                                      <p:to>
                                        <p:strVal val="visible"/>
                                      </p:to>
                                    </p:set>
                                    <p:animEffect transition="in" filter="fade">
                                      <p:cBhvr>
                                        <p:cTn id="38" dur="1000"/>
                                        <p:tgtEl>
                                          <p:spTgt spid="2">
                                            <p:txEl>
                                              <p:pRg st="5" end="5"/>
                                            </p:txEl>
                                          </p:spTgt>
                                        </p:tgtEl>
                                      </p:cBhvr>
                                    </p:animEffect>
                                    <p:anim calcmode="lin" valueType="num">
                                      <p:cBhvr>
                                        <p:cTn id="39"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2">
                                            <p:txEl>
                                              <p:pRg st="6" end="6"/>
                                            </p:txEl>
                                          </p:spTgt>
                                        </p:tgtEl>
                                        <p:attrNameLst>
                                          <p:attrName>style.visibility</p:attrName>
                                        </p:attrNameLst>
                                      </p:cBhvr>
                                      <p:to>
                                        <p:strVal val="visible"/>
                                      </p:to>
                                    </p:set>
                                    <p:animEffect transition="in" filter="fade">
                                      <p:cBhvr>
                                        <p:cTn id="45" dur="1000"/>
                                        <p:tgtEl>
                                          <p:spTgt spid="2">
                                            <p:txEl>
                                              <p:pRg st="6" end="6"/>
                                            </p:txEl>
                                          </p:spTgt>
                                        </p:tgtEl>
                                      </p:cBhvr>
                                    </p:animEffect>
                                    <p:anim calcmode="lin" valueType="num">
                                      <p:cBhvr>
                                        <p:cTn id="46"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2">
                                            <p:txEl>
                                              <p:pRg st="7" end="7"/>
                                            </p:txEl>
                                          </p:spTgt>
                                        </p:tgtEl>
                                        <p:attrNameLst>
                                          <p:attrName>style.visibility</p:attrName>
                                        </p:attrNameLst>
                                      </p:cBhvr>
                                      <p:to>
                                        <p:strVal val="visible"/>
                                      </p:to>
                                    </p:set>
                                    <p:animEffect transition="in" filter="fade">
                                      <p:cBhvr>
                                        <p:cTn id="52" dur="1000"/>
                                        <p:tgtEl>
                                          <p:spTgt spid="2">
                                            <p:txEl>
                                              <p:pRg st="7" end="7"/>
                                            </p:txEl>
                                          </p:spTgt>
                                        </p:tgtEl>
                                      </p:cBhvr>
                                    </p:animEffect>
                                    <p:anim calcmode="lin" valueType="num">
                                      <p:cBhvr>
                                        <p:cTn id="53"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4"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2">
                                            <p:txEl>
                                              <p:pRg st="8" end="8"/>
                                            </p:txEl>
                                          </p:spTgt>
                                        </p:tgtEl>
                                        <p:attrNameLst>
                                          <p:attrName>style.visibility</p:attrName>
                                        </p:attrNameLst>
                                      </p:cBhvr>
                                      <p:to>
                                        <p:strVal val="visible"/>
                                      </p:to>
                                    </p:set>
                                    <p:animEffect transition="in" filter="fade">
                                      <p:cBhvr>
                                        <p:cTn id="59" dur="1000"/>
                                        <p:tgtEl>
                                          <p:spTgt spid="2">
                                            <p:txEl>
                                              <p:pRg st="8" end="8"/>
                                            </p:txEl>
                                          </p:spTgt>
                                        </p:tgtEl>
                                      </p:cBhvr>
                                    </p:animEffect>
                                    <p:anim calcmode="lin" valueType="num">
                                      <p:cBhvr>
                                        <p:cTn id="60"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61"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2">
                                            <p:txEl>
                                              <p:pRg st="9" end="9"/>
                                            </p:txEl>
                                          </p:spTgt>
                                        </p:tgtEl>
                                        <p:attrNameLst>
                                          <p:attrName>style.visibility</p:attrName>
                                        </p:attrNameLst>
                                      </p:cBhvr>
                                      <p:to>
                                        <p:strVal val="visible"/>
                                      </p:to>
                                    </p:set>
                                    <p:animEffect transition="in" filter="fade">
                                      <p:cBhvr>
                                        <p:cTn id="66" dur="1000"/>
                                        <p:tgtEl>
                                          <p:spTgt spid="2">
                                            <p:txEl>
                                              <p:pRg st="9" end="9"/>
                                            </p:txEl>
                                          </p:spTgt>
                                        </p:tgtEl>
                                      </p:cBhvr>
                                    </p:animEffect>
                                    <p:anim calcmode="lin" valueType="num">
                                      <p:cBhvr>
                                        <p:cTn id="67"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68"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07505" y="714356"/>
            <a:ext cx="8856984" cy="5940088"/>
          </a:xfrm>
          <a:prstGeom prst="rect">
            <a:avLst/>
          </a:prstGeom>
          <a:noFill/>
        </p:spPr>
        <p:txBody>
          <a:bodyPr wrap="square" rtlCol="1">
            <a:spAutoFit/>
          </a:bodyPr>
          <a:lstStyle/>
          <a:p>
            <a:pPr algn="ctr"/>
            <a:r>
              <a:rPr lang="ar-EG" sz="3200" b="1" dirty="0">
                <a:solidFill>
                  <a:schemeClr val="tx2"/>
                </a:solidFill>
              </a:rPr>
              <a:t>التعرف على الصوت </a:t>
            </a:r>
            <a:r>
              <a:rPr lang="en-US" sz="3200" b="1" dirty="0">
                <a:solidFill>
                  <a:schemeClr val="tx2"/>
                </a:solidFill>
              </a:rPr>
              <a:t>Speech recognition</a:t>
            </a:r>
            <a:endParaRPr lang="en-US" sz="2400" dirty="0">
              <a:solidFill>
                <a:schemeClr val="tx2"/>
              </a:solidFill>
            </a:endParaRPr>
          </a:p>
          <a:p>
            <a:r>
              <a:rPr lang="ar-EG" sz="3200" dirty="0"/>
              <a:t>هو تعرف الحاسب على صوت الإنسان ، نظام التعرف على الكلام : </a:t>
            </a:r>
            <a:r>
              <a:rPr lang="en-US" sz="3200" dirty="0"/>
              <a:t>(Speech)recognition system</a:t>
            </a:r>
            <a:endParaRPr lang="en-US" sz="2400" dirty="0"/>
          </a:p>
          <a:p>
            <a:r>
              <a:rPr lang="ar-EG" sz="3200" b="1" dirty="0">
                <a:solidFill>
                  <a:schemeClr val="tx2"/>
                </a:solidFill>
              </a:rPr>
              <a:t>هذا النظام ينجز 3 مهام أساسية منذ دخول الصوت إلى الحاسوب ومن ثم معالجته وحتى الاستفادة منه وهى :-</a:t>
            </a:r>
          </a:p>
          <a:p>
            <a:endParaRPr lang="en-US" sz="2000" dirty="0"/>
          </a:p>
          <a:p>
            <a:pPr algn="l" rtl="0"/>
            <a:r>
              <a:rPr lang="en-US" sz="3600" dirty="0">
                <a:solidFill>
                  <a:srgbClr val="FFFF00"/>
                </a:solidFill>
              </a:rPr>
              <a:t>1-Pre – Processing</a:t>
            </a:r>
          </a:p>
          <a:p>
            <a:pPr algn="l" rtl="0"/>
            <a:endParaRPr lang="en-US" sz="3600" dirty="0">
              <a:solidFill>
                <a:srgbClr val="FFFF00"/>
              </a:solidFill>
            </a:endParaRPr>
          </a:p>
          <a:p>
            <a:pPr algn="l" rtl="0"/>
            <a:r>
              <a:rPr lang="en-US" sz="3600" dirty="0">
                <a:solidFill>
                  <a:srgbClr val="FFFF00"/>
                </a:solidFill>
              </a:rPr>
              <a:t>2-Recognition</a:t>
            </a:r>
          </a:p>
          <a:p>
            <a:pPr algn="l" rtl="0"/>
            <a:endParaRPr lang="en-US" sz="3600" dirty="0">
              <a:solidFill>
                <a:srgbClr val="FFFF00"/>
              </a:solidFill>
            </a:endParaRPr>
          </a:p>
          <a:p>
            <a:pPr algn="l" rtl="0"/>
            <a:r>
              <a:rPr lang="en-US" sz="3600" dirty="0">
                <a:solidFill>
                  <a:srgbClr val="FFFF00"/>
                </a:solidFill>
              </a:rPr>
              <a:t>3-Communication</a:t>
            </a:r>
          </a:p>
          <a:p>
            <a:endParaRPr lang="ar-EG" sz="2000" dirty="0"/>
          </a:p>
        </p:txBody>
      </p:sp>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anim calcmode="lin" valueType="num">
                                      <p:cBhvr>
                                        <p:cTn id="8" dur="2000" fill="hold"/>
                                        <p:tgtEl>
                                          <p:spTgt spid="2">
                                            <p:txEl>
                                              <p:pRg st="0" end="0"/>
                                            </p:txEl>
                                          </p:spTgt>
                                        </p:tgtEl>
                                        <p:attrNameLst>
                                          <p:attrName>style.rotation</p:attrName>
                                        </p:attrNameLst>
                                      </p:cBhvr>
                                      <p:tavLst>
                                        <p:tav tm="0">
                                          <p:val>
                                            <p:fltVal val="720"/>
                                          </p:val>
                                        </p:tav>
                                        <p:tav tm="100000">
                                          <p:val>
                                            <p:fltVal val="0"/>
                                          </p:val>
                                        </p:tav>
                                      </p:tavLst>
                                    </p:anim>
                                    <p:anim calcmode="lin" valueType="num">
                                      <p:cBhvr>
                                        <p:cTn id="9" dur="2000" fill="hold"/>
                                        <p:tgtEl>
                                          <p:spTgt spid="2">
                                            <p:txEl>
                                              <p:pRg st="0" end="0"/>
                                            </p:txEl>
                                          </p:spTgt>
                                        </p:tgtEl>
                                        <p:attrNameLst>
                                          <p:attrName>ppt_h</p:attrName>
                                        </p:attrNameLst>
                                      </p:cBhvr>
                                      <p:tavLst>
                                        <p:tav tm="0">
                                          <p:val>
                                            <p:fltVal val="0"/>
                                          </p:val>
                                        </p:tav>
                                        <p:tav tm="100000">
                                          <p:val>
                                            <p:strVal val="#ppt_h"/>
                                          </p:val>
                                        </p:tav>
                                      </p:tavLst>
                                    </p:anim>
                                    <p:anim calcmode="lin" valueType="num">
                                      <p:cBhvr>
                                        <p:cTn id="10" dur="2000" fill="hold"/>
                                        <p:tgtEl>
                                          <p:spTgt spid="2">
                                            <p:txEl>
                                              <p:pRg st="0" end="0"/>
                                            </p:txEl>
                                          </p:spTgt>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5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fade">
                                      <p:cBhvr>
                                        <p:cTn id="15" dur="770" decel="100000"/>
                                        <p:tgtEl>
                                          <p:spTgt spid="2">
                                            <p:txEl>
                                              <p:pRg st="1" end="1"/>
                                            </p:txEl>
                                          </p:spTgt>
                                        </p:tgtEl>
                                      </p:cBhvr>
                                    </p:animEffect>
                                    <p:animScale>
                                      <p:cBhvr>
                                        <p:cTn id="16" dur="770" decel="100000"/>
                                        <p:tgtEl>
                                          <p:spTgt spid="2">
                                            <p:txEl>
                                              <p:pRg st="1" end="1"/>
                                            </p:txEl>
                                          </p:spTgt>
                                        </p:tgtEl>
                                      </p:cBhvr>
                                      <p:from x="10000" y="10000"/>
                                      <p:to x="200000" y="450000"/>
                                    </p:animScale>
                                    <p:animScale>
                                      <p:cBhvr>
                                        <p:cTn id="17" dur="1230" accel="100000" fill="hold">
                                          <p:stCondLst>
                                            <p:cond delay="770"/>
                                          </p:stCondLst>
                                        </p:cTn>
                                        <p:tgtEl>
                                          <p:spTgt spid="2">
                                            <p:txEl>
                                              <p:pRg st="1" end="1"/>
                                            </p:txEl>
                                          </p:spTgt>
                                        </p:tgtEl>
                                      </p:cBhvr>
                                      <p:from x="200000" y="450000"/>
                                      <p:to x="100000" y="100000"/>
                                    </p:animScale>
                                    <p:set>
                                      <p:cBhvr>
                                        <p:cTn id="18" dur="770" fill="hold"/>
                                        <p:tgtEl>
                                          <p:spTgt spid="2">
                                            <p:txEl>
                                              <p:pRg st="1" end="1"/>
                                            </p:txEl>
                                          </p:spTgt>
                                        </p:tgtEl>
                                        <p:attrNameLst>
                                          <p:attrName>ppt_x</p:attrName>
                                        </p:attrNameLst>
                                      </p:cBhvr>
                                      <p:to>
                                        <p:strVal val="(0.5)"/>
                                      </p:to>
                                    </p:set>
                                    <p:anim from="(0.5)" to="(#ppt_x)" calcmode="lin" valueType="num">
                                      <p:cBhvr>
                                        <p:cTn id="19" dur="1230" accel="100000" fill="hold">
                                          <p:stCondLst>
                                            <p:cond delay="770"/>
                                          </p:stCondLst>
                                        </p:cTn>
                                        <p:tgtEl>
                                          <p:spTgt spid="2">
                                            <p:txEl>
                                              <p:pRg st="1" end="1"/>
                                            </p:txEl>
                                          </p:spTgt>
                                        </p:tgtEl>
                                        <p:attrNameLst>
                                          <p:attrName>ppt_x</p:attrName>
                                        </p:attrNameLst>
                                      </p:cBhvr>
                                    </p:anim>
                                    <p:set>
                                      <p:cBhvr>
                                        <p:cTn id="20" dur="770" fill="hold"/>
                                        <p:tgtEl>
                                          <p:spTgt spid="2">
                                            <p:txEl>
                                              <p:pRg st="1" end="1"/>
                                            </p:txEl>
                                          </p:spTgt>
                                        </p:tgtEl>
                                        <p:attrNameLst>
                                          <p:attrName>ppt_y</p:attrName>
                                        </p:attrNameLst>
                                      </p:cBhvr>
                                      <p:to>
                                        <p:strVal val="(#ppt_y+0.4)"/>
                                      </p:to>
                                    </p:set>
                                    <p:anim from="(#ppt_y+0.4)" to="(#ppt_y)" calcmode="lin" valueType="num">
                                      <p:cBhvr>
                                        <p:cTn id="21" dur="1230" accel="100000" fill="hold">
                                          <p:stCondLst>
                                            <p:cond delay="770"/>
                                          </p:stCondLst>
                                        </p:cTn>
                                        <p:tgtEl>
                                          <p:spTgt spid="2">
                                            <p:txEl>
                                              <p:pRg st="1" end="1"/>
                                            </p:txEl>
                                          </p:spTgt>
                                        </p:tgtEl>
                                        <p:attrNameLst>
                                          <p:attrName>ppt_y</p:attrName>
                                        </p:attrNameLst>
                                      </p:cBhvr>
                                    </p:anim>
                                  </p:childTnLst>
                                </p:cTn>
                              </p:par>
                            </p:childTnLst>
                          </p:cTn>
                        </p:par>
                      </p:childTnLst>
                    </p:cTn>
                  </p:par>
                  <p:par>
                    <p:cTn id="22" fill="hold">
                      <p:stCondLst>
                        <p:cond delay="indefinite"/>
                      </p:stCondLst>
                      <p:childTnLst>
                        <p:par>
                          <p:cTn id="23" fill="hold">
                            <p:stCondLst>
                              <p:cond delay="0"/>
                            </p:stCondLst>
                            <p:childTnLst>
                              <p:par>
                                <p:cTn id="24" presetID="56" presetClass="entr" presetSubtype="0" fill="hold" nodeType="clickEffect">
                                  <p:stCondLst>
                                    <p:cond delay="0"/>
                                  </p:stCondLst>
                                  <p:iterate type="lt">
                                    <p:tmPct val="10000"/>
                                  </p:iterate>
                                  <p:childTnLst>
                                    <p:set>
                                      <p:cBhvr>
                                        <p:cTn id="25" dur="1" fill="hold">
                                          <p:stCondLst>
                                            <p:cond delay="0"/>
                                          </p:stCondLst>
                                        </p:cTn>
                                        <p:tgtEl>
                                          <p:spTgt spid="2">
                                            <p:txEl>
                                              <p:pRg st="2" end="2"/>
                                            </p:txEl>
                                          </p:spTgt>
                                        </p:tgtEl>
                                        <p:attrNameLst>
                                          <p:attrName>style.visibility</p:attrName>
                                        </p:attrNameLst>
                                      </p:cBhvr>
                                      <p:to>
                                        <p:strVal val="visible"/>
                                      </p:to>
                                    </p:set>
                                    <p:anim by="(-#ppt_w*2)" calcmode="lin" valueType="num">
                                      <p:cBhvr rctx="PPT">
                                        <p:cTn id="26" dur="500" autoRev="1" fill="hold">
                                          <p:stCondLst>
                                            <p:cond delay="0"/>
                                          </p:stCondLst>
                                        </p:cTn>
                                        <p:tgtEl>
                                          <p:spTgt spid="2">
                                            <p:txEl>
                                              <p:pRg st="2" end="2"/>
                                            </p:txEl>
                                          </p:spTgt>
                                        </p:tgtEl>
                                        <p:attrNameLst>
                                          <p:attrName>ppt_w</p:attrName>
                                        </p:attrNameLst>
                                      </p:cBhvr>
                                    </p:anim>
                                    <p:anim by="(#ppt_w*0.50)" calcmode="lin" valueType="num">
                                      <p:cBhvr>
                                        <p:cTn id="27" dur="500" decel="50000" autoRev="1" fill="hold">
                                          <p:stCondLst>
                                            <p:cond delay="0"/>
                                          </p:stCondLst>
                                        </p:cTn>
                                        <p:tgtEl>
                                          <p:spTgt spid="2">
                                            <p:txEl>
                                              <p:pRg st="2" end="2"/>
                                            </p:txEl>
                                          </p:spTgt>
                                        </p:tgtEl>
                                        <p:attrNameLst>
                                          <p:attrName>ppt_x</p:attrName>
                                        </p:attrNameLst>
                                      </p:cBhvr>
                                    </p:anim>
                                    <p:anim from="(-#ppt_h/2)" to="(#ppt_y)" calcmode="lin" valueType="num">
                                      <p:cBhvr>
                                        <p:cTn id="28" dur="1000" fill="hold">
                                          <p:stCondLst>
                                            <p:cond delay="0"/>
                                          </p:stCondLst>
                                        </p:cTn>
                                        <p:tgtEl>
                                          <p:spTgt spid="2">
                                            <p:txEl>
                                              <p:pRg st="2" end="2"/>
                                            </p:txEl>
                                          </p:spTgt>
                                        </p:tgtEl>
                                        <p:attrNameLst>
                                          <p:attrName>ppt_y</p:attrName>
                                        </p:attrNameLst>
                                      </p:cBhvr>
                                    </p:anim>
                                    <p:animRot by="21600000">
                                      <p:cBhvr>
                                        <p:cTn id="29" dur="1000" fill="hold">
                                          <p:stCondLst>
                                            <p:cond delay="0"/>
                                          </p:stCondLst>
                                        </p:cTn>
                                        <p:tgtEl>
                                          <p:spTgt spid="2">
                                            <p:txEl>
                                              <p:pRg st="2" end="2"/>
                                            </p:txEl>
                                          </p:spTgt>
                                        </p:tgtEl>
                                        <p:attrNameLst>
                                          <p:attrName>r</p:attrName>
                                        </p:attrNameLst>
                                      </p:cBhvr>
                                    </p:animRot>
                                  </p:childTnLst>
                                </p:cTn>
                              </p:par>
                            </p:childTnLst>
                          </p:cTn>
                        </p:par>
                      </p:childTnLst>
                    </p:cTn>
                  </p:par>
                  <p:par>
                    <p:cTn id="30" fill="hold">
                      <p:stCondLst>
                        <p:cond delay="indefinite"/>
                      </p:stCondLst>
                      <p:childTnLst>
                        <p:par>
                          <p:cTn id="31" fill="hold">
                            <p:stCondLst>
                              <p:cond delay="0"/>
                            </p:stCondLst>
                            <p:childTnLst>
                              <p:par>
                                <p:cTn id="32" presetID="26" presetClass="entr" presetSubtype="0" fill="hold" nodeType="clickEffect">
                                  <p:stCondLst>
                                    <p:cond delay="0"/>
                                  </p:stCondLst>
                                  <p:childTnLst>
                                    <p:set>
                                      <p:cBhvr>
                                        <p:cTn id="33" dur="1" fill="hold">
                                          <p:stCondLst>
                                            <p:cond delay="0"/>
                                          </p:stCondLst>
                                        </p:cTn>
                                        <p:tgtEl>
                                          <p:spTgt spid="2">
                                            <p:txEl>
                                              <p:pRg st="4" end="4"/>
                                            </p:txEl>
                                          </p:spTgt>
                                        </p:tgtEl>
                                        <p:attrNameLst>
                                          <p:attrName>style.visibility</p:attrName>
                                        </p:attrNameLst>
                                      </p:cBhvr>
                                      <p:to>
                                        <p:strVal val="visible"/>
                                      </p:to>
                                    </p:set>
                                    <p:animEffect transition="in" filter="wipe(down)">
                                      <p:cBhvr>
                                        <p:cTn id="34" dur="580">
                                          <p:stCondLst>
                                            <p:cond delay="0"/>
                                          </p:stCondLst>
                                        </p:cTn>
                                        <p:tgtEl>
                                          <p:spTgt spid="2">
                                            <p:txEl>
                                              <p:pRg st="4" end="4"/>
                                            </p:txEl>
                                          </p:spTgt>
                                        </p:tgtEl>
                                      </p:cBhvr>
                                    </p:animEffect>
                                    <p:anim calcmode="lin" valueType="num">
                                      <p:cBhvr>
                                        <p:cTn id="35" dur="1822" tmFilter="0,0; 0.14,0.36; 0.43,0.73; 0.71,0.91; 1.0,1.0">
                                          <p:stCondLst>
                                            <p:cond delay="0"/>
                                          </p:stCondLst>
                                        </p:cTn>
                                        <p:tgtEl>
                                          <p:spTgt spid="2">
                                            <p:txEl>
                                              <p:pRg st="4" end="4"/>
                                            </p:txEl>
                                          </p:spTgt>
                                        </p:tgtEl>
                                        <p:attrNameLst>
                                          <p:attrName>ppt_x</p:attrName>
                                        </p:attrNameLst>
                                      </p:cBhvr>
                                      <p:tavLst>
                                        <p:tav tm="0">
                                          <p:val>
                                            <p:strVal val="#ppt_x-0.25"/>
                                          </p:val>
                                        </p:tav>
                                        <p:tav tm="100000">
                                          <p:val>
                                            <p:strVal val="#ppt_x"/>
                                          </p:val>
                                        </p:tav>
                                      </p:tavLst>
                                    </p:anim>
                                    <p:anim calcmode="lin" valueType="num">
                                      <p:cBhvr>
                                        <p:cTn id="36" dur="664" tmFilter="0.0,0.0; 0.25,0.07; 0.50,0.2; 0.75,0.467; 1.0,1.0">
                                          <p:stCondLst>
                                            <p:cond delay="0"/>
                                          </p:stCondLst>
                                        </p:cTn>
                                        <p:tgtEl>
                                          <p:spTgt spid="2">
                                            <p:txEl>
                                              <p:pRg st="4" end="4"/>
                                            </p:txEl>
                                          </p:spTgt>
                                        </p:tgtEl>
                                        <p:attrNameLst>
                                          <p:attrName>ppt_y</p:attrName>
                                        </p:attrNameLst>
                                      </p:cBhvr>
                                      <p:tavLst>
                                        <p:tav tm="0" fmla="#ppt_y-sin(pi*$)/3">
                                          <p:val>
                                            <p:fltVal val="0.5"/>
                                          </p:val>
                                        </p:tav>
                                        <p:tav tm="100000">
                                          <p:val>
                                            <p:fltVal val="1"/>
                                          </p:val>
                                        </p:tav>
                                      </p:tavLst>
                                    </p:anim>
                                    <p:anim calcmode="lin" valueType="num">
                                      <p:cBhvr>
                                        <p:cTn id="37" dur="664" tmFilter="0, 0; 0.125,0.2665; 0.25,0.4; 0.375,0.465; 0.5,0.5;  0.625,0.535; 0.75,0.6; 0.875,0.7335; 1,1">
                                          <p:stCondLst>
                                            <p:cond delay="664"/>
                                          </p:stCondLst>
                                        </p:cTn>
                                        <p:tgtEl>
                                          <p:spTgt spid="2">
                                            <p:txEl>
                                              <p:pRg st="4" end="4"/>
                                            </p:txEl>
                                          </p:spTgt>
                                        </p:tgtEl>
                                        <p:attrNameLst>
                                          <p:attrName>ppt_y</p:attrName>
                                        </p:attrNameLst>
                                      </p:cBhvr>
                                      <p:tavLst>
                                        <p:tav tm="0" fmla="#ppt_y-sin(pi*$)/9">
                                          <p:val>
                                            <p:fltVal val="0"/>
                                          </p:val>
                                        </p:tav>
                                        <p:tav tm="100000">
                                          <p:val>
                                            <p:fltVal val="1"/>
                                          </p:val>
                                        </p:tav>
                                      </p:tavLst>
                                    </p:anim>
                                    <p:anim calcmode="lin" valueType="num">
                                      <p:cBhvr>
                                        <p:cTn id="38" dur="332" tmFilter="0, 0; 0.125,0.2665; 0.25,0.4; 0.375,0.465; 0.5,0.5;  0.625,0.535; 0.75,0.6; 0.875,0.7335; 1,1">
                                          <p:stCondLst>
                                            <p:cond delay="1324"/>
                                          </p:stCondLst>
                                        </p:cTn>
                                        <p:tgtEl>
                                          <p:spTgt spid="2">
                                            <p:txEl>
                                              <p:pRg st="4" end="4"/>
                                            </p:txEl>
                                          </p:spTgt>
                                        </p:tgtEl>
                                        <p:attrNameLst>
                                          <p:attrName>ppt_y</p:attrName>
                                        </p:attrNameLst>
                                      </p:cBhvr>
                                      <p:tavLst>
                                        <p:tav tm="0" fmla="#ppt_y-sin(pi*$)/27">
                                          <p:val>
                                            <p:fltVal val="0"/>
                                          </p:val>
                                        </p:tav>
                                        <p:tav tm="100000">
                                          <p:val>
                                            <p:fltVal val="1"/>
                                          </p:val>
                                        </p:tav>
                                      </p:tavLst>
                                    </p:anim>
                                    <p:anim calcmode="lin" valueType="num">
                                      <p:cBhvr>
                                        <p:cTn id="39" dur="164" tmFilter="0, 0; 0.125,0.2665; 0.25,0.4; 0.375,0.465; 0.5,0.5;  0.625,0.535; 0.75,0.6; 0.875,0.7335; 1,1">
                                          <p:stCondLst>
                                            <p:cond delay="1656"/>
                                          </p:stCondLst>
                                        </p:cTn>
                                        <p:tgtEl>
                                          <p:spTgt spid="2">
                                            <p:txEl>
                                              <p:pRg st="4" end="4"/>
                                            </p:txEl>
                                          </p:spTgt>
                                        </p:tgtEl>
                                        <p:attrNameLst>
                                          <p:attrName>ppt_y</p:attrName>
                                        </p:attrNameLst>
                                      </p:cBhvr>
                                      <p:tavLst>
                                        <p:tav tm="0" fmla="#ppt_y-sin(pi*$)/81">
                                          <p:val>
                                            <p:fltVal val="0"/>
                                          </p:val>
                                        </p:tav>
                                        <p:tav tm="100000">
                                          <p:val>
                                            <p:fltVal val="1"/>
                                          </p:val>
                                        </p:tav>
                                      </p:tavLst>
                                    </p:anim>
                                    <p:animScale>
                                      <p:cBhvr>
                                        <p:cTn id="40" dur="26">
                                          <p:stCondLst>
                                            <p:cond delay="650"/>
                                          </p:stCondLst>
                                        </p:cTn>
                                        <p:tgtEl>
                                          <p:spTgt spid="2">
                                            <p:txEl>
                                              <p:pRg st="4" end="4"/>
                                            </p:txEl>
                                          </p:spTgt>
                                        </p:tgtEl>
                                      </p:cBhvr>
                                      <p:to x="100000" y="60000"/>
                                    </p:animScale>
                                    <p:animScale>
                                      <p:cBhvr>
                                        <p:cTn id="41" dur="166" decel="50000">
                                          <p:stCondLst>
                                            <p:cond delay="676"/>
                                          </p:stCondLst>
                                        </p:cTn>
                                        <p:tgtEl>
                                          <p:spTgt spid="2">
                                            <p:txEl>
                                              <p:pRg st="4" end="4"/>
                                            </p:txEl>
                                          </p:spTgt>
                                        </p:tgtEl>
                                      </p:cBhvr>
                                      <p:to x="100000" y="100000"/>
                                    </p:animScale>
                                    <p:animScale>
                                      <p:cBhvr>
                                        <p:cTn id="42" dur="26">
                                          <p:stCondLst>
                                            <p:cond delay="1312"/>
                                          </p:stCondLst>
                                        </p:cTn>
                                        <p:tgtEl>
                                          <p:spTgt spid="2">
                                            <p:txEl>
                                              <p:pRg st="4" end="4"/>
                                            </p:txEl>
                                          </p:spTgt>
                                        </p:tgtEl>
                                      </p:cBhvr>
                                      <p:to x="100000" y="80000"/>
                                    </p:animScale>
                                    <p:animScale>
                                      <p:cBhvr>
                                        <p:cTn id="43" dur="166" decel="50000">
                                          <p:stCondLst>
                                            <p:cond delay="1338"/>
                                          </p:stCondLst>
                                        </p:cTn>
                                        <p:tgtEl>
                                          <p:spTgt spid="2">
                                            <p:txEl>
                                              <p:pRg st="4" end="4"/>
                                            </p:txEl>
                                          </p:spTgt>
                                        </p:tgtEl>
                                      </p:cBhvr>
                                      <p:to x="100000" y="100000"/>
                                    </p:animScale>
                                    <p:animScale>
                                      <p:cBhvr>
                                        <p:cTn id="44" dur="26">
                                          <p:stCondLst>
                                            <p:cond delay="1642"/>
                                          </p:stCondLst>
                                        </p:cTn>
                                        <p:tgtEl>
                                          <p:spTgt spid="2">
                                            <p:txEl>
                                              <p:pRg st="4" end="4"/>
                                            </p:txEl>
                                          </p:spTgt>
                                        </p:tgtEl>
                                      </p:cBhvr>
                                      <p:to x="100000" y="90000"/>
                                    </p:animScale>
                                    <p:animScale>
                                      <p:cBhvr>
                                        <p:cTn id="45" dur="166" decel="50000">
                                          <p:stCondLst>
                                            <p:cond delay="1668"/>
                                          </p:stCondLst>
                                        </p:cTn>
                                        <p:tgtEl>
                                          <p:spTgt spid="2">
                                            <p:txEl>
                                              <p:pRg st="4" end="4"/>
                                            </p:txEl>
                                          </p:spTgt>
                                        </p:tgtEl>
                                      </p:cBhvr>
                                      <p:to x="100000" y="100000"/>
                                    </p:animScale>
                                    <p:animScale>
                                      <p:cBhvr>
                                        <p:cTn id="46" dur="26">
                                          <p:stCondLst>
                                            <p:cond delay="1808"/>
                                          </p:stCondLst>
                                        </p:cTn>
                                        <p:tgtEl>
                                          <p:spTgt spid="2">
                                            <p:txEl>
                                              <p:pRg st="4" end="4"/>
                                            </p:txEl>
                                          </p:spTgt>
                                        </p:tgtEl>
                                      </p:cBhvr>
                                      <p:to x="100000" y="95000"/>
                                    </p:animScale>
                                    <p:animScale>
                                      <p:cBhvr>
                                        <p:cTn id="47" dur="166" decel="50000">
                                          <p:stCondLst>
                                            <p:cond delay="1834"/>
                                          </p:stCondLst>
                                        </p:cTn>
                                        <p:tgtEl>
                                          <p:spTgt spid="2">
                                            <p:txEl>
                                              <p:pRg st="4" end="4"/>
                                            </p:txEl>
                                          </p:spTgt>
                                        </p:tgtEl>
                                      </p:cBhvr>
                                      <p:to x="100000" y="100000"/>
                                    </p:animScale>
                                  </p:childTnLst>
                                </p:cTn>
                              </p:par>
                            </p:childTnLst>
                          </p:cTn>
                        </p:par>
                      </p:childTnLst>
                    </p:cTn>
                  </p:par>
                  <p:par>
                    <p:cTn id="48" fill="hold">
                      <p:stCondLst>
                        <p:cond delay="indefinite"/>
                      </p:stCondLst>
                      <p:childTnLst>
                        <p:par>
                          <p:cTn id="49" fill="hold">
                            <p:stCondLst>
                              <p:cond delay="0"/>
                            </p:stCondLst>
                            <p:childTnLst>
                              <p:par>
                                <p:cTn id="50" presetID="26" presetClass="entr" presetSubtype="0" fill="hold" nodeType="clickEffect">
                                  <p:stCondLst>
                                    <p:cond delay="0"/>
                                  </p:stCondLst>
                                  <p:childTnLst>
                                    <p:set>
                                      <p:cBhvr>
                                        <p:cTn id="51" dur="1" fill="hold">
                                          <p:stCondLst>
                                            <p:cond delay="0"/>
                                          </p:stCondLst>
                                        </p:cTn>
                                        <p:tgtEl>
                                          <p:spTgt spid="2">
                                            <p:txEl>
                                              <p:pRg st="6" end="6"/>
                                            </p:txEl>
                                          </p:spTgt>
                                        </p:tgtEl>
                                        <p:attrNameLst>
                                          <p:attrName>style.visibility</p:attrName>
                                        </p:attrNameLst>
                                      </p:cBhvr>
                                      <p:to>
                                        <p:strVal val="visible"/>
                                      </p:to>
                                    </p:set>
                                    <p:animEffect transition="in" filter="wipe(down)">
                                      <p:cBhvr>
                                        <p:cTn id="52" dur="580">
                                          <p:stCondLst>
                                            <p:cond delay="0"/>
                                          </p:stCondLst>
                                        </p:cTn>
                                        <p:tgtEl>
                                          <p:spTgt spid="2">
                                            <p:txEl>
                                              <p:pRg st="6" end="6"/>
                                            </p:txEl>
                                          </p:spTgt>
                                        </p:tgtEl>
                                      </p:cBhvr>
                                    </p:animEffect>
                                    <p:anim calcmode="lin" valueType="num">
                                      <p:cBhvr>
                                        <p:cTn id="53" dur="1822" tmFilter="0,0; 0.14,0.36; 0.43,0.73; 0.71,0.91; 1.0,1.0">
                                          <p:stCondLst>
                                            <p:cond delay="0"/>
                                          </p:stCondLst>
                                        </p:cTn>
                                        <p:tgtEl>
                                          <p:spTgt spid="2">
                                            <p:txEl>
                                              <p:pRg st="6" end="6"/>
                                            </p:txEl>
                                          </p:spTgt>
                                        </p:tgtEl>
                                        <p:attrNameLst>
                                          <p:attrName>ppt_x</p:attrName>
                                        </p:attrNameLst>
                                      </p:cBhvr>
                                      <p:tavLst>
                                        <p:tav tm="0">
                                          <p:val>
                                            <p:strVal val="#ppt_x-0.25"/>
                                          </p:val>
                                        </p:tav>
                                        <p:tav tm="100000">
                                          <p:val>
                                            <p:strVal val="#ppt_x"/>
                                          </p:val>
                                        </p:tav>
                                      </p:tavLst>
                                    </p:anim>
                                    <p:anim calcmode="lin" valueType="num">
                                      <p:cBhvr>
                                        <p:cTn id="54" dur="664" tmFilter="0.0,0.0; 0.25,0.07; 0.50,0.2; 0.75,0.467; 1.0,1.0">
                                          <p:stCondLst>
                                            <p:cond delay="0"/>
                                          </p:stCondLst>
                                        </p:cTn>
                                        <p:tgtEl>
                                          <p:spTgt spid="2">
                                            <p:txEl>
                                              <p:pRg st="6" end="6"/>
                                            </p:txEl>
                                          </p:spTgt>
                                        </p:tgtEl>
                                        <p:attrNameLst>
                                          <p:attrName>ppt_y</p:attrName>
                                        </p:attrNameLst>
                                      </p:cBhvr>
                                      <p:tavLst>
                                        <p:tav tm="0" fmla="#ppt_y-sin(pi*$)/3">
                                          <p:val>
                                            <p:fltVal val="0.5"/>
                                          </p:val>
                                        </p:tav>
                                        <p:tav tm="100000">
                                          <p:val>
                                            <p:fltVal val="1"/>
                                          </p:val>
                                        </p:tav>
                                      </p:tavLst>
                                    </p:anim>
                                    <p:anim calcmode="lin" valueType="num">
                                      <p:cBhvr>
                                        <p:cTn id="55" dur="664" tmFilter="0, 0; 0.125,0.2665; 0.25,0.4; 0.375,0.465; 0.5,0.5;  0.625,0.535; 0.75,0.6; 0.875,0.7335; 1,1">
                                          <p:stCondLst>
                                            <p:cond delay="664"/>
                                          </p:stCondLst>
                                        </p:cTn>
                                        <p:tgtEl>
                                          <p:spTgt spid="2">
                                            <p:txEl>
                                              <p:pRg st="6" end="6"/>
                                            </p:txEl>
                                          </p:spTgt>
                                        </p:tgtEl>
                                        <p:attrNameLst>
                                          <p:attrName>ppt_y</p:attrName>
                                        </p:attrNameLst>
                                      </p:cBhvr>
                                      <p:tavLst>
                                        <p:tav tm="0" fmla="#ppt_y-sin(pi*$)/9">
                                          <p:val>
                                            <p:fltVal val="0"/>
                                          </p:val>
                                        </p:tav>
                                        <p:tav tm="100000">
                                          <p:val>
                                            <p:fltVal val="1"/>
                                          </p:val>
                                        </p:tav>
                                      </p:tavLst>
                                    </p:anim>
                                    <p:anim calcmode="lin" valueType="num">
                                      <p:cBhvr>
                                        <p:cTn id="56" dur="332" tmFilter="0, 0; 0.125,0.2665; 0.25,0.4; 0.375,0.465; 0.5,0.5;  0.625,0.535; 0.75,0.6; 0.875,0.7335; 1,1">
                                          <p:stCondLst>
                                            <p:cond delay="1324"/>
                                          </p:stCondLst>
                                        </p:cTn>
                                        <p:tgtEl>
                                          <p:spTgt spid="2">
                                            <p:txEl>
                                              <p:pRg st="6" end="6"/>
                                            </p:txEl>
                                          </p:spTgt>
                                        </p:tgtEl>
                                        <p:attrNameLst>
                                          <p:attrName>ppt_y</p:attrName>
                                        </p:attrNameLst>
                                      </p:cBhvr>
                                      <p:tavLst>
                                        <p:tav tm="0" fmla="#ppt_y-sin(pi*$)/27">
                                          <p:val>
                                            <p:fltVal val="0"/>
                                          </p:val>
                                        </p:tav>
                                        <p:tav tm="100000">
                                          <p:val>
                                            <p:fltVal val="1"/>
                                          </p:val>
                                        </p:tav>
                                      </p:tavLst>
                                    </p:anim>
                                    <p:anim calcmode="lin" valueType="num">
                                      <p:cBhvr>
                                        <p:cTn id="57" dur="164" tmFilter="0, 0; 0.125,0.2665; 0.25,0.4; 0.375,0.465; 0.5,0.5;  0.625,0.535; 0.75,0.6; 0.875,0.7335; 1,1">
                                          <p:stCondLst>
                                            <p:cond delay="1656"/>
                                          </p:stCondLst>
                                        </p:cTn>
                                        <p:tgtEl>
                                          <p:spTgt spid="2">
                                            <p:txEl>
                                              <p:pRg st="6" end="6"/>
                                            </p:txEl>
                                          </p:spTgt>
                                        </p:tgtEl>
                                        <p:attrNameLst>
                                          <p:attrName>ppt_y</p:attrName>
                                        </p:attrNameLst>
                                      </p:cBhvr>
                                      <p:tavLst>
                                        <p:tav tm="0" fmla="#ppt_y-sin(pi*$)/81">
                                          <p:val>
                                            <p:fltVal val="0"/>
                                          </p:val>
                                        </p:tav>
                                        <p:tav tm="100000">
                                          <p:val>
                                            <p:fltVal val="1"/>
                                          </p:val>
                                        </p:tav>
                                      </p:tavLst>
                                    </p:anim>
                                    <p:animScale>
                                      <p:cBhvr>
                                        <p:cTn id="58" dur="26">
                                          <p:stCondLst>
                                            <p:cond delay="650"/>
                                          </p:stCondLst>
                                        </p:cTn>
                                        <p:tgtEl>
                                          <p:spTgt spid="2">
                                            <p:txEl>
                                              <p:pRg st="6" end="6"/>
                                            </p:txEl>
                                          </p:spTgt>
                                        </p:tgtEl>
                                      </p:cBhvr>
                                      <p:to x="100000" y="60000"/>
                                    </p:animScale>
                                    <p:animScale>
                                      <p:cBhvr>
                                        <p:cTn id="59" dur="166" decel="50000">
                                          <p:stCondLst>
                                            <p:cond delay="676"/>
                                          </p:stCondLst>
                                        </p:cTn>
                                        <p:tgtEl>
                                          <p:spTgt spid="2">
                                            <p:txEl>
                                              <p:pRg st="6" end="6"/>
                                            </p:txEl>
                                          </p:spTgt>
                                        </p:tgtEl>
                                      </p:cBhvr>
                                      <p:to x="100000" y="100000"/>
                                    </p:animScale>
                                    <p:animScale>
                                      <p:cBhvr>
                                        <p:cTn id="60" dur="26">
                                          <p:stCondLst>
                                            <p:cond delay="1312"/>
                                          </p:stCondLst>
                                        </p:cTn>
                                        <p:tgtEl>
                                          <p:spTgt spid="2">
                                            <p:txEl>
                                              <p:pRg st="6" end="6"/>
                                            </p:txEl>
                                          </p:spTgt>
                                        </p:tgtEl>
                                      </p:cBhvr>
                                      <p:to x="100000" y="80000"/>
                                    </p:animScale>
                                    <p:animScale>
                                      <p:cBhvr>
                                        <p:cTn id="61" dur="166" decel="50000">
                                          <p:stCondLst>
                                            <p:cond delay="1338"/>
                                          </p:stCondLst>
                                        </p:cTn>
                                        <p:tgtEl>
                                          <p:spTgt spid="2">
                                            <p:txEl>
                                              <p:pRg st="6" end="6"/>
                                            </p:txEl>
                                          </p:spTgt>
                                        </p:tgtEl>
                                      </p:cBhvr>
                                      <p:to x="100000" y="100000"/>
                                    </p:animScale>
                                    <p:animScale>
                                      <p:cBhvr>
                                        <p:cTn id="62" dur="26">
                                          <p:stCondLst>
                                            <p:cond delay="1642"/>
                                          </p:stCondLst>
                                        </p:cTn>
                                        <p:tgtEl>
                                          <p:spTgt spid="2">
                                            <p:txEl>
                                              <p:pRg st="6" end="6"/>
                                            </p:txEl>
                                          </p:spTgt>
                                        </p:tgtEl>
                                      </p:cBhvr>
                                      <p:to x="100000" y="90000"/>
                                    </p:animScale>
                                    <p:animScale>
                                      <p:cBhvr>
                                        <p:cTn id="63" dur="166" decel="50000">
                                          <p:stCondLst>
                                            <p:cond delay="1668"/>
                                          </p:stCondLst>
                                        </p:cTn>
                                        <p:tgtEl>
                                          <p:spTgt spid="2">
                                            <p:txEl>
                                              <p:pRg st="6" end="6"/>
                                            </p:txEl>
                                          </p:spTgt>
                                        </p:tgtEl>
                                      </p:cBhvr>
                                      <p:to x="100000" y="100000"/>
                                    </p:animScale>
                                    <p:animScale>
                                      <p:cBhvr>
                                        <p:cTn id="64" dur="26">
                                          <p:stCondLst>
                                            <p:cond delay="1808"/>
                                          </p:stCondLst>
                                        </p:cTn>
                                        <p:tgtEl>
                                          <p:spTgt spid="2">
                                            <p:txEl>
                                              <p:pRg st="6" end="6"/>
                                            </p:txEl>
                                          </p:spTgt>
                                        </p:tgtEl>
                                      </p:cBhvr>
                                      <p:to x="100000" y="95000"/>
                                    </p:animScale>
                                    <p:animScale>
                                      <p:cBhvr>
                                        <p:cTn id="65" dur="166" decel="50000">
                                          <p:stCondLst>
                                            <p:cond delay="1834"/>
                                          </p:stCondLst>
                                        </p:cTn>
                                        <p:tgtEl>
                                          <p:spTgt spid="2">
                                            <p:txEl>
                                              <p:pRg st="6" end="6"/>
                                            </p:txEl>
                                          </p:spTgt>
                                        </p:tgtEl>
                                      </p:cBhvr>
                                      <p:to x="100000" y="100000"/>
                                    </p:animScale>
                                  </p:childTnLst>
                                </p:cTn>
                              </p:par>
                            </p:childTnLst>
                          </p:cTn>
                        </p:par>
                      </p:childTnLst>
                    </p:cTn>
                  </p:par>
                  <p:par>
                    <p:cTn id="66" fill="hold">
                      <p:stCondLst>
                        <p:cond delay="indefinite"/>
                      </p:stCondLst>
                      <p:childTnLst>
                        <p:par>
                          <p:cTn id="67" fill="hold">
                            <p:stCondLst>
                              <p:cond delay="0"/>
                            </p:stCondLst>
                            <p:childTnLst>
                              <p:par>
                                <p:cTn id="68" presetID="26" presetClass="entr" presetSubtype="0" fill="hold"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wipe(down)">
                                      <p:cBhvr>
                                        <p:cTn id="70" dur="580">
                                          <p:stCondLst>
                                            <p:cond delay="0"/>
                                          </p:stCondLst>
                                        </p:cTn>
                                        <p:tgtEl>
                                          <p:spTgt spid="2">
                                            <p:txEl>
                                              <p:pRg st="8" end="8"/>
                                            </p:txEl>
                                          </p:spTgt>
                                        </p:tgtEl>
                                      </p:cBhvr>
                                    </p:animEffect>
                                    <p:anim calcmode="lin" valueType="num">
                                      <p:cBhvr>
                                        <p:cTn id="71" dur="1822" tmFilter="0,0; 0.14,0.36; 0.43,0.73; 0.71,0.91; 1.0,1.0">
                                          <p:stCondLst>
                                            <p:cond delay="0"/>
                                          </p:stCondLst>
                                        </p:cTn>
                                        <p:tgtEl>
                                          <p:spTgt spid="2">
                                            <p:txEl>
                                              <p:pRg st="8" end="8"/>
                                            </p:txEl>
                                          </p:spTgt>
                                        </p:tgtEl>
                                        <p:attrNameLst>
                                          <p:attrName>ppt_x</p:attrName>
                                        </p:attrNameLst>
                                      </p:cBhvr>
                                      <p:tavLst>
                                        <p:tav tm="0">
                                          <p:val>
                                            <p:strVal val="#ppt_x-0.25"/>
                                          </p:val>
                                        </p:tav>
                                        <p:tav tm="100000">
                                          <p:val>
                                            <p:strVal val="#ppt_x"/>
                                          </p:val>
                                        </p:tav>
                                      </p:tavLst>
                                    </p:anim>
                                    <p:anim calcmode="lin" valueType="num">
                                      <p:cBhvr>
                                        <p:cTn id="72" dur="664" tmFilter="0.0,0.0; 0.25,0.07; 0.50,0.2; 0.75,0.467; 1.0,1.0">
                                          <p:stCondLst>
                                            <p:cond delay="0"/>
                                          </p:stCondLst>
                                        </p:cTn>
                                        <p:tgtEl>
                                          <p:spTgt spid="2">
                                            <p:txEl>
                                              <p:pRg st="8" end="8"/>
                                            </p:txEl>
                                          </p:spTgt>
                                        </p:tgtEl>
                                        <p:attrNameLst>
                                          <p:attrName>ppt_y</p:attrName>
                                        </p:attrNameLst>
                                      </p:cBhvr>
                                      <p:tavLst>
                                        <p:tav tm="0" fmla="#ppt_y-sin(pi*$)/3">
                                          <p:val>
                                            <p:fltVal val="0.5"/>
                                          </p:val>
                                        </p:tav>
                                        <p:tav tm="100000">
                                          <p:val>
                                            <p:fltVal val="1"/>
                                          </p:val>
                                        </p:tav>
                                      </p:tavLst>
                                    </p:anim>
                                    <p:anim calcmode="lin" valueType="num">
                                      <p:cBhvr>
                                        <p:cTn id="73" dur="664" tmFilter="0, 0; 0.125,0.2665; 0.25,0.4; 0.375,0.465; 0.5,0.5;  0.625,0.535; 0.75,0.6; 0.875,0.7335; 1,1">
                                          <p:stCondLst>
                                            <p:cond delay="664"/>
                                          </p:stCondLst>
                                        </p:cTn>
                                        <p:tgtEl>
                                          <p:spTgt spid="2">
                                            <p:txEl>
                                              <p:pRg st="8" end="8"/>
                                            </p:txEl>
                                          </p:spTgt>
                                        </p:tgtEl>
                                        <p:attrNameLst>
                                          <p:attrName>ppt_y</p:attrName>
                                        </p:attrNameLst>
                                      </p:cBhvr>
                                      <p:tavLst>
                                        <p:tav tm="0" fmla="#ppt_y-sin(pi*$)/9">
                                          <p:val>
                                            <p:fltVal val="0"/>
                                          </p:val>
                                        </p:tav>
                                        <p:tav tm="100000">
                                          <p:val>
                                            <p:fltVal val="1"/>
                                          </p:val>
                                        </p:tav>
                                      </p:tavLst>
                                    </p:anim>
                                    <p:anim calcmode="lin" valueType="num">
                                      <p:cBhvr>
                                        <p:cTn id="74" dur="332" tmFilter="0, 0; 0.125,0.2665; 0.25,0.4; 0.375,0.465; 0.5,0.5;  0.625,0.535; 0.75,0.6; 0.875,0.7335; 1,1">
                                          <p:stCondLst>
                                            <p:cond delay="1324"/>
                                          </p:stCondLst>
                                        </p:cTn>
                                        <p:tgtEl>
                                          <p:spTgt spid="2">
                                            <p:txEl>
                                              <p:pRg st="8" end="8"/>
                                            </p:txEl>
                                          </p:spTgt>
                                        </p:tgtEl>
                                        <p:attrNameLst>
                                          <p:attrName>ppt_y</p:attrName>
                                        </p:attrNameLst>
                                      </p:cBhvr>
                                      <p:tavLst>
                                        <p:tav tm="0" fmla="#ppt_y-sin(pi*$)/27">
                                          <p:val>
                                            <p:fltVal val="0"/>
                                          </p:val>
                                        </p:tav>
                                        <p:tav tm="100000">
                                          <p:val>
                                            <p:fltVal val="1"/>
                                          </p:val>
                                        </p:tav>
                                      </p:tavLst>
                                    </p:anim>
                                    <p:anim calcmode="lin" valueType="num">
                                      <p:cBhvr>
                                        <p:cTn id="75" dur="164" tmFilter="0, 0; 0.125,0.2665; 0.25,0.4; 0.375,0.465; 0.5,0.5;  0.625,0.535; 0.75,0.6; 0.875,0.7335; 1,1">
                                          <p:stCondLst>
                                            <p:cond delay="1656"/>
                                          </p:stCondLst>
                                        </p:cTn>
                                        <p:tgtEl>
                                          <p:spTgt spid="2">
                                            <p:txEl>
                                              <p:pRg st="8" end="8"/>
                                            </p:txEl>
                                          </p:spTgt>
                                        </p:tgtEl>
                                        <p:attrNameLst>
                                          <p:attrName>ppt_y</p:attrName>
                                        </p:attrNameLst>
                                      </p:cBhvr>
                                      <p:tavLst>
                                        <p:tav tm="0" fmla="#ppt_y-sin(pi*$)/81">
                                          <p:val>
                                            <p:fltVal val="0"/>
                                          </p:val>
                                        </p:tav>
                                        <p:tav tm="100000">
                                          <p:val>
                                            <p:fltVal val="1"/>
                                          </p:val>
                                        </p:tav>
                                      </p:tavLst>
                                    </p:anim>
                                    <p:animScale>
                                      <p:cBhvr>
                                        <p:cTn id="76" dur="26">
                                          <p:stCondLst>
                                            <p:cond delay="650"/>
                                          </p:stCondLst>
                                        </p:cTn>
                                        <p:tgtEl>
                                          <p:spTgt spid="2">
                                            <p:txEl>
                                              <p:pRg st="8" end="8"/>
                                            </p:txEl>
                                          </p:spTgt>
                                        </p:tgtEl>
                                      </p:cBhvr>
                                      <p:to x="100000" y="60000"/>
                                    </p:animScale>
                                    <p:animScale>
                                      <p:cBhvr>
                                        <p:cTn id="77" dur="166" decel="50000">
                                          <p:stCondLst>
                                            <p:cond delay="676"/>
                                          </p:stCondLst>
                                        </p:cTn>
                                        <p:tgtEl>
                                          <p:spTgt spid="2">
                                            <p:txEl>
                                              <p:pRg st="8" end="8"/>
                                            </p:txEl>
                                          </p:spTgt>
                                        </p:tgtEl>
                                      </p:cBhvr>
                                      <p:to x="100000" y="100000"/>
                                    </p:animScale>
                                    <p:animScale>
                                      <p:cBhvr>
                                        <p:cTn id="78" dur="26">
                                          <p:stCondLst>
                                            <p:cond delay="1312"/>
                                          </p:stCondLst>
                                        </p:cTn>
                                        <p:tgtEl>
                                          <p:spTgt spid="2">
                                            <p:txEl>
                                              <p:pRg st="8" end="8"/>
                                            </p:txEl>
                                          </p:spTgt>
                                        </p:tgtEl>
                                      </p:cBhvr>
                                      <p:to x="100000" y="80000"/>
                                    </p:animScale>
                                    <p:animScale>
                                      <p:cBhvr>
                                        <p:cTn id="79" dur="166" decel="50000">
                                          <p:stCondLst>
                                            <p:cond delay="1338"/>
                                          </p:stCondLst>
                                        </p:cTn>
                                        <p:tgtEl>
                                          <p:spTgt spid="2">
                                            <p:txEl>
                                              <p:pRg st="8" end="8"/>
                                            </p:txEl>
                                          </p:spTgt>
                                        </p:tgtEl>
                                      </p:cBhvr>
                                      <p:to x="100000" y="100000"/>
                                    </p:animScale>
                                    <p:animScale>
                                      <p:cBhvr>
                                        <p:cTn id="80" dur="26">
                                          <p:stCondLst>
                                            <p:cond delay="1642"/>
                                          </p:stCondLst>
                                        </p:cTn>
                                        <p:tgtEl>
                                          <p:spTgt spid="2">
                                            <p:txEl>
                                              <p:pRg st="8" end="8"/>
                                            </p:txEl>
                                          </p:spTgt>
                                        </p:tgtEl>
                                      </p:cBhvr>
                                      <p:to x="100000" y="90000"/>
                                    </p:animScale>
                                    <p:animScale>
                                      <p:cBhvr>
                                        <p:cTn id="81" dur="166" decel="50000">
                                          <p:stCondLst>
                                            <p:cond delay="1668"/>
                                          </p:stCondLst>
                                        </p:cTn>
                                        <p:tgtEl>
                                          <p:spTgt spid="2">
                                            <p:txEl>
                                              <p:pRg st="8" end="8"/>
                                            </p:txEl>
                                          </p:spTgt>
                                        </p:tgtEl>
                                      </p:cBhvr>
                                      <p:to x="100000" y="100000"/>
                                    </p:animScale>
                                    <p:animScale>
                                      <p:cBhvr>
                                        <p:cTn id="82" dur="26">
                                          <p:stCondLst>
                                            <p:cond delay="1808"/>
                                          </p:stCondLst>
                                        </p:cTn>
                                        <p:tgtEl>
                                          <p:spTgt spid="2">
                                            <p:txEl>
                                              <p:pRg st="8" end="8"/>
                                            </p:txEl>
                                          </p:spTgt>
                                        </p:tgtEl>
                                      </p:cBhvr>
                                      <p:to x="100000" y="95000"/>
                                    </p:animScale>
                                    <p:animScale>
                                      <p:cBhvr>
                                        <p:cTn id="83" dur="166" decel="50000">
                                          <p:stCondLst>
                                            <p:cond delay="1834"/>
                                          </p:stCondLst>
                                        </p:cTn>
                                        <p:tgtEl>
                                          <p:spTgt spid="2">
                                            <p:txEl>
                                              <p:pRg st="8" end="8"/>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 y="1285862"/>
            <a:ext cx="8959276" cy="3539430"/>
          </a:xfrm>
          <a:prstGeom prst="rect">
            <a:avLst/>
          </a:prstGeom>
          <a:noFill/>
        </p:spPr>
        <p:txBody>
          <a:bodyPr wrap="square" rtlCol="1">
            <a:spAutoFit/>
          </a:bodyPr>
          <a:lstStyle/>
          <a:p>
            <a:r>
              <a:rPr lang="ar-EG" sz="3200" dirty="0">
                <a:solidFill>
                  <a:srgbClr val="FFFF00"/>
                </a:solidFill>
              </a:rPr>
              <a:t> هى عبارة عن تحويل الصوت المدخل إلى الحاسب إلى شكل يستطيع</a:t>
            </a:r>
            <a:r>
              <a:rPr lang="en-US" sz="3200" dirty="0">
                <a:solidFill>
                  <a:srgbClr val="FFFF00"/>
                </a:solidFill>
              </a:rPr>
              <a:t> </a:t>
            </a:r>
            <a:r>
              <a:rPr lang="ar-EG" sz="3200" dirty="0">
                <a:solidFill>
                  <a:srgbClr val="FFFF00"/>
                </a:solidFill>
              </a:rPr>
              <a:t>التعامل معه</a:t>
            </a:r>
            <a:r>
              <a:rPr lang="en-US" sz="3200" dirty="0">
                <a:solidFill>
                  <a:srgbClr val="FFFF00"/>
                </a:solidFill>
              </a:rPr>
              <a:t>.</a:t>
            </a:r>
          </a:p>
          <a:p>
            <a:r>
              <a:rPr lang="ar-EG" sz="3200" dirty="0"/>
              <a:t>العملية من البداية فمثلا لو شخص قام بتسجيل صوتة عن طريق المايكروفون للحاسب فمجموعة الكلمات التى قام بتسجيلها هى عبارة عن سلسلة من الإشارات المتصلة والتى تعرف </a:t>
            </a:r>
            <a:r>
              <a:rPr lang="en-US" sz="3200" dirty="0"/>
              <a:t>Continuous signal</a:t>
            </a:r>
            <a:r>
              <a:rPr lang="ar-EG" sz="3200" dirty="0"/>
              <a:t> وممكن تسميتها </a:t>
            </a:r>
            <a:r>
              <a:rPr lang="ar-EG" sz="3200" dirty="0" err="1"/>
              <a:t>بـــ</a:t>
            </a:r>
            <a:r>
              <a:rPr lang="ar-EG" sz="3200" dirty="0"/>
              <a:t> </a:t>
            </a:r>
            <a:r>
              <a:rPr lang="en-US" sz="3200" dirty="0"/>
              <a:t>Analog signal </a:t>
            </a:r>
            <a:r>
              <a:rPr lang="ar-EG" sz="3200" dirty="0" err="1"/>
              <a:t>بـــ</a:t>
            </a:r>
            <a:r>
              <a:rPr lang="ar-EG" sz="3200" dirty="0"/>
              <a:t> </a:t>
            </a:r>
          </a:p>
          <a:p>
            <a:r>
              <a:rPr lang="ar-EG" sz="3200" dirty="0" err="1">
                <a:solidFill>
                  <a:srgbClr val="FFFF00"/>
                </a:solidFill>
              </a:rPr>
              <a:t>والتى</a:t>
            </a:r>
            <a:r>
              <a:rPr lang="ar-EG" sz="3200" dirty="0">
                <a:solidFill>
                  <a:srgbClr val="FFFF00"/>
                </a:solidFill>
              </a:rPr>
              <a:t> تمثل بالشكل </a:t>
            </a:r>
            <a:r>
              <a:rPr lang="ar-EG" sz="3200" dirty="0" err="1">
                <a:solidFill>
                  <a:srgbClr val="FFFF00"/>
                </a:solidFill>
              </a:rPr>
              <a:t>التالى</a:t>
            </a:r>
            <a:r>
              <a:rPr lang="ar-EG" sz="3200" dirty="0">
                <a:solidFill>
                  <a:srgbClr val="FFFF00"/>
                </a:solidFill>
              </a:rPr>
              <a:t> :-</a:t>
            </a:r>
            <a:r>
              <a:rPr lang="en-US" sz="3200" dirty="0">
                <a:solidFill>
                  <a:srgbClr val="FFFF00"/>
                </a:solidFill>
              </a:rPr>
              <a:t> </a:t>
            </a:r>
          </a:p>
        </p:txBody>
      </p:sp>
      <p:sp>
        <p:nvSpPr>
          <p:cNvPr id="3" name="مربع نص 2"/>
          <p:cNvSpPr txBox="1"/>
          <p:nvPr/>
        </p:nvSpPr>
        <p:spPr>
          <a:xfrm>
            <a:off x="428598" y="500044"/>
            <a:ext cx="3500463" cy="584775"/>
          </a:xfrm>
          <a:prstGeom prst="rect">
            <a:avLst/>
          </a:prstGeom>
        </p:spPr>
        <p:style>
          <a:lnRef idx="3">
            <a:schemeClr val="lt1"/>
          </a:lnRef>
          <a:fillRef idx="1">
            <a:schemeClr val="accent2"/>
          </a:fillRef>
          <a:effectRef idx="1">
            <a:schemeClr val="accent2"/>
          </a:effectRef>
          <a:fontRef idx="minor">
            <a:schemeClr val="lt1"/>
          </a:fontRef>
        </p:style>
        <p:txBody>
          <a:bodyPr wrap="square" rtlCol="1">
            <a:spAutoFit/>
          </a:bodyPr>
          <a:lstStyle/>
          <a:p>
            <a:pPr algn="l"/>
            <a:r>
              <a:rPr lang="en-US" sz="3200" b="1" dirty="0"/>
              <a:t>1-Pre – Processing</a:t>
            </a:r>
          </a:p>
        </p:txBody>
      </p:sp>
      <p:sp>
        <p:nvSpPr>
          <p:cNvPr id="32788" name="Rectangle 20"/>
          <p:cNvSpPr>
            <a:spLocks noChangeArrowheads="1"/>
          </p:cNvSpPr>
          <p:nvPr/>
        </p:nvSpPr>
        <p:spPr bwMode="auto">
          <a:xfrm>
            <a:off x="8959276" y="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ar-EG"/>
          </a:p>
        </p:txBody>
      </p:sp>
      <p:pic>
        <p:nvPicPr>
          <p:cNvPr id="32794" name="Picture 26"/>
          <p:cNvPicPr>
            <a:picLocks noChangeAspect="1" noChangeArrowheads="1"/>
          </p:cNvPicPr>
          <p:nvPr/>
        </p:nvPicPr>
        <p:blipFill>
          <a:blip r:embed="rId2"/>
          <a:srcRect/>
          <a:stretch>
            <a:fillRect/>
          </a:stretch>
        </p:blipFill>
        <p:spPr bwMode="auto">
          <a:xfrm>
            <a:off x="428598" y="4725144"/>
            <a:ext cx="5791200" cy="1856639"/>
          </a:xfrm>
          <a:prstGeom prst="rect">
            <a:avLst/>
          </a:prstGeom>
          <a:noFill/>
          <a:ln w="9525">
            <a:noFill/>
            <a:miter lim="800000"/>
            <a:headEnd/>
            <a:tailEnd/>
          </a:ln>
          <a:effectLst/>
        </p:spPr>
      </p:pic>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dissolve">
                                      <p:cBhvr>
                                        <p:cTn id="25" dur="500"/>
                                        <p:tgtEl>
                                          <p:spTgt spid="2">
                                            <p:txEl>
                                              <p:pRg st="0" end="0"/>
                                            </p:txEl>
                                          </p:spTgt>
                                        </p:tgtEl>
                                      </p:cBhvr>
                                    </p:animEffect>
                                  </p:childTnLst>
                                </p:cTn>
                              </p:par>
                              <p:par>
                                <p:cTn id="26" presetID="9" presetClass="entr" presetSubtype="0" fill="hold" nodeType="withEffect">
                                  <p:stCondLst>
                                    <p:cond delay="0"/>
                                  </p:stCondLst>
                                  <p:childTnLst>
                                    <p:set>
                                      <p:cBhvr>
                                        <p:cTn id="27" dur="1" fill="hold">
                                          <p:stCondLst>
                                            <p:cond delay="0"/>
                                          </p:stCondLst>
                                        </p:cTn>
                                        <p:tgtEl>
                                          <p:spTgt spid="2">
                                            <p:txEl>
                                              <p:pRg st="1" end="1"/>
                                            </p:txEl>
                                          </p:spTgt>
                                        </p:tgtEl>
                                        <p:attrNameLst>
                                          <p:attrName>style.visibility</p:attrName>
                                        </p:attrNameLst>
                                      </p:cBhvr>
                                      <p:to>
                                        <p:strVal val="visible"/>
                                      </p:to>
                                    </p:set>
                                    <p:animEffect transition="in" filter="dissolve">
                                      <p:cBhvr>
                                        <p:cTn id="28" dur="500"/>
                                        <p:tgtEl>
                                          <p:spTgt spid="2">
                                            <p:txEl>
                                              <p:pRg st="1" end="1"/>
                                            </p:txEl>
                                          </p:spTgt>
                                        </p:tgtEl>
                                      </p:cBhvr>
                                    </p:animEffect>
                                  </p:childTnLst>
                                </p:cTn>
                              </p:par>
                              <p:par>
                                <p:cTn id="29" presetID="9" presetClass="entr" presetSubtype="0" fill="hold" nodeType="withEffect">
                                  <p:stCondLst>
                                    <p:cond delay="0"/>
                                  </p:stCondLst>
                                  <p:childTnLst>
                                    <p:set>
                                      <p:cBhvr>
                                        <p:cTn id="30" dur="1" fill="hold">
                                          <p:stCondLst>
                                            <p:cond delay="0"/>
                                          </p:stCondLst>
                                        </p:cTn>
                                        <p:tgtEl>
                                          <p:spTgt spid="2">
                                            <p:txEl>
                                              <p:pRg st="2" end="2"/>
                                            </p:txEl>
                                          </p:spTgt>
                                        </p:tgtEl>
                                        <p:attrNameLst>
                                          <p:attrName>style.visibility</p:attrName>
                                        </p:attrNameLst>
                                      </p:cBhvr>
                                      <p:to>
                                        <p:strVal val="visible"/>
                                      </p:to>
                                    </p:set>
                                    <p:animEffect transition="in" filter="dissolve">
                                      <p:cBhvr>
                                        <p:cTn id="31" dur="500"/>
                                        <p:tgtEl>
                                          <p:spTgt spid="2">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0" fill="hold" nodeType="clickEffect">
                                  <p:stCondLst>
                                    <p:cond delay="0"/>
                                  </p:stCondLst>
                                  <p:childTnLst>
                                    <p:set>
                                      <p:cBhvr>
                                        <p:cTn id="35" dur="1" fill="hold">
                                          <p:stCondLst>
                                            <p:cond delay="0"/>
                                          </p:stCondLst>
                                        </p:cTn>
                                        <p:tgtEl>
                                          <p:spTgt spid="32794"/>
                                        </p:tgtEl>
                                        <p:attrNameLst>
                                          <p:attrName>style.visibility</p:attrName>
                                        </p:attrNameLst>
                                      </p:cBhvr>
                                      <p:to>
                                        <p:strVal val="visible"/>
                                      </p:to>
                                    </p:set>
                                    <p:anim calcmode="lin" valueType="num">
                                      <p:cBhvr>
                                        <p:cTn id="36" dur="500" fill="hold"/>
                                        <p:tgtEl>
                                          <p:spTgt spid="32794"/>
                                        </p:tgtEl>
                                        <p:attrNameLst>
                                          <p:attrName>ppt_w</p:attrName>
                                        </p:attrNameLst>
                                      </p:cBhvr>
                                      <p:tavLst>
                                        <p:tav tm="0">
                                          <p:val>
                                            <p:fltVal val="0"/>
                                          </p:val>
                                        </p:tav>
                                        <p:tav tm="100000">
                                          <p:val>
                                            <p:strVal val="#ppt_w"/>
                                          </p:val>
                                        </p:tav>
                                      </p:tavLst>
                                    </p:anim>
                                    <p:anim calcmode="lin" valueType="num">
                                      <p:cBhvr>
                                        <p:cTn id="37" dur="500" fill="hold"/>
                                        <p:tgtEl>
                                          <p:spTgt spid="32794"/>
                                        </p:tgtEl>
                                        <p:attrNameLst>
                                          <p:attrName>ppt_h</p:attrName>
                                        </p:attrNameLst>
                                      </p:cBhvr>
                                      <p:tavLst>
                                        <p:tav tm="0">
                                          <p:val>
                                            <p:fltVal val="0"/>
                                          </p:val>
                                        </p:tav>
                                        <p:tav tm="100000">
                                          <p:val>
                                            <p:strVal val="#ppt_h"/>
                                          </p:val>
                                        </p:tav>
                                      </p:tavLst>
                                    </p:anim>
                                    <p:animEffect transition="in" filter="fade">
                                      <p:cBhvr>
                                        <p:cTn id="38" dur="500"/>
                                        <p:tgtEl>
                                          <p:spTgt spid="32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p:cNvSpPr txBox="1"/>
          <p:nvPr/>
        </p:nvSpPr>
        <p:spPr>
          <a:xfrm>
            <a:off x="2123728" y="404664"/>
            <a:ext cx="5500726" cy="584775"/>
          </a:xfrm>
          <a:prstGeom prst="rect">
            <a:avLst/>
          </a:prstGeom>
          <a:solidFill>
            <a:schemeClr val="tx2">
              <a:lumMod val="75000"/>
            </a:schemeClr>
          </a:solidFill>
        </p:spPr>
        <p:txBody>
          <a:bodyPr wrap="square" rtlCol="1">
            <a:spAutoFit/>
          </a:bodyPr>
          <a:lstStyle/>
          <a:p>
            <a:pPr algn="ctr"/>
            <a:r>
              <a:rPr lang="ar-EG" sz="3200" b="1" dirty="0"/>
              <a:t>وظيفة عملية </a:t>
            </a:r>
            <a:r>
              <a:rPr lang="en-US" sz="3200" b="1" dirty="0"/>
              <a:t>Pre – Processing</a:t>
            </a:r>
            <a:endParaRPr lang="en-US" sz="3200" dirty="0"/>
          </a:p>
        </p:txBody>
      </p:sp>
      <p:sp>
        <p:nvSpPr>
          <p:cNvPr id="4" name="مربع نص 3"/>
          <p:cNvSpPr txBox="1"/>
          <p:nvPr/>
        </p:nvSpPr>
        <p:spPr>
          <a:xfrm>
            <a:off x="20867" y="1340768"/>
            <a:ext cx="8858281" cy="1384995"/>
          </a:xfrm>
          <a:prstGeom prst="rect">
            <a:avLst/>
          </a:prstGeom>
          <a:noFill/>
        </p:spPr>
        <p:txBody>
          <a:bodyPr wrap="square" rtlCol="1">
            <a:spAutoFit/>
          </a:bodyPr>
          <a:lstStyle/>
          <a:p>
            <a:pPr lvl="0"/>
            <a:r>
              <a:rPr lang="ar-EG" sz="2800" b="1" dirty="0">
                <a:solidFill>
                  <a:schemeClr val="tx2"/>
                </a:solidFill>
              </a:rPr>
              <a:t>1- تجميع البيانات واكتسابها </a:t>
            </a:r>
            <a:r>
              <a:rPr lang="en-US" sz="2800" b="1" dirty="0">
                <a:solidFill>
                  <a:schemeClr val="tx2"/>
                </a:solidFill>
              </a:rPr>
              <a:t>Data Collection  &amp; Acquisition</a:t>
            </a:r>
            <a:endParaRPr lang="en-US" sz="2400" dirty="0"/>
          </a:p>
          <a:p>
            <a:r>
              <a:rPr lang="ar-EG" sz="3200" dirty="0"/>
              <a:t>تعنى جمع أشخاص مع أعمال متقاربة ونأخذ لهم بصمة صوتية.</a:t>
            </a:r>
            <a:endParaRPr lang="en-US" sz="3200" dirty="0"/>
          </a:p>
          <a:p>
            <a:endParaRPr lang="ar-EG" sz="2400" dirty="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7" presetClass="entr" presetSubtype="0" fill="hold" nodeType="clickEffect">
                                  <p:stCondLst>
                                    <p:cond delay="0"/>
                                  </p:stCondLst>
                                  <p:iterate type="lt">
                                    <p:tmPct val="50000"/>
                                  </p:iterate>
                                  <p:childTnLst>
                                    <p:set>
                                      <p:cBhvr>
                                        <p:cTn id="12" dur="1" fill="hold">
                                          <p:stCondLst>
                                            <p:cond delay="0"/>
                                          </p:stCondLst>
                                        </p:cTn>
                                        <p:tgtEl>
                                          <p:spTgt spid="4">
                                            <p:txEl>
                                              <p:pRg st="0" end="0"/>
                                            </p:txEl>
                                          </p:spTgt>
                                        </p:tgtEl>
                                        <p:attrNameLst>
                                          <p:attrName>style.visibility</p:attrName>
                                        </p:attrNameLst>
                                      </p:cBhvr>
                                      <p:to>
                                        <p:strVal val="visible"/>
                                      </p:to>
                                    </p:set>
                                    <p:anim calcmode="discrete" valueType="clr">
                                      <p:cBhvr override="childStyle">
                                        <p:cTn id="13" dur="80"/>
                                        <p:tgtEl>
                                          <p:spTgt spid="4">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4" dur="80"/>
                                        <p:tgtEl>
                                          <p:spTgt spid="4">
                                            <p:txEl>
                                              <p:pRg st="0" end="0"/>
                                            </p:txEl>
                                          </p:spTgt>
                                        </p:tgtEl>
                                        <p:attrNameLst>
                                          <p:attrName>fillcolor</p:attrName>
                                        </p:attrNameLst>
                                      </p:cBhvr>
                                      <p:tavLst>
                                        <p:tav tm="0">
                                          <p:val>
                                            <p:clrVal>
                                              <a:schemeClr val="accent2"/>
                                            </p:clrVal>
                                          </p:val>
                                        </p:tav>
                                        <p:tav tm="50000">
                                          <p:val>
                                            <p:clrVal>
                                              <a:schemeClr val="hlink"/>
                                            </p:clrVal>
                                          </p:val>
                                        </p:tav>
                                      </p:tavLst>
                                    </p:anim>
                                    <p:set>
                                      <p:cBhvr>
                                        <p:cTn id="15" dur="80"/>
                                        <p:tgtEl>
                                          <p:spTgt spid="4">
                                            <p:txEl>
                                              <p:pRg st="0" end="0"/>
                                            </p:txEl>
                                          </p:spTgt>
                                        </p:tgtEl>
                                        <p:attrNameLst>
                                          <p:attrName>fill.type</p:attrName>
                                        </p:attrNameLst>
                                      </p:cBhvr>
                                      <p:to>
                                        <p:strVal val="solid"/>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Effect transition="in" filter="dissolve">
                                      <p:cBhvr>
                                        <p:cTn id="20"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357158" y="500042"/>
            <a:ext cx="8572528" cy="6124754"/>
          </a:xfrm>
          <a:prstGeom prst="rect">
            <a:avLst/>
          </a:prstGeom>
          <a:noFill/>
        </p:spPr>
        <p:txBody>
          <a:bodyPr wrap="square" rtlCol="1">
            <a:spAutoFit/>
          </a:bodyPr>
          <a:lstStyle/>
          <a:p>
            <a:pPr lvl="0"/>
            <a:r>
              <a:rPr lang="ar-EG" sz="3600" b="1" dirty="0">
                <a:solidFill>
                  <a:schemeClr val="tx2"/>
                </a:solidFill>
              </a:rPr>
              <a:t>2- اكتشاف المسموع والغير مسموع </a:t>
            </a:r>
            <a:r>
              <a:rPr lang="en-US" sz="3600" b="1" dirty="0">
                <a:solidFill>
                  <a:schemeClr val="tx2"/>
                </a:solidFill>
              </a:rPr>
              <a:t>Voiced &amp; Unvoiced Detection</a:t>
            </a:r>
            <a:endParaRPr lang="en-US" sz="2800" dirty="0">
              <a:solidFill>
                <a:schemeClr val="tx2"/>
              </a:solidFill>
            </a:endParaRPr>
          </a:p>
          <a:p>
            <a:r>
              <a:rPr lang="ar-EG" sz="3200" dirty="0">
                <a:solidFill>
                  <a:srgbClr val="FFFF99"/>
                </a:solidFill>
              </a:rPr>
              <a:t>من الطبيعي أن تكون لدينا في الكلام أصوات مسموعة وغير مسموعة ... عندنا مثلا حروف المد ( </a:t>
            </a:r>
            <a:r>
              <a:rPr lang="ar-EG" sz="3200" dirty="0" err="1">
                <a:solidFill>
                  <a:srgbClr val="FFFF99"/>
                </a:solidFill>
              </a:rPr>
              <a:t>ا</a:t>
            </a:r>
            <a:r>
              <a:rPr lang="ar-EG" sz="3200" dirty="0">
                <a:solidFill>
                  <a:srgbClr val="FFFF99"/>
                </a:solidFill>
              </a:rPr>
              <a:t> ، </a:t>
            </a:r>
            <a:r>
              <a:rPr lang="ar-EG" sz="3200" dirty="0" err="1">
                <a:solidFill>
                  <a:srgbClr val="FFFF99"/>
                </a:solidFill>
              </a:rPr>
              <a:t>و</a:t>
            </a:r>
            <a:r>
              <a:rPr lang="ar-EG" sz="3200" dirty="0">
                <a:solidFill>
                  <a:srgbClr val="FFFF99"/>
                </a:solidFill>
              </a:rPr>
              <a:t> ، </a:t>
            </a:r>
            <a:r>
              <a:rPr lang="ar-EG" sz="3200" dirty="0" err="1">
                <a:solidFill>
                  <a:srgbClr val="FFFF99"/>
                </a:solidFill>
              </a:rPr>
              <a:t>ى</a:t>
            </a:r>
            <a:r>
              <a:rPr lang="ar-EG" sz="3200" dirty="0">
                <a:solidFill>
                  <a:srgbClr val="FFFF99"/>
                </a:solidFill>
              </a:rPr>
              <a:t> ) نسميها حروف مسموعة حيث </a:t>
            </a:r>
            <a:r>
              <a:rPr lang="ar-EG" sz="3200" dirty="0" err="1">
                <a:solidFill>
                  <a:srgbClr val="FFFF99"/>
                </a:solidFill>
              </a:rPr>
              <a:t>ال</a:t>
            </a:r>
            <a:r>
              <a:rPr lang="ar-EG" sz="3200" dirty="0">
                <a:solidFill>
                  <a:srgbClr val="FFFF99"/>
                </a:solidFill>
              </a:rPr>
              <a:t> </a:t>
            </a:r>
            <a:r>
              <a:rPr lang="en-US" sz="3200" dirty="0">
                <a:solidFill>
                  <a:srgbClr val="FFFF99"/>
                </a:solidFill>
              </a:rPr>
              <a:t>Amplitude</a:t>
            </a:r>
            <a:r>
              <a:rPr lang="ar-EG" sz="3200" dirty="0">
                <a:solidFill>
                  <a:srgbClr val="FFFF99"/>
                </a:solidFill>
              </a:rPr>
              <a:t> لها أكبر ما يمكن وبالمقابل لدينا حروف أخرى مثل ( </a:t>
            </a:r>
            <a:r>
              <a:rPr lang="ar-EG" sz="3200" dirty="0" err="1">
                <a:solidFill>
                  <a:srgbClr val="FFFF99"/>
                </a:solidFill>
              </a:rPr>
              <a:t>س</a:t>
            </a:r>
            <a:r>
              <a:rPr lang="ar-EG" sz="3200" dirty="0">
                <a:solidFill>
                  <a:srgbClr val="FFFF99"/>
                </a:solidFill>
              </a:rPr>
              <a:t> ، </a:t>
            </a:r>
            <a:r>
              <a:rPr lang="ar-EG" sz="3200" dirty="0" err="1">
                <a:solidFill>
                  <a:srgbClr val="FFFF99"/>
                </a:solidFill>
              </a:rPr>
              <a:t>ش</a:t>
            </a:r>
            <a:r>
              <a:rPr lang="ar-EG" sz="3200" dirty="0">
                <a:solidFill>
                  <a:srgbClr val="FFFF99"/>
                </a:solidFill>
              </a:rPr>
              <a:t> ) لها أقل ما تكون وتسمى غير مسموعة  أو ليس بسبب أنها لا تسمع ولكن بسبب إننا حينما نلاحظ شكل الموجات عند النطق بهذه الحروف قريبة جدا من حالة </a:t>
            </a:r>
            <a:r>
              <a:rPr lang="ar-EG" sz="3200" dirty="0" err="1">
                <a:solidFill>
                  <a:srgbClr val="FFFF99"/>
                </a:solidFill>
              </a:rPr>
              <a:t>ال</a:t>
            </a:r>
            <a:r>
              <a:rPr lang="ar-EG" sz="3200" dirty="0">
                <a:solidFill>
                  <a:srgbClr val="FFFF99"/>
                </a:solidFill>
              </a:rPr>
              <a:t> </a:t>
            </a:r>
            <a:r>
              <a:rPr lang="en-US" sz="3200" dirty="0">
                <a:solidFill>
                  <a:srgbClr val="FFFF99"/>
                </a:solidFill>
              </a:rPr>
              <a:t>Noise</a:t>
            </a:r>
            <a:r>
              <a:rPr lang="ar-EG" sz="3200" dirty="0">
                <a:solidFill>
                  <a:srgbClr val="FFFF99"/>
                </a:solidFill>
              </a:rPr>
              <a:t> ولمعرفة الفرق بين هذه الأصوات المسموعة </a:t>
            </a:r>
            <a:r>
              <a:rPr lang="en-US" sz="3200" dirty="0">
                <a:solidFill>
                  <a:srgbClr val="FFFF99"/>
                </a:solidFill>
              </a:rPr>
              <a:t>Voiced</a:t>
            </a:r>
            <a:r>
              <a:rPr lang="ar-EG" sz="3200" dirty="0">
                <a:solidFill>
                  <a:srgbClr val="FFFF99"/>
                </a:solidFill>
              </a:rPr>
              <a:t> والغير مسموعة </a:t>
            </a:r>
            <a:r>
              <a:rPr lang="en-US" sz="3200" dirty="0">
                <a:solidFill>
                  <a:srgbClr val="FFFF99"/>
                </a:solidFill>
              </a:rPr>
              <a:t>Unvoiced</a:t>
            </a:r>
            <a:r>
              <a:rPr lang="ar-EG" sz="3200" dirty="0">
                <a:solidFill>
                  <a:srgbClr val="FFFF99"/>
                </a:solidFill>
              </a:rPr>
              <a:t> سنتطرق إلى مفهوم </a:t>
            </a:r>
            <a:r>
              <a:rPr lang="ar-EG" sz="3200" dirty="0" err="1">
                <a:solidFill>
                  <a:srgbClr val="FFFF99"/>
                </a:solidFill>
              </a:rPr>
              <a:t>ال</a:t>
            </a:r>
            <a:endParaRPr lang="en-US" sz="3200" dirty="0">
              <a:solidFill>
                <a:srgbClr val="FFFF99"/>
              </a:solidFill>
            </a:endParaRPr>
          </a:p>
          <a:p>
            <a:r>
              <a:rPr lang="en-US" sz="3200" dirty="0">
                <a:solidFill>
                  <a:srgbClr val="FFFF99"/>
                </a:solidFill>
              </a:rPr>
              <a:t>Zero Crossing </a:t>
            </a:r>
            <a:r>
              <a:rPr lang="ar-EG" sz="3200" dirty="0">
                <a:solidFill>
                  <a:srgbClr val="FFFF99"/>
                </a:solidFill>
              </a:rPr>
              <a:t> لنشاهد الفرق بين الموجات المسموعة والغير مسموعة</a:t>
            </a:r>
            <a:endParaRPr lang="en-US" sz="3200" dirty="0">
              <a:solidFill>
                <a:srgbClr val="FFFF99"/>
              </a:solidFill>
            </a:endParaRPr>
          </a:p>
        </p:txBody>
      </p:sp>
    </p:spTree>
  </p:cSld>
  <p:clrMapOvr>
    <a:masterClrMapping/>
  </p:clrMapOvr>
  <p:transition spd="slow">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edge">
                                      <p:cBhvr>
                                        <p:cTn id="7" dur="1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1000"/>
                                        <p:tgtEl>
                                          <p:spTgt spid="2">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blinds(horizontal)">
                                      <p:cBhvr>
                                        <p:cTn id="15" dur="10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07504" y="428604"/>
            <a:ext cx="8856984" cy="2369880"/>
          </a:xfrm>
          <a:prstGeom prst="rect">
            <a:avLst/>
          </a:prstGeom>
          <a:noFill/>
        </p:spPr>
        <p:txBody>
          <a:bodyPr wrap="square" rtlCol="1">
            <a:spAutoFit/>
          </a:bodyPr>
          <a:lstStyle/>
          <a:p>
            <a:pPr lvl="0"/>
            <a:r>
              <a:rPr lang="ar-EG" sz="2800" b="1" dirty="0">
                <a:solidFill>
                  <a:schemeClr val="tx2"/>
                </a:solidFill>
              </a:rPr>
              <a:t>3- تحديد بداية ونهاية الكلام المفيد </a:t>
            </a:r>
            <a:r>
              <a:rPr lang="en-US" sz="2800" b="1" dirty="0">
                <a:solidFill>
                  <a:schemeClr val="tx2"/>
                </a:solidFill>
              </a:rPr>
              <a:t>End – Point – Detection</a:t>
            </a:r>
            <a:endParaRPr lang="en-US" b="1" dirty="0"/>
          </a:p>
          <a:p>
            <a:r>
              <a:rPr lang="ar-EG" sz="2400" b="1" dirty="0">
                <a:solidFill>
                  <a:srgbClr val="FFFF99"/>
                </a:solidFill>
              </a:rPr>
              <a:t>عند النطق توجد هناك فترات توقف عن الكلام لكن فترات التوقف هذه كما قلنا تحتوى على إشارات </a:t>
            </a:r>
            <a:r>
              <a:rPr lang="en-US" sz="2400" b="1" dirty="0">
                <a:solidFill>
                  <a:srgbClr val="FFFF99"/>
                </a:solidFill>
              </a:rPr>
              <a:t>Signal</a:t>
            </a:r>
            <a:r>
              <a:rPr lang="ar-EG" sz="2400" b="1" dirty="0">
                <a:solidFill>
                  <a:srgbClr val="FFFF99"/>
                </a:solidFill>
              </a:rPr>
              <a:t>ضعيفة </a:t>
            </a:r>
            <a:r>
              <a:rPr lang="en-US" sz="2400" b="1" dirty="0">
                <a:solidFill>
                  <a:srgbClr val="FFFF99"/>
                </a:solidFill>
              </a:rPr>
              <a:t>Noise</a:t>
            </a:r>
            <a:r>
              <a:rPr lang="ar-EG" sz="2400" b="1" dirty="0">
                <a:solidFill>
                  <a:srgbClr val="FFFF99"/>
                </a:solidFill>
              </a:rPr>
              <a:t>ومن ضمن الأشياء المستهدفة </a:t>
            </a:r>
            <a:r>
              <a:rPr lang="ar-EG" sz="2400" b="1" dirty="0" err="1">
                <a:solidFill>
                  <a:srgbClr val="FFFF99"/>
                </a:solidFill>
              </a:rPr>
              <a:t>فى</a:t>
            </a:r>
            <a:r>
              <a:rPr lang="ar-EG" sz="2400" b="1" dirty="0">
                <a:solidFill>
                  <a:srgbClr val="FFFF99"/>
                </a:solidFill>
              </a:rPr>
              <a:t> المعالجة </a:t>
            </a:r>
            <a:r>
              <a:rPr lang="en-US" sz="2400" b="1" dirty="0">
                <a:solidFill>
                  <a:srgbClr val="FFFF99"/>
                </a:solidFill>
              </a:rPr>
              <a:t>Processing</a:t>
            </a:r>
            <a:r>
              <a:rPr lang="ar-EG" sz="2400" b="1" dirty="0">
                <a:solidFill>
                  <a:srgbClr val="FFFF99"/>
                </a:solidFill>
              </a:rPr>
              <a:t> وهى تقليل كميه الحسابات </a:t>
            </a:r>
            <a:r>
              <a:rPr lang="ar-EG" sz="2400" b="1" dirty="0" err="1">
                <a:solidFill>
                  <a:srgbClr val="FFFF99"/>
                </a:solidFill>
              </a:rPr>
              <a:t>والتى</a:t>
            </a:r>
            <a:r>
              <a:rPr lang="ar-EG" sz="2400" b="1" dirty="0">
                <a:solidFill>
                  <a:srgbClr val="FFFF99"/>
                </a:solidFill>
              </a:rPr>
              <a:t> تتم عن طريق التخلص من الإشارات الغير ضرورية مثل </a:t>
            </a:r>
            <a:r>
              <a:rPr lang="ar-EG" sz="2400" b="1" dirty="0" err="1">
                <a:solidFill>
                  <a:srgbClr val="FFFF99"/>
                </a:solidFill>
              </a:rPr>
              <a:t>ال</a:t>
            </a:r>
            <a:r>
              <a:rPr lang="ar-EG" sz="2400" b="1" dirty="0">
                <a:solidFill>
                  <a:srgbClr val="FFFF99"/>
                </a:solidFill>
              </a:rPr>
              <a:t> </a:t>
            </a:r>
            <a:r>
              <a:rPr lang="en-US" sz="2400" b="1" dirty="0">
                <a:solidFill>
                  <a:srgbClr val="FFFF99"/>
                </a:solidFill>
              </a:rPr>
              <a:t>Noise</a:t>
            </a:r>
            <a:r>
              <a:rPr lang="ar-EG" sz="2400" b="1" dirty="0">
                <a:solidFill>
                  <a:srgbClr val="FFFF99"/>
                </a:solidFill>
              </a:rPr>
              <a:t> وهى تتم بواسطة </a:t>
            </a:r>
            <a:r>
              <a:rPr lang="en-US" sz="2400" b="1" dirty="0">
                <a:solidFill>
                  <a:srgbClr val="FFFF99"/>
                </a:solidFill>
              </a:rPr>
              <a:t>Filter</a:t>
            </a:r>
            <a:r>
              <a:rPr lang="ar-EG" sz="2400" b="1" dirty="0">
                <a:solidFill>
                  <a:srgbClr val="FFFF99"/>
                </a:solidFill>
              </a:rPr>
              <a:t> متخصصة من </a:t>
            </a:r>
            <a:r>
              <a:rPr lang="ar-EG" sz="2400" b="1" dirty="0" err="1">
                <a:solidFill>
                  <a:srgbClr val="FFFF99"/>
                </a:solidFill>
              </a:rPr>
              <a:t>ال</a:t>
            </a:r>
            <a:r>
              <a:rPr lang="ar-EG" sz="2400" b="1" dirty="0">
                <a:solidFill>
                  <a:srgbClr val="FFFF99"/>
                </a:solidFill>
              </a:rPr>
              <a:t> </a:t>
            </a:r>
            <a:r>
              <a:rPr lang="en-US" sz="2400" b="1" dirty="0">
                <a:solidFill>
                  <a:srgbClr val="FFFF99"/>
                </a:solidFill>
              </a:rPr>
              <a:t> Noise </a:t>
            </a:r>
            <a:r>
              <a:rPr lang="ar-EG" sz="2400" b="1" dirty="0">
                <a:solidFill>
                  <a:srgbClr val="FFFF99"/>
                </a:solidFill>
              </a:rPr>
              <a:t>بطريقة معينة .</a:t>
            </a:r>
            <a:endParaRPr lang="en-US" sz="2400" b="1" dirty="0">
              <a:solidFill>
                <a:srgbClr val="FFFF99"/>
              </a:solidFill>
            </a:endParaRPr>
          </a:p>
        </p:txBody>
      </p:sp>
      <p:pic>
        <p:nvPicPr>
          <p:cNvPr id="37890" name="Picture 2"/>
          <p:cNvPicPr>
            <a:picLocks noChangeAspect="1" noChangeArrowheads="1"/>
          </p:cNvPicPr>
          <p:nvPr/>
        </p:nvPicPr>
        <p:blipFill>
          <a:blip r:embed="rId2"/>
          <a:srcRect/>
          <a:stretch>
            <a:fillRect/>
          </a:stretch>
        </p:blipFill>
        <p:spPr bwMode="auto">
          <a:xfrm>
            <a:off x="1071538" y="2714620"/>
            <a:ext cx="7429552" cy="3357586"/>
          </a:xfrm>
          <a:prstGeom prst="rect">
            <a:avLst/>
          </a:prstGeom>
          <a:noFill/>
          <a:ln w="9525">
            <a:noFill/>
            <a:miter lim="800000"/>
            <a:headEnd/>
            <a:tailEnd/>
          </a:ln>
          <a:effectLst/>
        </p:spPr>
      </p:pic>
      <p:sp>
        <p:nvSpPr>
          <p:cNvPr id="4" name="مربع نص 3"/>
          <p:cNvSpPr txBox="1"/>
          <p:nvPr/>
        </p:nvSpPr>
        <p:spPr>
          <a:xfrm>
            <a:off x="909424" y="6143644"/>
            <a:ext cx="7359707" cy="461665"/>
          </a:xfrm>
          <a:prstGeom prst="rect">
            <a:avLst/>
          </a:prstGeom>
          <a:noFill/>
        </p:spPr>
        <p:txBody>
          <a:bodyPr wrap="none" rtlCol="1">
            <a:spAutoFit/>
          </a:bodyPr>
          <a:lstStyle/>
          <a:p>
            <a:r>
              <a:rPr lang="ar-EG" sz="2400" b="1" dirty="0">
                <a:solidFill>
                  <a:schemeClr val="tx2"/>
                </a:solidFill>
              </a:rPr>
              <a:t>يتم التخلص من هذه الإشارات الضعيفة (</a:t>
            </a:r>
            <a:r>
              <a:rPr lang="en-US" sz="2400" b="1" dirty="0">
                <a:solidFill>
                  <a:schemeClr val="tx2"/>
                </a:solidFill>
              </a:rPr>
              <a:t>Noise</a:t>
            </a:r>
            <a:r>
              <a:rPr lang="ar-EG" sz="2400" b="1" dirty="0">
                <a:solidFill>
                  <a:schemeClr val="tx2"/>
                </a:solidFill>
              </a:rPr>
              <a:t>) بواسطة </a:t>
            </a:r>
            <a:r>
              <a:rPr lang="en-US" sz="2400" b="1" dirty="0">
                <a:solidFill>
                  <a:schemeClr val="tx2"/>
                </a:solidFill>
              </a:rPr>
              <a:t>Filter</a:t>
            </a:r>
            <a:r>
              <a:rPr lang="ar-EG" sz="2400" b="1" dirty="0">
                <a:solidFill>
                  <a:schemeClr val="tx2"/>
                </a:solidFill>
              </a:rPr>
              <a:t> خاصة</a:t>
            </a:r>
            <a:endParaRPr lang="en-US" sz="2400" b="1" dirty="0">
              <a:solidFill>
                <a:schemeClr val="tx2"/>
              </a:solidFill>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1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890"/>
                                        </p:tgtEl>
                                        <p:attrNameLst>
                                          <p:attrName>style.visibility</p:attrName>
                                        </p:attrNameLst>
                                      </p:cBhvr>
                                      <p:to>
                                        <p:strVal val="visible"/>
                                      </p:to>
                                    </p:set>
                                    <p:animEffect transition="in" filter="blinds(horizontal)">
                                      <p:cBhvr>
                                        <p:cTn id="17" dur="1000"/>
                                        <p:tgtEl>
                                          <p:spTgt spid="3789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box(in)">
                                      <p:cBhvr>
                                        <p:cTn id="22" dur="1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79513" y="500043"/>
            <a:ext cx="8750206" cy="2123658"/>
          </a:xfrm>
          <a:prstGeom prst="rect">
            <a:avLst/>
          </a:prstGeom>
          <a:noFill/>
        </p:spPr>
        <p:txBody>
          <a:bodyPr wrap="square" rtlCol="1">
            <a:spAutoFit/>
          </a:bodyPr>
          <a:lstStyle/>
          <a:p>
            <a:pPr lvl="0"/>
            <a:r>
              <a:rPr lang="ar-EG" sz="3200" b="1" dirty="0">
                <a:solidFill>
                  <a:schemeClr val="tx2"/>
                </a:solidFill>
              </a:rPr>
              <a:t>4</a:t>
            </a:r>
            <a:r>
              <a:rPr lang="en-US" sz="3200" b="1" dirty="0">
                <a:solidFill>
                  <a:schemeClr val="tx2"/>
                </a:solidFill>
              </a:rPr>
              <a:t>Time Wrapping  -</a:t>
            </a:r>
            <a:endParaRPr lang="en-US" dirty="0"/>
          </a:p>
          <a:p>
            <a:r>
              <a:rPr lang="ar-EG" sz="2800" dirty="0"/>
              <a:t>يتضح معنى هذا المصطلح من خلال المثال التالي :-</a:t>
            </a:r>
            <a:endParaRPr lang="en-US" sz="2000" dirty="0"/>
          </a:p>
          <a:p>
            <a:r>
              <a:rPr lang="ar-EG" sz="2400" dirty="0">
                <a:solidFill>
                  <a:srgbClr val="FFFF99"/>
                </a:solidFill>
              </a:rPr>
              <a:t>مثلا لو كان لدينا مجموعة من الطالبات نطقوا كلمه واحدة مثلا ( الحمد لله ) عندما نأخذ تسجيل الصوت لكل واحده منهن فإننا نلاحظ أن كل طالبة تنطق الكلمة في فترة متخلفة عن الأخرى كالتالي :-</a:t>
            </a:r>
            <a:endParaRPr lang="en-US" sz="2400" dirty="0">
              <a:solidFill>
                <a:srgbClr val="FFFF99"/>
              </a:solidFill>
            </a:endParaRPr>
          </a:p>
        </p:txBody>
      </p:sp>
      <p:pic>
        <p:nvPicPr>
          <p:cNvPr id="38914" name="Picture 2"/>
          <p:cNvPicPr>
            <a:picLocks noChangeAspect="1" noChangeArrowheads="1"/>
          </p:cNvPicPr>
          <p:nvPr/>
        </p:nvPicPr>
        <p:blipFill>
          <a:blip r:embed="rId2"/>
          <a:srcRect/>
          <a:stretch>
            <a:fillRect/>
          </a:stretch>
        </p:blipFill>
        <p:spPr bwMode="auto">
          <a:xfrm>
            <a:off x="1214414" y="2928934"/>
            <a:ext cx="6858048" cy="2286016"/>
          </a:xfrm>
          <a:prstGeom prst="rect">
            <a:avLst/>
          </a:prstGeom>
          <a:noFill/>
          <a:ln w="9525">
            <a:noFill/>
            <a:miter lim="800000"/>
            <a:headEnd/>
            <a:tailEnd/>
          </a:ln>
          <a:effectLst/>
        </p:spPr>
      </p:pic>
      <p:sp>
        <p:nvSpPr>
          <p:cNvPr id="4" name="مربع نص 3"/>
          <p:cNvSpPr txBox="1"/>
          <p:nvPr/>
        </p:nvSpPr>
        <p:spPr>
          <a:xfrm>
            <a:off x="179514" y="5500702"/>
            <a:ext cx="8624446" cy="1200329"/>
          </a:xfrm>
          <a:prstGeom prst="rect">
            <a:avLst/>
          </a:prstGeom>
          <a:noFill/>
        </p:spPr>
        <p:txBody>
          <a:bodyPr wrap="square" rtlCol="1">
            <a:spAutoFit/>
          </a:bodyPr>
          <a:lstStyle/>
          <a:p>
            <a:r>
              <a:rPr lang="ar-EG" sz="2400" b="1" dirty="0">
                <a:solidFill>
                  <a:srgbClr val="FFFF99"/>
                </a:solidFill>
              </a:rPr>
              <a:t>إذن الواجب علينا وضع جميع البصمات </a:t>
            </a:r>
            <a:r>
              <a:rPr lang="ar-EG" sz="2400" b="1" dirty="0" err="1">
                <a:solidFill>
                  <a:srgbClr val="FFFF99"/>
                </a:solidFill>
              </a:rPr>
              <a:t>فى</a:t>
            </a:r>
            <a:r>
              <a:rPr lang="ar-EG" sz="2400" b="1" dirty="0">
                <a:solidFill>
                  <a:srgbClr val="FFFF99"/>
                </a:solidFill>
              </a:rPr>
              <a:t> طول واحد </a:t>
            </a:r>
            <a:r>
              <a:rPr lang="ar-EG" sz="2400" b="1" dirty="0" err="1">
                <a:solidFill>
                  <a:srgbClr val="FFFF99"/>
                </a:solidFill>
              </a:rPr>
              <a:t>لكى</a:t>
            </a:r>
            <a:r>
              <a:rPr lang="ar-EG" sz="2400" b="1" dirty="0">
                <a:solidFill>
                  <a:srgbClr val="FFFF99"/>
                </a:solidFill>
              </a:rPr>
              <a:t> نستطيع التعامل معها ككلمة واحدة دون الإخلال بالكلمة وطبعا هذه لها </a:t>
            </a:r>
            <a:r>
              <a:rPr lang="ar-EG" sz="2400" b="1" dirty="0" err="1">
                <a:solidFill>
                  <a:srgbClr val="FFFF99"/>
                </a:solidFill>
              </a:rPr>
              <a:t>ميكانيزم</a:t>
            </a:r>
            <a:r>
              <a:rPr lang="ar-EG" sz="2400" b="1" dirty="0">
                <a:solidFill>
                  <a:srgbClr val="FFFF99"/>
                </a:solidFill>
              </a:rPr>
              <a:t> معين وطريقة </a:t>
            </a:r>
            <a:r>
              <a:rPr lang="en-US" sz="2400" b="1" dirty="0">
                <a:solidFill>
                  <a:srgbClr val="FFFF99"/>
                </a:solidFill>
              </a:rPr>
              <a:t>Algorithm</a:t>
            </a:r>
            <a:r>
              <a:rPr lang="ar-EG" sz="2400" b="1" dirty="0">
                <a:solidFill>
                  <a:srgbClr val="FFFF99"/>
                </a:solidFill>
              </a:rPr>
              <a:t> خاصة لهذه الإغراض ....</a:t>
            </a:r>
            <a:endParaRPr lang="en-US" sz="2400" b="1" dirty="0">
              <a:solidFill>
                <a:srgbClr val="FFFF99"/>
              </a:solidFil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ox(in)">
                                      <p:cBhvr>
                                        <p:cTn id="12" dur="2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arn(inHorizontal)">
                                      <p:cBhvr>
                                        <p:cTn id="17" dur="10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38914"/>
                                        </p:tgtEl>
                                        <p:attrNameLst>
                                          <p:attrName>style.visibility</p:attrName>
                                        </p:attrNameLst>
                                      </p:cBhvr>
                                      <p:to>
                                        <p:strVal val="visible"/>
                                      </p:to>
                                    </p:set>
                                    <p:animEffect transition="in" filter="diamond(in)">
                                      <p:cBhvr>
                                        <p:cTn id="22" dur="2000"/>
                                        <p:tgtEl>
                                          <p:spTgt spid="38914"/>
                                        </p:tgtEl>
                                      </p:cBhvr>
                                    </p:animEffect>
                                  </p:childTnLst>
                                </p:cTn>
                              </p:par>
                            </p:childTnLst>
                          </p:cTn>
                        </p:par>
                      </p:childTnLst>
                    </p:cTn>
                  </p:par>
                  <p:par>
                    <p:cTn id="23" fill="hold">
                      <p:stCondLst>
                        <p:cond delay="indefinite"/>
                      </p:stCondLst>
                      <p:childTnLst>
                        <p:par>
                          <p:cTn id="24" fill="hold">
                            <p:stCondLst>
                              <p:cond delay="0"/>
                            </p:stCondLst>
                            <p:childTnLst>
                              <p:par>
                                <p:cTn id="25" presetID="7" presetClass="entr" presetSubtype="8"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 calcmode="lin" valueType="num">
                                      <p:cBhvr additive="base">
                                        <p:cTn id="27" dur="20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28" dur="20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p:cNvSpPr txBox="1"/>
          <p:nvPr/>
        </p:nvSpPr>
        <p:spPr>
          <a:xfrm>
            <a:off x="357158" y="214290"/>
            <a:ext cx="8501123" cy="3231654"/>
          </a:xfrm>
          <a:prstGeom prst="rect">
            <a:avLst/>
          </a:prstGeom>
          <a:noFill/>
        </p:spPr>
        <p:txBody>
          <a:bodyPr wrap="square" rtlCol="1">
            <a:spAutoFit/>
          </a:bodyPr>
          <a:lstStyle/>
          <a:p>
            <a:pPr lvl="0"/>
            <a:r>
              <a:rPr lang="ar-EG" sz="3600" b="1" dirty="0">
                <a:solidFill>
                  <a:schemeClr val="tx2"/>
                </a:solidFill>
              </a:rPr>
              <a:t>5- </a:t>
            </a:r>
            <a:r>
              <a:rPr lang="en-US" sz="3600" b="1" dirty="0" err="1">
                <a:solidFill>
                  <a:schemeClr val="tx2"/>
                </a:solidFill>
              </a:rPr>
              <a:t>Framming</a:t>
            </a:r>
            <a:endParaRPr lang="en-US" sz="2000" dirty="0"/>
          </a:p>
          <a:p>
            <a:r>
              <a:rPr lang="ar-EG" sz="2400" dirty="0">
                <a:solidFill>
                  <a:srgbClr val="FFFF99"/>
                </a:solidFill>
              </a:rPr>
              <a:t>مثلا أثناء النطق بحرف معين فانه خلال فترة زمنية بسيطة جدا ستكون أعضاء النطق فى ثبات غير ملحوظ وهذه الفترة هى 20 ملى ثانية ، إذن ال </a:t>
            </a:r>
            <a:r>
              <a:rPr lang="en-US" sz="2400" dirty="0">
                <a:solidFill>
                  <a:srgbClr val="FFFF99"/>
                </a:solidFill>
              </a:rPr>
              <a:t>Speech</a:t>
            </a:r>
            <a:r>
              <a:rPr lang="ar-EG" sz="2400" dirty="0">
                <a:solidFill>
                  <a:srgbClr val="FFFF99"/>
                </a:solidFill>
              </a:rPr>
              <a:t> يحدث فيها ثبات كل (20 ملى ثانية) وهى فترة صغيرة جدا تكاد لا تذكر ، وبالتالى فإننا سوف نقسم ال </a:t>
            </a:r>
            <a:r>
              <a:rPr lang="en-US" sz="2400" dirty="0">
                <a:solidFill>
                  <a:srgbClr val="FFFF99"/>
                </a:solidFill>
              </a:rPr>
              <a:t>Speech</a:t>
            </a:r>
            <a:r>
              <a:rPr lang="ar-EG" sz="2400" dirty="0">
                <a:solidFill>
                  <a:srgbClr val="FFFF99"/>
                </a:solidFill>
              </a:rPr>
              <a:t> إلى مجموعه من ال </a:t>
            </a:r>
            <a:r>
              <a:rPr lang="en-US" sz="2400" dirty="0">
                <a:solidFill>
                  <a:srgbClr val="FFFF99"/>
                </a:solidFill>
              </a:rPr>
              <a:t>Frames</a:t>
            </a:r>
            <a:r>
              <a:rPr lang="ar-EG" sz="2400" dirty="0">
                <a:solidFill>
                  <a:srgbClr val="FFFF99"/>
                </a:solidFill>
              </a:rPr>
              <a:t> بحيث أن كل </a:t>
            </a:r>
            <a:r>
              <a:rPr lang="en-US" sz="2400" dirty="0">
                <a:solidFill>
                  <a:srgbClr val="FFFF99"/>
                </a:solidFill>
              </a:rPr>
              <a:t>Frames</a:t>
            </a:r>
            <a:r>
              <a:rPr lang="ar-EG" sz="2400" dirty="0">
                <a:solidFill>
                  <a:srgbClr val="FFFF99"/>
                </a:solidFill>
              </a:rPr>
              <a:t> عبارة عن (20 ثانية) ثم نأخذ من كل </a:t>
            </a:r>
            <a:r>
              <a:rPr lang="en-US" sz="2400" dirty="0">
                <a:solidFill>
                  <a:srgbClr val="FFFF99"/>
                </a:solidFill>
              </a:rPr>
              <a:t>Frames</a:t>
            </a:r>
            <a:r>
              <a:rPr lang="ar-EG" sz="2400" dirty="0">
                <a:solidFill>
                  <a:srgbClr val="FFFF99"/>
                </a:solidFill>
              </a:rPr>
              <a:t> عينة تعبر عن خصائص هذا ال </a:t>
            </a:r>
            <a:r>
              <a:rPr lang="en-US" sz="2400" dirty="0">
                <a:solidFill>
                  <a:srgbClr val="FFFF99"/>
                </a:solidFill>
              </a:rPr>
              <a:t>Frames</a:t>
            </a:r>
            <a:r>
              <a:rPr lang="ar-EG" sz="2400" dirty="0">
                <a:solidFill>
                  <a:srgbClr val="FFFF99"/>
                </a:solidFill>
              </a:rPr>
              <a:t> وذلك بدل أن نأخذ ال </a:t>
            </a:r>
            <a:r>
              <a:rPr lang="en-US" sz="2400" dirty="0">
                <a:solidFill>
                  <a:srgbClr val="FFFF99"/>
                </a:solidFill>
              </a:rPr>
              <a:t>Frames</a:t>
            </a:r>
            <a:r>
              <a:rPr lang="ar-EG" sz="2400" dirty="0">
                <a:solidFill>
                  <a:srgbClr val="FFFF99"/>
                </a:solidFill>
              </a:rPr>
              <a:t> بكاملة وهذا مما يقل الحسابات أثناء المعالجة ومما أيضا من المعالجة.</a:t>
            </a:r>
            <a:endParaRPr lang="en-US" sz="2400" dirty="0">
              <a:solidFill>
                <a:srgbClr val="FFFF99"/>
              </a:solidFill>
            </a:endParaRPr>
          </a:p>
        </p:txBody>
      </p:sp>
      <p:pic>
        <p:nvPicPr>
          <p:cNvPr id="39938" name="Picture 2"/>
          <p:cNvPicPr>
            <a:picLocks noChangeAspect="1" noChangeArrowheads="1"/>
          </p:cNvPicPr>
          <p:nvPr/>
        </p:nvPicPr>
        <p:blipFill>
          <a:blip r:embed="rId2"/>
          <a:srcRect/>
          <a:stretch>
            <a:fillRect/>
          </a:stretch>
        </p:blipFill>
        <p:spPr bwMode="auto">
          <a:xfrm>
            <a:off x="642910" y="3068960"/>
            <a:ext cx="7215239" cy="2589183"/>
          </a:xfrm>
          <a:prstGeom prst="rect">
            <a:avLst/>
          </a:prstGeom>
          <a:noFill/>
          <a:ln w="9525">
            <a:noFill/>
            <a:miter lim="800000"/>
            <a:headEnd/>
            <a:tailEnd/>
          </a:ln>
          <a:effectLst/>
        </p:spPr>
      </p:pic>
      <p:sp>
        <p:nvSpPr>
          <p:cNvPr id="7" name="مربع نص 6"/>
          <p:cNvSpPr txBox="1"/>
          <p:nvPr/>
        </p:nvSpPr>
        <p:spPr>
          <a:xfrm>
            <a:off x="142844" y="5857892"/>
            <a:ext cx="8400103" cy="830997"/>
          </a:xfrm>
          <a:prstGeom prst="rect">
            <a:avLst/>
          </a:prstGeom>
          <a:noFill/>
        </p:spPr>
        <p:txBody>
          <a:bodyPr wrap="square" rtlCol="1">
            <a:spAutoFit/>
          </a:bodyPr>
          <a:lstStyle/>
          <a:p>
            <a:pPr algn="r"/>
            <a:r>
              <a:rPr lang="ar-EG" sz="2400" dirty="0">
                <a:solidFill>
                  <a:srgbClr val="FFFF99"/>
                </a:solidFill>
              </a:rPr>
              <a:t> فترات ثبات قمنا بتقسيمها إلى مجموعة إطارات </a:t>
            </a:r>
            <a:r>
              <a:rPr lang="en-US" sz="2400" dirty="0">
                <a:solidFill>
                  <a:srgbClr val="FFFF99"/>
                </a:solidFill>
              </a:rPr>
              <a:t>frames</a:t>
            </a:r>
            <a:r>
              <a:rPr lang="ar-EG" sz="2400" dirty="0">
                <a:solidFill>
                  <a:srgbClr val="FFFF99"/>
                </a:solidFill>
              </a:rPr>
              <a:t> ثم سنأخذ من كل </a:t>
            </a:r>
            <a:r>
              <a:rPr lang="en-US" sz="2400" dirty="0">
                <a:solidFill>
                  <a:srgbClr val="FFFF99"/>
                </a:solidFill>
              </a:rPr>
              <a:t>frame</a:t>
            </a:r>
            <a:r>
              <a:rPr lang="ar-EG" sz="2400" dirty="0">
                <a:solidFill>
                  <a:srgbClr val="FFFF99"/>
                </a:solidFill>
              </a:rPr>
              <a:t> عينة تعبر عنه بدل ما نأخذ الإشارة بكاملها</a:t>
            </a:r>
          </a:p>
        </p:txBody>
      </p:sp>
    </p:spTree>
  </p:cSld>
  <p:clrMapOvr>
    <a:masterClrMapping/>
  </p:clrMapOvr>
  <p:transition spd="slow">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Horizontal)">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9938"/>
                                        </p:tgtEl>
                                        <p:attrNameLst>
                                          <p:attrName>style.visibility</p:attrName>
                                        </p:attrNameLst>
                                      </p:cBhvr>
                                      <p:to>
                                        <p:strVal val="visible"/>
                                      </p:to>
                                    </p:set>
                                    <p:animEffect transition="in" filter="circle(in)">
                                      <p:cBhvr>
                                        <p:cTn id="17" dur="2000"/>
                                        <p:tgtEl>
                                          <p:spTgt spid="3993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blinds(horizontal)">
                                      <p:cBhvr>
                                        <p:cTn id="22" dur="1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0" y="116632"/>
            <a:ext cx="8964487" cy="3231654"/>
          </a:xfrm>
          <a:prstGeom prst="rect">
            <a:avLst/>
          </a:prstGeom>
          <a:noFill/>
        </p:spPr>
        <p:txBody>
          <a:bodyPr wrap="square" rtlCol="1">
            <a:spAutoFit/>
          </a:bodyPr>
          <a:lstStyle/>
          <a:p>
            <a:pPr lvl="0"/>
            <a:r>
              <a:rPr lang="ar-EG" sz="3600" b="1" dirty="0">
                <a:solidFill>
                  <a:schemeClr val="tx2"/>
                </a:solidFill>
              </a:rPr>
              <a:t>6-  </a:t>
            </a:r>
            <a:r>
              <a:rPr lang="en-US" sz="3600" b="1" dirty="0">
                <a:solidFill>
                  <a:schemeClr val="tx2"/>
                </a:solidFill>
              </a:rPr>
              <a:t>Windowing</a:t>
            </a:r>
            <a:endParaRPr lang="en-US" sz="2000" dirty="0"/>
          </a:p>
          <a:p>
            <a:r>
              <a:rPr lang="ar-EG" sz="2800" dirty="0">
                <a:solidFill>
                  <a:srgbClr val="FFFF99"/>
                </a:solidFill>
              </a:rPr>
              <a:t>بواسطة هذه المرحلة يتم التقليل من نسبة الخطأ </a:t>
            </a:r>
            <a:r>
              <a:rPr lang="ar-EG" sz="2800" dirty="0" err="1">
                <a:solidFill>
                  <a:srgbClr val="FFFF99"/>
                </a:solidFill>
              </a:rPr>
              <a:t>التى</a:t>
            </a:r>
            <a:r>
              <a:rPr lang="ar-EG" sz="2800" dirty="0">
                <a:solidFill>
                  <a:srgbClr val="FFFF99"/>
                </a:solidFill>
              </a:rPr>
              <a:t> قد تحدث نتيجة تقسيم موجات الكلام إلى </a:t>
            </a:r>
            <a:r>
              <a:rPr lang="en-US" sz="2800" dirty="0">
                <a:solidFill>
                  <a:srgbClr val="FFFF99"/>
                </a:solidFill>
              </a:rPr>
              <a:t>Frames</a:t>
            </a:r>
            <a:r>
              <a:rPr lang="ar-EG" sz="2800" dirty="0">
                <a:solidFill>
                  <a:srgbClr val="FFFF99"/>
                </a:solidFill>
              </a:rPr>
              <a:t>الأول ثم أخذ العينات ..... وطريقتها </a:t>
            </a:r>
            <a:r>
              <a:rPr lang="ar-EG" sz="2800" dirty="0" err="1">
                <a:solidFill>
                  <a:srgbClr val="FFFF99"/>
                </a:solidFill>
              </a:rPr>
              <a:t>هى</a:t>
            </a:r>
            <a:r>
              <a:rPr lang="ar-EG" sz="2800" dirty="0">
                <a:solidFill>
                  <a:srgbClr val="FFFF99"/>
                </a:solidFill>
              </a:rPr>
              <a:t> أنه يتم عمل </a:t>
            </a:r>
            <a:r>
              <a:rPr lang="en-US" sz="2800" b="1" dirty="0">
                <a:solidFill>
                  <a:srgbClr val="FFFF99"/>
                </a:solidFill>
              </a:rPr>
              <a:t>windowing</a:t>
            </a:r>
            <a:r>
              <a:rPr lang="ar-EG" sz="2800" dirty="0">
                <a:solidFill>
                  <a:srgbClr val="FFFF99"/>
                </a:solidFill>
              </a:rPr>
              <a:t> على </a:t>
            </a:r>
            <a:r>
              <a:rPr lang="ar-EG" sz="2800" dirty="0" err="1">
                <a:solidFill>
                  <a:srgbClr val="FFFF99"/>
                </a:solidFill>
              </a:rPr>
              <a:t>ال</a:t>
            </a:r>
            <a:r>
              <a:rPr lang="ar-EG" sz="2800" dirty="0">
                <a:solidFill>
                  <a:srgbClr val="FFFF99"/>
                </a:solidFill>
              </a:rPr>
              <a:t> </a:t>
            </a:r>
            <a:r>
              <a:rPr lang="en-US" sz="2800" dirty="0">
                <a:solidFill>
                  <a:srgbClr val="FFFF99"/>
                </a:solidFill>
              </a:rPr>
              <a:t>Frame</a:t>
            </a:r>
            <a:r>
              <a:rPr lang="ar-EG" sz="2800" dirty="0">
                <a:solidFill>
                  <a:srgbClr val="FFFF99"/>
                </a:solidFill>
              </a:rPr>
              <a:t> الأول ثم أخر على </a:t>
            </a:r>
            <a:r>
              <a:rPr lang="ar-EG" sz="2800" dirty="0" err="1">
                <a:solidFill>
                  <a:srgbClr val="FFFF99"/>
                </a:solidFill>
              </a:rPr>
              <a:t>ال</a:t>
            </a:r>
            <a:r>
              <a:rPr lang="ar-EG" sz="2800" dirty="0">
                <a:solidFill>
                  <a:srgbClr val="FFFF99"/>
                </a:solidFill>
              </a:rPr>
              <a:t> </a:t>
            </a:r>
            <a:r>
              <a:rPr lang="en-US" sz="2800" dirty="0">
                <a:solidFill>
                  <a:srgbClr val="FFFF99"/>
                </a:solidFill>
              </a:rPr>
              <a:t>Frame</a:t>
            </a:r>
            <a:r>
              <a:rPr lang="ar-EG" sz="2800" dirty="0">
                <a:solidFill>
                  <a:srgbClr val="FFFF99"/>
                </a:solidFill>
              </a:rPr>
              <a:t> </a:t>
            </a:r>
            <a:r>
              <a:rPr lang="ar-EG" sz="2800" dirty="0" err="1">
                <a:solidFill>
                  <a:srgbClr val="FFFF99"/>
                </a:solidFill>
              </a:rPr>
              <a:t>الثانى</a:t>
            </a:r>
            <a:r>
              <a:rPr lang="ar-EG" sz="2800" dirty="0">
                <a:solidFill>
                  <a:srgbClr val="FFFF99"/>
                </a:solidFill>
              </a:rPr>
              <a:t> وهكذا والهدف منها كما قلنا نسبة الخطأ وتتقاطع هذه النوافذ </a:t>
            </a:r>
            <a:r>
              <a:rPr lang="ar-EG" sz="2800" dirty="0" err="1">
                <a:solidFill>
                  <a:srgbClr val="FFFF99"/>
                </a:solidFill>
              </a:rPr>
              <a:t>ال</a:t>
            </a:r>
            <a:r>
              <a:rPr lang="ar-EG" sz="2800" dirty="0">
                <a:solidFill>
                  <a:srgbClr val="FFFF99"/>
                </a:solidFill>
              </a:rPr>
              <a:t> </a:t>
            </a:r>
            <a:r>
              <a:rPr lang="en-US" sz="2800" b="1" dirty="0">
                <a:solidFill>
                  <a:srgbClr val="FFFF99"/>
                </a:solidFill>
              </a:rPr>
              <a:t>windowing</a:t>
            </a:r>
            <a:r>
              <a:rPr lang="ar-EG" sz="2800" dirty="0">
                <a:solidFill>
                  <a:srgbClr val="FFFF99"/>
                </a:solidFill>
              </a:rPr>
              <a:t> بنسبة </a:t>
            </a:r>
            <a:r>
              <a:rPr lang="en-US" sz="2800" dirty="0">
                <a:solidFill>
                  <a:srgbClr val="FFFF99"/>
                </a:solidFill>
              </a:rPr>
              <a:t>50</a:t>
            </a:r>
            <a:r>
              <a:rPr lang="ar-EG" sz="2800" dirty="0">
                <a:solidFill>
                  <a:srgbClr val="FFFF99"/>
                </a:solidFill>
              </a:rPr>
              <a:t>% يعنى نأخذ </a:t>
            </a:r>
            <a:r>
              <a:rPr lang="en-US" sz="2800" dirty="0">
                <a:solidFill>
                  <a:srgbClr val="FFFF99"/>
                </a:solidFill>
              </a:rPr>
              <a:t>50</a:t>
            </a:r>
            <a:r>
              <a:rPr lang="ar-EG" sz="2800" dirty="0">
                <a:solidFill>
                  <a:srgbClr val="FFFF99"/>
                </a:solidFill>
              </a:rPr>
              <a:t>% من </a:t>
            </a:r>
            <a:r>
              <a:rPr lang="ar-EG" sz="2800" dirty="0" err="1">
                <a:solidFill>
                  <a:srgbClr val="FFFF99"/>
                </a:solidFill>
              </a:rPr>
              <a:t>ال</a:t>
            </a:r>
            <a:r>
              <a:rPr lang="ar-EG" sz="2800" dirty="0">
                <a:solidFill>
                  <a:srgbClr val="FFFF99"/>
                </a:solidFill>
              </a:rPr>
              <a:t> </a:t>
            </a:r>
            <a:r>
              <a:rPr lang="en-US" sz="2800" dirty="0">
                <a:solidFill>
                  <a:srgbClr val="FFFF99"/>
                </a:solidFill>
              </a:rPr>
              <a:t>Frame</a:t>
            </a:r>
            <a:r>
              <a:rPr lang="ar-EG" sz="2800" dirty="0">
                <a:solidFill>
                  <a:srgbClr val="FFFF99"/>
                </a:solidFill>
              </a:rPr>
              <a:t> الأول </a:t>
            </a:r>
            <a:r>
              <a:rPr lang="ar-EG" sz="2800" dirty="0" err="1">
                <a:solidFill>
                  <a:srgbClr val="FFFF99"/>
                </a:solidFill>
              </a:rPr>
              <a:t>و</a:t>
            </a:r>
            <a:r>
              <a:rPr lang="en-US" sz="2800" dirty="0">
                <a:solidFill>
                  <a:srgbClr val="FFFF99"/>
                </a:solidFill>
              </a:rPr>
              <a:t>50</a:t>
            </a:r>
            <a:r>
              <a:rPr lang="ar-EG" sz="2800" dirty="0">
                <a:solidFill>
                  <a:srgbClr val="FFFF99"/>
                </a:solidFill>
              </a:rPr>
              <a:t>% من </a:t>
            </a:r>
            <a:r>
              <a:rPr lang="ar-EG" sz="2800" dirty="0" err="1">
                <a:solidFill>
                  <a:srgbClr val="FFFF99"/>
                </a:solidFill>
              </a:rPr>
              <a:t>الثانى</a:t>
            </a:r>
            <a:r>
              <a:rPr lang="ar-EG" sz="2800" dirty="0">
                <a:solidFill>
                  <a:srgbClr val="FFFF99"/>
                </a:solidFill>
              </a:rPr>
              <a:t> وهكذا كما بالشكل </a:t>
            </a:r>
            <a:r>
              <a:rPr lang="ar-EG" sz="2800" dirty="0" err="1">
                <a:solidFill>
                  <a:srgbClr val="FFFF99"/>
                </a:solidFill>
              </a:rPr>
              <a:t>التالى</a:t>
            </a:r>
            <a:r>
              <a:rPr lang="ar-EG" sz="2800" dirty="0">
                <a:solidFill>
                  <a:srgbClr val="FFFF99"/>
                </a:solidFill>
              </a:rPr>
              <a:t> :-</a:t>
            </a:r>
            <a:endParaRPr lang="en-US" sz="2800" dirty="0">
              <a:solidFill>
                <a:srgbClr val="FFFF99"/>
              </a:solidFill>
            </a:endParaRPr>
          </a:p>
        </p:txBody>
      </p:sp>
      <p:pic>
        <p:nvPicPr>
          <p:cNvPr id="43010" name="Picture 2"/>
          <p:cNvPicPr>
            <a:picLocks noChangeAspect="1" noChangeArrowheads="1"/>
          </p:cNvPicPr>
          <p:nvPr/>
        </p:nvPicPr>
        <p:blipFill>
          <a:blip r:embed="rId2"/>
          <a:srcRect/>
          <a:stretch>
            <a:fillRect/>
          </a:stretch>
        </p:blipFill>
        <p:spPr bwMode="auto">
          <a:xfrm>
            <a:off x="500034" y="3429000"/>
            <a:ext cx="8072495" cy="3214710"/>
          </a:xfrm>
          <a:prstGeom prst="rect">
            <a:avLst/>
          </a:prstGeom>
          <a:noFill/>
          <a:ln w="9525">
            <a:noFill/>
            <a:miter lim="800000"/>
            <a:headEnd/>
            <a:tailEnd/>
          </a:ln>
          <a:effectLst/>
        </p:spPr>
      </p:pic>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anim calcmode="lin" valueType="num">
                                      <p:cBhvr>
                                        <p:cTn id="8" dur="2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800" decel="100000" fill="hold"/>
                                        <p:tgtEl>
                                          <p:spTgt spid="2">
                                            <p:txEl>
                                              <p:pRg st="0" end="0"/>
                                            </p:txEl>
                                          </p:spTgt>
                                        </p:tgtEl>
                                        <p:attrNameLst>
                                          <p:attrName>ppt_y</p:attrName>
                                        </p:attrNameLst>
                                      </p:cBhvr>
                                      <p:tavLst>
                                        <p:tav tm="0">
                                          <p:val>
                                            <p:strVal val="#ppt_y+1"/>
                                          </p:val>
                                        </p:tav>
                                        <p:tav tm="100000">
                                          <p:val>
                                            <p:strVal val="#ppt_y-.03"/>
                                          </p:val>
                                        </p:tav>
                                      </p:tavLst>
                                    </p:anim>
                                    <p:anim calcmode="lin" valueType="num">
                                      <p:cBhvr>
                                        <p:cTn id="10" dur="200" accel="100000" fill="hold">
                                          <p:stCondLst>
                                            <p:cond delay="1800"/>
                                          </p:stCondLst>
                                        </p:cTn>
                                        <p:tgtEl>
                                          <p:spTgt spid="2">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5"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 calcmode="lin" valueType="num">
                                      <p:cBhvr>
                                        <p:cTn id="15" dur="500" decel="50000" fill="hold">
                                          <p:stCondLst>
                                            <p:cond delay="0"/>
                                          </p:stCondLst>
                                        </p:cTn>
                                        <p:tgtEl>
                                          <p:spTgt spid="2">
                                            <p:txEl>
                                              <p:pRg st="1" end="1"/>
                                            </p:txEl>
                                          </p:spTgt>
                                        </p:tgtEl>
                                        <p:attrNameLst>
                                          <p:attrName>style.rotation</p:attrName>
                                        </p:attrNameLst>
                                      </p:cBhvr>
                                      <p:tavLst>
                                        <p:tav tm="0">
                                          <p:val>
                                            <p:fltVal val="-90"/>
                                          </p:val>
                                        </p:tav>
                                        <p:tav tm="100000">
                                          <p:val>
                                            <p:fltVal val="0"/>
                                          </p:val>
                                        </p:tav>
                                      </p:tavLst>
                                    </p:anim>
                                    <p:anim calcmode="lin" valueType="num">
                                      <p:cBhvr>
                                        <p:cTn id="16" dur="500" decel="50000" fill="hold">
                                          <p:stCondLst>
                                            <p:cond delay="0"/>
                                          </p:stCondLst>
                                        </p:cTn>
                                        <p:tgtEl>
                                          <p:spTgt spid="2">
                                            <p:txEl>
                                              <p:pRg st="1" end="1"/>
                                            </p:txEl>
                                          </p:spTgt>
                                        </p:tgtEl>
                                        <p:attrNameLst>
                                          <p:attrName>ppt_w</p:attrName>
                                        </p:attrNameLst>
                                      </p:cBhvr>
                                      <p:tavLst>
                                        <p:tav tm="0">
                                          <p:val>
                                            <p:strVal val="#ppt_w"/>
                                          </p:val>
                                        </p:tav>
                                        <p:tav tm="100000">
                                          <p:val>
                                            <p:strVal val="#ppt_w*.05"/>
                                          </p:val>
                                        </p:tav>
                                      </p:tavLst>
                                    </p:anim>
                                    <p:anim calcmode="lin" valueType="num">
                                      <p:cBhvr>
                                        <p:cTn id="17" dur="500" accel="50000" fill="hold">
                                          <p:stCondLst>
                                            <p:cond delay="500"/>
                                          </p:stCondLst>
                                        </p:cTn>
                                        <p:tgtEl>
                                          <p:spTgt spid="2">
                                            <p:txEl>
                                              <p:pRg st="1" end="1"/>
                                            </p:txEl>
                                          </p:spTgt>
                                        </p:tgtEl>
                                        <p:attrNameLst>
                                          <p:attrName>ppt_w</p:attrName>
                                        </p:attrNameLst>
                                      </p:cBhvr>
                                      <p:tavLst>
                                        <p:tav tm="0">
                                          <p:val>
                                            <p:strVal val="#ppt_w*.05"/>
                                          </p:val>
                                        </p:tav>
                                        <p:tav tm="100000">
                                          <p:val>
                                            <p:strVal val="#ppt_w"/>
                                          </p:val>
                                        </p:tav>
                                      </p:tavLst>
                                    </p:anim>
                                    <p:anim calcmode="lin" valueType="num">
                                      <p:cBhvr>
                                        <p:cTn id="18" dur="1000" fill="hold"/>
                                        <p:tgtEl>
                                          <p:spTgt spid="2">
                                            <p:txEl>
                                              <p:pRg st="1" end="1"/>
                                            </p:txEl>
                                          </p:spTgt>
                                        </p:tgtEl>
                                        <p:attrNameLst>
                                          <p:attrName>ppt_h</p:attrName>
                                        </p:attrNameLst>
                                      </p:cBhvr>
                                      <p:tavLst>
                                        <p:tav tm="0">
                                          <p:val>
                                            <p:strVal val="#ppt_h"/>
                                          </p:val>
                                        </p:tav>
                                        <p:tav tm="100000">
                                          <p:val>
                                            <p:strVal val="#ppt_h"/>
                                          </p:val>
                                        </p:tav>
                                      </p:tavLst>
                                    </p:anim>
                                    <p:anim calcmode="lin" valueType="num">
                                      <p:cBhvr>
                                        <p:cTn id="19" dur="500" decel="50000" fill="hold">
                                          <p:stCondLst>
                                            <p:cond delay="0"/>
                                          </p:stCondLst>
                                        </p:cTn>
                                        <p:tgtEl>
                                          <p:spTgt spid="2">
                                            <p:txEl>
                                              <p:pRg st="1" end="1"/>
                                            </p:txEl>
                                          </p:spTgt>
                                        </p:tgtEl>
                                        <p:attrNameLst>
                                          <p:attrName>ppt_x</p:attrName>
                                        </p:attrNameLst>
                                      </p:cBhvr>
                                      <p:tavLst>
                                        <p:tav tm="0">
                                          <p:val>
                                            <p:strVal val="#ppt_x+.4"/>
                                          </p:val>
                                        </p:tav>
                                        <p:tav tm="100000">
                                          <p:val>
                                            <p:strVal val="#ppt_x"/>
                                          </p:val>
                                        </p:tav>
                                      </p:tavLst>
                                    </p:anim>
                                    <p:anim calcmode="lin" valueType="num">
                                      <p:cBhvr>
                                        <p:cTn id="20" dur="500" decel="50000" fill="hold">
                                          <p:stCondLst>
                                            <p:cond delay="0"/>
                                          </p:stCondLst>
                                        </p:cTn>
                                        <p:tgtEl>
                                          <p:spTgt spid="2">
                                            <p:txEl>
                                              <p:pRg st="1" end="1"/>
                                            </p:txEl>
                                          </p:spTgt>
                                        </p:tgtEl>
                                        <p:attrNameLst>
                                          <p:attrName>ppt_y</p:attrName>
                                        </p:attrNameLst>
                                      </p:cBhvr>
                                      <p:tavLst>
                                        <p:tav tm="0">
                                          <p:val>
                                            <p:strVal val="#ppt_y-.2"/>
                                          </p:val>
                                        </p:tav>
                                        <p:tav tm="100000">
                                          <p:val>
                                            <p:strVal val="#ppt_y+.1"/>
                                          </p:val>
                                        </p:tav>
                                      </p:tavLst>
                                    </p:anim>
                                    <p:anim calcmode="lin" valueType="num">
                                      <p:cBhvr>
                                        <p:cTn id="21" dur="500" accel="50000" fill="hold">
                                          <p:stCondLst>
                                            <p:cond delay="500"/>
                                          </p:stCondLst>
                                        </p:cTn>
                                        <p:tgtEl>
                                          <p:spTgt spid="2">
                                            <p:txEl>
                                              <p:pRg st="1" end="1"/>
                                            </p:txEl>
                                          </p:spTgt>
                                        </p:tgtEl>
                                        <p:attrNameLst>
                                          <p:attrName>ppt_y</p:attrName>
                                        </p:attrNameLst>
                                      </p:cBhvr>
                                      <p:tavLst>
                                        <p:tav tm="0">
                                          <p:val>
                                            <p:strVal val="#ppt_y+.1"/>
                                          </p:val>
                                        </p:tav>
                                        <p:tav tm="100000">
                                          <p:val>
                                            <p:strVal val="#ppt_y"/>
                                          </p:val>
                                        </p:tav>
                                      </p:tavLst>
                                    </p:anim>
                                    <p:animEffect transition="in" filter="fade">
                                      <p:cBhvr>
                                        <p:cTn id="22" dur="1000" decel="50000">
                                          <p:stCondLst>
                                            <p:cond delay="0"/>
                                          </p:stCondLst>
                                        </p:cTn>
                                        <p:tgtEl>
                                          <p:spTgt spid="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0" presetClass="entr" presetSubtype="0" decel="100000" fill="hold" nodeType="clickEffect">
                                  <p:stCondLst>
                                    <p:cond delay="0"/>
                                  </p:stCondLst>
                                  <p:childTnLst>
                                    <p:set>
                                      <p:cBhvr>
                                        <p:cTn id="26" dur="1" fill="hold">
                                          <p:stCondLst>
                                            <p:cond delay="0"/>
                                          </p:stCondLst>
                                        </p:cTn>
                                        <p:tgtEl>
                                          <p:spTgt spid="43010"/>
                                        </p:tgtEl>
                                        <p:attrNameLst>
                                          <p:attrName>style.visibility</p:attrName>
                                        </p:attrNameLst>
                                      </p:cBhvr>
                                      <p:to>
                                        <p:strVal val="visible"/>
                                      </p:to>
                                    </p:set>
                                    <p:anim calcmode="lin" valueType="num">
                                      <p:cBhvr>
                                        <p:cTn id="27" dur="1000" fill="hold"/>
                                        <p:tgtEl>
                                          <p:spTgt spid="43010"/>
                                        </p:tgtEl>
                                        <p:attrNameLst>
                                          <p:attrName>ppt_w</p:attrName>
                                        </p:attrNameLst>
                                      </p:cBhvr>
                                      <p:tavLst>
                                        <p:tav tm="0">
                                          <p:val>
                                            <p:strVal val="#ppt_w+.3"/>
                                          </p:val>
                                        </p:tav>
                                        <p:tav tm="100000">
                                          <p:val>
                                            <p:strVal val="#ppt_w"/>
                                          </p:val>
                                        </p:tav>
                                      </p:tavLst>
                                    </p:anim>
                                    <p:anim calcmode="lin" valueType="num">
                                      <p:cBhvr>
                                        <p:cTn id="28" dur="1000" fill="hold"/>
                                        <p:tgtEl>
                                          <p:spTgt spid="43010"/>
                                        </p:tgtEl>
                                        <p:attrNameLst>
                                          <p:attrName>ppt_h</p:attrName>
                                        </p:attrNameLst>
                                      </p:cBhvr>
                                      <p:tavLst>
                                        <p:tav tm="0">
                                          <p:val>
                                            <p:strVal val="#ppt_h"/>
                                          </p:val>
                                        </p:tav>
                                        <p:tav tm="100000">
                                          <p:val>
                                            <p:strVal val="#ppt_h"/>
                                          </p:val>
                                        </p:tav>
                                      </p:tavLst>
                                    </p:anim>
                                    <p:animEffect transition="in" filter="fade">
                                      <p:cBhvr>
                                        <p:cTn id="29" dur="1000"/>
                                        <p:tgtEl>
                                          <p:spTgt spid="43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79512" y="260648"/>
            <a:ext cx="8856984" cy="5755422"/>
          </a:xfrm>
          <a:prstGeom prst="rect">
            <a:avLst/>
          </a:prstGeom>
          <a:noFill/>
        </p:spPr>
        <p:txBody>
          <a:bodyPr wrap="square" rtlCol="1">
            <a:spAutoFit/>
          </a:bodyPr>
          <a:lstStyle/>
          <a:p>
            <a:r>
              <a:rPr lang="en-US" sz="2000" dirty="0"/>
              <a:t> </a:t>
            </a:r>
          </a:p>
          <a:p>
            <a:pPr lvl="0"/>
            <a:r>
              <a:rPr lang="ar-EG" sz="3600" b="1" dirty="0">
                <a:solidFill>
                  <a:schemeClr val="tx2"/>
                </a:solidFill>
              </a:rPr>
              <a:t>7-  </a:t>
            </a:r>
            <a:r>
              <a:rPr lang="en-US" sz="3600" b="1" dirty="0">
                <a:solidFill>
                  <a:schemeClr val="tx2"/>
                </a:solidFill>
              </a:rPr>
              <a:t>Modeling</a:t>
            </a:r>
          </a:p>
          <a:p>
            <a:pPr lvl="0"/>
            <a:endParaRPr lang="en-US" sz="2000" dirty="0"/>
          </a:p>
          <a:p>
            <a:r>
              <a:rPr lang="ar-EG" sz="2800" dirty="0">
                <a:solidFill>
                  <a:srgbClr val="FFFF99"/>
                </a:solidFill>
              </a:rPr>
              <a:t>المشكلة </a:t>
            </a:r>
            <a:r>
              <a:rPr lang="ar-EG" sz="2800" dirty="0" err="1">
                <a:solidFill>
                  <a:srgbClr val="FFFF99"/>
                </a:solidFill>
              </a:rPr>
              <a:t>فى</a:t>
            </a:r>
            <a:r>
              <a:rPr lang="ar-EG" sz="2800" dirty="0">
                <a:solidFill>
                  <a:srgbClr val="FFFF99"/>
                </a:solidFill>
              </a:rPr>
              <a:t> </a:t>
            </a:r>
            <a:r>
              <a:rPr lang="ar-EG" sz="2800" dirty="0" err="1">
                <a:solidFill>
                  <a:srgbClr val="FFFF99"/>
                </a:solidFill>
              </a:rPr>
              <a:t>ال</a:t>
            </a:r>
            <a:r>
              <a:rPr lang="ar-EG" sz="2800" dirty="0">
                <a:solidFill>
                  <a:srgbClr val="FFFF99"/>
                </a:solidFill>
              </a:rPr>
              <a:t> </a:t>
            </a:r>
            <a:r>
              <a:rPr lang="en-US" sz="2800" dirty="0">
                <a:solidFill>
                  <a:srgbClr val="FFFF99"/>
                </a:solidFill>
              </a:rPr>
              <a:t>Speech Single</a:t>
            </a:r>
            <a:r>
              <a:rPr lang="ar-EG" sz="2800" dirty="0">
                <a:solidFill>
                  <a:srgbClr val="FFFF99"/>
                </a:solidFill>
              </a:rPr>
              <a:t> </a:t>
            </a:r>
            <a:r>
              <a:rPr lang="ar-EG" sz="2800" dirty="0" err="1">
                <a:solidFill>
                  <a:srgbClr val="FFFF99"/>
                </a:solidFill>
              </a:rPr>
              <a:t>إننى</a:t>
            </a:r>
            <a:r>
              <a:rPr lang="ar-EG" sz="2800" dirty="0">
                <a:solidFill>
                  <a:srgbClr val="FFFF99"/>
                </a:solidFill>
              </a:rPr>
              <a:t> لا استطيع </a:t>
            </a:r>
            <a:r>
              <a:rPr lang="ar-EG" sz="2800" dirty="0" err="1">
                <a:solidFill>
                  <a:srgbClr val="FFFF99"/>
                </a:solidFill>
              </a:rPr>
              <a:t>ان</a:t>
            </a:r>
            <a:r>
              <a:rPr lang="ar-EG" sz="2800" dirty="0">
                <a:solidFill>
                  <a:srgbClr val="FFFF99"/>
                </a:solidFill>
              </a:rPr>
              <a:t> اجعل الحاسب يتعامل مع </a:t>
            </a:r>
            <a:r>
              <a:rPr lang="ar-EG" sz="2800" dirty="0" err="1">
                <a:solidFill>
                  <a:srgbClr val="FFFF99"/>
                </a:solidFill>
              </a:rPr>
              <a:t>ال</a:t>
            </a:r>
            <a:r>
              <a:rPr lang="ar-EG" sz="2800" dirty="0">
                <a:solidFill>
                  <a:srgbClr val="FFFF99"/>
                </a:solidFill>
              </a:rPr>
              <a:t> </a:t>
            </a:r>
            <a:r>
              <a:rPr lang="en-US" sz="2800" dirty="0">
                <a:solidFill>
                  <a:srgbClr val="FFFF99"/>
                </a:solidFill>
              </a:rPr>
              <a:t>Analog Signal</a:t>
            </a:r>
            <a:r>
              <a:rPr lang="ar-EG" sz="2800" dirty="0">
                <a:solidFill>
                  <a:srgbClr val="FFFF99"/>
                </a:solidFill>
              </a:rPr>
              <a:t> ولذلك </a:t>
            </a:r>
            <a:r>
              <a:rPr lang="ar-EG" sz="2800" dirty="0" err="1">
                <a:solidFill>
                  <a:srgbClr val="FFFF99"/>
                </a:solidFill>
              </a:rPr>
              <a:t>اقوم</a:t>
            </a:r>
            <a:r>
              <a:rPr lang="ar-EG" sz="2800" dirty="0">
                <a:solidFill>
                  <a:srgbClr val="FFFF99"/>
                </a:solidFill>
              </a:rPr>
              <a:t> بتوصيف هذه الإشارات عن طريق جميع الملامح الثابتة </a:t>
            </a:r>
            <a:r>
              <a:rPr lang="en-US" sz="2800" dirty="0">
                <a:solidFill>
                  <a:srgbClr val="FFFF99"/>
                </a:solidFill>
              </a:rPr>
              <a:t>Features</a:t>
            </a:r>
            <a:r>
              <a:rPr lang="ar-EG" sz="2800" dirty="0">
                <a:solidFill>
                  <a:srgbClr val="FFFF99"/>
                </a:solidFill>
              </a:rPr>
              <a:t> لها وبذلك </a:t>
            </a:r>
            <a:r>
              <a:rPr lang="ar-EG" sz="2800" dirty="0" err="1">
                <a:solidFill>
                  <a:srgbClr val="FFFF99"/>
                </a:solidFill>
              </a:rPr>
              <a:t>اكون</a:t>
            </a:r>
            <a:r>
              <a:rPr lang="ar-EG" sz="2800" dirty="0">
                <a:solidFill>
                  <a:srgbClr val="FFFF99"/>
                </a:solidFill>
              </a:rPr>
              <a:t> عملت </a:t>
            </a:r>
            <a:r>
              <a:rPr lang="en-US" sz="2800" dirty="0">
                <a:solidFill>
                  <a:srgbClr val="FFFF99"/>
                </a:solidFill>
              </a:rPr>
              <a:t>Modeling</a:t>
            </a:r>
            <a:r>
              <a:rPr lang="ar-EG" sz="2800" dirty="0">
                <a:solidFill>
                  <a:srgbClr val="FFFF99"/>
                </a:solidFill>
              </a:rPr>
              <a:t> لهذه الإشارات</a:t>
            </a:r>
            <a:endParaRPr lang="en-US" sz="2800" dirty="0">
              <a:solidFill>
                <a:srgbClr val="FFFF99"/>
              </a:solidFill>
            </a:endParaRPr>
          </a:p>
          <a:p>
            <a:endParaRPr lang="en-US" sz="2000" dirty="0"/>
          </a:p>
          <a:p>
            <a:pPr lvl="0"/>
            <a:r>
              <a:rPr lang="ar-EG" sz="3600" b="1" dirty="0">
                <a:solidFill>
                  <a:schemeClr val="tx2"/>
                </a:solidFill>
              </a:rPr>
              <a:t>8- استخلاص الخصائص</a:t>
            </a:r>
          </a:p>
          <a:p>
            <a:pPr lvl="0"/>
            <a:endParaRPr lang="en-US" sz="2000" dirty="0"/>
          </a:p>
          <a:p>
            <a:r>
              <a:rPr lang="ar-EG" sz="2800" dirty="0" err="1">
                <a:solidFill>
                  <a:srgbClr val="FFFF99"/>
                </a:solidFill>
              </a:rPr>
              <a:t>هى</a:t>
            </a:r>
            <a:r>
              <a:rPr lang="ar-EG" sz="2800" dirty="0">
                <a:solidFill>
                  <a:srgbClr val="FFFF99"/>
                </a:solidFill>
              </a:rPr>
              <a:t> ذات معنى مقارب </a:t>
            </a:r>
            <a:r>
              <a:rPr lang="ar-EG" sz="2800" dirty="0" err="1">
                <a:solidFill>
                  <a:srgbClr val="FFFF99"/>
                </a:solidFill>
              </a:rPr>
              <a:t>لل</a:t>
            </a:r>
            <a:r>
              <a:rPr lang="ar-EG" sz="2800" dirty="0">
                <a:solidFill>
                  <a:srgbClr val="FFFF99"/>
                </a:solidFill>
              </a:rPr>
              <a:t> </a:t>
            </a:r>
            <a:r>
              <a:rPr lang="en-US" sz="2800" dirty="0">
                <a:solidFill>
                  <a:srgbClr val="FFFF99"/>
                </a:solidFill>
              </a:rPr>
              <a:t>Modeling</a:t>
            </a:r>
            <a:r>
              <a:rPr lang="ar-EG" sz="2800" dirty="0">
                <a:solidFill>
                  <a:srgbClr val="FFFF99"/>
                </a:solidFill>
              </a:rPr>
              <a:t> </a:t>
            </a:r>
            <a:r>
              <a:rPr lang="ar-EG" sz="2800" dirty="0" err="1">
                <a:solidFill>
                  <a:srgbClr val="FFFF99"/>
                </a:solidFill>
              </a:rPr>
              <a:t>فهى</a:t>
            </a:r>
            <a:r>
              <a:rPr lang="ar-EG" sz="2800" dirty="0">
                <a:solidFill>
                  <a:srgbClr val="FFFF99"/>
                </a:solidFill>
              </a:rPr>
              <a:t> التعبير عن الصوت بواسطة مجموعة من الصفات وطبعا كل ما زادت الصفات </a:t>
            </a:r>
            <a:r>
              <a:rPr lang="ar-EG" sz="2800" dirty="0" err="1">
                <a:solidFill>
                  <a:srgbClr val="FFFF99"/>
                </a:solidFill>
              </a:rPr>
              <a:t>التى</a:t>
            </a:r>
            <a:r>
              <a:rPr lang="ar-EG" sz="2800" dirty="0">
                <a:solidFill>
                  <a:srgbClr val="FFFF99"/>
                </a:solidFill>
              </a:rPr>
              <a:t> أقوم باستخلاصها من الصوت كل ما يكون التعرف على الصوت أسهل .. وكان نسبة الخطأ </a:t>
            </a:r>
            <a:r>
              <a:rPr lang="ar-EG" sz="2800" dirty="0" err="1">
                <a:solidFill>
                  <a:srgbClr val="FFFF99"/>
                </a:solidFill>
              </a:rPr>
              <a:t>فى</a:t>
            </a:r>
            <a:r>
              <a:rPr lang="ar-EG" sz="2800" dirty="0">
                <a:solidFill>
                  <a:srgbClr val="FFFF99"/>
                </a:solidFill>
              </a:rPr>
              <a:t> عملية التعرف اقل.</a:t>
            </a:r>
            <a:endParaRPr lang="en-US" sz="2800" dirty="0">
              <a:solidFill>
                <a:srgbClr val="FFFF99"/>
              </a:solidFill>
            </a:endParaRPr>
          </a:p>
          <a:p>
            <a:endParaRPr lang="ar-EG" sz="2000" dirty="0"/>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Effect transition="in" filter="fade">
                                      <p:cBhvr>
                                        <p:cTn id="14" dur="1000"/>
                                        <p:tgtEl>
                                          <p:spTgt spid="2">
                                            <p:txEl>
                                              <p:pRg st="3" end="3"/>
                                            </p:txEl>
                                          </p:spTgt>
                                        </p:tgtEl>
                                      </p:cBhvr>
                                    </p:animEffect>
                                    <p:anim calcmode="lin" valueType="num">
                                      <p:cBhvr>
                                        <p:cTn id="1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3" end="3"/>
                                            </p:txEl>
                                          </p:spTgt>
                                        </p:tgtEl>
                                        <p:attrNameLst>
                                          <p:attrName>ppt_y</p:attrName>
                                        </p:attrNameLst>
                                      </p:cBhvr>
                                      <p:tavLst>
                                        <p:tav tm="0">
                                          <p:val>
                                            <p:strVal val="#ppt_y-.1"/>
                                          </p:val>
                                        </p:tav>
                                        <p:tav tm="100000">
                                          <p:val>
                                            <p:strVal val="#ppt_y"/>
                                          </p:val>
                                        </p:tav>
                                      </p:tavLst>
                                    </p:anim>
                                  </p:childTnLst>
                                </p:cTn>
                              </p:par>
                              <p:par>
                                <p:cTn id="17" presetID="50" presetClass="entr" presetSubtype="0" decel="100000" fill="hold"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p:cTn id="19" dur="1000" fill="hold"/>
                                        <p:tgtEl>
                                          <p:spTgt spid="2">
                                            <p:txEl>
                                              <p:pRg st="3" end="3"/>
                                            </p:txEl>
                                          </p:spTgt>
                                        </p:tgtEl>
                                        <p:attrNameLst>
                                          <p:attrName>ppt_w</p:attrName>
                                        </p:attrNameLst>
                                      </p:cBhvr>
                                      <p:tavLst>
                                        <p:tav tm="0">
                                          <p:val>
                                            <p:strVal val="#ppt_w+.3"/>
                                          </p:val>
                                        </p:tav>
                                        <p:tav tm="100000">
                                          <p:val>
                                            <p:strVal val="#ppt_w"/>
                                          </p:val>
                                        </p:tav>
                                      </p:tavLst>
                                    </p:anim>
                                    <p:anim calcmode="lin" valueType="num">
                                      <p:cBhvr>
                                        <p:cTn id="20" dur="1000" fill="hold"/>
                                        <p:tgtEl>
                                          <p:spTgt spid="2">
                                            <p:txEl>
                                              <p:pRg st="3" end="3"/>
                                            </p:txEl>
                                          </p:spTgt>
                                        </p:tgtEl>
                                        <p:attrNameLst>
                                          <p:attrName>ppt_h</p:attrName>
                                        </p:attrNameLst>
                                      </p:cBhvr>
                                      <p:tavLst>
                                        <p:tav tm="0">
                                          <p:val>
                                            <p:strVal val="#ppt_h"/>
                                          </p:val>
                                        </p:tav>
                                        <p:tav tm="100000">
                                          <p:val>
                                            <p:strVal val="#ppt_h"/>
                                          </p:val>
                                        </p:tav>
                                      </p:tavLst>
                                    </p:anim>
                                    <p:animEffect transition="in" filter="fade">
                                      <p:cBhvr>
                                        <p:cTn id="21" dur="1000"/>
                                        <p:tgtEl>
                                          <p:spTgt spid="2">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fade">
                                      <p:cBhvr>
                                        <p:cTn id="26" dur="1000"/>
                                        <p:tgtEl>
                                          <p:spTgt spid="2">
                                            <p:txEl>
                                              <p:pRg st="5" end="5"/>
                                            </p:txEl>
                                          </p:spTgt>
                                        </p:tgtEl>
                                      </p:cBhvr>
                                    </p:animEffect>
                                    <p:anim calcmode="lin" valueType="num">
                                      <p:cBhvr>
                                        <p:cTn id="27"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nodeType="clickEffect">
                                  <p:stCondLst>
                                    <p:cond delay="0"/>
                                  </p:stCondLst>
                                  <p:childTnLst>
                                    <p:set>
                                      <p:cBhvr>
                                        <p:cTn id="32" dur="1" fill="hold">
                                          <p:stCondLst>
                                            <p:cond delay="0"/>
                                          </p:stCondLst>
                                        </p:cTn>
                                        <p:tgtEl>
                                          <p:spTgt spid="2">
                                            <p:txEl>
                                              <p:pRg st="7" end="7"/>
                                            </p:txEl>
                                          </p:spTgt>
                                        </p:tgtEl>
                                        <p:attrNameLst>
                                          <p:attrName>style.visibility</p:attrName>
                                        </p:attrNameLst>
                                      </p:cBhvr>
                                      <p:to>
                                        <p:strVal val="visible"/>
                                      </p:to>
                                    </p:set>
                                    <p:animEffect transition="in" filter="fade">
                                      <p:cBhvr>
                                        <p:cTn id="33" dur="1000"/>
                                        <p:tgtEl>
                                          <p:spTgt spid="2">
                                            <p:txEl>
                                              <p:pRg st="7" end="7"/>
                                            </p:txEl>
                                          </p:spTgt>
                                        </p:tgtEl>
                                      </p:cBhvr>
                                    </p:animEffect>
                                    <p:anim calcmode="lin" valueType="num">
                                      <p:cBhvr>
                                        <p:cTn id="3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7" end="7"/>
                                            </p:txEl>
                                          </p:spTgt>
                                        </p:tgtEl>
                                        <p:attrNameLst>
                                          <p:attrName>ppt_y</p:attrName>
                                        </p:attrNameLst>
                                      </p:cBhvr>
                                      <p:tavLst>
                                        <p:tav tm="0">
                                          <p:val>
                                            <p:strVal val="#ppt_y-.1"/>
                                          </p:val>
                                        </p:tav>
                                        <p:tav tm="100000">
                                          <p:val>
                                            <p:strVal val="#ppt_y"/>
                                          </p:val>
                                        </p:tav>
                                      </p:tavLst>
                                    </p:anim>
                                  </p:childTnLst>
                                </p:cTn>
                              </p:par>
                              <p:par>
                                <p:cTn id="36" presetID="50" presetClass="entr" presetSubtype="0" decel="100000" fill="hold" nodeType="withEffect">
                                  <p:stCondLst>
                                    <p:cond delay="0"/>
                                  </p:stCondLst>
                                  <p:childTnLst>
                                    <p:set>
                                      <p:cBhvr>
                                        <p:cTn id="37" dur="1" fill="hold">
                                          <p:stCondLst>
                                            <p:cond delay="0"/>
                                          </p:stCondLst>
                                        </p:cTn>
                                        <p:tgtEl>
                                          <p:spTgt spid="2">
                                            <p:txEl>
                                              <p:pRg st="7" end="7"/>
                                            </p:txEl>
                                          </p:spTgt>
                                        </p:tgtEl>
                                        <p:attrNameLst>
                                          <p:attrName>style.visibility</p:attrName>
                                        </p:attrNameLst>
                                      </p:cBhvr>
                                      <p:to>
                                        <p:strVal val="visible"/>
                                      </p:to>
                                    </p:set>
                                    <p:anim calcmode="lin" valueType="num">
                                      <p:cBhvr>
                                        <p:cTn id="38" dur="1000" fill="hold"/>
                                        <p:tgtEl>
                                          <p:spTgt spid="2">
                                            <p:txEl>
                                              <p:pRg st="7" end="7"/>
                                            </p:txEl>
                                          </p:spTgt>
                                        </p:tgtEl>
                                        <p:attrNameLst>
                                          <p:attrName>ppt_w</p:attrName>
                                        </p:attrNameLst>
                                      </p:cBhvr>
                                      <p:tavLst>
                                        <p:tav tm="0">
                                          <p:val>
                                            <p:strVal val="#ppt_w+.3"/>
                                          </p:val>
                                        </p:tav>
                                        <p:tav tm="100000">
                                          <p:val>
                                            <p:strVal val="#ppt_w"/>
                                          </p:val>
                                        </p:tav>
                                      </p:tavLst>
                                    </p:anim>
                                    <p:anim calcmode="lin" valueType="num">
                                      <p:cBhvr>
                                        <p:cTn id="39" dur="1000" fill="hold"/>
                                        <p:tgtEl>
                                          <p:spTgt spid="2">
                                            <p:txEl>
                                              <p:pRg st="7" end="7"/>
                                            </p:txEl>
                                          </p:spTgt>
                                        </p:tgtEl>
                                        <p:attrNameLst>
                                          <p:attrName>ppt_h</p:attrName>
                                        </p:attrNameLst>
                                      </p:cBhvr>
                                      <p:tavLst>
                                        <p:tav tm="0">
                                          <p:val>
                                            <p:strVal val="#ppt_h"/>
                                          </p:val>
                                        </p:tav>
                                        <p:tav tm="100000">
                                          <p:val>
                                            <p:strVal val="#ppt_h"/>
                                          </p:val>
                                        </p:tav>
                                      </p:tavLst>
                                    </p:anim>
                                    <p:animEffect transition="in" filter="fade">
                                      <p:cBhvr>
                                        <p:cTn id="40" dur="10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 y="44624"/>
            <a:ext cx="8964488" cy="6955750"/>
          </a:xfrm>
          <a:prstGeom prst="rect">
            <a:avLst/>
          </a:prstGeom>
          <a:noFill/>
        </p:spPr>
        <p:txBody>
          <a:bodyPr wrap="square" rtlCol="1">
            <a:spAutoFit/>
          </a:bodyPr>
          <a:lstStyle/>
          <a:p>
            <a:pPr algn="ctr"/>
            <a:r>
              <a:rPr lang="ar-EG" sz="3200" b="1" dirty="0">
                <a:solidFill>
                  <a:schemeClr val="tx2"/>
                </a:solidFill>
              </a:rPr>
              <a:t>يمكننا تصنيف التعرف على الكلام </a:t>
            </a:r>
            <a:r>
              <a:rPr lang="ar-EG" sz="3200" b="1" dirty="0" err="1">
                <a:solidFill>
                  <a:schemeClr val="tx2"/>
                </a:solidFill>
              </a:rPr>
              <a:t>كالتالى</a:t>
            </a:r>
            <a:r>
              <a:rPr lang="ar-EG" sz="3200" b="1" dirty="0">
                <a:solidFill>
                  <a:schemeClr val="tx2"/>
                </a:solidFill>
              </a:rPr>
              <a:t> </a:t>
            </a:r>
          </a:p>
          <a:p>
            <a:endParaRPr lang="en-US" dirty="0"/>
          </a:p>
          <a:p>
            <a:r>
              <a:rPr lang="en-US" sz="2800" b="1" dirty="0" smtClean="0"/>
              <a:t>I.W.R </a:t>
            </a:r>
            <a:r>
              <a:rPr lang="en-US" sz="2400" b="1" dirty="0" smtClean="0">
                <a:solidFill>
                  <a:schemeClr val="tx2"/>
                </a:solidFill>
              </a:rPr>
              <a:t>   Isolated </a:t>
            </a:r>
            <a:r>
              <a:rPr lang="en-US" sz="2400" b="1" dirty="0">
                <a:solidFill>
                  <a:schemeClr val="tx2"/>
                </a:solidFill>
              </a:rPr>
              <a:t>Word Recognition</a:t>
            </a:r>
          </a:p>
          <a:p>
            <a:r>
              <a:rPr lang="ar-EG" sz="2800" dirty="0"/>
              <a:t>ويستخدم للتعرف على كلمات </a:t>
            </a:r>
            <a:r>
              <a:rPr lang="ar-EG" sz="2800" dirty="0" err="1"/>
              <a:t>منفضلة</a:t>
            </a:r>
            <a:r>
              <a:rPr lang="ar-EG" sz="2800" dirty="0"/>
              <a:t> ومعزولة عن بعضها .</a:t>
            </a:r>
          </a:p>
          <a:p>
            <a:endParaRPr lang="en-US" sz="2000" dirty="0"/>
          </a:p>
          <a:p>
            <a:r>
              <a:rPr lang="en-US" sz="2400" b="1" dirty="0" smtClean="0"/>
              <a:t>C.W.R</a:t>
            </a:r>
            <a:r>
              <a:rPr lang="en-US" sz="2400" b="1" dirty="0" smtClean="0">
                <a:solidFill>
                  <a:schemeClr val="tx2"/>
                </a:solidFill>
              </a:rPr>
              <a:t>     Connected </a:t>
            </a:r>
            <a:r>
              <a:rPr lang="en-US" sz="2400" b="1" dirty="0">
                <a:solidFill>
                  <a:schemeClr val="tx2"/>
                </a:solidFill>
              </a:rPr>
              <a:t>Word Recognition</a:t>
            </a:r>
            <a:endParaRPr lang="en-US" sz="2800" b="1" dirty="0"/>
          </a:p>
          <a:p>
            <a:r>
              <a:rPr lang="ar-EG" sz="2800" dirty="0"/>
              <a:t>يستخدم للتعرف على مجموعة من الكلمات بفواصل .</a:t>
            </a:r>
          </a:p>
          <a:p>
            <a:endParaRPr lang="en-US" sz="2000" dirty="0"/>
          </a:p>
          <a:p>
            <a:r>
              <a:rPr lang="en-US" sz="2400" b="1" dirty="0" smtClean="0"/>
              <a:t>C.S.R </a:t>
            </a:r>
            <a:r>
              <a:rPr lang="en-US" sz="2400" b="1" dirty="0" smtClean="0">
                <a:solidFill>
                  <a:schemeClr val="tx2"/>
                </a:solidFill>
              </a:rPr>
              <a:t>     Continuous </a:t>
            </a:r>
            <a:r>
              <a:rPr lang="en-US" sz="2400" b="1" dirty="0">
                <a:solidFill>
                  <a:schemeClr val="tx2"/>
                </a:solidFill>
              </a:rPr>
              <a:t>Speech Recognition</a:t>
            </a:r>
          </a:p>
          <a:p>
            <a:r>
              <a:rPr lang="ar-EG" sz="2800" dirty="0"/>
              <a:t>تستخدم للتعرف على الكلام المتواصل .</a:t>
            </a:r>
          </a:p>
          <a:p>
            <a:endParaRPr lang="en-US" sz="2000" dirty="0"/>
          </a:p>
          <a:p>
            <a:r>
              <a:rPr lang="en-US" sz="2400" b="1" dirty="0" smtClean="0"/>
              <a:t>S.U </a:t>
            </a:r>
            <a:r>
              <a:rPr lang="en-US" sz="2400" b="1" dirty="0" smtClean="0">
                <a:solidFill>
                  <a:schemeClr val="tx2"/>
                </a:solidFill>
              </a:rPr>
              <a:t>       Speech </a:t>
            </a:r>
            <a:r>
              <a:rPr lang="en-US" sz="2400" b="1" dirty="0">
                <a:solidFill>
                  <a:schemeClr val="tx2"/>
                </a:solidFill>
              </a:rPr>
              <a:t>Understanding</a:t>
            </a:r>
          </a:p>
          <a:p>
            <a:r>
              <a:rPr lang="ar-EG" sz="2800" dirty="0"/>
              <a:t>هى عمليات فهم الكلام بواسطة مترجمات خاصة وممكن تحويلة الى نصوص بعد التعرف علي</a:t>
            </a:r>
            <a:r>
              <a:rPr lang="ar-SA" sz="2800" dirty="0"/>
              <a:t>ه</a:t>
            </a:r>
            <a:endParaRPr lang="en-US" sz="2800" dirty="0"/>
          </a:p>
          <a:p>
            <a:r>
              <a:rPr lang="ar-EG" sz="1000" dirty="0"/>
              <a:t> </a:t>
            </a:r>
            <a:endParaRPr lang="en-US" sz="1000" dirty="0"/>
          </a:p>
          <a:p>
            <a:r>
              <a:rPr lang="en-US" sz="2400" b="1" dirty="0" smtClean="0"/>
              <a:t>W.S</a:t>
            </a:r>
            <a:r>
              <a:rPr lang="en-US" sz="2400" b="1" dirty="0" smtClean="0">
                <a:solidFill>
                  <a:schemeClr val="tx2"/>
                </a:solidFill>
              </a:rPr>
              <a:t>         Word </a:t>
            </a:r>
            <a:r>
              <a:rPr lang="en-US" sz="2400" b="1" dirty="0">
                <a:solidFill>
                  <a:schemeClr val="tx2"/>
                </a:solidFill>
              </a:rPr>
              <a:t>Spotting</a:t>
            </a:r>
          </a:p>
          <a:p>
            <a:r>
              <a:rPr lang="ar-EG" sz="2800" dirty="0"/>
              <a:t>يستخدم للتنقيب عن الكلمات معينة أو ما يسمى بالــ </a:t>
            </a:r>
            <a:r>
              <a:rPr lang="en-US" sz="2800" dirty="0"/>
              <a:t>Key Word</a:t>
            </a:r>
            <a:r>
              <a:rPr lang="ar-EG" sz="2800" dirty="0"/>
              <a:t> </a:t>
            </a:r>
            <a:r>
              <a:rPr lang="ar-EG" sz="2800" dirty="0" err="1"/>
              <a:t>فى</a:t>
            </a:r>
            <a:r>
              <a:rPr lang="ar-EG" sz="2800" dirty="0"/>
              <a:t> موضوع معين.</a:t>
            </a:r>
            <a:endParaRPr lang="en-US" sz="2800" dirty="0"/>
          </a:p>
        </p:txBody>
      </p:sp>
    </p:spTree>
  </p:cSld>
  <p:clrMapOvr>
    <a:masterClrMapping/>
  </p:clrMapOvr>
  <p:transition spd="slow">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iterate type="lt">
                                    <p:tmPct val="0"/>
                                  </p:iterate>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decel="50000" fill="hold">
                                          <p:stCondLst>
                                            <p:cond delay="0"/>
                                          </p:stCondLst>
                                        </p:cTn>
                                        <p:tgtEl>
                                          <p:spTgt spid="2">
                                            <p:txEl>
                                              <p:pRg st="0" end="0"/>
                                            </p:txEl>
                                          </p:spTgt>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xEl>
                                              <p:pRg st="0" end="0"/>
                                            </p:txEl>
                                          </p:spTgt>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xEl>
                                              <p:pRg st="0" end="0"/>
                                            </p:txEl>
                                          </p:spTgt>
                                        </p:tgtEl>
                                        <p:attrNameLst>
                                          <p:attrName>ppt_w</p:attrName>
                                        </p:attrNameLst>
                                      </p:cBhvr>
                                      <p:tavLst>
                                        <p:tav tm="0">
                                          <p:val>
                                            <p:strVal val="#ppt_w*.05"/>
                                          </p:val>
                                        </p:tav>
                                        <p:tav tm="100000">
                                          <p:val>
                                            <p:strVal val="#ppt_w"/>
                                          </p:val>
                                        </p:tav>
                                      </p:tavLst>
                                    </p:anim>
                                    <p:anim calcmode="lin" valueType="num">
                                      <p:cBhvr>
                                        <p:cTn id="10" dur="1000" fill="hold"/>
                                        <p:tgtEl>
                                          <p:spTgt spid="2">
                                            <p:txEl>
                                              <p:pRg st="0" end="0"/>
                                            </p:txEl>
                                          </p:spTgt>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xEl>
                                              <p:pRg st="0" end="0"/>
                                            </p:txEl>
                                          </p:spTgt>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xEl>
                                              <p:pRg st="0" end="0"/>
                                            </p:txEl>
                                          </p:spTgt>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xEl>
                                              <p:pRg st="0" end="0"/>
                                            </p:txEl>
                                          </p:spTgt>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xEl>
                                              <p:pRg st="0" end="0"/>
                                            </p:txEl>
                                          </p:spTgt>
                                        </p:tgtEl>
                                      </p:cBhvr>
                                    </p:animEffect>
                                  </p:childTnLst>
                                </p:cTn>
                              </p:par>
                            </p:childTnLst>
                          </p:cTn>
                        </p:par>
                        <p:par>
                          <p:cTn id="15" fill="hold">
                            <p:stCondLst>
                              <p:cond delay="1000"/>
                            </p:stCondLst>
                            <p:childTnLst>
                              <p:par>
                                <p:cTn id="16" presetID="36" presetClass="emph" presetSubtype="0" fill="hold" nodeType="afterEffect">
                                  <p:stCondLst>
                                    <p:cond delay="0"/>
                                  </p:stCondLst>
                                  <p:iterate type="lt">
                                    <p:tmPct val="10000"/>
                                  </p:iterate>
                                  <p:childTnLst>
                                    <p:animScale>
                                      <p:cBhvr>
                                        <p:cTn id="17" dur="250" autoRev="1" fill="hold">
                                          <p:stCondLst>
                                            <p:cond delay="0"/>
                                          </p:stCondLst>
                                        </p:cTn>
                                        <p:tgtEl>
                                          <p:spTgt spid="2">
                                            <p:txEl>
                                              <p:pRg st="0" end="0"/>
                                            </p:txEl>
                                          </p:spTgt>
                                        </p:tgtEl>
                                      </p:cBhvr>
                                      <p:to x="80000" y="100000"/>
                                    </p:animScale>
                                    <p:anim by="(#ppt_w*0.10)" calcmode="lin" valueType="num">
                                      <p:cBhvr>
                                        <p:cTn id="18" dur="250" autoRev="1" fill="hold">
                                          <p:stCondLst>
                                            <p:cond delay="0"/>
                                          </p:stCondLst>
                                        </p:cTn>
                                        <p:tgtEl>
                                          <p:spTgt spid="2">
                                            <p:txEl>
                                              <p:pRg st="0" end="0"/>
                                            </p:txEl>
                                          </p:spTgt>
                                        </p:tgtEl>
                                        <p:attrNameLst>
                                          <p:attrName>ppt_x</p:attrName>
                                        </p:attrNameLst>
                                      </p:cBhvr>
                                    </p:anim>
                                    <p:anim by="(-#ppt_w*0.10)" calcmode="lin" valueType="num">
                                      <p:cBhvr>
                                        <p:cTn id="19" dur="250" autoRev="1" fill="hold">
                                          <p:stCondLst>
                                            <p:cond delay="0"/>
                                          </p:stCondLst>
                                        </p:cTn>
                                        <p:tgtEl>
                                          <p:spTgt spid="2">
                                            <p:txEl>
                                              <p:pRg st="0" end="0"/>
                                            </p:txEl>
                                          </p:spTgt>
                                        </p:tgtEl>
                                        <p:attrNameLst>
                                          <p:attrName>ppt_y</p:attrName>
                                        </p:attrNameLst>
                                      </p:cBhvr>
                                    </p:anim>
                                    <p:animRot by="-480000">
                                      <p:cBhvr>
                                        <p:cTn id="20" dur="250" autoRev="1" fill="hold">
                                          <p:stCondLst>
                                            <p:cond delay="0"/>
                                          </p:stCondLst>
                                        </p:cTn>
                                        <p:tgtEl>
                                          <p:spTgt spid="2">
                                            <p:txEl>
                                              <p:pRg st="0" end="0"/>
                                            </p:txEl>
                                          </p:spTgt>
                                        </p:tgtEl>
                                        <p:attrNameLst>
                                          <p:attrName>r</p:attrName>
                                        </p:attrNameLst>
                                      </p:cBhvr>
                                    </p:animRo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Effect transition="in" filter="fade">
                                      <p:cBhvr>
                                        <p:cTn id="25" dur="1000"/>
                                        <p:tgtEl>
                                          <p:spTgt spid="2">
                                            <p:txEl>
                                              <p:pRg st="2" end="2"/>
                                            </p:txEl>
                                          </p:spTgt>
                                        </p:tgtEl>
                                      </p:cBhvr>
                                    </p:animEffect>
                                    <p:anim calcmode="lin" valueType="num">
                                      <p:cBhvr>
                                        <p:cTn id="26"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
                                            <p:txEl>
                                              <p:pRg st="3" end="3"/>
                                            </p:txEl>
                                          </p:spTgt>
                                        </p:tgtEl>
                                        <p:attrNameLst>
                                          <p:attrName>style.visibility</p:attrName>
                                        </p:attrNameLst>
                                      </p:cBhvr>
                                      <p:to>
                                        <p:strVal val="visible"/>
                                      </p:to>
                                    </p:set>
                                    <p:animEffect transition="in" filter="dissolve">
                                      <p:cBhvr>
                                        <p:cTn id="32" dur="1000"/>
                                        <p:tgtEl>
                                          <p:spTgt spid="2">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fade">
                                      <p:cBhvr>
                                        <p:cTn id="37" dur="1000"/>
                                        <p:tgtEl>
                                          <p:spTgt spid="2">
                                            <p:txEl>
                                              <p:pRg st="5" end="5"/>
                                            </p:txEl>
                                          </p:spTgt>
                                        </p:tgtEl>
                                      </p:cBhvr>
                                    </p:animEffect>
                                    <p:anim calcmode="lin" valueType="num">
                                      <p:cBhvr>
                                        <p:cTn id="38"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2">
                                            <p:txEl>
                                              <p:pRg st="6" end="6"/>
                                            </p:txEl>
                                          </p:spTgt>
                                        </p:tgtEl>
                                        <p:attrNameLst>
                                          <p:attrName>style.visibility</p:attrName>
                                        </p:attrNameLst>
                                      </p:cBhvr>
                                      <p:to>
                                        <p:strVal val="visible"/>
                                      </p:to>
                                    </p:set>
                                    <p:animEffect transition="in" filter="dissolve">
                                      <p:cBhvr>
                                        <p:cTn id="44" dur="1000"/>
                                        <p:tgtEl>
                                          <p:spTgt spid="2">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
                                            <p:txEl>
                                              <p:pRg st="8" end="8"/>
                                            </p:txEl>
                                          </p:spTgt>
                                        </p:tgtEl>
                                        <p:attrNameLst>
                                          <p:attrName>style.visibility</p:attrName>
                                        </p:attrNameLst>
                                      </p:cBhvr>
                                      <p:to>
                                        <p:strVal val="visible"/>
                                      </p:to>
                                    </p:set>
                                    <p:animEffect transition="in" filter="fade">
                                      <p:cBhvr>
                                        <p:cTn id="49" dur="1000"/>
                                        <p:tgtEl>
                                          <p:spTgt spid="2">
                                            <p:txEl>
                                              <p:pRg st="8" end="8"/>
                                            </p:txEl>
                                          </p:spTgt>
                                        </p:tgtEl>
                                      </p:cBhvr>
                                    </p:animEffect>
                                    <p:anim calcmode="lin" valueType="num">
                                      <p:cBhvr>
                                        <p:cTn id="50"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2">
                                            <p:txEl>
                                              <p:pRg st="9" end="9"/>
                                            </p:txEl>
                                          </p:spTgt>
                                        </p:tgtEl>
                                        <p:attrNameLst>
                                          <p:attrName>style.visibility</p:attrName>
                                        </p:attrNameLst>
                                      </p:cBhvr>
                                      <p:to>
                                        <p:strVal val="visible"/>
                                      </p:to>
                                    </p:set>
                                    <p:animEffect transition="in" filter="dissolve">
                                      <p:cBhvr>
                                        <p:cTn id="56" dur="1000"/>
                                        <p:tgtEl>
                                          <p:spTgt spid="2">
                                            <p:txEl>
                                              <p:pRg st="9" end="9"/>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2">
                                            <p:txEl>
                                              <p:pRg st="11" end="11"/>
                                            </p:txEl>
                                          </p:spTgt>
                                        </p:tgtEl>
                                        <p:attrNameLst>
                                          <p:attrName>style.visibility</p:attrName>
                                        </p:attrNameLst>
                                      </p:cBhvr>
                                      <p:to>
                                        <p:strVal val="visible"/>
                                      </p:to>
                                    </p:set>
                                    <p:animEffect transition="in" filter="fade">
                                      <p:cBhvr>
                                        <p:cTn id="61" dur="1000"/>
                                        <p:tgtEl>
                                          <p:spTgt spid="2">
                                            <p:txEl>
                                              <p:pRg st="11" end="11"/>
                                            </p:txEl>
                                          </p:spTgt>
                                        </p:tgtEl>
                                      </p:cBhvr>
                                    </p:animEffect>
                                    <p:anim calcmode="lin" valueType="num">
                                      <p:cBhvr>
                                        <p:cTn id="62"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63"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nodeType="clickEffect">
                                  <p:stCondLst>
                                    <p:cond delay="0"/>
                                  </p:stCondLst>
                                  <p:childTnLst>
                                    <p:set>
                                      <p:cBhvr>
                                        <p:cTn id="67" dur="1" fill="hold">
                                          <p:stCondLst>
                                            <p:cond delay="0"/>
                                          </p:stCondLst>
                                        </p:cTn>
                                        <p:tgtEl>
                                          <p:spTgt spid="2">
                                            <p:txEl>
                                              <p:pRg st="12" end="12"/>
                                            </p:txEl>
                                          </p:spTgt>
                                        </p:tgtEl>
                                        <p:attrNameLst>
                                          <p:attrName>style.visibility</p:attrName>
                                        </p:attrNameLst>
                                      </p:cBhvr>
                                      <p:to>
                                        <p:strVal val="visible"/>
                                      </p:to>
                                    </p:set>
                                    <p:animEffect transition="in" filter="dissolve">
                                      <p:cBhvr>
                                        <p:cTn id="68" dur="1000"/>
                                        <p:tgtEl>
                                          <p:spTgt spid="2">
                                            <p:txEl>
                                              <p:pRg st="12" end="12"/>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2">
                                            <p:txEl>
                                              <p:pRg st="14" end="14"/>
                                            </p:txEl>
                                          </p:spTgt>
                                        </p:tgtEl>
                                        <p:attrNameLst>
                                          <p:attrName>style.visibility</p:attrName>
                                        </p:attrNameLst>
                                      </p:cBhvr>
                                      <p:to>
                                        <p:strVal val="visible"/>
                                      </p:to>
                                    </p:set>
                                    <p:animEffect transition="in" filter="fade">
                                      <p:cBhvr>
                                        <p:cTn id="73" dur="1000"/>
                                        <p:tgtEl>
                                          <p:spTgt spid="2">
                                            <p:txEl>
                                              <p:pRg st="14" end="14"/>
                                            </p:txEl>
                                          </p:spTgt>
                                        </p:tgtEl>
                                      </p:cBhvr>
                                    </p:animEffect>
                                    <p:anim calcmode="lin" valueType="num">
                                      <p:cBhvr>
                                        <p:cTn id="74" dur="1000" fill="hold"/>
                                        <p:tgtEl>
                                          <p:spTgt spid="2">
                                            <p:txEl>
                                              <p:pRg st="14" end="14"/>
                                            </p:txEl>
                                          </p:spTgt>
                                        </p:tgtEl>
                                        <p:attrNameLst>
                                          <p:attrName>ppt_x</p:attrName>
                                        </p:attrNameLst>
                                      </p:cBhvr>
                                      <p:tavLst>
                                        <p:tav tm="0">
                                          <p:val>
                                            <p:strVal val="#ppt_x"/>
                                          </p:val>
                                        </p:tav>
                                        <p:tav tm="100000">
                                          <p:val>
                                            <p:strVal val="#ppt_x"/>
                                          </p:val>
                                        </p:tav>
                                      </p:tavLst>
                                    </p:anim>
                                    <p:anim calcmode="lin" valueType="num">
                                      <p:cBhvr>
                                        <p:cTn id="75" dur="1000" fill="hold"/>
                                        <p:tgtEl>
                                          <p:spTgt spid="2">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nodeType="clickEffect">
                                  <p:stCondLst>
                                    <p:cond delay="0"/>
                                  </p:stCondLst>
                                  <p:childTnLst>
                                    <p:set>
                                      <p:cBhvr>
                                        <p:cTn id="79" dur="1" fill="hold">
                                          <p:stCondLst>
                                            <p:cond delay="0"/>
                                          </p:stCondLst>
                                        </p:cTn>
                                        <p:tgtEl>
                                          <p:spTgt spid="2">
                                            <p:txEl>
                                              <p:pRg st="15" end="15"/>
                                            </p:txEl>
                                          </p:spTgt>
                                        </p:tgtEl>
                                        <p:attrNameLst>
                                          <p:attrName>style.visibility</p:attrName>
                                        </p:attrNameLst>
                                      </p:cBhvr>
                                      <p:to>
                                        <p:strVal val="visible"/>
                                      </p:to>
                                    </p:set>
                                    <p:animEffect transition="in" filter="dissolve">
                                      <p:cBhvr>
                                        <p:cTn id="80" dur="1000"/>
                                        <p:tgtEl>
                                          <p:spTgt spid="2">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06775" y="332656"/>
            <a:ext cx="8929721" cy="3600986"/>
          </a:xfrm>
          <a:prstGeom prst="rect">
            <a:avLst/>
          </a:prstGeom>
          <a:noFill/>
        </p:spPr>
        <p:txBody>
          <a:bodyPr wrap="square" rtlCol="1">
            <a:spAutoFit/>
          </a:bodyPr>
          <a:lstStyle/>
          <a:p>
            <a:r>
              <a:rPr lang="ar-EG" sz="2400" b="1" dirty="0"/>
              <a:t> </a:t>
            </a:r>
            <a:r>
              <a:rPr lang="ar-EG" sz="2400" b="1" dirty="0" err="1"/>
              <a:t>فى</a:t>
            </a:r>
            <a:r>
              <a:rPr lang="ar-EG" sz="2400" b="1" dirty="0"/>
              <a:t> عمليات التعرف على الكلام من المهم أن نركز على كيفية إنتاج الكلام وعملية إنتاج الكلام تبدأ بالتفكير </a:t>
            </a:r>
            <a:r>
              <a:rPr lang="ar-EG" sz="2400" b="1" dirty="0" err="1"/>
              <a:t>فى</a:t>
            </a:r>
            <a:r>
              <a:rPr lang="ar-EG" sz="2400" b="1" dirty="0"/>
              <a:t> الرسالة </a:t>
            </a:r>
            <a:r>
              <a:rPr lang="ar-EG" sz="2400" b="1" dirty="0" err="1"/>
              <a:t>التى</a:t>
            </a:r>
            <a:r>
              <a:rPr lang="ar-EG" sz="2400" b="1" dirty="0"/>
              <a:t> يريد الشخص النطق </a:t>
            </a:r>
            <a:r>
              <a:rPr lang="ar-EG" sz="2400" b="1" dirty="0" err="1"/>
              <a:t>بها</a:t>
            </a:r>
            <a:r>
              <a:rPr lang="ar-EG" sz="2400" b="1" dirty="0"/>
              <a:t> وهذه الرسالة ستتحول بعد ذلك </a:t>
            </a:r>
            <a:r>
              <a:rPr lang="ar-EG" sz="2400" b="1" dirty="0" err="1"/>
              <a:t>الى</a:t>
            </a:r>
            <a:r>
              <a:rPr lang="ar-EG" sz="2400" b="1" dirty="0"/>
              <a:t> </a:t>
            </a:r>
            <a:r>
              <a:rPr lang="ar-EG" sz="2400" b="1" dirty="0" err="1"/>
              <a:t>اشارات</a:t>
            </a:r>
            <a:r>
              <a:rPr lang="ar-EG" sz="2400" b="1" dirty="0"/>
              <a:t> عصبية </a:t>
            </a:r>
            <a:r>
              <a:rPr lang="en-US" sz="2400" b="1" dirty="0"/>
              <a:t>Neural Signal</a:t>
            </a:r>
            <a:r>
              <a:rPr lang="ar-EG" sz="2400" b="1" dirty="0"/>
              <a:t> </a:t>
            </a:r>
            <a:r>
              <a:rPr lang="ar-EG" sz="2400" b="1" dirty="0" err="1"/>
              <a:t>التى</a:t>
            </a:r>
            <a:r>
              <a:rPr lang="ar-EG" sz="2400" b="1" dirty="0"/>
              <a:t> تصبح غالبا </a:t>
            </a:r>
            <a:r>
              <a:rPr lang="ar-EG" sz="2400" b="1" dirty="0" err="1"/>
              <a:t>اشارات</a:t>
            </a:r>
            <a:r>
              <a:rPr lang="ar-EG" sz="2400" b="1" dirty="0"/>
              <a:t> كهربائية تحرك </a:t>
            </a:r>
            <a:r>
              <a:rPr lang="ar-EG" sz="2400" b="1" dirty="0" err="1"/>
              <a:t>اعضاء</a:t>
            </a:r>
            <a:r>
              <a:rPr lang="ar-EG" sz="2400" b="1" dirty="0"/>
              <a:t> النطق وبعد </a:t>
            </a:r>
            <a:r>
              <a:rPr lang="ar-EG" sz="2400" b="1" dirty="0" err="1"/>
              <a:t>ان</a:t>
            </a:r>
            <a:r>
              <a:rPr lang="ar-EG" sz="2400" b="1" dirty="0"/>
              <a:t> تتحرك </a:t>
            </a:r>
            <a:r>
              <a:rPr lang="ar-EG" sz="2400" b="1" dirty="0" err="1"/>
              <a:t>اعضاء</a:t>
            </a:r>
            <a:r>
              <a:rPr lang="ar-EG" sz="2400" b="1" dirty="0"/>
              <a:t> النطق تنفذ سلسلة متتابعة من </a:t>
            </a:r>
            <a:r>
              <a:rPr lang="ar-EG" sz="2400" b="1" dirty="0" err="1"/>
              <a:t>الاشارات</a:t>
            </a:r>
            <a:r>
              <a:rPr lang="ar-EG" sz="2400" b="1" dirty="0"/>
              <a:t> </a:t>
            </a:r>
            <a:r>
              <a:rPr lang="en-US" sz="2400" b="1" dirty="0"/>
              <a:t>Gestures</a:t>
            </a:r>
            <a:r>
              <a:rPr lang="ar-EG" sz="2400" b="1" dirty="0"/>
              <a:t> </a:t>
            </a:r>
            <a:r>
              <a:rPr lang="ar-EG" sz="2400" b="1" dirty="0" err="1"/>
              <a:t>التى</a:t>
            </a:r>
            <a:r>
              <a:rPr lang="ar-EG" sz="2400" b="1" dirty="0"/>
              <a:t> ينتج </a:t>
            </a:r>
            <a:r>
              <a:rPr lang="ar-EG" sz="2400" b="1" dirty="0" err="1"/>
              <a:t>فى</a:t>
            </a:r>
            <a:r>
              <a:rPr lang="ar-EG" sz="2400" b="1" dirty="0"/>
              <a:t> نهايتها </a:t>
            </a:r>
            <a:r>
              <a:rPr lang="ar-EG" sz="2400" b="1" dirty="0" err="1"/>
              <a:t>ال</a:t>
            </a:r>
            <a:r>
              <a:rPr lang="ar-EG" sz="2400" b="1" dirty="0"/>
              <a:t> </a:t>
            </a:r>
            <a:r>
              <a:rPr lang="en-US" sz="2400" b="1" dirty="0"/>
              <a:t>Waveform</a:t>
            </a:r>
            <a:r>
              <a:rPr lang="ar-EG" sz="2400" b="1" dirty="0"/>
              <a:t> </a:t>
            </a:r>
            <a:r>
              <a:rPr lang="ar-EG" sz="2400" b="1" dirty="0" err="1"/>
              <a:t>الذى</a:t>
            </a:r>
            <a:r>
              <a:rPr lang="ar-EG" sz="2400" b="1" dirty="0"/>
              <a:t> يحتوى على معلومات الرسالة </a:t>
            </a:r>
            <a:r>
              <a:rPr lang="ar-EG" sz="2400" b="1" dirty="0" err="1"/>
              <a:t>الاصلية</a:t>
            </a:r>
            <a:r>
              <a:rPr lang="ar-EG" sz="2400" b="1" dirty="0"/>
              <a:t> وعندها تسمع الرسالة للطرف </a:t>
            </a:r>
            <a:r>
              <a:rPr lang="ar-EG" sz="2400" b="1" dirty="0" err="1"/>
              <a:t>الاخر</a:t>
            </a:r>
            <a:r>
              <a:rPr lang="ar-EG" sz="2400" b="1" dirty="0"/>
              <a:t> .</a:t>
            </a:r>
          </a:p>
          <a:p>
            <a:endParaRPr lang="en-US" dirty="0"/>
          </a:p>
          <a:p>
            <a:r>
              <a:rPr lang="en-US" sz="2400" b="1" dirty="0">
                <a:solidFill>
                  <a:schemeClr val="tx2"/>
                </a:solidFill>
              </a:rPr>
              <a:t>Waveform</a:t>
            </a:r>
            <a:r>
              <a:rPr lang="ar-EG" sz="2400" b="1" dirty="0">
                <a:solidFill>
                  <a:schemeClr val="tx2"/>
                </a:solidFill>
              </a:rPr>
              <a:t> عبارة عن شكل من </a:t>
            </a:r>
            <a:r>
              <a:rPr lang="ar-EG" sz="2400" b="1" dirty="0" err="1">
                <a:solidFill>
                  <a:schemeClr val="tx2"/>
                </a:solidFill>
              </a:rPr>
              <a:t>اشكال</a:t>
            </a:r>
            <a:r>
              <a:rPr lang="ar-EG" sz="2400" b="1" dirty="0">
                <a:solidFill>
                  <a:schemeClr val="tx2"/>
                </a:solidFill>
              </a:rPr>
              <a:t> الموجات </a:t>
            </a:r>
            <a:r>
              <a:rPr lang="ar-EG" sz="2400" b="1" dirty="0" err="1">
                <a:solidFill>
                  <a:schemeClr val="tx2"/>
                </a:solidFill>
              </a:rPr>
              <a:t>واحدى</a:t>
            </a:r>
            <a:r>
              <a:rPr lang="ar-EG" sz="2400" b="1" dirty="0">
                <a:solidFill>
                  <a:schemeClr val="tx2"/>
                </a:solidFill>
              </a:rPr>
              <a:t> الطرق </a:t>
            </a:r>
            <a:r>
              <a:rPr lang="ar-EG" sz="2400" b="1" dirty="0" err="1">
                <a:solidFill>
                  <a:schemeClr val="tx2"/>
                </a:solidFill>
              </a:rPr>
              <a:t>التى</a:t>
            </a:r>
            <a:r>
              <a:rPr lang="ar-EG" sz="2400" b="1" dirty="0">
                <a:solidFill>
                  <a:schemeClr val="tx2"/>
                </a:solidFill>
              </a:rPr>
              <a:t> تستطيع تمثيل الكلام بواسطتها . وهى من </a:t>
            </a:r>
            <a:r>
              <a:rPr lang="ar-EG" sz="2400" b="1" dirty="0" err="1">
                <a:solidFill>
                  <a:schemeClr val="tx2"/>
                </a:solidFill>
              </a:rPr>
              <a:t>اسهل</a:t>
            </a:r>
            <a:r>
              <a:rPr lang="ar-EG" sz="2400" b="1" dirty="0">
                <a:solidFill>
                  <a:schemeClr val="tx2"/>
                </a:solidFill>
              </a:rPr>
              <a:t> الموجات كما بالشكل </a:t>
            </a:r>
            <a:r>
              <a:rPr lang="ar-EG" sz="2400" b="1" dirty="0" err="1">
                <a:solidFill>
                  <a:schemeClr val="tx2"/>
                </a:solidFill>
              </a:rPr>
              <a:t>التالى</a:t>
            </a:r>
            <a:r>
              <a:rPr lang="ar-EG" sz="2400" b="1" dirty="0">
                <a:solidFill>
                  <a:schemeClr val="tx2"/>
                </a:solidFill>
              </a:rPr>
              <a:t> :-</a:t>
            </a:r>
            <a:endParaRPr lang="en-US" sz="2400" b="1" dirty="0">
              <a:solidFill>
                <a:schemeClr val="tx2"/>
              </a:solidFill>
            </a:endParaRPr>
          </a:p>
          <a:p>
            <a:endParaRPr lang="ar-EG" dirty="0"/>
          </a:p>
        </p:txBody>
      </p:sp>
      <p:pic>
        <p:nvPicPr>
          <p:cNvPr id="44034" name="Picture 2"/>
          <p:cNvPicPr>
            <a:picLocks noChangeAspect="1" noChangeArrowheads="1"/>
          </p:cNvPicPr>
          <p:nvPr/>
        </p:nvPicPr>
        <p:blipFill>
          <a:blip r:embed="rId2"/>
          <a:srcRect/>
          <a:stretch>
            <a:fillRect/>
          </a:stretch>
        </p:blipFill>
        <p:spPr bwMode="auto">
          <a:xfrm>
            <a:off x="285722" y="3810530"/>
            <a:ext cx="8643999" cy="2786821"/>
          </a:xfrm>
          <a:prstGeom prst="rect">
            <a:avLst/>
          </a:prstGeom>
          <a:noFill/>
          <a:ln w="9525">
            <a:noFill/>
            <a:miter lim="800000"/>
            <a:headEnd/>
            <a:tailEnd/>
          </a:ln>
          <a:effectLst/>
        </p:spPr>
      </p:pic>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1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arn(inHorizontal)">
                                      <p:cBhvr>
                                        <p:cTn id="12" dur="10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7" presetClass="entr" presetSubtype="0" fill="hold" nodeType="clickEffect">
                                  <p:stCondLst>
                                    <p:cond delay="0"/>
                                  </p:stCondLst>
                                  <p:childTnLst>
                                    <p:set>
                                      <p:cBhvr>
                                        <p:cTn id="16" dur="1" fill="hold">
                                          <p:stCondLst>
                                            <p:cond delay="0"/>
                                          </p:stCondLst>
                                        </p:cTn>
                                        <p:tgtEl>
                                          <p:spTgt spid="44034"/>
                                        </p:tgtEl>
                                        <p:attrNameLst>
                                          <p:attrName>style.visibility</p:attrName>
                                        </p:attrNameLst>
                                      </p:cBhvr>
                                      <p:to>
                                        <p:strVal val="visible"/>
                                      </p:to>
                                    </p:set>
                                    <p:animEffect transition="in" filter="fade">
                                      <p:cBhvr>
                                        <p:cTn id="17" dur="1000"/>
                                        <p:tgtEl>
                                          <p:spTgt spid="44034"/>
                                        </p:tgtEl>
                                      </p:cBhvr>
                                    </p:animEffect>
                                    <p:anim calcmode="lin" valueType="num">
                                      <p:cBhvr>
                                        <p:cTn id="18" dur="1000" fill="hold"/>
                                        <p:tgtEl>
                                          <p:spTgt spid="44034"/>
                                        </p:tgtEl>
                                        <p:attrNameLst>
                                          <p:attrName>ppt_x</p:attrName>
                                        </p:attrNameLst>
                                      </p:cBhvr>
                                      <p:tavLst>
                                        <p:tav tm="0">
                                          <p:val>
                                            <p:strVal val="#ppt_x"/>
                                          </p:val>
                                        </p:tav>
                                        <p:tav tm="100000">
                                          <p:val>
                                            <p:strVal val="#ppt_x"/>
                                          </p:val>
                                        </p:tav>
                                      </p:tavLst>
                                    </p:anim>
                                    <p:anim calcmode="lin" valueType="num">
                                      <p:cBhvr>
                                        <p:cTn id="19" dur="1000" fill="hold"/>
                                        <p:tgtEl>
                                          <p:spTgt spid="440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285720" y="500042"/>
            <a:ext cx="8572560" cy="2246769"/>
          </a:xfrm>
          <a:prstGeom prst="rect">
            <a:avLst/>
          </a:prstGeom>
          <a:noFill/>
        </p:spPr>
        <p:txBody>
          <a:bodyPr wrap="square" rtlCol="1">
            <a:spAutoFit/>
          </a:bodyPr>
          <a:lstStyle/>
          <a:p>
            <a:r>
              <a:rPr lang="ar-EG" sz="2800" dirty="0" err="1">
                <a:solidFill>
                  <a:srgbClr val="FFFF99"/>
                </a:solidFill>
              </a:rPr>
              <a:t>واحداثيات</a:t>
            </a:r>
            <a:r>
              <a:rPr lang="ar-EG" sz="2800" dirty="0">
                <a:solidFill>
                  <a:srgbClr val="FFFF99"/>
                </a:solidFill>
              </a:rPr>
              <a:t> </a:t>
            </a:r>
            <a:r>
              <a:rPr lang="ar-EG" sz="2800" dirty="0" err="1">
                <a:solidFill>
                  <a:srgbClr val="FFFF99"/>
                </a:solidFill>
              </a:rPr>
              <a:t>ال</a:t>
            </a:r>
            <a:r>
              <a:rPr lang="ar-EG" sz="2800" dirty="0">
                <a:solidFill>
                  <a:srgbClr val="FFFF99"/>
                </a:solidFill>
              </a:rPr>
              <a:t> </a:t>
            </a:r>
            <a:r>
              <a:rPr lang="en-US" sz="2800" dirty="0">
                <a:solidFill>
                  <a:srgbClr val="FFFF99"/>
                </a:solidFill>
              </a:rPr>
              <a:t>Waveform</a:t>
            </a:r>
            <a:r>
              <a:rPr lang="ar-SA" sz="2800" dirty="0">
                <a:solidFill>
                  <a:srgbClr val="FFFF99"/>
                </a:solidFill>
              </a:rPr>
              <a:t> </a:t>
            </a:r>
            <a:r>
              <a:rPr lang="ar-SA" sz="2800" dirty="0" err="1">
                <a:solidFill>
                  <a:srgbClr val="FFFF99"/>
                </a:solidFill>
              </a:rPr>
              <a:t>السينى</a:t>
            </a:r>
            <a:r>
              <a:rPr lang="ar-EG" sz="2800" dirty="0">
                <a:solidFill>
                  <a:srgbClr val="FFFF99"/>
                </a:solidFill>
              </a:rPr>
              <a:t> هو الوقت </a:t>
            </a:r>
            <a:r>
              <a:rPr lang="en-US" sz="2800" dirty="0">
                <a:solidFill>
                  <a:srgbClr val="FFFF99"/>
                </a:solidFill>
              </a:rPr>
              <a:t>Time</a:t>
            </a:r>
            <a:r>
              <a:rPr lang="ar-EG" sz="2800" dirty="0">
                <a:solidFill>
                  <a:srgbClr val="FFFF99"/>
                </a:solidFill>
              </a:rPr>
              <a:t> </a:t>
            </a:r>
            <a:r>
              <a:rPr lang="ar-EG" sz="2800" dirty="0" err="1">
                <a:solidFill>
                  <a:srgbClr val="FFFF99"/>
                </a:solidFill>
              </a:rPr>
              <a:t>والصادى</a:t>
            </a:r>
            <a:r>
              <a:rPr lang="ar-EG" sz="2800" dirty="0">
                <a:solidFill>
                  <a:srgbClr val="FFFF99"/>
                </a:solidFill>
              </a:rPr>
              <a:t> يمثل الطاقة </a:t>
            </a:r>
            <a:r>
              <a:rPr lang="en-US" sz="2800" dirty="0">
                <a:solidFill>
                  <a:srgbClr val="FFFF99"/>
                </a:solidFill>
              </a:rPr>
              <a:t>Energy</a:t>
            </a:r>
            <a:r>
              <a:rPr lang="ar-EG" sz="2800" dirty="0">
                <a:solidFill>
                  <a:srgbClr val="FFFF99"/>
                </a:solidFill>
              </a:rPr>
              <a:t> للحرف، وهناك انواع أخرى للموجات نستطيع بواسطتها تمثيل الكلام ومنها ما يسمى بـ </a:t>
            </a:r>
            <a:r>
              <a:rPr lang="en-US" sz="2800" dirty="0">
                <a:solidFill>
                  <a:srgbClr val="FFFF99"/>
                </a:solidFill>
              </a:rPr>
              <a:t>Spectrum</a:t>
            </a:r>
            <a:r>
              <a:rPr lang="ar-EG" sz="2800" dirty="0">
                <a:solidFill>
                  <a:srgbClr val="FFFF99"/>
                </a:solidFill>
              </a:rPr>
              <a:t> الذى تكون احداثياته كالتالى : الس</a:t>
            </a:r>
            <a:r>
              <a:rPr lang="ar-SA" sz="2800" dirty="0">
                <a:solidFill>
                  <a:srgbClr val="FFFF99"/>
                </a:solidFill>
              </a:rPr>
              <a:t>ي</a:t>
            </a:r>
            <a:r>
              <a:rPr lang="ar-EG" sz="2800" dirty="0">
                <a:solidFill>
                  <a:srgbClr val="FFFF99"/>
                </a:solidFill>
              </a:rPr>
              <a:t>نى يمثل الترددات </a:t>
            </a:r>
            <a:r>
              <a:rPr lang="en-US" sz="2800" dirty="0">
                <a:solidFill>
                  <a:srgbClr val="FFFF99"/>
                </a:solidFill>
              </a:rPr>
              <a:t>Frequencies</a:t>
            </a:r>
            <a:r>
              <a:rPr lang="ar-EG" sz="2800" dirty="0">
                <a:solidFill>
                  <a:srgbClr val="FFFF99"/>
                </a:solidFill>
              </a:rPr>
              <a:t> </a:t>
            </a:r>
            <a:r>
              <a:rPr lang="ar-EG" sz="2800" dirty="0" err="1">
                <a:solidFill>
                  <a:srgbClr val="FFFF99"/>
                </a:solidFill>
              </a:rPr>
              <a:t>والصادى</a:t>
            </a:r>
            <a:r>
              <a:rPr lang="ar-EG" sz="2800" dirty="0">
                <a:solidFill>
                  <a:srgbClr val="FFFF99"/>
                </a:solidFill>
              </a:rPr>
              <a:t> يمثل </a:t>
            </a:r>
            <a:r>
              <a:rPr lang="ar-EG" sz="2800" dirty="0" err="1">
                <a:solidFill>
                  <a:srgbClr val="FFFF99"/>
                </a:solidFill>
              </a:rPr>
              <a:t>ال</a:t>
            </a:r>
            <a:r>
              <a:rPr lang="ar-EG" sz="2800" dirty="0">
                <a:solidFill>
                  <a:srgbClr val="FFFF99"/>
                </a:solidFill>
              </a:rPr>
              <a:t> </a:t>
            </a:r>
            <a:r>
              <a:rPr lang="en-US" sz="2800" dirty="0">
                <a:solidFill>
                  <a:srgbClr val="FFFF99"/>
                </a:solidFill>
              </a:rPr>
              <a:t>Amplitude</a:t>
            </a:r>
            <a:r>
              <a:rPr lang="ar-EG" sz="2800" dirty="0">
                <a:solidFill>
                  <a:srgbClr val="FFFF99"/>
                </a:solidFill>
              </a:rPr>
              <a:t> وهى </a:t>
            </a:r>
            <a:r>
              <a:rPr lang="ar-EG" sz="2800" dirty="0" err="1">
                <a:solidFill>
                  <a:srgbClr val="FFFF99"/>
                </a:solidFill>
              </a:rPr>
              <a:t>اسهل</a:t>
            </a:r>
            <a:r>
              <a:rPr lang="ar-EG" sz="2800" dirty="0">
                <a:solidFill>
                  <a:srgbClr val="FFFF99"/>
                </a:solidFill>
              </a:rPr>
              <a:t> </a:t>
            </a:r>
            <a:r>
              <a:rPr lang="ar-EG" sz="2800" dirty="0" err="1">
                <a:solidFill>
                  <a:srgbClr val="FFFF99"/>
                </a:solidFill>
              </a:rPr>
              <a:t>فى</a:t>
            </a:r>
            <a:r>
              <a:rPr lang="ar-EG" sz="2800" dirty="0">
                <a:solidFill>
                  <a:srgbClr val="FFFF99"/>
                </a:solidFill>
              </a:rPr>
              <a:t> عملية المعالجة كما بالشكل </a:t>
            </a:r>
            <a:r>
              <a:rPr lang="ar-EG" sz="2800" dirty="0" err="1">
                <a:solidFill>
                  <a:srgbClr val="FFFF99"/>
                </a:solidFill>
              </a:rPr>
              <a:t>التالى</a:t>
            </a:r>
            <a:r>
              <a:rPr lang="ar-EG" sz="2800" dirty="0">
                <a:solidFill>
                  <a:srgbClr val="FFFF99"/>
                </a:solidFill>
              </a:rPr>
              <a:t> :- </a:t>
            </a:r>
          </a:p>
        </p:txBody>
      </p:sp>
      <p:pic>
        <p:nvPicPr>
          <p:cNvPr id="45058" name="Picture 2"/>
          <p:cNvPicPr>
            <a:picLocks noChangeAspect="1" noChangeArrowheads="1"/>
          </p:cNvPicPr>
          <p:nvPr/>
        </p:nvPicPr>
        <p:blipFill>
          <a:blip r:embed="rId2"/>
          <a:srcRect/>
          <a:stretch>
            <a:fillRect/>
          </a:stretch>
        </p:blipFill>
        <p:spPr bwMode="auto">
          <a:xfrm>
            <a:off x="785785" y="3591826"/>
            <a:ext cx="7643867" cy="2861510"/>
          </a:xfrm>
          <a:prstGeom prst="rect">
            <a:avLst/>
          </a:prstGeom>
          <a:noFill/>
          <a:ln w="9525">
            <a:noFill/>
            <a:miter lim="800000"/>
            <a:headEnd/>
            <a:tailEnd/>
          </a:ln>
          <a:effectLst/>
        </p:spPr>
      </p:pic>
    </p:spTree>
  </p:cSld>
  <p:clrMapOvr>
    <a:masterClrMapping/>
  </p:clrMapOvr>
  <p:transition spd="slow">
    <p:pull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Horizontal)">
                                      <p:cBhvr>
                                        <p:cTn id="7" dur="1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5" presetClass="entr" presetSubtype="0" fill="hold" nodeType="clickEffect">
                                  <p:stCondLst>
                                    <p:cond delay="0"/>
                                  </p:stCondLst>
                                  <p:childTnLst>
                                    <p:set>
                                      <p:cBhvr>
                                        <p:cTn id="11" dur="1" fill="hold">
                                          <p:stCondLst>
                                            <p:cond delay="0"/>
                                          </p:stCondLst>
                                        </p:cTn>
                                        <p:tgtEl>
                                          <p:spTgt spid="45058"/>
                                        </p:tgtEl>
                                        <p:attrNameLst>
                                          <p:attrName>style.visibility</p:attrName>
                                        </p:attrNameLst>
                                      </p:cBhvr>
                                      <p:to>
                                        <p:strVal val="visible"/>
                                      </p:to>
                                    </p:set>
                                    <p:anim calcmode="lin" valueType="num">
                                      <p:cBhvr>
                                        <p:cTn id="12" dur="500" decel="50000" fill="hold">
                                          <p:stCondLst>
                                            <p:cond delay="0"/>
                                          </p:stCondLst>
                                        </p:cTn>
                                        <p:tgtEl>
                                          <p:spTgt spid="45058"/>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45058"/>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45058"/>
                                        </p:tgtEl>
                                        <p:attrNameLst>
                                          <p:attrName>ppt_w</p:attrName>
                                        </p:attrNameLst>
                                      </p:cBhvr>
                                      <p:tavLst>
                                        <p:tav tm="0">
                                          <p:val>
                                            <p:strVal val="#ppt_w*.05"/>
                                          </p:val>
                                        </p:tav>
                                        <p:tav tm="100000">
                                          <p:val>
                                            <p:strVal val="#ppt_w"/>
                                          </p:val>
                                        </p:tav>
                                      </p:tavLst>
                                    </p:anim>
                                    <p:anim calcmode="lin" valueType="num">
                                      <p:cBhvr>
                                        <p:cTn id="15" dur="1000" fill="hold"/>
                                        <p:tgtEl>
                                          <p:spTgt spid="45058"/>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45058"/>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45058"/>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45058"/>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45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214282" y="44624"/>
            <a:ext cx="8757263" cy="6740307"/>
          </a:xfrm>
          <a:prstGeom prst="rect">
            <a:avLst/>
          </a:prstGeom>
          <a:noFill/>
        </p:spPr>
        <p:txBody>
          <a:bodyPr wrap="square" rtlCol="1">
            <a:spAutoFit/>
          </a:bodyPr>
          <a:lstStyle/>
          <a:p>
            <a:r>
              <a:rPr lang="ar-EG" sz="2800" b="1" dirty="0" err="1">
                <a:solidFill>
                  <a:schemeClr val="tx2"/>
                </a:solidFill>
              </a:rPr>
              <a:t>اما</a:t>
            </a:r>
            <a:r>
              <a:rPr lang="ar-EG" sz="2800" b="1" dirty="0">
                <a:solidFill>
                  <a:schemeClr val="tx2"/>
                </a:solidFill>
              </a:rPr>
              <a:t> </a:t>
            </a:r>
            <a:r>
              <a:rPr lang="ar-EG" sz="2800" b="1" dirty="0" err="1">
                <a:solidFill>
                  <a:schemeClr val="tx2"/>
                </a:solidFill>
              </a:rPr>
              <a:t>ال</a:t>
            </a:r>
            <a:r>
              <a:rPr lang="ar-EG" sz="2800" b="1" dirty="0">
                <a:solidFill>
                  <a:schemeClr val="tx2"/>
                </a:solidFill>
              </a:rPr>
              <a:t> </a:t>
            </a:r>
            <a:r>
              <a:rPr lang="en-US" sz="2800" b="1" dirty="0">
                <a:solidFill>
                  <a:schemeClr val="tx2"/>
                </a:solidFill>
              </a:rPr>
              <a:t>Spectrogram</a:t>
            </a:r>
            <a:r>
              <a:rPr lang="ar-EG" sz="2800" b="1" dirty="0">
                <a:solidFill>
                  <a:schemeClr val="tx2"/>
                </a:solidFill>
              </a:rPr>
              <a:t> </a:t>
            </a:r>
            <a:r>
              <a:rPr lang="ar-EG" sz="2800" b="1" dirty="0" err="1">
                <a:solidFill>
                  <a:schemeClr val="tx2"/>
                </a:solidFill>
              </a:rPr>
              <a:t>فاننا</a:t>
            </a:r>
            <a:r>
              <a:rPr lang="ar-EG" sz="2800" b="1" dirty="0">
                <a:solidFill>
                  <a:schemeClr val="tx2"/>
                </a:solidFill>
              </a:rPr>
              <a:t> نستطيع تمثيل الكلام </a:t>
            </a:r>
            <a:r>
              <a:rPr lang="ar-EG" sz="2800" b="1" dirty="0" err="1">
                <a:solidFill>
                  <a:schemeClr val="tx2"/>
                </a:solidFill>
              </a:rPr>
              <a:t>بها</a:t>
            </a:r>
            <a:r>
              <a:rPr lang="ar-EG" sz="2800" b="1" dirty="0">
                <a:solidFill>
                  <a:schemeClr val="tx2"/>
                </a:solidFill>
              </a:rPr>
              <a:t> وهى ذات 3 </a:t>
            </a:r>
            <a:r>
              <a:rPr lang="ar-EG" sz="2800" b="1" dirty="0" err="1">
                <a:solidFill>
                  <a:schemeClr val="tx2"/>
                </a:solidFill>
              </a:rPr>
              <a:t>ابعاد</a:t>
            </a:r>
            <a:r>
              <a:rPr lang="ar-EG" sz="2800" b="1" dirty="0">
                <a:solidFill>
                  <a:schemeClr val="tx2"/>
                </a:solidFill>
              </a:rPr>
              <a:t> : </a:t>
            </a:r>
          </a:p>
          <a:p>
            <a:r>
              <a:rPr lang="ar-EG" sz="2800" dirty="0">
                <a:solidFill>
                  <a:srgbClr val="FFFF66"/>
                </a:solidFill>
              </a:rPr>
              <a:t>الوقت </a:t>
            </a:r>
            <a:r>
              <a:rPr lang="en-US" sz="2800" dirty="0">
                <a:solidFill>
                  <a:srgbClr val="FFFF66"/>
                </a:solidFill>
              </a:rPr>
              <a:t>Time</a:t>
            </a:r>
          </a:p>
          <a:p>
            <a:r>
              <a:rPr lang="ar-EG" sz="2800" dirty="0">
                <a:solidFill>
                  <a:srgbClr val="FFFF66"/>
                </a:solidFill>
              </a:rPr>
              <a:t>التردد </a:t>
            </a:r>
            <a:r>
              <a:rPr lang="en-US" sz="2800" dirty="0">
                <a:solidFill>
                  <a:srgbClr val="FFFF66"/>
                </a:solidFill>
              </a:rPr>
              <a:t>Frequencies</a:t>
            </a:r>
            <a:r>
              <a:rPr lang="ar-EG" sz="2800" dirty="0">
                <a:solidFill>
                  <a:srgbClr val="FFFF66"/>
                </a:solidFill>
              </a:rPr>
              <a:t> </a:t>
            </a:r>
          </a:p>
          <a:p>
            <a:r>
              <a:rPr lang="ar-EG" sz="2800" dirty="0">
                <a:solidFill>
                  <a:srgbClr val="FFFF66"/>
                </a:solidFill>
              </a:rPr>
              <a:t>وال </a:t>
            </a:r>
            <a:r>
              <a:rPr lang="en-US" sz="2800" dirty="0">
                <a:solidFill>
                  <a:srgbClr val="FFFF66"/>
                </a:solidFill>
              </a:rPr>
              <a:t>Amplitude</a:t>
            </a:r>
            <a:r>
              <a:rPr lang="ar-EG" sz="2800" dirty="0">
                <a:solidFill>
                  <a:srgbClr val="FFFF66"/>
                </a:solidFill>
              </a:rPr>
              <a:t> </a:t>
            </a:r>
          </a:p>
          <a:p>
            <a:r>
              <a:rPr lang="ar-EG" sz="3200" dirty="0">
                <a:solidFill>
                  <a:schemeClr val="tx2"/>
                </a:solidFill>
              </a:rPr>
              <a:t>ولكنها صعبة </a:t>
            </a:r>
            <a:r>
              <a:rPr lang="ar-EG" sz="3200" dirty="0" err="1">
                <a:solidFill>
                  <a:schemeClr val="tx2"/>
                </a:solidFill>
              </a:rPr>
              <a:t>فى</a:t>
            </a:r>
            <a:r>
              <a:rPr lang="ar-EG" sz="3200" dirty="0">
                <a:solidFill>
                  <a:schemeClr val="tx2"/>
                </a:solidFill>
              </a:rPr>
              <a:t> التعامل مع </a:t>
            </a:r>
            <a:r>
              <a:rPr lang="ar-EG" sz="3200" dirty="0" err="1">
                <a:solidFill>
                  <a:schemeClr val="tx2"/>
                </a:solidFill>
              </a:rPr>
              <a:t>ال</a:t>
            </a:r>
            <a:r>
              <a:rPr lang="ar-EG" sz="3200" dirty="0">
                <a:solidFill>
                  <a:schemeClr val="tx2"/>
                </a:solidFill>
              </a:rPr>
              <a:t> </a:t>
            </a:r>
            <a:r>
              <a:rPr lang="en-US" sz="3200" dirty="0">
                <a:solidFill>
                  <a:schemeClr val="tx2"/>
                </a:solidFill>
              </a:rPr>
              <a:t>wave</a:t>
            </a:r>
            <a:r>
              <a:rPr lang="ar-EG" sz="3200" dirty="0">
                <a:solidFill>
                  <a:schemeClr val="tx2"/>
                </a:solidFill>
              </a:rPr>
              <a:t> ومعالجتها.</a:t>
            </a:r>
            <a:endParaRPr lang="en-US" sz="3200" dirty="0"/>
          </a:p>
          <a:p>
            <a:r>
              <a:rPr lang="ar-EG" sz="2800" dirty="0"/>
              <a:t>عندما أريد أن انطق اى كلمة </a:t>
            </a:r>
            <a:r>
              <a:rPr lang="en-US" sz="2800" dirty="0"/>
              <a:t>Utterance</a:t>
            </a:r>
            <a:r>
              <a:rPr lang="ar-EG" sz="2800" dirty="0"/>
              <a:t> فى البداية سيتم التنفس من الرئتين ثم يخرج الهواء الى الحنجرة والذى يسبب عند مروره بها اهتزاز الحبال الصوتية.</a:t>
            </a:r>
            <a:endParaRPr lang="en-US" sz="2800" dirty="0"/>
          </a:p>
          <a:p>
            <a:r>
              <a:rPr lang="en-US" sz="2800" dirty="0"/>
              <a:t>Vocal Folds Vocal Cords</a:t>
            </a:r>
            <a:r>
              <a:rPr lang="ar-EG" sz="2800" dirty="0"/>
              <a:t> ويستمر </a:t>
            </a:r>
            <a:r>
              <a:rPr lang="ar-EG" sz="2800" dirty="0" err="1"/>
              <a:t>فى</a:t>
            </a:r>
            <a:r>
              <a:rPr lang="ar-EG" sz="2800" dirty="0"/>
              <a:t> مسيره حتى يصل </a:t>
            </a:r>
            <a:r>
              <a:rPr lang="ar-EG" sz="2800" dirty="0" err="1"/>
              <a:t>الى</a:t>
            </a:r>
            <a:r>
              <a:rPr lang="ar-EG" sz="2800" dirty="0"/>
              <a:t> </a:t>
            </a:r>
            <a:r>
              <a:rPr lang="ar-EG" sz="2800" dirty="0" err="1"/>
              <a:t>القناه</a:t>
            </a:r>
            <a:r>
              <a:rPr lang="ar-EG" sz="2800" dirty="0"/>
              <a:t> الصوتية </a:t>
            </a:r>
            <a:r>
              <a:rPr lang="en-US" sz="2800" dirty="0"/>
              <a:t>Vocal Track</a:t>
            </a:r>
            <a:r>
              <a:rPr lang="ar-EG" sz="2800" dirty="0"/>
              <a:t> ومنه </a:t>
            </a:r>
            <a:r>
              <a:rPr lang="ar-EG" sz="2800" dirty="0" err="1"/>
              <a:t>الى</a:t>
            </a:r>
            <a:r>
              <a:rPr lang="ar-EG" sz="2800" dirty="0"/>
              <a:t> التجويف </a:t>
            </a:r>
            <a:r>
              <a:rPr lang="ar-EG" sz="2800" dirty="0" err="1"/>
              <a:t>الفمى</a:t>
            </a:r>
            <a:r>
              <a:rPr lang="ar-EG" sz="2800" dirty="0"/>
              <a:t> </a:t>
            </a:r>
            <a:r>
              <a:rPr lang="en-US" sz="2800" dirty="0"/>
              <a:t>Oral Cavity</a:t>
            </a:r>
            <a:r>
              <a:rPr lang="ar-EG" sz="2800" dirty="0"/>
              <a:t> وممكن </a:t>
            </a:r>
            <a:r>
              <a:rPr lang="ar-EG" sz="2800" dirty="0" err="1"/>
              <a:t>فى</a:t>
            </a:r>
            <a:r>
              <a:rPr lang="ar-EG" sz="2800" dirty="0"/>
              <a:t> بعض الحروف مثل ( </a:t>
            </a:r>
            <a:r>
              <a:rPr lang="ar-EG" sz="2800" dirty="0" err="1"/>
              <a:t>م</a:t>
            </a:r>
            <a:r>
              <a:rPr lang="ar-EG" sz="2800" dirty="0"/>
              <a:t> ، </a:t>
            </a:r>
            <a:r>
              <a:rPr lang="ar-EG" sz="2800" dirty="0" err="1"/>
              <a:t>ن</a:t>
            </a:r>
            <a:r>
              <a:rPr lang="ar-EG" sz="2800" dirty="0"/>
              <a:t> )</a:t>
            </a:r>
            <a:endParaRPr lang="en-US" sz="2800" dirty="0"/>
          </a:p>
          <a:p>
            <a:r>
              <a:rPr lang="ar-EG" sz="2400" dirty="0">
                <a:solidFill>
                  <a:srgbClr val="FFFF66"/>
                </a:solidFill>
              </a:rPr>
              <a:t>يضطر الهواء للمرور بالتجويف </a:t>
            </a:r>
            <a:r>
              <a:rPr lang="ar-EG" sz="2400" dirty="0" err="1">
                <a:solidFill>
                  <a:srgbClr val="FFFF66"/>
                </a:solidFill>
              </a:rPr>
              <a:t>الأنفى</a:t>
            </a:r>
            <a:r>
              <a:rPr lang="ar-EG" sz="2400" dirty="0">
                <a:solidFill>
                  <a:srgbClr val="FFFF66"/>
                </a:solidFill>
              </a:rPr>
              <a:t> </a:t>
            </a:r>
            <a:r>
              <a:rPr lang="en-US" sz="2400" dirty="0">
                <a:solidFill>
                  <a:srgbClr val="FFFF66"/>
                </a:solidFill>
              </a:rPr>
              <a:t>Nasal Cavity</a:t>
            </a:r>
            <a:r>
              <a:rPr lang="ar-EG" sz="2400" dirty="0">
                <a:solidFill>
                  <a:srgbClr val="FFFF66"/>
                </a:solidFill>
              </a:rPr>
              <a:t> وبعدها تخرج الكلمة وتصبح مسموعة وتتحول </a:t>
            </a:r>
            <a:r>
              <a:rPr lang="ar-EG" sz="2400" dirty="0" err="1">
                <a:solidFill>
                  <a:srgbClr val="FFFF66"/>
                </a:solidFill>
              </a:rPr>
              <a:t>الى</a:t>
            </a:r>
            <a:r>
              <a:rPr lang="ar-EG" sz="2400" dirty="0">
                <a:solidFill>
                  <a:srgbClr val="FFFF66"/>
                </a:solidFill>
              </a:rPr>
              <a:t>  </a:t>
            </a:r>
            <a:r>
              <a:rPr lang="ar-EG" sz="2400" dirty="0" err="1">
                <a:solidFill>
                  <a:srgbClr val="FFFF66"/>
                </a:solidFill>
              </a:rPr>
              <a:t>ال</a:t>
            </a:r>
            <a:r>
              <a:rPr lang="ar-EG" sz="2400" dirty="0">
                <a:solidFill>
                  <a:srgbClr val="FFFF66"/>
                </a:solidFill>
              </a:rPr>
              <a:t> </a:t>
            </a:r>
            <a:r>
              <a:rPr lang="en-US" sz="2400" dirty="0">
                <a:solidFill>
                  <a:srgbClr val="FFFF66"/>
                </a:solidFill>
              </a:rPr>
              <a:t>Waveform</a:t>
            </a:r>
            <a:r>
              <a:rPr lang="ar-EG" sz="2400" dirty="0">
                <a:solidFill>
                  <a:srgbClr val="FFFF66"/>
                </a:solidFill>
              </a:rPr>
              <a:t> عندها سنطلق عليها مسمى </a:t>
            </a:r>
            <a:r>
              <a:rPr lang="en-US" sz="2400" dirty="0">
                <a:solidFill>
                  <a:srgbClr val="FFFF66"/>
                </a:solidFill>
              </a:rPr>
              <a:t>Acoustic</a:t>
            </a:r>
            <a:r>
              <a:rPr lang="ar-EG" sz="2400" dirty="0">
                <a:solidFill>
                  <a:srgbClr val="FFFF66"/>
                </a:solidFill>
              </a:rPr>
              <a:t> إذن نطلق على الكلمة مصطلح </a:t>
            </a:r>
            <a:r>
              <a:rPr lang="en-US" sz="2400" dirty="0">
                <a:solidFill>
                  <a:srgbClr val="FFFF66"/>
                </a:solidFill>
              </a:rPr>
              <a:t>Acoustic</a:t>
            </a:r>
            <a:r>
              <a:rPr lang="ar-EG" sz="2400" dirty="0">
                <a:solidFill>
                  <a:srgbClr val="FFFF66"/>
                </a:solidFill>
              </a:rPr>
              <a:t> عندما تخرج من الفم وتتحول </a:t>
            </a:r>
            <a:r>
              <a:rPr lang="ar-EG" sz="2400" dirty="0" err="1">
                <a:solidFill>
                  <a:srgbClr val="FFFF66"/>
                </a:solidFill>
              </a:rPr>
              <a:t>الى</a:t>
            </a:r>
            <a:r>
              <a:rPr lang="ar-EG" sz="2400" dirty="0">
                <a:solidFill>
                  <a:srgbClr val="FFFF66"/>
                </a:solidFill>
              </a:rPr>
              <a:t> </a:t>
            </a:r>
            <a:r>
              <a:rPr lang="en-US" sz="2400" dirty="0">
                <a:solidFill>
                  <a:srgbClr val="FFFF66"/>
                </a:solidFill>
              </a:rPr>
              <a:t>Waveform</a:t>
            </a:r>
            <a:r>
              <a:rPr lang="ar-EG" sz="2400" dirty="0">
                <a:solidFill>
                  <a:srgbClr val="FFFF66"/>
                </a:solidFill>
              </a:rPr>
              <a:t> وتصبح </a:t>
            </a:r>
            <a:r>
              <a:rPr lang="ar-EG" sz="2400" dirty="0" err="1">
                <a:solidFill>
                  <a:srgbClr val="FFFF66"/>
                </a:solidFill>
              </a:rPr>
              <a:t>مسموعه</a:t>
            </a:r>
            <a:r>
              <a:rPr lang="ar-EG" sz="2400" dirty="0">
                <a:solidFill>
                  <a:srgbClr val="FFFF66"/>
                </a:solidFill>
              </a:rPr>
              <a:t> والعملية العكسية </a:t>
            </a:r>
            <a:r>
              <a:rPr lang="ar-EG" sz="2400" dirty="0" err="1">
                <a:solidFill>
                  <a:srgbClr val="FFFF66"/>
                </a:solidFill>
              </a:rPr>
              <a:t>هى</a:t>
            </a:r>
            <a:r>
              <a:rPr lang="ar-EG" sz="2400" dirty="0">
                <a:solidFill>
                  <a:srgbClr val="FFFF66"/>
                </a:solidFill>
              </a:rPr>
              <a:t> </a:t>
            </a:r>
            <a:r>
              <a:rPr lang="ar-EG" sz="2400" dirty="0" err="1">
                <a:solidFill>
                  <a:srgbClr val="FFFF66"/>
                </a:solidFill>
              </a:rPr>
              <a:t>الاذن</a:t>
            </a:r>
            <a:r>
              <a:rPr lang="ar-EG" sz="2400" dirty="0">
                <a:solidFill>
                  <a:srgbClr val="FFFF66"/>
                </a:solidFill>
              </a:rPr>
              <a:t> </a:t>
            </a:r>
            <a:r>
              <a:rPr lang="ar-EG" sz="2400" dirty="0" err="1">
                <a:solidFill>
                  <a:srgbClr val="FFFF66"/>
                </a:solidFill>
              </a:rPr>
              <a:t>التى</a:t>
            </a:r>
            <a:r>
              <a:rPr lang="ar-EG" sz="2400" dirty="0">
                <a:solidFill>
                  <a:srgbClr val="FFFF66"/>
                </a:solidFill>
              </a:rPr>
              <a:t> تستقبل هذا الكلام حيث تدخل </a:t>
            </a:r>
            <a:r>
              <a:rPr lang="ar-EG" sz="2400" dirty="0" err="1">
                <a:solidFill>
                  <a:srgbClr val="FFFF66"/>
                </a:solidFill>
              </a:rPr>
              <a:t>الاشارات</a:t>
            </a:r>
            <a:r>
              <a:rPr lang="ar-EG" sz="2400" dirty="0">
                <a:solidFill>
                  <a:srgbClr val="FFFF66"/>
                </a:solidFill>
              </a:rPr>
              <a:t> </a:t>
            </a:r>
            <a:r>
              <a:rPr lang="ar-EG" sz="2400" dirty="0" err="1">
                <a:solidFill>
                  <a:srgbClr val="FFFF66"/>
                </a:solidFill>
              </a:rPr>
              <a:t>الى</a:t>
            </a:r>
            <a:r>
              <a:rPr lang="ar-EG" sz="2400" dirty="0">
                <a:solidFill>
                  <a:srgbClr val="FFFF66"/>
                </a:solidFill>
              </a:rPr>
              <a:t> طبلة </a:t>
            </a:r>
            <a:r>
              <a:rPr lang="ar-EG" sz="2400" dirty="0" err="1">
                <a:solidFill>
                  <a:srgbClr val="FFFF66"/>
                </a:solidFill>
              </a:rPr>
              <a:t>الاذن</a:t>
            </a:r>
            <a:r>
              <a:rPr lang="ar-EG" sz="2400" dirty="0">
                <a:solidFill>
                  <a:srgbClr val="FFFF66"/>
                </a:solidFill>
              </a:rPr>
              <a:t> وتبدأ المطروقة تضرب وتصل الرسالة </a:t>
            </a:r>
            <a:r>
              <a:rPr lang="ar-EG" sz="2400" dirty="0" err="1">
                <a:solidFill>
                  <a:srgbClr val="FFFF66"/>
                </a:solidFill>
              </a:rPr>
              <a:t>الى</a:t>
            </a:r>
            <a:r>
              <a:rPr lang="ar-EG" sz="2400" dirty="0">
                <a:solidFill>
                  <a:srgbClr val="FFFF66"/>
                </a:solidFill>
              </a:rPr>
              <a:t> الشخص </a:t>
            </a:r>
            <a:r>
              <a:rPr lang="ar-EG" sz="2400" dirty="0" err="1">
                <a:solidFill>
                  <a:srgbClr val="FFFF66"/>
                </a:solidFill>
              </a:rPr>
              <a:t>الاخر</a:t>
            </a:r>
            <a:r>
              <a:rPr lang="ar-EG" sz="2400" dirty="0">
                <a:solidFill>
                  <a:srgbClr val="FFFF66"/>
                </a:solidFill>
              </a:rPr>
              <a:t> وتسمع الكلمة .</a:t>
            </a:r>
            <a:endParaRPr lang="en-US" sz="2400" dirty="0">
              <a:solidFill>
                <a:srgbClr val="FFFF66"/>
              </a:solidFill>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decel="50000" fill="hold">
                                          <p:stCondLst>
                                            <p:cond delay="0"/>
                                          </p:stCondLst>
                                        </p:cTn>
                                        <p:tgtEl>
                                          <p:spTgt spid="2">
                                            <p:txEl>
                                              <p:pRg st="0" end="0"/>
                                            </p:txEl>
                                          </p:spTgt>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xEl>
                                              <p:pRg st="0" end="0"/>
                                            </p:txEl>
                                          </p:spTgt>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xEl>
                                              <p:pRg st="0" end="0"/>
                                            </p:txEl>
                                          </p:spTgt>
                                        </p:tgtEl>
                                        <p:attrNameLst>
                                          <p:attrName>ppt_w</p:attrName>
                                        </p:attrNameLst>
                                      </p:cBhvr>
                                      <p:tavLst>
                                        <p:tav tm="0">
                                          <p:val>
                                            <p:strVal val="#ppt_w*.05"/>
                                          </p:val>
                                        </p:tav>
                                        <p:tav tm="100000">
                                          <p:val>
                                            <p:strVal val="#ppt_w"/>
                                          </p:val>
                                        </p:tav>
                                      </p:tavLst>
                                    </p:anim>
                                    <p:anim calcmode="lin" valueType="num">
                                      <p:cBhvr>
                                        <p:cTn id="10" dur="1000" fill="hold"/>
                                        <p:tgtEl>
                                          <p:spTgt spid="2">
                                            <p:txEl>
                                              <p:pRg st="0" end="0"/>
                                            </p:txEl>
                                          </p:spTgt>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xEl>
                                              <p:pRg st="0" end="0"/>
                                            </p:txEl>
                                          </p:spTgt>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xEl>
                                              <p:pRg st="0" end="0"/>
                                            </p:txEl>
                                          </p:spTgt>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xEl>
                                              <p:pRg st="0" end="0"/>
                                            </p:txEl>
                                          </p:spTgt>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checkerboard(across)">
                                      <p:cBhvr>
                                        <p:cTn id="19" dur="1000"/>
                                        <p:tgtEl>
                                          <p:spTgt spid="2">
                                            <p:txEl>
                                              <p:pRg st="1" end="1"/>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checkerboard(across)">
                                      <p:cBhvr>
                                        <p:cTn id="22" dur="1000"/>
                                        <p:tgtEl>
                                          <p:spTgt spid="2">
                                            <p:txEl>
                                              <p:pRg st="2" end="2"/>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Effect transition="in" filter="checkerboard(across)">
                                      <p:cBhvr>
                                        <p:cTn id="25" dur="1000"/>
                                        <p:tgtEl>
                                          <p:spTgt spid="2">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5" presetClass="entr" presetSubtype="0" fill="hold" nodeType="clickEffect">
                                  <p:stCondLst>
                                    <p:cond delay="0"/>
                                  </p:stCondLst>
                                  <p:childTnLst>
                                    <p:set>
                                      <p:cBhvr>
                                        <p:cTn id="29" dur="1" fill="hold">
                                          <p:stCondLst>
                                            <p:cond delay="0"/>
                                          </p:stCondLst>
                                        </p:cTn>
                                        <p:tgtEl>
                                          <p:spTgt spid="2">
                                            <p:txEl>
                                              <p:pRg st="4" end="4"/>
                                            </p:txEl>
                                          </p:spTgt>
                                        </p:tgtEl>
                                        <p:attrNameLst>
                                          <p:attrName>style.visibility</p:attrName>
                                        </p:attrNameLst>
                                      </p:cBhvr>
                                      <p:to>
                                        <p:strVal val="visible"/>
                                      </p:to>
                                    </p:set>
                                    <p:anim calcmode="lin" valueType="num">
                                      <p:cBhvr>
                                        <p:cTn id="30" dur="500" decel="50000" fill="hold">
                                          <p:stCondLst>
                                            <p:cond delay="0"/>
                                          </p:stCondLst>
                                        </p:cTn>
                                        <p:tgtEl>
                                          <p:spTgt spid="2">
                                            <p:txEl>
                                              <p:pRg st="4" end="4"/>
                                            </p:txEl>
                                          </p:spTgt>
                                        </p:tgtEl>
                                        <p:attrNameLst>
                                          <p:attrName>style.rotation</p:attrName>
                                        </p:attrNameLst>
                                      </p:cBhvr>
                                      <p:tavLst>
                                        <p:tav tm="0">
                                          <p:val>
                                            <p:fltVal val="-90"/>
                                          </p:val>
                                        </p:tav>
                                        <p:tav tm="100000">
                                          <p:val>
                                            <p:fltVal val="0"/>
                                          </p:val>
                                        </p:tav>
                                      </p:tavLst>
                                    </p:anim>
                                    <p:anim calcmode="lin" valueType="num">
                                      <p:cBhvr>
                                        <p:cTn id="31" dur="500" decel="50000" fill="hold">
                                          <p:stCondLst>
                                            <p:cond delay="0"/>
                                          </p:stCondLst>
                                        </p:cTn>
                                        <p:tgtEl>
                                          <p:spTgt spid="2">
                                            <p:txEl>
                                              <p:pRg st="4" end="4"/>
                                            </p:txEl>
                                          </p:spTgt>
                                        </p:tgtEl>
                                        <p:attrNameLst>
                                          <p:attrName>ppt_w</p:attrName>
                                        </p:attrNameLst>
                                      </p:cBhvr>
                                      <p:tavLst>
                                        <p:tav tm="0">
                                          <p:val>
                                            <p:strVal val="#ppt_w"/>
                                          </p:val>
                                        </p:tav>
                                        <p:tav tm="100000">
                                          <p:val>
                                            <p:strVal val="#ppt_w*.05"/>
                                          </p:val>
                                        </p:tav>
                                      </p:tavLst>
                                    </p:anim>
                                    <p:anim calcmode="lin" valueType="num">
                                      <p:cBhvr>
                                        <p:cTn id="32" dur="500" accel="50000" fill="hold">
                                          <p:stCondLst>
                                            <p:cond delay="500"/>
                                          </p:stCondLst>
                                        </p:cTn>
                                        <p:tgtEl>
                                          <p:spTgt spid="2">
                                            <p:txEl>
                                              <p:pRg st="4" end="4"/>
                                            </p:txEl>
                                          </p:spTgt>
                                        </p:tgtEl>
                                        <p:attrNameLst>
                                          <p:attrName>ppt_w</p:attrName>
                                        </p:attrNameLst>
                                      </p:cBhvr>
                                      <p:tavLst>
                                        <p:tav tm="0">
                                          <p:val>
                                            <p:strVal val="#ppt_w*.05"/>
                                          </p:val>
                                        </p:tav>
                                        <p:tav tm="100000">
                                          <p:val>
                                            <p:strVal val="#ppt_w"/>
                                          </p:val>
                                        </p:tav>
                                      </p:tavLst>
                                    </p:anim>
                                    <p:anim calcmode="lin" valueType="num">
                                      <p:cBhvr>
                                        <p:cTn id="33" dur="1000" fill="hold"/>
                                        <p:tgtEl>
                                          <p:spTgt spid="2">
                                            <p:txEl>
                                              <p:pRg st="4" end="4"/>
                                            </p:txEl>
                                          </p:spTgt>
                                        </p:tgtEl>
                                        <p:attrNameLst>
                                          <p:attrName>ppt_h</p:attrName>
                                        </p:attrNameLst>
                                      </p:cBhvr>
                                      <p:tavLst>
                                        <p:tav tm="0">
                                          <p:val>
                                            <p:strVal val="#ppt_h"/>
                                          </p:val>
                                        </p:tav>
                                        <p:tav tm="100000">
                                          <p:val>
                                            <p:strVal val="#ppt_h"/>
                                          </p:val>
                                        </p:tav>
                                      </p:tavLst>
                                    </p:anim>
                                    <p:anim calcmode="lin" valueType="num">
                                      <p:cBhvr>
                                        <p:cTn id="34" dur="500" decel="50000" fill="hold">
                                          <p:stCondLst>
                                            <p:cond delay="0"/>
                                          </p:stCondLst>
                                        </p:cTn>
                                        <p:tgtEl>
                                          <p:spTgt spid="2">
                                            <p:txEl>
                                              <p:pRg st="4" end="4"/>
                                            </p:txEl>
                                          </p:spTgt>
                                        </p:tgtEl>
                                        <p:attrNameLst>
                                          <p:attrName>ppt_x</p:attrName>
                                        </p:attrNameLst>
                                      </p:cBhvr>
                                      <p:tavLst>
                                        <p:tav tm="0">
                                          <p:val>
                                            <p:strVal val="#ppt_x+.4"/>
                                          </p:val>
                                        </p:tav>
                                        <p:tav tm="100000">
                                          <p:val>
                                            <p:strVal val="#ppt_x"/>
                                          </p:val>
                                        </p:tav>
                                      </p:tavLst>
                                    </p:anim>
                                    <p:anim calcmode="lin" valueType="num">
                                      <p:cBhvr>
                                        <p:cTn id="35" dur="500" decel="50000" fill="hold">
                                          <p:stCondLst>
                                            <p:cond delay="0"/>
                                          </p:stCondLst>
                                        </p:cTn>
                                        <p:tgtEl>
                                          <p:spTgt spid="2">
                                            <p:txEl>
                                              <p:pRg st="4" end="4"/>
                                            </p:txEl>
                                          </p:spTgt>
                                        </p:tgtEl>
                                        <p:attrNameLst>
                                          <p:attrName>ppt_y</p:attrName>
                                        </p:attrNameLst>
                                      </p:cBhvr>
                                      <p:tavLst>
                                        <p:tav tm="0">
                                          <p:val>
                                            <p:strVal val="#ppt_y-.2"/>
                                          </p:val>
                                        </p:tav>
                                        <p:tav tm="100000">
                                          <p:val>
                                            <p:strVal val="#ppt_y+.1"/>
                                          </p:val>
                                        </p:tav>
                                      </p:tavLst>
                                    </p:anim>
                                    <p:anim calcmode="lin" valueType="num">
                                      <p:cBhvr>
                                        <p:cTn id="36" dur="500" accel="50000" fill="hold">
                                          <p:stCondLst>
                                            <p:cond delay="500"/>
                                          </p:stCondLst>
                                        </p:cTn>
                                        <p:tgtEl>
                                          <p:spTgt spid="2">
                                            <p:txEl>
                                              <p:pRg st="4" end="4"/>
                                            </p:txEl>
                                          </p:spTgt>
                                        </p:tgtEl>
                                        <p:attrNameLst>
                                          <p:attrName>ppt_y</p:attrName>
                                        </p:attrNameLst>
                                      </p:cBhvr>
                                      <p:tavLst>
                                        <p:tav tm="0">
                                          <p:val>
                                            <p:strVal val="#ppt_y+.1"/>
                                          </p:val>
                                        </p:tav>
                                        <p:tav tm="100000">
                                          <p:val>
                                            <p:strVal val="#ppt_y"/>
                                          </p:val>
                                        </p:tav>
                                      </p:tavLst>
                                    </p:anim>
                                    <p:animEffect transition="in" filter="fade">
                                      <p:cBhvr>
                                        <p:cTn id="37" dur="1000" decel="50000">
                                          <p:stCondLst>
                                            <p:cond delay="0"/>
                                          </p:stCondLst>
                                        </p:cTn>
                                        <p:tgtEl>
                                          <p:spTgt spid="2">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blinds(horizontal)">
                                      <p:cBhvr>
                                        <p:cTn id="42" dur="1000"/>
                                        <p:tgtEl>
                                          <p:spTgt spid="2">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2">
                                            <p:txEl>
                                              <p:pRg st="6" end="6"/>
                                            </p:txEl>
                                          </p:spTgt>
                                        </p:tgtEl>
                                        <p:attrNameLst>
                                          <p:attrName>style.visibility</p:attrName>
                                        </p:attrNameLst>
                                      </p:cBhvr>
                                      <p:to>
                                        <p:strVal val="visible"/>
                                      </p:to>
                                    </p:set>
                                    <p:animEffect transition="in" filter="box(in)">
                                      <p:cBhvr>
                                        <p:cTn id="47" dur="1000"/>
                                        <p:tgtEl>
                                          <p:spTgt spid="2">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12" fill="hold" nodeType="clickEffect">
                                  <p:stCondLst>
                                    <p:cond delay="0"/>
                                  </p:stCondLst>
                                  <p:childTnLst>
                                    <p:set>
                                      <p:cBhvr>
                                        <p:cTn id="51" dur="1" fill="hold">
                                          <p:stCondLst>
                                            <p:cond delay="0"/>
                                          </p:stCondLst>
                                        </p:cTn>
                                        <p:tgtEl>
                                          <p:spTgt spid="2">
                                            <p:txEl>
                                              <p:pRg st="7" end="7"/>
                                            </p:txEl>
                                          </p:spTgt>
                                        </p:tgtEl>
                                        <p:attrNameLst>
                                          <p:attrName>style.visibility</p:attrName>
                                        </p:attrNameLst>
                                      </p:cBhvr>
                                      <p:to>
                                        <p:strVal val="visible"/>
                                      </p:to>
                                    </p:set>
                                    <p:anim calcmode="lin" valueType="num">
                                      <p:cBhvr additive="base">
                                        <p:cTn id="52" dur="1000" fill="hold"/>
                                        <p:tgtEl>
                                          <p:spTgt spid="2">
                                            <p:txEl>
                                              <p:pRg st="7" end="7"/>
                                            </p:txEl>
                                          </p:spTgt>
                                        </p:tgtEl>
                                        <p:attrNameLst>
                                          <p:attrName>ppt_x</p:attrName>
                                        </p:attrNameLst>
                                      </p:cBhvr>
                                      <p:tavLst>
                                        <p:tav tm="0">
                                          <p:val>
                                            <p:strVal val="0-#ppt_w/2"/>
                                          </p:val>
                                        </p:tav>
                                        <p:tav tm="100000">
                                          <p:val>
                                            <p:strVal val="#ppt_x"/>
                                          </p:val>
                                        </p:tav>
                                      </p:tavLst>
                                    </p:anim>
                                    <p:anim calcmode="lin" valueType="num">
                                      <p:cBhvr additive="base">
                                        <p:cTn id="53" dur="10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3214678" y="285728"/>
            <a:ext cx="5614022" cy="584775"/>
          </a:xfrm>
          <a:prstGeom prst="rect">
            <a:avLst/>
          </a:prstGeom>
          <a:noFill/>
        </p:spPr>
        <p:txBody>
          <a:bodyPr wrap="square" rtlCol="1">
            <a:spAutoFit/>
          </a:bodyPr>
          <a:lstStyle/>
          <a:p>
            <a:r>
              <a:rPr lang="ar-EG" sz="3200" b="1" dirty="0">
                <a:solidFill>
                  <a:srgbClr val="FFC000"/>
                </a:solidFill>
              </a:rPr>
              <a:t>وفى الرسم التالي تفاصيل لجهاز النطق ...</a:t>
            </a:r>
            <a:endParaRPr lang="en-US" sz="3200" b="1" dirty="0">
              <a:solidFill>
                <a:srgbClr val="FFC000"/>
              </a:solidFill>
            </a:endParaRPr>
          </a:p>
        </p:txBody>
      </p:sp>
      <p:pic>
        <p:nvPicPr>
          <p:cNvPr id="3" name="صورة 2" descr="الجهاز الصوتي.png"/>
          <p:cNvPicPr>
            <a:picLocks noChangeAspect="1"/>
          </p:cNvPicPr>
          <p:nvPr/>
        </p:nvPicPr>
        <p:blipFill>
          <a:blip r:embed="rId2"/>
          <a:stretch>
            <a:fillRect/>
          </a:stretch>
        </p:blipFill>
        <p:spPr>
          <a:xfrm>
            <a:off x="428596" y="1000108"/>
            <a:ext cx="8215370" cy="5504489"/>
          </a:xfrm>
          <a:prstGeom prst="rect">
            <a:avLst/>
          </a:prstGeom>
        </p:spPr>
      </p:pic>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2">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2">
                                            <p:txEl>
                                              <p:pRg st="0" end="0"/>
                                            </p:txEl>
                                          </p:spTgt>
                                        </p:tgtEl>
                                        <p:attrNameLst>
                                          <p:attrName>style.rotation</p:attrName>
                                        </p:attrNameLst>
                                      </p:cBhvr>
                                      <p:tavLst>
                                        <p:tav tm="0">
                                          <p:val>
                                            <p:fltVal val="360"/>
                                          </p:val>
                                        </p:tav>
                                        <p:tav tm="100000">
                                          <p:val>
                                            <p:fltVal val="0"/>
                                          </p:val>
                                        </p:tav>
                                      </p:tavLst>
                                    </p:anim>
                                    <p:animEffect transition="in" filter="fade">
                                      <p:cBhvr>
                                        <p:cTn id="10" dur="1000"/>
                                        <p:tgtEl>
                                          <p:spTgt spid="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7"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1000"/>
                                        <p:tgtEl>
                                          <p:spTgt spid="3"/>
                                        </p:tgtEl>
                                      </p:cBhvr>
                                    </p:animEffect>
                                    <p:anim calcmode="lin" valueType="num">
                                      <p:cBhvr>
                                        <p:cTn id="16" dur="1000" fill="hold"/>
                                        <p:tgtEl>
                                          <p:spTgt spid="3"/>
                                        </p:tgtEl>
                                        <p:attrNameLst>
                                          <p:attrName>ppt_x</p:attrName>
                                        </p:attrNameLst>
                                      </p:cBhvr>
                                      <p:tavLst>
                                        <p:tav tm="0">
                                          <p:val>
                                            <p:strVal val="#ppt_x"/>
                                          </p:val>
                                        </p:tav>
                                        <p:tav tm="100000">
                                          <p:val>
                                            <p:strVal val="#ppt_x"/>
                                          </p:val>
                                        </p:tav>
                                      </p:tavLst>
                                    </p:anim>
                                    <p:anim calcmode="lin" valueType="num">
                                      <p:cBhvr>
                                        <p:cTn id="1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395536" y="216537"/>
            <a:ext cx="3168352" cy="584775"/>
          </a:xfrm>
          <a:prstGeom prst="rect">
            <a:avLst/>
          </a:prstGeom>
        </p:spPr>
        <p:style>
          <a:lnRef idx="3">
            <a:schemeClr val="lt1"/>
          </a:lnRef>
          <a:fillRef idx="1">
            <a:schemeClr val="accent2"/>
          </a:fillRef>
          <a:effectRef idx="1">
            <a:schemeClr val="accent2"/>
          </a:effectRef>
          <a:fontRef idx="minor">
            <a:schemeClr val="lt1"/>
          </a:fontRef>
        </p:style>
        <p:txBody>
          <a:bodyPr wrap="square" rtlCol="1">
            <a:spAutoFit/>
          </a:bodyPr>
          <a:lstStyle/>
          <a:p>
            <a:pPr algn="l"/>
            <a:r>
              <a:rPr lang="en-US" sz="3200" b="1" dirty="0"/>
              <a:t>2-Recognition</a:t>
            </a:r>
            <a:endParaRPr lang="ar-EG" sz="3200" b="1" dirty="0"/>
          </a:p>
        </p:txBody>
      </p:sp>
      <p:sp>
        <p:nvSpPr>
          <p:cNvPr id="3" name="مربع نص 2"/>
          <p:cNvSpPr txBox="1"/>
          <p:nvPr/>
        </p:nvSpPr>
        <p:spPr>
          <a:xfrm>
            <a:off x="251520" y="1124744"/>
            <a:ext cx="8678199" cy="800219"/>
          </a:xfrm>
          <a:prstGeom prst="rect">
            <a:avLst/>
          </a:prstGeom>
          <a:noFill/>
        </p:spPr>
        <p:txBody>
          <a:bodyPr wrap="square" rtlCol="1">
            <a:spAutoFit/>
          </a:bodyPr>
          <a:lstStyle/>
          <a:p>
            <a:r>
              <a:rPr lang="ar-EG" sz="2800" b="1" dirty="0">
                <a:solidFill>
                  <a:schemeClr val="tx2"/>
                </a:solidFill>
              </a:rPr>
              <a:t>هي مرحلة التعرف على الصوت المدخل وتنقسم هذه المرحلة إلى قسمين :</a:t>
            </a:r>
            <a:endParaRPr lang="en-US" sz="2800" b="1" dirty="0">
              <a:solidFill>
                <a:schemeClr val="tx2"/>
              </a:solidFill>
            </a:endParaRPr>
          </a:p>
          <a:p>
            <a:endParaRPr lang="ar-EG" b="1" dirty="0">
              <a:solidFill>
                <a:schemeClr val="tx2"/>
              </a:solidFill>
            </a:endParaRPr>
          </a:p>
        </p:txBody>
      </p:sp>
      <p:sp>
        <p:nvSpPr>
          <p:cNvPr id="4" name="مربع نص 3"/>
          <p:cNvSpPr txBox="1"/>
          <p:nvPr/>
        </p:nvSpPr>
        <p:spPr>
          <a:xfrm>
            <a:off x="251521" y="1857365"/>
            <a:ext cx="8678198" cy="3016210"/>
          </a:xfrm>
          <a:prstGeom prst="rect">
            <a:avLst/>
          </a:prstGeom>
          <a:noFill/>
        </p:spPr>
        <p:txBody>
          <a:bodyPr wrap="square" rtlCol="1">
            <a:spAutoFit/>
          </a:bodyPr>
          <a:lstStyle/>
          <a:p>
            <a:r>
              <a:rPr lang="ar-EG" sz="2800" b="1" dirty="0">
                <a:solidFill>
                  <a:schemeClr val="tx2"/>
                </a:solidFill>
              </a:rPr>
              <a:t>مرحلة </a:t>
            </a:r>
            <a:r>
              <a:rPr lang="en-US" sz="2800" b="1" dirty="0">
                <a:solidFill>
                  <a:schemeClr val="tx2"/>
                </a:solidFill>
              </a:rPr>
              <a:t>Identification</a:t>
            </a:r>
            <a:endParaRPr lang="en-US" sz="2000" dirty="0"/>
          </a:p>
          <a:p>
            <a:pPr rtl="0"/>
            <a:r>
              <a:rPr lang="ar-EG" sz="2400" dirty="0"/>
              <a:t>هى أخذ بصمه الصوت لشخص معين وهو ضمن مجموعه فى مكان واحد ولمعرفه ان كان هذا الشخص ضمن هذه المجموعة نقوم بأخذ بصمه صوتية لكل الموجودين وتقارنها واحد واحد مع </a:t>
            </a:r>
            <a:r>
              <a:rPr lang="ar-SA" sz="2400" dirty="0"/>
              <a:t> </a:t>
            </a:r>
            <a:r>
              <a:rPr lang="ar-EG" sz="2400" dirty="0" smtClean="0"/>
              <a:t>بصمه </a:t>
            </a:r>
            <a:r>
              <a:rPr lang="ar-EG" sz="2400" dirty="0"/>
              <a:t>هذا الشخص ولكن طريقة المقارنة ستتم بطريقة خاصة تسمى .</a:t>
            </a:r>
            <a:endParaRPr lang="en-US" sz="2400" dirty="0"/>
          </a:p>
          <a:p>
            <a:pPr rtl="0"/>
            <a:r>
              <a:rPr lang="ar-EG" sz="2400" dirty="0">
                <a:solidFill>
                  <a:srgbClr val="FFFF66"/>
                </a:solidFill>
              </a:rPr>
              <a:t> وهى القيام بعملية مقارنة بصمة الشخص وبين كل بصمة داخل</a:t>
            </a:r>
            <a:r>
              <a:rPr lang="en-US" sz="2400" dirty="0">
                <a:solidFill>
                  <a:srgbClr val="FFFF66"/>
                </a:solidFill>
              </a:rPr>
              <a:t>Distance Measurement </a:t>
            </a:r>
            <a:r>
              <a:rPr lang="ar-EG" sz="2400" dirty="0">
                <a:solidFill>
                  <a:srgbClr val="FFFF66"/>
                </a:solidFill>
              </a:rPr>
              <a:t>المجموعة فإذا وجدت بصمة </a:t>
            </a:r>
            <a:r>
              <a:rPr lang="ar-EG" sz="2400" dirty="0" err="1">
                <a:solidFill>
                  <a:srgbClr val="FFFF66"/>
                </a:solidFill>
              </a:rPr>
              <a:t>فى</a:t>
            </a:r>
            <a:r>
              <a:rPr lang="ar-EG" sz="2400" dirty="0">
                <a:solidFill>
                  <a:srgbClr val="FFFF66"/>
                </a:solidFill>
              </a:rPr>
              <a:t> هذه المجموعة اقرب ما يكون </a:t>
            </a:r>
            <a:r>
              <a:rPr lang="ar-EG" sz="2400" dirty="0" err="1">
                <a:solidFill>
                  <a:srgbClr val="FFFF66"/>
                </a:solidFill>
              </a:rPr>
              <a:t>الى</a:t>
            </a:r>
            <a:r>
              <a:rPr lang="ar-EG" sz="2400" dirty="0">
                <a:solidFill>
                  <a:srgbClr val="FFFF66"/>
                </a:solidFill>
              </a:rPr>
              <a:t> بصمة الشخص عندها يمكن القول </a:t>
            </a:r>
            <a:r>
              <a:rPr lang="ar-EG" sz="2400" dirty="0" err="1">
                <a:solidFill>
                  <a:srgbClr val="FFFF66"/>
                </a:solidFill>
              </a:rPr>
              <a:t>ان</a:t>
            </a:r>
            <a:r>
              <a:rPr lang="ar-EG" sz="2400" dirty="0">
                <a:solidFill>
                  <a:srgbClr val="FFFF66"/>
                </a:solidFill>
              </a:rPr>
              <a:t> هذا الشخص موجود ضمن هذه المجموعة.</a:t>
            </a:r>
            <a:endParaRPr lang="en-US" sz="2400" dirty="0">
              <a:solidFill>
                <a:srgbClr val="FFFF66"/>
              </a:solidFill>
            </a:endParaRPr>
          </a:p>
          <a:p>
            <a:pPr rtl="0"/>
            <a:endParaRPr lang="ar-EG" dirty="0"/>
          </a:p>
        </p:txBody>
      </p:sp>
      <p:sp>
        <p:nvSpPr>
          <p:cNvPr id="5" name="مربع نص 4"/>
          <p:cNvSpPr txBox="1"/>
          <p:nvPr/>
        </p:nvSpPr>
        <p:spPr>
          <a:xfrm>
            <a:off x="251520" y="5013176"/>
            <a:ext cx="8678199" cy="1323439"/>
          </a:xfrm>
          <a:prstGeom prst="rect">
            <a:avLst/>
          </a:prstGeom>
          <a:noFill/>
        </p:spPr>
        <p:txBody>
          <a:bodyPr wrap="square" rtlCol="1">
            <a:spAutoFit/>
          </a:bodyPr>
          <a:lstStyle/>
          <a:p>
            <a:r>
              <a:rPr lang="ar-EG" sz="3200" b="1" dirty="0">
                <a:solidFill>
                  <a:schemeClr val="tx2"/>
                </a:solidFill>
              </a:rPr>
              <a:t>مرحلة </a:t>
            </a:r>
            <a:r>
              <a:rPr lang="en-US" sz="3200" b="1" dirty="0">
                <a:solidFill>
                  <a:schemeClr val="tx2"/>
                </a:solidFill>
              </a:rPr>
              <a:t>Verification </a:t>
            </a:r>
            <a:endParaRPr lang="en-US" sz="2000" dirty="0">
              <a:solidFill>
                <a:schemeClr val="tx2"/>
              </a:solidFill>
            </a:endParaRPr>
          </a:p>
          <a:p>
            <a:r>
              <a:rPr lang="ar-EG" sz="2400" dirty="0"/>
              <a:t>هي القيام بأخذ العصر الذي نتج من الاختبار لأنه اقرب ما يكون لبصمة صوت الشخص منفردا وعندها نتأكد هل هو فعلا الشخص </a:t>
            </a:r>
            <a:r>
              <a:rPr lang="ar-EG" sz="2400" dirty="0" err="1"/>
              <a:t>ام</a:t>
            </a:r>
            <a:r>
              <a:rPr lang="ar-EG" sz="2400" dirty="0"/>
              <a:t> لا.</a:t>
            </a:r>
          </a:p>
        </p:txBody>
      </p:sp>
    </p:spTree>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checkerboard(across)">
                                      <p:cBhvr>
                                        <p:cTn id="25" dur="1000"/>
                                        <p:tgtEl>
                                          <p:spTgt spid="3">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41" presetClass="entr" presetSubtype="0" fill="hold" nodeType="clickEffect">
                                  <p:stCondLst>
                                    <p:cond delay="0"/>
                                  </p:stCondLst>
                                  <p:iterate type="lt">
                                    <p:tmPct val="10000"/>
                                  </p:iterate>
                                  <p:childTnLst>
                                    <p:set>
                                      <p:cBhvr>
                                        <p:cTn id="29" dur="1" fill="hold">
                                          <p:stCondLst>
                                            <p:cond delay="0"/>
                                          </p:stCondLst>
                                        </p:cTn>
                                        <p:tgtEl>
                                          <p:spTgt spid="4">
                                            <p:txEl>
                                              <p:pRg st="0" end="0"/>
                                            </p:txEl>
                                          </p:spTgt>
                                        </p:tgtEl>
                                        <p:attrNameLst>
                                          <p:attrName>style.visibility</p:attrName>
                                        </p:attrNameLst>
                                      </p:cBhvr>
                                      <p:to>
                                        <p:strVal val="visible"/>
                                      </p:to>
                                    </p:set>
                                    <p:anim calcmode="lin" valueType="num">
                                      <p:cBhvr>
                                        <p:cTn id="30" dur="1000" fill="hold"/>
                                        <p:tgtEl>
                                          <p:spTgt spid="4">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31" dur="1000" fill="hold"/>
                                        <p:tgtEl>
                                          <p:spTgt spid="4">
                                            <p:txEl>
                                              <p:pRg st="0" end="0"/>
                                            </p:txEl>
                                          </p:spTgt>
                                        </p:tgtEl>
                                        <p:attrNameLst>
                                          <p:attrName>ppt_y</p:attrName>
                                        </p:attrNameLst>
                                      </p:cBhvr>
                                      <p:tavLst>
                                        <p:tav tm="0">
                                          <p:val>
                                            <p:strVal val="#ppt_y"/>
                                          </p:val>
                                        </p:tav>
                                        <p:tav tm="100000">
                                          <p:val>
                                            <p:strVal val="#ppt_y"/>
                                          </p:val>
                                        </p:tav>
                                      </p:tavLst>
                                    </p:anim>
                                    <p:anim calcmode="lin" valueType="num">
                                      <p:cBhvr>
                                        <p:cTn id="32" dur="1000" fill="hold"/>
                                        <p:tgtEl>
                                          <p:spTgt spid="4">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3" dur="1000" fill="hold"/>
                                        <p:tgtEl>
                                          <p:spTgt spid="4">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4" dur="1000" tmFilter="0,0; .5, 1; 1, 1"/>
                                        <p:tgtEl>
                                          <p:spTgt spid="4">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5" presetClass="entr" presetSubtype="0" fill="hold" nodeType="clickEffect">
                                  <p:stCondLst>
                                    <p:cond delay="0"/>
                                  </p:stCondLst>
                                  <p:childTnLst>
                                    <p:set>
                                      <p:cBhvr>
                                        <p:cTn id="38" dur="1" fill="hold">
                                          <p:stCondLst>
                                            <p:cond delay="0"/>
                                          </p:stCondLst>
                                        </p:cTn>
                                        <p:tgtEl>
                                          <p:spTgt spid="4">
                                            <p:txEl>
                                              <p:pRg st="1" end="1"/>
                                            </p:txEl>
                                          </p:spTgt>
                                        </p:tgtEl>
                                        <p:attrNameLst>
                                          <p:attrName>style.visibility</p:attrName>
                                        </p:attrNameLst>
                                      </p:cBhvr>
                                      <p:to>
                                        <p:strVal val="visible"/>
                                      </p:to>
                                    </p:set>
                                    <p:anim calcmode="lin" valueType="num">
                                      <p:cBhvr>
                                        <p:cTn id="39" dur="1000" fill="hold"/>
                                        <p:tgtEl>
                                          <p:spTgt spid="4">
                                            <p:txEl>
                                              <p:pRg st="1" end="1"/>
                                            </p:txEl>
                                          </p:spTgt>
                                        </p:tgtEl>
                                        <p:attrNameLst>
                                          <p:attrName>ppt_w</p:attrName>
                                        </p:attrNameLst>
                                      </p:cBhvr>
                                      <p:tavLst>
                                        <p:tav tm="0">
                                          <p:val>
                                            <p:fltVal val="0"/>
                                          </p:val>
                                        </p:tav>
                                        <p:tav tm="100000">
                                          <p:val>
                                            <p:strVal val="#ppt_w"/>
                                          </p:val>
                                        </p:tav>
                                      </p:tavLst>
                                    </p:anim>
                                    <p:anim calcmode="lin" valueType="num">
                                      <p:cBhvr>
                                        <p:cTn id="40" dur="1000" fill="hold"/>
                                        <p:tgtEl>
                                          <p:spTgt spid="4">
                                            <p:txEl>
                                              <p:pRg st="1" end="1"/>
                                            </p:txEl>
                                          </p:spTgt>
                                        </p:tgtEl>
                                        <p:attrNameLst>
                                          <p:attrName>ppt_h</p:attrName>
                                        </p:attrNameLst>
                                      </p:cBhvr>
                                      <p:tavLst>
                                        <p:tav tm="0">
                                          <p:val>
                                            <p:fltVal val="0"/>
                                          </p:val>
                                        </p:tav>
                                        <p:tav tm="100000">
                                          <p:val>
                                            <p:strVal val="#ppt_h"/>
                                          </p:val>
                                        </p:tav>
                                      </p:tavLst>
                                    </p:anim>
                                    <p:anim calcmode="lin" valueType="num">
                                      <p:cBhvr>
                                        <p:cTn id="41" dur="1000" fill="hold"/>
                                        <p:tgtEl>
                                          <p:spTgt spid="4">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4">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45" presetID="15" presetClass="entr" presetSubtype="0" fill="hold"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 calcmode="lin" valueType="num">
                                      <p:cBhvr>
                                        <p:cTn id="47" dur="1000" fill="hold"/>
                                        <p:tgtEl>
                                          <p:spTgt spid="4">
                                            <p:txEl>
                                              <p:pRg st="2" end="2"/>
                                            </p:txEl>
                                          </p:spTgt>
                                        </p:tgtEl>
                                        <p:attrNameLst>
                                          <p:attrName>ppt_w</p:attrName>
                                        </p:attrNameLst>
                                      </p:cBhvr>
                                      <p:tavLst>
                                        <p:tav tm="0">
                                          <p:val>
                                            <p:fltVal val="0"/>
                                          </p:val>
                                        </p:tav>
                                        <p:tav tm="100000">
                                          <p:val>
                                            <p:strVal val="#ppt_w"/>
                                          </p:val>
                                        </p:tav>
                                      </p:tavLst>
                                    </p:anim>
                                    <p:anim calcmode="lin" valueType="num">
                                      <p:cBhvr>
                                        <p:cTn id="48" dur="1000" fill="hold"/>
                                        <p:tgtEl>
                                          <p:spTgt spid="4">
                                            <p:txEl>
                                              <p:pRg st="2" end="2"/>
                                            </p:txEl>
                                          </p:spTgt>
                                        </p:tgtEl>
                                        <p:attrNameLst>
                                          <p:attrName>ppt_h</p:attrName>
                                        </p:attrNameLst>
                                      </p:cBhvr>
                                      <p:tavLst>
                                        <p:tav tm="0">
                                          <p:val>
                                            <p:fltVal val="0"/>
                                          </p:val>
                                        </p:tav>
                                        <p:tav tm="100000">
                                          <p:val>
                                            <p:strVal val="#ppt_h"/>
                                          </p:val>
                                        </p:tav>
                                      </p:tavLst>
                                    </p:anim>
                                    <p:anim calcmode="lin" valueType="num">
                                      <p:cBhvr>
                                        <p:cTn id="49" dur="1000" fill="hold"/>
                                        <p:tgtEl>
                                          <p:spTgt spid="4">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4">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1" fill="hold">
                      <p:stCondLst>
                        <p:cond delay="indefinite"/>
                      </p:stCondLst>
                      <p:childTnLst>
                        <p:par>
                          <p:cTn id="52" fill="hold">
                            <p:stCondLst>
                              <p:cond delay="0"/>
                            </p:stCondLst>
                            <p:childTnLst>
                              <p:par>
                                <p:cTn id="53" presetID="41" presetClass="entr" presetSubtype="0" fill="hold" nodeType="clickEffect">
                                  <p:stCondLst>
                                    <p:cond delay="0"/>
                                  </p:stCondLst>
                                  <p:iterate type="lt">
                                    <p:tmPct val="10000"/>
                                  </p:iterate>
                                  <p:childTnLst>
                                    <p:set>
                                      <p:cBhvr>
                                        <p:cTn id="54" dur="1" fill="hold">
                                          <p:stCondLst>
                                            <p:cond delay="0"/>
                                          </p:stCondLst>
                                        </p:cTn>
                                        <p:tgtEl>
                                          <p:spTgt spid="5">
                                            <p:txEl>
                                              <p:pRg st="0" end="0"/>
                                            </p:txEl>
                                          </p:spTgt>
                                        </p:tgtEl>
                                        <p:attrNameLst>
                                          <p:attrName>style.visibility</p:attrName>
                                        </p:attrNameLst>
                                      </p:cBhvr>
                                      <p:to>
                                        <p:strVal val="visible"/>
                                      </p:to>
                                    </p:set>
                                    <p:anim calcmode="lin" valueType="num">
                                      <p:cBhvr>
                                        <p:cTn id="55" dur="1000" fill="hold"/>
                                        <p:tgtEl>
                                          <p:spTgt spid="5">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56" dur="1000" fill="hold"/>
                                        <p:tgtEl>
                                          <p:spTgt spid="5">
                                            <p:txEl>
                                              <p:pRg st="0" end="0"/>
                                            </p:txEl>
                                          </p:spTgt>
                                        </p:tgtEl>
                                        <p:attrNameLst>
                                          <p:attrName>ppt_y</p:attrName>
                                        </p:attrNameLst>
                                      </p:cBhvr>
                                      <p:tavLst>
                                        <p:tav tm="0">
                                          <p:val>
                                            <p:strVal val="#ppt_y"/>
                                          </p:val>
                                        </p:tav>
                                        <p:tav tm="100000">
                                          <p:val>
                                            <p:strVal val="#ppt_y"/>
                                          </p:val>
                                        </p:tav>
                                      </p:tavLst>
                                    </p:anim>
                                    <p:anim calcmode="lin" valueType="num">
                                      <p:cBhvr>
                                        <p:cTn id="57" dur="1000" fill="hold"/>
                                        <p:tgtEl>
                                          <p:spTgt spid="5">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8" dur="1000" fill="hold"/>
                                        <p:tgtEl>
                                          <p:spTgt spid="5">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9" dur="1000" tmFilter="0,0; .5, 1; 1, 1"/>
                                        <p:tgtEl>
                                          <p:spTgt spid="5">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5" presetClass="entr" presetSubtype="0" fill="hold" nodeType="clickEffect">
                                  <p:stCondLst>
                                    <p:cond delay="0"/>
                                  </p:stCondLst>
                                  <p:childTnLst>
                                    <p:set>
                                      <p:cBhvr>
                                        <p:cTn id="63" dur="1" fill="hold">
                                          <p:stCondLst>
                                            <p:cond delay="0"/>
                                          </p:stCondLst>
                                        </p:cTn>
                                        <p:tgtEl>
                                          <p:spTgt spid="5">
                                            <p:txEl>
                                              <p:pRg st="1" end="1"/>
                                            </p:txEl>
                                          </p:spTgt>
                                        </p:tgtEl>
                                        <p:attrNameLst>
                                          <p:attrName>style.visibility</p:attrName>
                                        </p:attrNameLst>
                                      </p:cBhvr>
                                      <p:to>
                                        <p:strVal val="visible"/>
                                      </p:to>
                                    </p:set>
                                    <p:anim calcmode="lin" valueType="num">
                                      <p:cBhvr>
                                        <p:cTn id="64" dur="1000" fill="hold"/>
                                        <p:tgtEl>
                                          <p:spTgt spid="5">
                                            <p:txEl>
                                              <p:pRg st="1" end="1"/>
                                            </p:txEl>
                                          </p:spTgt>
                                        </p:tgtEl>
                                        <p:attrNameLst>
                                          <p:attrName>ppt_w</p:attrName>
                                        </p:attrNameLst>
                                      </p:cBhvr>
                                      <p:tavLst>
                                        <p:tav tm="0">
                                          <p:val>
                                            <p:fltVal val="0"/>
                                          </p:val>
                                        </p:tav>
                                        <p:tav tm="100000">
                                          <p:val>
                                            <p:strVal val="#ppt_w"/>
                                          </p:val>
                                        </p:tav>
                                      </p:tavLst>
                                    </p:anim>
                                    <p:anim calcmode="lin" valueType="num">
                                      <p:cBhvr>
                                        <p:cTn id="65" dur="1000" fill="hold"/>
                                        <p:tgtEl>
                                          <p:spTgt spid="5">
                                            <p:txEl>
                                              <p:pRg st="1" end="1"/>
                                            </p:txEl>
                                          </p:spTgt>
                                        </p:tgtEl>
                                        <p:attrNameLst>
                                          <p:attrName>ppt_h</p:attrName>
                                        </p:attrNameLst>
                                      </p:cBhvr>
                                      <p:tavLst>
                                        <p:tav tm="0">
                                          <p:val>
                                            <p:fltVal val="0"/>
                                          </p:val>
                                        </p:tav>
                                        <p:tav tm="100000">
                                          <p:val>
                                            <p:strVal val="#ppt_h"/>
                                          </p:val>
                                        </p:tav>
                                      </p:tavLst>
                                    </p:anim>
                                    <p:anim calcmode="lin" valueType="num">
                                      <p:cBhvr>
                                        <p:cTn id="66" dur="1000" fill="hold"/>
                                        <p:tgtEl>
                                          <p:spTgt spid="5">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67" dur="1000" fill="hold"/>
                                        <p:tgtEl>
                                          <p:spTgt spid="5">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357159" y="260648"/>
            <a:ext cx="3998817" cy="584775"/>
          </a:xfrm>
          <a:prstGeom prst="rect">
            <a:avLst/>
          </a:prstGeom>
        </p:spPr>
        <p:style>
          <a:lnRef idx="3">
            <a:schemeClr val="lt1"/>
          </a:lnRef>
          <a:fillRef idx="1">
            <a:schemeClr val="accent2"/>
          </a:fillRef>
          <a:effectRef idx="1">
            <a:schemeClr val="accent2"/>
          </a:effectRef>
          <a:fontRef idx="minor">
            <a:schemeClr val="lt1"/>
          </a:fontRef>
        </p:style>
        <p:txBody>
          <a:bodyPr wrap="square" rtlCol="1">
            <a:spAutoFit/>
          </a:bodyPr>
          <a:lstStyle/>
          <a:p>
            <a:pPr algn="l"/>
            <a:r>
              <a:rPr lang="en-US" sz="3200" b="1" dirty="0"/>
              <a:t>3-Communication</a:t>
            </a:r>
            <a:endParaRPr lang="ar-EG" sz="3200" b="1" dirty="0"/>
          </a:p>
        </p:txBody>
      </p:sp>
      <p:sp>
        <p:nvSpPr>
          <p:cNvPr id="3" name="مربع نص 2"/>
          <p:cNvSpPr txBox="1"/>
          <p:nvPr/>
        </p:nvSpPr>
        <p:spPr>
          <a:xfrm>
            <a:off x="107504" y="908720"/>
            <a:ext cx="8858883" cy="6063198"/>
          </a:xfrm>
          <a:prstGeom prst="rect">
            <a:avLst/>
          </a:prstGeom>
          <a:noFill/>
        </p:spPr>
        <p:txBody>
          <a:bodyPr wrap="square" rtlCol="1">
            <a:spAutoFit/>
          </a:bodyPr>
          <a:lstStyle/>
          <a:p>
            <a:r>
              <a:rPr lang="ar-EG" sz="2400" b="1" dirty="0" err="1"/>
              <a:t>هى</a:t>
            </a:r>
            <a:r>
              <a:rPr lang="ar-EG" sz="2400" b="1" dirty="0"/>
              <a:t> الاتصال </a:t>
            </a:r>
            <a:r>
              <a:rPr lang="ar-EG" sz="2400" b="1" dirty="0" err="1"/>
              <a:t>او</a:t>
            </a:r>
            <a:r>
              <a:rPr lang="ar-EG" sz="2400" b="1" dirty="0"/>
              <a:t> </a:t>
            </a:r>
            <a:r>
              <a:rPr lang="ar-EG" sz="2400" b="1" dirty="0" err="1"/>
              <a:t>ارسال</a:t>
            </a:r>
            <a:r>
              <a:rPr lang="ar-EG" sz="2400" b="1" dirty="0"/>
              <a:t> المدخل بعد </a:t>
            </a:r>
            <a:r>
              <a:rPr lang="ar-EG" sz="2400" b="1" dirty="0" err="1"/>
              <a:t>ان</a:t>
            </a:r>
            <a:r>
              <a:rPr lang="ar-EG" sz="2400" b="1" dirty="0"/>
              <a:t> تم التعرف علية </a:t>
            </a:r>
            <a:r>
              <a:rPr lang="ar-EG" sz="2400" b="1" dirty="0" err="1"/>
              <a:t>الى</a:t>
            </a:r>
            <a:r>
              <a:rPr lang="ar-EG" sz="2400" b="1" dirty="0"/>
              <a:t> انظمه </a:t>
            </a:r>
            <a:r>
              <a:rPr lang="ar-EG" sz="2400" b="1" dirty="0" err="1"/>
              <a:t>ال</a:t>
            </a:r>
            <a:r>
              <a:rPr lang="ar-EG" sz="2400" b="1" dirty="0"/>
              <a:t> </a:t>
            </a:r>
            <a:r>
              <a:rPr lang="en-US" sz="2400" b="1" dirty="0"/>
              <a:t>( s/w &amp; h/w) </a:t>
            </a:r>
          </a:p>
          <a:p>
            <a:r>
              <a:rPr lang="ar-EG" sz="2000" b="1" dirty="0"/>
              <a:t> </a:t>
            </a:r>
            <a:r>
              <a:rPr lang="ar-EG" sz="2400" b="1" dirty="0" err="1"/>
              <a:t>التى</a:t>
            </a:r>
            <a:r>
              <a:rPr lang="ar-EG" sz="2400" b="1" dirty="0"/>
              <a:t> تحتاجه وأمثلة على ذلك </a:t>
            </a:r>
            <a:r>
              <a:rPr lang="en-US" sz="2400" b="1" dirty="0"/>
              <a:t>Security</a:t>
            </a:r>
            <a:endParaRPr lang="en-US" sz="2000" b="1" dirty="0"/>
          </a:p>
          <a:p>
            <a:r>
              <a:rPr lang="ar-EG" sz="2400" dirty="0">
                <a:solidFill>
                  <a:srgbClr val="FFFF99"/>
                </a:solidFill>
              </a:rPr>
              <a:t> </a:t>
            </a:r>
            <a:r>
              <a:rPr lang="ar-EG" sz="2800" b="1" dirty="0">
                <a:solidFill>
                  <a:srgbClr val="FFFF99"/>
                </a:solidFill>
              </a:rPr>
              <a:t>كما يتضح </a:t>
            </a:r>
            <a:r>
              <a:rPr lang="ar-EG" sz="2800" b="1" dirty="0" err="1">
                <a:solidFill>
                  <a:srgbClr val="FFFF99"/>
                </a:solidFill>
              </a:rPr>
              <a:t>اننا</a:t>
            </a:r>
            <a:r>
              <a:rPr lang="ar-EG" sz="2800" b="1" dirty="0">
                <a:solidFill>
                  <a:srgbClr val="FFFF99"/>
                </a:solidFill>
              </a:rPr>
              <a:t> ممكن نستخدم الصوت </a:t>
            </a:r>
            <a:r>
              <a:rPr lang="ar-EG" sz="2800" b="1" dirty="0" err="1">
                <a:solidFill>
                  <a:srgbClr val="FFFF99"/>
                </a:solidFill>
              </a:rPr>
              <a:t>فى</a:t>
            </a:r>
            <a:r>
              <a:rPr lang="ar-EG" sz="2800" b="1" dirty="0">
                <a:solidFill>
                  <a:srgbClr val="FFFF99"/>
                </a:solidFill>
              </a:rPr>
              <a:t> تحقيق </a:t>
            </a:r>
            <a:r>
              <a:rPr lang="ar-EG" sz="2800" b="1" dirty="0" err="1">
                <a:solidFill>
                  <a:srgbClr val="FFFF99"/>
                </a:solidFill>
              </a:rPr>
              <a:t>الامن</a:t>
            </a:r>
            <a:r>
              <a:rPr lang="ar-EG" sz="2800" b="1" dirty="0">
                <a:solidFill>
                  <a:srgbClr val="FFFF99"/>
                </a:solidFill>
              </a:rPr>
              <a:t> ،</a:t>
            </a:r>
            <a:endParaRPr lang="en-US" sz="2800" b="1" dirty="0">
              <a:solidFill>
                <a:srgbClr val="FFFF99"/>
              </a:solidFill>
            </a:endParaRPr>
          </a:p>
          <a:p>
            <a:r>
              <a:rPr lang="ar-EG" sz="2400" b="1" dirty="0"/>
              <a:t>فمثلا نفرض اننا قمنا بعمل نظام صوتى للدخول لاحدى القاعات وقمنا باخذ بصمة صوتية لشخص معين ووضعنا فى الحاسوب الموضوع عليه النظام بحيث لو قال "سبحان الله" مثلا يتم فتح باب القاعه لو اتى الشخص وادخل الجملة "سبحان الله" الى النظام بواسطة ميكروفون او غيرة سيقوم كارت الصوت مبدئيا كما قلنا بتحويل الاشارات المتصلة الى اشارات رقمية وبعدها تتم عملية التعرف بمقارنة البصمة المسجلة فى النظام مع البصمة الجديدة المدخلة حاليا فاذا تطابقت البصمتين او مع وجود خطأ بسيط جدا مسموح به فانه سيتم فتح باب القاعه </a:t>
            </a:r>
            <a:endParaRPr lang="ar-EG" sz="2000" dirty="0"/>
          </a:p>
          <a:p>
            <a:r>
              <a:rPr lang="ar-EG" sz="2400" b="1" dirty="0" err="1">
                <a:solidFill>
                  <a:srgbClr val="FFFF99"/>
                </a:solidFill>
              </a:rPr>
              <a:t>واذا</a:t>
            </a:r>
            <a:r>
              <a:rPr lang="ar-EG" sz="2400" b="1" dirty="0">
                <a:solidFill>
                  <a:srgbClr val="FFFF99"/>
                </a:solidFill>
              </a:rPr>
              <a:t> سجل نفس الشخص صوته </a:t>
            </a:r>
            <a:r>
              <a:rPr lang="ar-EG" sz="2400" b="1" dirty="0" err="1">
                <a:solidFill>
                  <a:srgbClr val="FFFF99"/>
                </a:solidFill>
              </a:rPr>
              <a:t>فى</a:t>
            </a:r>
            <a:r>
              <a:rPr lang="ar-EG" sz="2400" b="1" dirty="0">
                <a:solidFill>
                  <a:srgbClr val="FFFF99"/>
                </a:solidFill>
              </a:rPr>
              <a:t> كاسيت وعند دخوله </a:t>
            </a:r>
            <a:r>
              <a:rPr lang="ar-EG" sz="2400" b="1" dirty="0" err="1">
                <a:solidFill>
                  <a:srgbClr val="FFFF99"/>
                </a:solidFill>
              </a:rPr>
              <a:t>للقاعه</a:t>
            </a:r>
            <a:r>
              <a:rPr lang="ar-EG" sz="2400" b="1" dirty="0">
                <a:solidFill>
                  <a:srgbClr val="FFFF99"/>
                </a:solidFill>
              </a:rPr>
              <a:t> ادخل الصوت </a:t>
            </a:r>
            <a:r>
              <a:rPr lang="ar-EG" sz="2400" b="1" dirty="0" err="1">
                <a:solidFill>
                  <a:srgbClr val="FFFF99"/>
                </a:solidFill>
              </a:rPr>
              <a:t>بواسطه</a:t>
            </a:r>
            <a:r>
              <a:rPr lang="ar-EG" sz="2400" b="1" dirty="0">
                <a:solidFill>
                  <a:srgbClr val="FFFF99"/>
                </a:solidFill>
              </a:rPr>
              <a:t> هذا الكاسيت لم يفتح الباب بسبب عدم تطابق البصمتين .. </a:t>
            </a:r>
            <a:r>
              <a:rPr lang="ar-EG" sz="2400" b="1" dirty="0" err="1">
                <a:solidFill>
                  <a:srgbClr val="FFFF99"/>
                </a:solidFill>
              </a:rPr>
              <a:t>لانه</a:t>
            </a:r>
            <a:r>
              <a:rPr lang="ar-EG" sz="2400" b="1" dirty="0">
                <a:solidFill>
                  <a:srgbClr val="FFFF99"/>
                </a:solidFill>
              </a:rPr>
              <a:t> نتج من تسجيل الصوت ما يسمى </a:t>
            </a:r>
            <a:r>
              <a:rPr lang="ar-EG" sz="2400" b="1" dirty="0" err="1">
                <a:solidFill>
                  <a:srgbClr val="FFFF99"/>
                </a:solidFill>
              </a:rPr>
              <a:t>ب</a:t>
            </a:r>
            <a:r>
              <a:rPr lang="ar-EG" sz="2400" b="1" dirty="0">
                <a:solidFill>
                  <a:srgbClr val="FFFF99"/>
                </a:solidFill>
              </a:rPr>
              <a:t> </a:t>
            </a:r>
            <a:r>
              <a:rPr lang="en-US" sz="2400" b="1" dirty="0">
                <a:solidFill>
                  <a:srgbClr val="FFFF99"/>
                </a:solidFill>
              </a:rPr>
              <a:t>White Noise</a:t>
            </a:r>
            <a:r>
              <a:rPr lang="ar-EG" sz="2400" b="1" dirty="0">
                <a:solidFill>
                  <a:srgbClr val="FFFF99"/>
                </a:solidFill>
              </a:rPr>
              <a:t>  وهى الضوضاء </a:t>
            </a:r>
            <a:r>
              <a:rPr lang="ar-EG" sz="2400" b="1" dirty="0" err="1">
                <a:solidFill>
                  <a:srgbClr val="FFFF99"/>
                </a:solidFill>
              </a:rPr>
              <a:t>الناتجه</a:t>
            </a:r>
            <a:r>
              <a:rPr lang="ar-EG" sz="2400" b="1" dirty="0">
                <a:solidFill>
                  <a:srgbClr val="FFFF99"/>
                </a:solidFill>
              </a:rPr>
              <a:t> عن عملية التسجيل حيث شريط الكاسيت </a:t>
            </a:r>
            <a:r>
              <a:rPr lang="ar-EG" sz="2400" b="1" dirty="0" err="1">
                <a:solidFill>
                  <a:srgbClr val="FFFF99"/>
                </a:solidFill>
              </a:rPr>
              <a:t>عباره</a:t>
            </a:r>
            <a:r>
              <a:rPr lang="ar-EG" sz="2400" b="1" dirty="0">
                <a:solidFill>
                  <a:srgbClr val="FFFF99"/>
                </a:solidFill>
              </a:rPr>
              <a:t> عن مكونات الكترونية فعندها نقوم بتسجيل الصوت مضاف فوقه </a:t>
            </a:r>
            <a:r>
              <a:rPr lang="ar-EG" sz="2400" b="1" dirty="0" err="1">
                <a:solidFill>
                  <a:srgbClr val="FFFF99"/>
                </a:solidFill>
              </a:rPr>
              <a:t>الاشارات</a:t>
            </a:r>
            <a:r>
              <a:rPr lang="ar-EG" sz="2400" b="1" dirty="0">
                <a:solidFill>
                  <a:srgbClr val="FFFF99"/>
                </a:solidFill>
              </a:rPr>
              <a:t> الصوتية </a:t>
            </a:r>
            <a:r>
              <a:rPr lang="ar-EG" sz="2400" b="1" dirty="0" err="1">
                <a:solidFill>
                  <a:srgbClr val="FFFF99"/>
                </a:solidFill>
              </a:rPr>
              <a:t>اشارات</a:t>
            </a:r>
            <a:r>
              <a:rPr lang="ar-EG" sz="2400" b="1" dirty="0">
                <a:solidFill>
                  <a:srgbClr val="FFFF99"/>
                </a:solidFill>
              </a:rPr>
              <a:t> </a:t>
            </a:r>
            <a:r>
              <a:rPr lang="ar-EG" sz="2400" b="1" dirty="0" err="1">
                <a:solidFill>
                  <a:srgbClr val="FFFF99"/>
                </a:solidFill>
              </a:rPr>
              <a:t>اخرى</a:t>
            </a:r>
            <a:r>
              <a:rPr lang="ar-EG" sz="2400" b="1" dirty="0">
                <a:solidFill>
                  <a:srgbClr val="FFFF99"/>
                </a:solidFill>
              </a:rPr>
              <a:t> تسبب </a:t>
            </a:r>
            <a:r>
              <a:rPr lang="ar-EG" sz="2400" b="1" dirty="0" err="1">
                <a:solidFill>
                  <a:srgbClr val="FFFF99"/>
                </a:solidFill>
              </a:rPr>
              <a:t>ال</a:t>
            </a:r>
            <a:r>
              <a:rPr lang="ar-EG" sz="2400" b="1" dirty="0">
                <a:solidFill>
                  <a:srgbClr val="FFFF99"/>
                </a:solidFill>
              </a:rPr>
              <a:t> </a:t>
            </a:r>
            <a:r>
              <a:rPr lang="en-US" sz="2400" b="1" dirty="0">
                <a:solidFill>
                  <a:srgbClr val="FFFF99"/>
                </a:solidFill>
              </a:rPr>
              <a:t>Noise</a:t>
            </a:r>
            <a:r>
              <a:rPr lang="ar-EG" sz="2400" b="1" dirty="0">
                <a:solidFill>
                  <a:srgbClr val="FFFF99"/>
                </a:solidFill>
              </a:rPr>
              <a:t>  </a:t>
            </a:r>
            <a:r>
              <a:rPr lang="ar-EG" sz="2400" b="1" dirty="0" err="1">
                <a:solidFill>
                  <a:srgbClr val="FFFF99"/>
                </a:solidFill>
              </a:rPr>
              <a:t>وبالتالى</a:t>
            </a:r>
            <a:r>
              <a:rPr lang="ar-EG" sz="2400" b="1" dirty="0">
                <a:solidFill>
                  <a:srgbClr val="FFFF99"/>
                </a:solidFill>
              </a:rPr>
              <a:t> تسبب </a:t>
            </a:r>
            <a:r>
              <a:rPr lang="ar-EG" sz="2400" b="1" dirty="0" err="1">
                <a:solidFill>
                  <a:srgbClr val="FFFF99"/>
                </a:solidFill>
              </a:rPr>
              <a:t>فى</a:t>
            </a:r>
            <a:r>
              <a:rPr lang="ar-EG" sz="2400" b="1" dirty="0">
                <a:solidFill>
                  <a:srgbClr val="FFFF99"/>
                </a:solidFill>
              </a:rPr>
              <a:t> الاختلاف عن الصوت </a:t>
            </a:r>
            <a:r>
              <a:rPr lang="ar-EG" sz="2400" b="1" dirty="0" err="1">
                <a:solidFill>
                  <a:srgbClr val="FFFF99"/>
                </a:solidFill>
              </a:rPr>
              <a:t>الاصلى</a:t>
            </a:r>
            <a:r>
              <a:rPr lang="ar-EG" sz="2400" b="1" dirty="0">
                <a:solidFill>
                  <a:srgbClr val="FFFF99"/>
                </a:solidFill>
              </a:rPr>
              <a:t> ، </a:t>
            </a:r>
            <a:endParaRPr lang="en-US" sz="2400" b="1" dirty="0">
              <a:solidFill>
                <a:srgbClr val="FFFF99"/>
              </a:solidFill>
            </a:endParaRPr>
          </a:p>
        </p:txBody>
      </p:sp>
    </p:spTree>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4" presetClass="entr" presetSubtype="0" accel="10000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p:cTn id="25" dur="1000" fill="hold"/>
                                        <p:tgtEl>
                                          <p:spTgt spid="3">
                                            <p:txEl>
                                              <p:pRg st="0" end="0"/>
                                            </p:txEl>
                                          </p:spTgt>
                                        </p:tgtEl>
                                        <p:attrNameLst>
                                          <p:attrName>ppt_w</p:attrName>
                                        </p:attrNameLst>
                                      </p:cBhvr>
                                      <p:tavLst>
                                        <p:tav tm="0">
                                          <p:val>
                                            <p:strVal val="#ppt_w*0.05"/>
                                          </p:val>
                                        </p:tav>
                                        <p:tav tm="100000">
                                          <p:val>
                                            <p:strVal val="#ppt_w"/>
                                          </p:val>
                                        </p:tav>
                                      </p:tavLst>
                                    </p:anim>
                                    <p:anim calcmode="lin" valueType="num">
                                      <p:cBhvr>
                                        <p:cTn id="26" dur="1000" fill="hold"/>
                                        <p:tgtEl>
                                          <p:spTgt spid="3">
                                            <p:txEl>
                                              <p:pRg st="0" end="0"/>
                                            </p:txEl>
                                          </p:spTgt>
                                        </p:tgtEl>
                                        <p:attrNameLst>
                                          <p:attrName>ppt_h</p:attrName>
                                        </p:attrNameLst>
                                      </p:cBhvr>
                                      <p:tavLst>
                                        <p:tav tm="0">
                                          <p:val>
                                            <p:strVal val="#ppt_h"/>
                                          </p:val>
                                        </p:tav>
                                        <p:tav tm="100000">
                                          <p:val>
                                            <p:strVal val="#ppt_h"/>
                                          </p:val>
                                        </p:tav>
                                      </p:tavLst>
                                    </p:anim>
                                    <p:anim calcmode="lin" valueType="num">
                                      <p:cBhvr>
                                        <p:cTn id="2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28" dur="1000" fill="hold"/>
                                        <p:tgtEl>
                                          <p:spTgt spid="3">
                                            <p:txEl>
                                              <p:pRg st="0" end="0"/>
                                            </p:txEl>
                                          </p:spTgt>
                                        </p:tgtEl>
                                        <p:attrNameLst>
                                          <p:attrName>ppt_y</p:attrName>
                                        </p:attrNameLst>
                                      </p:cBhvr>
                                      <p:tavLst>
                                        <p:tav tm="0">
                                          <p:val>
                                            <p:strVal val="#ppt_y"/>
                                          </p:val>
                                        </p:tav>
                                        <p:tav tm="100000">
                                          <p:val>
                                            <p:strVal val="#ppt_y"/>
                                          </p:val>
                                        </p:tav>
                                      </p:tavLst>
                                    </p:anim>
                                    <p:animEffect transition="in" filter="fade">
                                      <p:cBhvr>
                                        <p:cTn id="29" dur="1000"/>
                                        <p:tgtEl>
                                          <p:spTgt spid="3">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1" presetClass="entr" presetSubtype="0" fill="hold" nodeType="clickEffect">
                                  <p:stCondLst>
                                    <p:cond delay="0"/>
                                  </p:stCondLst>
                                  <p:iterate type="lt">
                                    <p:tmPct val="10000"/>
                                  </p:iterate>
                                  <p:childTnLst>
                                    <p:set>
                                      <p:cBhvr>
                                        <p:cTn id="33" dur="1" fill="hold">
                                          <p:stCondLst>
                                            <p:cond delay="0"/>
                                          </p:stCondLst>
                                        </p:cTn>
                                        <p:tgtEl>
                                          <p:spTgt spid="3">
                                            <p:txEl>
                                              <p:pRg st="2" end="2"/>
                                            </p:txEl>
                                          </p:spTgt>
                                        </p:tgtEl>
                                        <p:attrNameLst>
                                          <p:attrName>style.visibility</p:attrName>
                                        </p:attrNameLst>
                                      </p:cBhvr>
                                      <p:to>
                                        <p:strVal val="visible"/>
                                      </p:to>
                                    </p:set>
                                    <p:anim calcmode="lin" valueType="num">
                                      <p:cBhvr>
                                        <p:cTn id="34" dur="500" fill="hold"/>
                                        <p:tgtEl>
                                          <p:spTgt spid="3">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35" dur="500" fill="hold"/>
                                        <p:tgtEl>
                                          <p:spTgt spid="3">
                                            <p:txEl>
                                              <p:pRg st="2" end="2"/>
                                            </p:txEl>
                                          </p:spTgt>
                                        </p:tgtEl>
                                        <p:attrNameLst>
                                          <p:attrName>ppt_y</p:attrName>
                                        </p:attrNameLst>
                                      </p:cBhvr>
                                      <p:tavLst>
                                        <p:tav tm="0">
                                          <p:val>
                                            <p:strVal val="#ppt_y"/>
                                          </p:val>
                                        </p:tav>
                                        <p:tav tm="100000">
                                          <p:val>
                                            <p:strVal val="#ppt_y"/>
                                          </p:val>
                                        </p:tav>
                                      </p:tavLst>
                                    </p:anim>
                                    <p:anim calcmode="lin" valueType="num">
                                      <p:cBhvr>
                                        <p:cTn id="36" dur="500" fill="hold"/>
                                        <p:tgtEl>
                                          <p:spTgt spid="3">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7" dur="500" fill="hold"/>
                                        <p:tgtEl>
                                          <p:spTgt spid="3">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8" dur="500" tmFilter="0,0; .5, 1; 1, 1"/>
                                        <p:tgtEl>
                                          <p:spTgt spid="3">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9" presetClass="entr" presetSubtype="0" accel="100000" fill="hold"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 calcmode="lin" valueType="num">
                                      <p:cBhvr>
                                        <p:cTn id="43" dur="1000" fill="hold"/>
                                        <p:tgtEl>
                                          <p:spTgt spid="3">
                                            <p:txEl>
                                              <p:pRg st="3" end="3"/>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44" dur="1000" fill="hold"/>
                                        <p:tgtEl>
                                          <p:spTgt spid="3">
                                            <p:txEl>
                                              <p:pRg st="3" end="3"/>
                                            </p:txEl>
                                          </p:spTgt>
                                        </p:tgtEl>
                                        <p:attrNameLst>
                                          <p:attrName>ppt_w</p:attrName>
                                        </p:attrNameLst>
                                      </p:cBhvr>
                                      <p:tavLst>
                                        <p:tav tm="0">
                                          <p:val>
                                            <p:strVal val="#ppt_w+.3"/>
                                          </p:val>
                                        </p:tav>
                                        <p:tav tm="50000">
                                          <p:val>
                                            <p:strVal val="#ppt_w+.3"/>
                                          </p:val>
                                        </p:tav>
                                        <p:tav tm="100000">
                                          <p:val>
                                            <p:strVal val="#ppt_w"/>
                                          </p:val>
                                        </p:tav>
                                      </p:tavLst>
                                    </p:anim>
                                    <p:anim calcmode="lin" valueType="num">
                                      <p:cBhvr>
                                        <p:cTn id="45" dur="1000" fill="hold"/>
                                        <p:tgtEl>
                                          <p:spTgt spid="3">
                                            <p:txEl>
                                              <p:pRg st="3" end="3"/>
                                            </p:txEl>
                                          </p:spTgt>
                                        </p:tgtEl>
                                        <p:attrNameLst>
                                          <p:attrName>ppt_x</p:attrName>
                                        </p:attrNameLst>
                                      </p:cBhvr>
                                      <p:tavLst>
                                        <p:tav tm="0">
                                          <p:val>
                                            <p:strVal val="#ppt_x-.3"/>
                                          </p:val>
                                        </p:tav>
                                        <p:tav tm="50000">
                                          <p:val>
                                            <p:strVal val="#ppt_x"/>
                                          </p:val>
                                        </p:tav>
                                        <p:tav tm="100000">
                                          <p:val>
                                            <p:strVal val="#ppt_x"/>
                                          </p:val>
                                        </p:tav>
                                      </p:tavLst>
                                    </p:anim>
                                    <p:anim calcmode="lin" valueType="num">
                                      <p:cBhvr>
                                        <p:cTn id="46" dur="10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8" presetClass="entr" presetSubtype="0" accel="50000" fill="hold" nodeType="clickEffect">
                                  <p:stCondLst>
                                    <p:cond delay="0"/>
                                  </p:stCondLst>
                                  <p:childTnLst>
                                    <p:set>
                                      <p:cBhvr>
                                        <p:cTn id="50" dur="1" fill="hold">
                                          <p:stCondLst>
                                            <p:cond delay="0"/>
                                          </p:stCondLst>
                                        </p:cTn>
                                        <p:tgtEl>
                                          <p:spTgt spid="3">
                                            <p:txEl>
                                              <p:pRg st="4" end="4"/>
                                            </p:txEl>
                                          </p:spTgt>
                                        </p:tgtEl>
                                        <p:attrNameLst>
                                          <p:attrName>style.visibility</p:attrName>
                                        </p:attrNameLst>
                                      </p:cBhvr>
                                      <p:to>
                                        <p:strVal val="visible"/>
                                      </p:to>
                                    </p:set>
                                    <p:anim calcmode="lin" valueType="num">
                                      <p:cBhvr>
                                        <p:cTn id="51" dur="1000" fill="hold"/>
                                        <p:tgtEl>
                                          <p:spTgt spid="3">
                                            <p:txEl>
                                              <p:pRg st="4" end="4"/>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52" dur="1000" fill="hold"/>
                                        <p:tgtEl>
                                          <p:spTgt spid="3">
                                            <p:txEl>
                                              <p:pRg st="4" end="4"/>
                                            </p:txEl>
                                          </p:spTgt>
                                        </p:tgtEl>
                                        <p:attrNameLst>
                                          <p:attrName>ppt_x</p:attrName>
                                        </p:attrNameLst>
                                      </p:cBhvr>
                                      <p:tavLst>
                                        <p:tav tm="0">
                                          <p:val>
                                            <p:fltVal val="-1"/>
                                          </p:val>
                                        </p:tav>
                                        <p:tav tm="50000">
                                          <p:val>
                                            <p:fltVal val="0.95"/>
                                          </p:val>
                                        </p:tav>
                                        <p:tav tm="100000">
                                          <p:val>
                                            <p:strVal val="#ppt_x"/>
                                          </p:val>
                                        </p:tav>
                                      </p:tavLst>
                                    </p:anim>
                                    <p:anim calcmode="lin" valueType="num">
                                      <p:cBhvr>
                                        <p:cTn id="53" dur="1000" fill="hold"/>
                                        <p:tgtEl>
                                          <p:spTgt spid="3">
                                            <p:txEl>
                                              <p:pRg st="4" end="4"/>
                                            </p:txEl>
                                          </p:spTgt>
                                        </p:tgtEl>
                                        <p:attrNameLst>
                                          <p:attrName>ppt_y</p:attrName>
                                        </p:attrNameLst>
                                      </p:cBhvr>
                                      <p:tavLst>
                                        <p:tav tm="0">
                                          <p:val>
                                            <p:strVal val="#ppt_y"/>
                                          </p:val>
                                        </p:tav>
                                        <p:tav tm="100000">
                                          <p:val>
                                            <p:strVal val="#ppt_y"/>
                                          </p:val>
                                        </p:tav>
                                      </p:tavLst>
                                    </p:anim>
                                    <p:animEffect transition="in" filter="fade">
                                      <p:cBhvr>
                                        <p:cTn id="54" dur="1000"/>
                                        <p:tgtEl>
                                          <p:spTgt spid="3">
                                            <p:txEl>
                                              <p:pRg st="4" end="4"/>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54" presetClass="entr" presetSubtype="0" accel="100000" fill="hold" nodeType="clickEffect">
                                  <p:stCondLst>
                                    <p:cond delay="0"/>
                                  </p:stCondLst>
                                  <p:childTnLst>
                                    <p:set>
                                      <p:cBhvr>
                                        <p:cTn id="58" dur="1" fill="hold">
                                          <p:stCondLst>
                                            <p:cond delay="0"/>
                                          </p:stCondLst>
                                        </p:cTn>
                                        <p:tgtEl>
                                          <p:spTgt spid="3">
                                            <p:txEl>
                                              <p:pRg st="0" end="0"/>
                                            </p:txEl>
                                          </p:spTgt>
                                        </p:tgtEl>
                                        <p:attrNameLst>
                                          <p:attrName>style.visibility</p:attrName>
                                        </p:attrNameLst>
                                      </p:cBhvr>
                                      <p:to>
                                        <p:strVal val="visible"/>
                                      </p:to>
                                    </p:set>
                                    <p:anim calcmode="lin" valueType="num">
                                      <p:cBhvr>
                                        <p:cTn id="59" dur="1000" fill="hold"/>
                                        <p:tgtEl>
                                          <p:spTgt spid="3">
                                            <p:txEl>
                                              <p:pRg st="0" end="0"/>
                                            </p:txEl>
                                          </p:spTgt>
                                        </p:tgtEl>
                                        <p:attrNameLst>
                                          <p:attrName>ppt_w</p:attrName>
                                        </p:attrNameLst>
                                      </p:cBhvr>
                                      <p:tavLst>
                                        <p:tav tm="0">
                                          <p:val>
                                            <p:strVal val="#ppt_w*0.05"/>
                                          </p:val>
                                        </p:tav>
                                        <p:tav tm="100000">
                                          <p:val>
                                            <p:strVal val="#ppt_w"/>
                                          </p:val>
                                        </p:tav>
                                      </p:tavLst>
                                    </p:anim>
                                    <p:anim calcmode="lin" valueType="num">
                                      <p:cBhvr>
                                        <p:cTn id="60" dur="1000" fill="hold"/>
                                        <p:tgtEl>
                                          <p:spTgt spid="3">
                                            <p:txEl>
                                              <p:pRg st="0" end="0"/>
                                            </p:txEl>
                                          </p:spTgt>
                                        </p:tgtEl>
                                        <p:attrNameLst>
                                          <p:attrName>ppt_h</p:attrName>
                                        </p:attrNameLst>
                                      </p:cBhvr>
                                      <p:tavLst>
                                        <p:tav tm="0">
                                          <p:val>
                                            <p:strVal val="#ppt_h"/>
                                          </p:val>
                                        </p:tav>
                                        <p:tav tm="100000">
                                          <p:val>
                                            <p:strVal val="#ppt_h"/>
                                          </p:val>
                                        </p:tav>
                                      </p:tavLst>
                                    </p:anim>
                                    <p:anim calcmode="lin" valueType="num">
                                      <p:cBhvr>
                                        <p:cTn id="61"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62" dur="1000" fill="hold"/>
                                        <p:tgtEl>
                                          <p:spTgt spid="3">
                                            <p:txEl>
                                              <p:pRg st="0" end="0"/>
                                            </p:txEl>
                                          </p:spTgt>
                                        </p:tgtEl>
                                        <p:attrNameLst>
                                          <p:attrName>ppt_y</p:attrName>
                                        </p:attrNameLst>
                                      </p:cBhvr>
                                      <p:tavLst>
                                        <p:tav tm="0">
                                          <p:val>
                                            <p:strVal val="#ppt_y"/>
                                          </p:val>
                                        </p:tav>
                                        <p:tav tm="100000">
                                          <p:val>
                                            <p:strVal val="#ppt_y"/>
                                          </p:val>
                                        </p:tav>
                                      </p:tavLst>
                                    </p:anim>
                                    <p:animEffect transition="in" filter="fade">
                                      <p:cBhvr>
                                        <p:cTn id="63" dur="1000"/>
                                        <p:tgtEl>
                                          <p:spTgt spid="3">
                                            <p:txEl>
                                              <p:pRg st="0" end="0"/>
                                            </p:txEl>
                                          </p:spTgt>
                                        </p:tgtEl>
                                      </p:cBhvr>
                                    </p:animEffect>
                                  </p:childTnLst>
                                </p:cTn>
                              </p:par>
                              <p:par>
                                <p:cTn id="64" presetID="54" presetClass="entr" presetSubtype="0" accel="100000" fill="hold" nodeType="withEffect">
                                  <p:stCondLst>
                                    <p:cond delay="0"/>
                                  </p:stCondLst>
                                  <p:childTnLst>
                                    <p:set>
                                      <p:cBhvr>
                                        <p:cTn id="65" dur="1" fill="hold">
                                          <p:stCondLst>
                                            <p:cond delay="0"/>
                                          </p:stCondLst>
                                        </p:cTn>
                                        <p:tgtEl>
                                          <p:spTgt spid="3">
                                            <p:txEl>
                                              <p:pRg st="1" end="1"/>
                                            </p:txEl>
                                          </p:spTgt>
                                        </p:tgtEl>
                                        <p:attrNameLst>
                                          <p:attrName>style.visibility</p:attrName>
                                        </p:attrNameLst>
                                      </p:cBhvr>
                                      <p:to>
                                        <p:strVal val="visible"/>
                                      </p:to>
                                    </p:set>
                                    <p:anim calcmode="lin" valueType="num">
                                      <p:cBhvr>
                                        <p:cTn id="66" dur="1000" fill="hold"/>
                                        <p:tgtEl>
                                          <p:spTgt spid="3">
                                            <p:txEl>
                                              <p:pRg st="1" end="1"/>
                                            </p:txEl>
                                          </p:spTgt>
                                        </p:tgtEl>
                                        <p:attrNameLst>
                                          <p:attrName>ppt_w</p:attrName>
                                        </p:attrNameLst>
                                      </p:cBhvr>
                                      <p:tavLst>
                                        <p:tav tm="0">
                                          <p:val>
                                            <p:strVal val="#ppt_w*0.05"/>
                                          </p:val>
                                        </p:tav>
                                        <p:tav tm="100000">
                                          <p:val>
                                            <p:strVal val="#ppt_w"/>
                                          </p:val>
                                        </p:tav>
                                      </p:tavLst>
                                    </p:anim>
                                    <p:anim calcmode="lin" valueType="num">
                                      <p:cBhvr>
                                        <p:cTn id="67" dur="1000" fill="hold"/>
                                        <p:tgtEl>
                                          <p:spTgt spid="3">
                                            <p:txEl>
                                              <p:pRg st="1" end="1"/>
                                            </p:txEl>
                                          </p:spTgt>
                                        </p:tgtEl>
                                        <p:attrNameLst>
                                          <p:attrName>ppt_h</p:attrName>
                                        </p:attrNameLst>
                                      </p:cBhvr>
                                      <p:tavLst>
                                        <p:tav tm="0">
                                          <p:val>
                                            <p:strVal val="#ppt_h"/>
                                          </p:val>
                                        </p:tav>
                                        <p:tav tm="100000">
                                          <p:val>
                                            <p:strVal val="#ppt_h"/>
                                          </p:val>
                                        </p:tav>
                                      </p:tavLst>
                                    </p:anim>
                                    <p:anim calcmode="lin" valueType="num">
                                      <p:cBhvr>
                                        <p:cTn id="68"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69" dur="1000" fill="hold"/>
                                        <p:tgtEl>
                                          <p:spTgt spid="3">
                                            <p:txEl>
                                              <p:pRg st="1" end="1"/>
                                            </p:txEl>
                                          </p:spTgt>
                                        </p:tgtEl>
                                        <p:attrNameLst>
                                          <p:attrName>ppt_y</p:attrName>
                                        </p:attrNameLst>
                                      </p:cBhvr>
                                      <p:tavLst>
                                        <p:tav tm="0">
                                          <p:val>
                                            <p:strVal val="#ppt_y"/>
                                          </p:val>
                                        </p:tav>
                                        <p:tav tm="100000">
                                          <p:val>
                                            <p:strVal val="#ppt_y"/>
                                          </p:val>
                                        </p:tav>
                                      </p:tavLst>
                                    </p:anim>
                                    <p:animEffect transition="in" filter="fade">
                                      <p:cBhvr>
                                        <p:cTn id="7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285722" y="428604"/>
            <a:ext cx="8643999" cy="1661993"/>
          </a:xfrm>
          <a:prstGeom prst="rect">
            <a:avLst/>
          </a:prstGeom>
          <a:noFill/>
        </p:spPr>
        <p:txBody>
          <a:bodyPr wrap="square" rtlCol="1">
            <a:spAutoFit/>
          </a:bodyPr>
          <a:lstStyle/>
          <a:p>
            <a:r>
              <a:rPr lang="ar-EG" sz="2800" dirty="0"/>
              <a:t>ولهذا عندما نلاحظ </a:t>
            </a:r>
            <a:r>
              <a:rPr lang="ar-EG" sz="2800" dirty="0" err="1"/>
              <a:t>الاشارات</a:t>
            </a:r>
            <a:r>
              <a:rPr lang="ar-EG" sz="2800" dirty="0"/>
              <a:t> الصوتية لشخص يتحدث نلاحظ فترات السكوت تمثل </a:t>
            </a:r>
            <a:r>
              <a:rPr lang="ar-EG" sz="2800" dirty="0" err="1"/>
              <a:t>ايضا</a:t>
            </a:r>
            <a:r>
              <a:rPr lang="ar-EG" sz="2800" dirty="0"/>
              <a:t> </a:t>
            </a:r>
            <a:r>
              <a:rPr lang="ar-EG" sz="2800" dirty="0" err="1"/>
              <a:t>بواسطه</a:t>
            </a:r>
            <a:r>
              <a:rPr lang="ar-EG" sz="2800" dirty="0"/>
              <a:t> موجات لكنها  </a:t>
            </a:r>
            <a:r>
              <a:rPr lang="ar-EG" sz="2800" dirty="0" err="1"/>
              <a:t>بسيطه</a:t>
            </a:r>
            <a:r>
              <a:rPr lang="ar-EG" sz="2800" dirty="0"/>
              <a:t> جدا تسمى </a:t>
            </a:r>
            <a:r>
              <a:rPr lang="en-US" sz="2800" dirty="0"/>
              <a:t>Noise</a:t>
            </a:r>
          </a:p>
          <a:p>
            <a:endParaRPr lang="en-US" dirty="0"/>
          </a:p>
          <a:p>
            <a:r>
              <a:rPr lang="ar-EG" sz="2800" dirty="0">
                <a:solidFill>
                  <a:srgbClr val="FFC000"/>
                </a:solidFill>
              </a:rPr>
              <a:t>كما بالشكل </a:t>
            </a:r>
            <a:r>
              <a:rPr lang="ar-EG" sz="2800" dirty="0" err="1">
                <a:solidFill>
                  <a:srgbClr val="FFC000"/>
                </a:solidFill>
              </a:rPr>
              <a:t>التالى</a:t>
            </a:r>
            <a:r>
              <a:rPr lang="ar-EG" sz="2800" dirty="0">
                <a:solidFill>
                  <a:srgbClr val="FFC000"/>
                </a:solidFill>
              </a:rPr>
              <a:t> :-</a:t>
            </a:r>
          </a:p>
        </p:txBody>
      </p:sp>
      <p:pic>
        <p:nvPicPr>
          <p:cNvPr id="46082" name="Picture 2"/>
          <p:cNvPicPr>
            <a:picLocks noChangeAspect="1" noChangeArrowheads="1"/>
          </p:cNvPicPr>
          <p:nvPr/>
        </p:nvPicPr>
        <p:blipFill>
          <a:blip r:embed="rId2"/>
          <a:srcRect/>
          <a:stretch>
            <a:fillRect/>
          </a:stretch>
        </p:blipFill>
        <p:spPr bwMode="auto">
          <a:xfrm>
            <a:off x="714348" y="2285992"/>
            <a:ext cx="7597493" cy="4214832"/>
          </a:xfrm>
          <a:prstGeom prst="rect">
            <a:avLst/>
          </a:prstGeom>
          <a:noFill/>
          <a:ln w="9525">
            <a:noFill/>
            <a:miter lim="800000"/>
            <a:headEnd/>
            <a:tailEnd/>
          </a:ln>
          <a:effectLst/>
        </p:spPr>
      </p:pic>
    </p:spTree>
  </p:cSld>
  <p:clrMapOvr>
    <a:masterClrMapping/>
  </p:clrMapOvr>
  <p:transition spd="slow">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Scale>
                                      <p:cBhvr>
                                        <p:cTn id="7" dur="1000" decel="50000" fill="hold">
                                          <p:stCondLst>
                                            <p:cond delay="0"/>
                                          </p:stCondLst>
                                        </p:cTn>
                                        <p:tgtEl>
                                          <p:spTgt spid="2">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2">
                                            <p:txEl>
                                              <p:pRg st="0" end="0"/>
                                            </p:txEl>
                                          </p:spTgt>
                                        </p:tgtEl>
                                        <p:attrNameLst>
                                          <p:attrName>ppt_x</p:attrName>
                                          <p:attrName>ppt_y</p:attrName>
                                        </p:attrNameLst>
                                      </p:cBhvr>
                                    </p:animMotion>
                                    <p:animEffect transition="in" filter="fade">
                                      <p:cBhvr>
                                        <p:cTn id="9" dur="10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0" presetClass="entr" presetSubtype="0" decel="10000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 calcmode="lin" valueType="num">
                                      <p:cBhvr>
                                        <p:cTn id="14" dur="1000" fill="hold"/>
                                        <p:tgtEl>
                                          <p:spTgt spid="2">
                                            <p:txEl>
                                              <p:pRg st="2" end="2"/>
                                            </p:txEl>
                                          </p:spTgt>
                                        </p:tgtEl>
                                        <p:attrNameLst>
                                          <p:attrName>ppt_w</p:attrName>
                                        </p:attrNameLst>
                                      </p:cBhvr>
                                      <p:tavLst>
                                        <p:tav tm="0">
                                          <p:val>
                                            <p:strVal val="#ppt_w+.3"/>
                                          </p:val>
                                        </p:tav>
                                        <p:tav tm="100000">
                                          <p:val>
                                            <p:strVal val="#ppt_w"/>
                                          </p:val>
                                        </p:tav>
                                      </p:tavLst>
                                    </p:anim>
                                    <p:anim calcmode="lin" valueType="num">
                                      <p:cBhvr>
                                        <p:cTn id="15" dur="1000" fill="hold"/>
                                        <p:tgtEl>
                                          <p:spTgt spid="2">
                                            <p:txEl>
                                              <p:pRg st="2" end="2"/>
                                            </p:txEl>
                                          </p:spTgt>
                                        </p:tgtEl>
                                        <p:attrNameLst>
                                          <p:attrName>ppt_h</p:attrName>
                                        </p:attrNameLst>
                                      </p:cBhvr>
                                      <p:tavLst>
                                        <p:tav tm="0">
                                          <p:val>
                                            <p:strVal val="#ppt_h"/>
                                          </p:val>
                                        </p:tav>
                                        <p:tav tm="100000">
                                          <p:val>
                                            <p:strVal val="#ppt_h"/>
                                          </p:val>
                                        </p:tav>
                                      </p:tavLst>
                                    </p:anim>
                                    <p:animEffect transition="in" filter="fade">
                                      <p:cBhvr>
                                        <p:cTn id="16" dur="10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4" presetClass="entr" presetSubtype="0" fill="hold" nodeType="clickEffect">
                                  <p:stCondLst>
                                    <p:cond delay="0"/>
                                  </p:stCondLst>
                                  <p:childTnLst>
                                    <p:set>
                                      <p:cBhvr>
                                        <p:cTn id="20" dur="1" fill="hold">
                                          <p:stCondLst>
                                            <p:cond delay="0"/>
                                          </p:stCondLst>
                                        </p:cTn>
                                        <p:tgtEl>
                                          <p:spTgt spid="46082"/>
                                        </p:tgtEl>
                                        <p:attrNameLst>
                                          <p:attrName>style.visibility</p:attrName>
                                        </p:attrNameLst>
                                      </p:cBhvr>
                                      <p:to>
                                        <p:strVal val="visible"/>
                                      </p:to>
                                    </p:set>
                                    <p:anim from="(-#ppt_w/2)" to="(#ppt_x)" calcmode="lin" valueType="num">
                                      <p:cBhvr>
                                        <p:cTn id="21" dur="600" fill="hold">
                                          <p:stCondLst>
                                            <p:cond delay="0"/>
                                          </p:stCondLst>
                                        </p:cTn>
                                        <p:tgtEl>
                                          <p:spTgt spid="46082"/>
                                        </p:tgtEl>
                                        <p:attrNameLst>
                                          <p:attrName>ppt_x</p:attrName>
                                        </p:attrNameLst>
                                      </p:cBhvr>
                                    </p:anim>
                                    <p:anim from="0" to="-1.0" calcmode="lin" valueType="num">
                                      <p:cBhvr>
                                        <p:cTn id="22" dur="200" decel="50000" autoRev="1" fill="hold">
                                          <p:stCondLst>
                                            <p:cond delay="600"/>
                                          </p:stCondLst>
                                        </p:cTn>
                                        <p:tgtEl>
                                          <p:spTgt spid="46082"/>
                                        </p:tgtEl>
                                        <p:attrNameLst>
                                          <p:attrName>xshear</p:attrName>
                                        </p:attrNameLst>
                                      </p:cBhvr>
                                    </p:anim>
                                    <p:animScale>
                                      <p:cBhvr>
                                        <p:cTn id="23" dur="200" decel="100000" autoRev="1" fill="hold">
                                          <p:stCondLst>
                                            <p:cond delay="600"/>
                                          </p:stCondLst>
                                        </p:cTn>
                                        <p:tgtEl>
                                          <p:spTgt spid="46082"/>
                                        </p:tgtEl>
                                      </p:cBhvr>
                                      <p:from x="100000" y="100000"/>
                                      <p:to x="80000" y="100000"/>
                                    </p:animScale>
                                    <p:anim by="(#ppt_h/3+#ppt_w*0.1)" calcmode="lin" valueType="num">
                                      <p:cBhvr additive="sum">
                                        <p:cTn id="24" dur="200" decel="100000" autoRev="1" fill="hold">
                                          <p:stCondLst>
                                            <p:cond delay="600"/>
                                          </p:stCondLst>
                                        </p:cTn>
                                        <p:tgtEl>
                                          <p:spTgt spid="46082"/>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214282" y="1643050"/>
            <a:ext cx="8643999" cy="5632311"/>
          </a:xfrm>
          <a:prstGeom prst="rect">
            <a:avLst/>
          </a:prstGeom>
          <a:noFill/>
        </p:spPr>
        <p:txBody>
          <a:bodyPr wrap="square" rtlCol="1">
            <a:spAutoFit/>
          </a:bodyPr>
          <a:lstStyle/>
          <a:p>
            <a:r>
              <a:rPr lang="ar-EG" sz="320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باستخدام ميزه تمرير الفيديو الرقمى</a:t>
            </a:r>
            <a:endParaRPr lang="en-US" sz="2400" dirty="0"/>
          </a:p>
          <a:p>
            <a:r>
              <a:rPr lang="ar-EG" sz="2800" dirty="0"/>
              <a:t>تتيح </a:t>
            </a:r>
            <a:r>
              <a:rPr lang="ar-EG" sz="2800" dirty="0" err="1"/>
              <a:t>لك</a:t>
            </a:r>
            <a:r>
              <a:rPr lang="ar-EG" sz="2800" dirty="0"/>
              <a:t> ميزة " تمرير الفيديو </a:t>
            </a:r>
            <a:r>
              <a:rPr lang="ar-EG" sz="2800" dirty="0" err="1"/>
              <a:t>الرقمى</a:t>
            </a:r>
            <a:r>
              <a:rPr lang="ar-EG" sz="2800" dirty="0"/>
              <a:t> " الخاصة بجهاز الفيديو </a:t>
            </a:r>
            <a:r>
              <a:rPr lang="ar-EG" sz="2800" dirty="0" err="1"/>
              <a:t>الرقمى</a:t>
            </a:r>
            <a:r>
              <a:rPr lang="ar-EG" sz="2800" dirty="0"/>
              <a:t> </a:t>
            </a:r>
            <a:r>
              <a:rPr lang="ar-EG" sz="2800" dirty="0" err="1"/>
              <a:t>فى</a:t>
            </a:r>
            <a:r>
              <a:rPr lang="ar-EG" sz="2800" dirty="0"/>
              <a:t> برنامج </a:t>
            </a:r>
            <a:r>
              <a:rPr lang="en-US" sz="2800" dirty="0"/>
              <a:t>Microsoft Windows Movie Maker</a:t>
            </a:r>
            <a:r>
              <a:rPr lang="ar-EG" sz="2800" dirty="0"/>
              <a:t> نقل مقاطع الفيديو من كاميرا الفيديو التمثيلية </a:t>
            </a:r>
            <a:r>
              <a:rPr lang="ar-EG" sz="2800" dirty="0" err="1"/>
              <a:t>او</a:t>
            </a:r>
            <a:r>
              <a:rPr lang="ar-EG" sz="2800" dirty="0"/>
              <a:t> </a:t>
            </a:r>
            <a:r>
              <a:rPr lang="en-US" sz="2800" dirty="0"/>
              <a:t>VCR</a:t>
            </a:r>
            <a:r>
              <a:rPr lang="ar-EG" sz="2800" dirty="0"/>
              <a:t>(جهاز الفيديو) </a:t>
            </a:r>
            <a:r>
              <a:rPr lang="ar-EG" sz="2800" dirty="0" err="1"/>
              <a:t>الى</a:t>
            </a:r>
            <a:r>
              <a:rPr lang="ar-EG" sz="2800" dirty="0"/>
              <a:t> جهاز الكمبيوتر باستخدام كاميرا </a:t>
            </a:r>
            <a:r>
              <a:rPr lang="en-US" sz="2800" dirty="0"/>
              <a:t>DV</a:t>
            </a:r>
            <a:r>
              <a:rPr lang="ar-EG" sz="2800" dirty="0"/>
              <a:t> (جهاز الفيديو </a:t>
            </a:r>
            <a:r>
              <a:rPr lang="ar-EG" sz="2800" dirty="0" err="1"/>
              <a:t>الرقمى</a:t>
            </a:r>
            <a:r>
              <a:rPr lang="ar-EG" sz="2800" dirty="0"/>
              <a:t>) لتوصيل اى منهما بجهاز الكمبيوتر . </a:t>
            </a:r>
          </a:p>
          <a:p>
            <a:endParaRPr lang="ar-EG" sz="2400" dirty="0"/>
          </a:p>
          <a:p>
            <a:r>
              <a:rPr lang="ar-EG" sz="2800" dirty="0"/>
              <a:t>يعد استخدام ميزه " تمرير الفيديو </a:t>
            </a:r>
            <a:r>
              <a:rPr lang="ar-EG" sz="2800" dirty="0" err="1"/>
              <a:t>الرقمى</a:t>
            </a:r>
            <a:r>
              <a:rPr lang="ar-EG" sz="2800" dirty="0"/>
              <a:t> " طريقة رائعة لنقل اللقطات المصورة القديمة من شريط فيديو </a:t>
            </a:r>
            <a:r>
              <a:rPr lang="ar-EG" sz="2800" dirty="0" err="1"/>
              <a:t>تمثيلى</a:t>
            </a:r>
            <a:r>
              <a:rPr lang="ar-EG" sz="2800" dirty="0"/>
              <a:t> </a:t>
            </a:r>
            <a:r>
              <a:rPr lang="ar-EG" sz="2800" dirty="0" err="1"/>
              <a:t>الى</a:t>
            </a:r>
            <a:r>
              <a:rPr lang="ar-EG" sz="2800" dirty="0"/>
              <a:t> جهاز الكمبيوتر بدون تثبيت جهاز فيديو </a:t>
            </a:r>
            <a:r>
              <a:rPr lang="ar-EG" sz="2800" dirty="0" err="1"/>
              <a:t>تمثيلى</a:t>
            </a:r>
            <a:r>
              <a:rPr lang="ar-EG" sz="2800" dirty="0"/>
              <a:t> </a:t>
            </a:r>
            <a:r>
              <a:rPr lang="ar-EG" sz="2800" dirty="0" err="1"/>
              <a:t>او</a:t>
            </a:r>
            <a:r>
              <a:rPr lang="ar-EG" sz="2800" dirty="0"/>
              <a:t> بطاقة التقاط فيديو </a:t>
            </a:r>
            <a:r>
              <a:rPr lang="ar-EG" sz="2800" dirty="0" err="1"/>
              <a:t>اضافى</a:t>
            </a:r>
            <a:r>
              <a:rPr lang="ar-EG" sz="2800" dirty="0"/>
              <a:t> على جهاز الكمبيوتر. (تتضمن بعض </a:t>
            </a:r>
            <a:r>
              <a:rPr lang="ar-EG" sz="2800" dirty="0" err="1"/>
              <a:t>التنسيقات</a:t>
            </a:r>
            <a:r>
              <a:rPr lang="ar-EG" sz="2800" dirty="0"/>
              <a:t> الشائعة للفيديو </a:t>
            </a:r>
            <a:r>
              <a:rPr lang="ar-EG" sz="2800" dirty="0" err="1"/>
              <a:t>التمثيلى</a:t>
            </a:r>
            <a:r>
              <a:rPr lang="ar-EG" sz="2800" dirty="0"/>
              <a:t> </a:t>
            </a:r>
            <a:r>
              <a:rPr lang="en-US" sz="2800" dirty="0"/>
              <a:t>mm8)</a:t>
            </a:r>
            <a:r>
              <a:rPr lang="ar-EG" sz="2800" dirty="0"/>
              <a:t> ، </a:t>
            </a:r>
            <a:r>
              <a:rPr lang="en-US" sz="2800" dirty="0"/>
              <a:t>Hi-8</a:t>
            </a:r>
            <a:r>
              <a:rPr lang="ar-EG" sz="2800" dirty="0"/>
              <a:t> ، </a:t>
            </a:r>
            <a:r>
              <a:rPr lang="en-US" sz="2800" dirty="0"/>
              <a:t>VHS</a:t>
            </a:r>
            <a:r>
              <a:rPr lang="ar-EG" sz="2800" dirty="0"/>
              <a:t> ، </a:t>
            </a:r>
            <a:r>
              <a:rPr lang="en-US" sz="2800" dirty="0"/>
              <a:t>S-VHS</a:t>
            </a:r>
            <a:r>
              <a:rPr lang="ar-EG" sz="2800" dirty="0"/>
              <a:t>).</a:t>
            </a:r>
            <a:endParaRPr lang="en-US" sz="2800" dirty="0"/>
          </a:p>
          <a:p>
            <a:endParaRPr lang="ar-EG" sz="2400" dirty="0"/>
          </a:p>
        </p:txBody>
      </p:sp>
      <p:sp>
        <p:nvSpPr>
          <p:cNvPr id="3" name="مربع نص 2"/>
          <p:cNvSpPr txBox="1"/>
          <p:nvPr/>
        </p:nvSpPr>
        <p:spPr>
          <a:xfrm>
            <a:off x="928662" y="642918"/>
            <a:ext cx="7715304" cy="523220"/>
          </a:xfrm>
          <a:prstGeom prst="rect">
            <a:avLst/>
          </a:prstGeom>
          <a:solidFill>
            <a:schemeClr val="tx1"/>
          </a:solidFill>
        </p:spPr>
        <p:txBody>
          <a:bodyPr wrap="square" rtlCol="1">
            <a:spAutoFit/>
          </a:bodyPr>
          <a:lstStyle/>
          <a:p>
            <a:pPr algn="ctr"/>
            <a:r>
              <a:rPr lang="ar-EG" sz="28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التقاط الفيديو </a:t>
            </a:r>
            <a:r>
              <a:rPr lang="ar-EG" sz="2800" b="1" cap="all" dirty="0" err="1">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فى</a:t>
            </a:r>
            <a:r>
              <a:rPr lang="ar-EG" sz="28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a:t>
            </a:r>
            <a:r>
              <a:rPr lang="en-US" sz="28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1</a:t>
            </a:r>
            <a:r>
              <a:rPr lang="ar-EG" sz="28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a:t>
            </a:r>
            <a:r>
              <a:rPr lang="en-US" sz="28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Windows Movie Maker 2 </a:t>
            </a:r>
            <a:endParaRPr lang="ar-EG" sz="28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cSld>
  <p:clrMapOvr>
    <a:masterClrMapping/>
  </p:clrMapOvr>
  <p:transition spd="slow">
    <p:randomBa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0" fill="hold"/>
                                        <p:tgtEl>
                                          <p:spTgt spid="3"/>
                                        </p:tgtEl>
                                        <p:attrNameLst>
                                          <p:attrName>ppt_w</p:attrName>
                                        </p:attrNameLst>
                                      </p:cBhvr>
                                      <p:tavLst>
                                        <p:tav tm="0" fmla="#ppt_w*sin(2.5*pi*$)">
                                          <p:val>
                                            <p:fltVal val="0"/>
                                          </p:val>
                                        </p:tav>
                                        <p:tav tm="100000">
                                          <p:val>
                                            <p:fltVal val="1"/>
                                          </p:val>
                                        </p:tav>
                                      </p:tavLst>
                                    </p:anim>
                                    <p:anim calcmode="lin" valueType="num">
                                      <p:cBhvr>
                                        <p:cTn id="8" dur="5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47"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2">
                                            <p:txEl>
                                              <p:pRg st="1" end="1"/>
                                            </p:txEl>
                                          </p:spTgt>
                                        </p:tgtEl>
                                        <p:attrNameLst>
                                          <p:attrName>style.visibility</p:attrName>
                                        </p:attrNameLst>
                                      </p:cBhvr>
                                      <p:to>
                                        <p:strVal val="visible"/>
                                      </p:to>
                                    </p:set>
                                    <p:animEffect transition="in" filter="dissolve">
                                      <p:cBhvr>
                                        <p:cTn id="20" dur="1000"/>
                                        <p:tgtEl>
                                          <p:spTgt spid="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Effect transition="in" filter="dissolve">
                                      <p:cBhvr>
                                        <p:cTn id="25" dur="10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285720" y="214290"/>
            <a:ext cx="8429684" cy="5816977"/>
          </a:xfrm>
          <a:prstGeom prst="rect">
            <a:avLst/>
          </a:prstGeom>
          <a:noFill/>
        </p:spPr>
        <p:txBody>
          <a:bodyPr wrap="square" rtlCol="1">
            <a:spAutoFit/>
          </a:bodyPr>
          <a:lstStyle/>
          <a:p>
            <a:r>
              <a:rPr lang="ar-EG" sz="3200" b="1" dirty="0">
                <a:ln w="19050">
                  <a:solidFill>
                    <a:schemeClr val="tx2">
                      <a:tint val="1000"/>
                    </a:schemeClr>
                  </a:solidFill>
                  <a:prstDash val="solid"/>
                </a:ln>
                <a:effectLst>
                  <a:outerShdw blurRad="50000" dist="50800" dir="7500000" algn="tl">
                    <a:srgbClr val="000000">
                      <a:shade val="5000"/>
                      <a:alpha val="35000"/>
                    </a:srgbClr>
                  </a:outerShdw>
                </a:effectLst>
              </a:rPr>
              <a:t>يتطلب استخدام " تمرير الفيديو </a:t>
            </a:r>
            <a:r>
              <a:rPr lang="ar-EG" sz="3200" b="1" dirty="0" err="1">
                <a:ln w="19050">
                  <a:solidFill>
                    <a:schemeClr val="tx2">
                      <a:tint val="1000"/>
                    </a:schemeClr>
                  </a:solidFill>
                  <a:prstDash val="solid"/>
                </a:ln>
                <a:effectLst>
                  <a:outerShdw blurRad="50000" dist="50800" dir="7500000" algn="tl">
                    <a:srgbClr val="000000">
                      <a:shade val="5000"/>
                      <a:alpha val="35000"/>
                    </a:srgbClr>
                  </a:outerShdw>
                </a:effectLst>
              </a:rPr>
              <a:t>الرقمى</a:t>
            </a:r>
            <a:r>
              <a:rPr lang="ar-EG" sz="3200" b="1" dirty="0">
                <a:ln w="19050">
                  <a:solidFill>
                    <a:schemeClr val="tx2">
                      <a:tint val="1000"/>
                    </a:schemeClr>
                  </a:solidFill>
                  <a:prstDash val="solid"/>
                </a:ln>
                <a:effectLst>
                  <a:outerShdw blurRad="50000" dist="50800" dir="7500000" algn="tl">
                    <a:srgbClr val="000000">
                      <a:shade val="5000"/>
                      <a:alpha val="35000"/>
                    </a:srgbClr>
                  </a:outerShdw>
                </a:effectLst>
              </a:rPr>
              <a:t> " لنقل شريط فيديو </a:t>
            </a:r>
            <a:r>
              <a:rPr lang="ar-EG" sz="3200" b="1" dirty="0" err="1">
                <a:ln w="19050">
                  <a:solidFill>
                    <a:schemeClr val="tx2">
                      <a:tint val="1000"/>
                    </a:schemeClr>
                  </a:solidFill>
                  <a:prstDash val="solid"/>
                </a:ln>
                <a:effectLst>
                  <a:outerShdw blurRad="50000" dist="50800" dir="7500000" algn="tl">
                    <a:srgbClr val="000000">
                      <a:shade val="5000"/>
                      <a:alpha val="35000"/>
                    </a:srgbClr>
                  </a:outerShdw>
                </a:effectLst>
              </a:rPr>
              <a:t>تمثيلى</a:t>
            </a:r>
            <a:r>
              <a:rPr lang="ar-EG" sz="3200" b="1" dirty="0">
                <a:ln w="19050">
                  <a:solidFill>
                    <a:schemeClr val="tx2">
                      <a:tint val="1000"/>
                    </a:schemeClr>
                  </a:solidFill>
                  <a:prstDash val="solid"/>
                </a:ln>
                <a:effectLst>
                  <a:outerShdw blurRad="50000" dist="50800" dir="7500000" algn="tl">
                    <a:srgbClr val="000000">
                      <a:shade val="5000"/>
                      <a:alpha val="35000"/>
                    </a:srgbClr>
                  </a:outerShdw>
                </a:effectLst>
              </a:rPr>
              <a:t> </a:t>
            </a:r>
            <a:r>
              <a:rPr lang="ar-EG" sz="3200" b="1" dirty="0" err="1">
                <a:ln w="19050">
                  <a:solidFill>
                    <a:schemeClr val="tx2">
                      <a:tint val="1000"/>
                    </a:schemeClr>
                  </a:solidFill>
                  <a:prstDash val="solid"/>
                </a:ln>
                <a:effectLst>
                  <a:outerShdw blurRad="50000" dist="50800" dir="7500000" algn="tl">
                    <a:srgbClr val="000000">
                      <a:shade val="5000"/>
                      <a:alpha val="35000"/>
                    </a:srgbClr>
                  </a:outerShdw>
                </a:effectLst>
              </a:rPr>
              <a:t>الى</a:t>
            </a:r>
            <a:r>
              <a:rPr lang="ar-EG" sz="3200" b="1" dirty="0">
                <a:ln w="19050">
                  <a:solidFill>
                    <a:schemeClr val="tx2">
                      <a:tint val="1000"/>
                    </a:schemeClr>
                  </a:solidFill>
                  <a:prstDash val="solid"/>
                </a:ln>
                <a:effectLst>
                  <a:outerShdw blurRad="50000" dist="50800" dir="7500000" algn="tl">
                    <a:srgbClr val="000000">
                      <a:shade val="5000"/>
                      <a:alpha val="35000"/>
                    </a:srgbClr>
                  </a:outerShdw>
                </a:effectLst>
              </a:rPr>
              <a:t> جهاز الكمبيوتر الخاص بك توافر ما </a:t>
            </a:r>
            <a:r>
              <a:rPr lang="ar-EG" sz="3200" b="1" dirty="0" err="1">
                <a:ln w="19050">
                  <a:solidFill>
                    <a:schemeClr val="tx2">
                      <a:tint val="1000"/>
                    </a:schemeClr>
                  </a:solidFill>
                  <a:prstDash val="solid"/>
                </a:ln>
                <a:effectLst>
                  <a:outerShdw blurRad="50000" dist="50800" dir="7500000" algn="tl">
                    <a:srgbClr val="000000">
                      <a:shade val="5000"/>
                      <a:alpha val="35000"/>
                    </a:srgbClr>
                  </a:outerShdw>
                </a:effectLst>
              </a:rPr>
              <a:t>يلى</a:t>
            </a:r>
            <a:r>
              <a:rPr lang="ar-EG" sz="3200" b="1" dirty="0">
                <a:ln w="19050">
                  <a:solidFill>
                    <a:schemeClr val="tx2">
                      <a:tint val="1000"/>
                    </a:schemeClr>
                  </a:solidFill>
                  <a:prstDash val="solid"/>
                </a:ln>
                <a:effectLst>
                  <a:outerShdw blurRad="50000" dist="50800" dir="7500000" algn="tl">
                    <a:srgbClr val="000000">
                      <a:shade val="5000"/>
                      <a:alpha val="35000"/>
                    </a:srgbClr>
                  </a:outerShdw>
                </a:effectLst>
              </a:rPr>
              <a:t> :-</a:t>
            </a:r>
          </a:p>
          <a:p>
            <a:endParaRPr lang="en-US" sz="2000" dirty="0"/>
          </a:p>
          <a:p>
            <a:pPr lvl="0">
              <a:buFont typeface="Arial" pitchFamily="34" charset="0"/>
              <a:buChar char="•"/>
            </a:pPr>
            <a:r>
              <a:rPr lang="ar-EG" sz="2400" b="1" dirty="0">
                <a:solidFill>
                  <a:schemeClr val="tx2"/>
                </a:solidFill>
              </a:rPr>
              <a:t>كاميرا فيديو تمثيلية او </a:t>
            </a:r>
            <a:r>
              <a:rPr lang="en-US" sz="2400" b="1" dirty="0">
                <a:solidFill>
                  <a:schemeClr val="tx2"/>
                </a:solidFill>
              </a:rPr>
              <a:t>VCR</a:t>
            </a:r>
          </a:p>
          <a:p>
            <a:pPr lvl="0">
              <a:buFont typeface="Arial" pitchFamily="34" charset="0"/>
              <a:buChar char="•"/>
            </a:pPr>
            <a:r>
              <a:rPr lang="ar-EG" sz="2400" dirty="0"/>
              <a:t>كاميرا </a:t>
            </a:r>
            <a:r>
              <a:rPr lang="en-US" sz="2400" dirty="0"/>
              <a:t>DV</a:t>
            </a:r>
            <a:r>
              <a:rPr lang="ar-EG" sz="2400" dirty="0"/>
              <a:t> تدعم " تمرير الفيديو الرقمي " </a:t>
            </a:r>
            <a:r>
              <a:rPr lang="ar-EG" sz="2400" dirty="0" err="1"/>
              <a:t>فى</a:t>
            </a:r>
            <a:r>
              <a:rPr lang="ar-EG" sz="2400" dirty="0"/>
              <a:t> وضع القراءة ( عادة ما يطلق علية وضع </a:t>
            </a:r>
            <a:r>
              <a:rPr lang="en-US" sz="2400" dirty="0"/>
              <a:t>VCR/VTR</a:t>
            </a:r>
            <a:r>
              <a:rPr lang="ar-EG" sz="2400" dirty="0"/>
              <a:t> فى كاميرا </a:t>
            </a:r>
            <a:r>
              <a:rPr lang="en-US" sz="2400" dirty="0"/>
              <a:t>DV</a:t>
            </a:r>
          </a:p>
          <a:p>
            <a:pPr lvl="0">
              <a:buFont typeface="Arial" pitchFamily="34" charset="0"/>
              <a:buChar char="•"/>
            </a:pPr>
            <a:r>
              <a:rPr lang="ar-EG" sz="2400" b="1" dirty="0">
                <a:solidFill>
                  <a:schemeClr val="tx2"/>
                </a:solidFill>
              </a:rPr>
              <a:t>منفذ </a:t>
            </a:r>
            <a:r>
              <a:rPr lang="en-US" sz="2400" b="1" dirty="0">
                <a:solidFill>
                  <a:schemeClr val="tx2"/>
                </a:solidFill>
              </a:rPr>
              <a:t>IEEE 1394</a:t>
            </a:r>
            <a:r>
              <a:rPr lang="ar-EG" sz="2400" b="1" dirty="0">
                <a:solidFill>
                  <a:schemeClr val="tx2"/>
                </a:solidFill>
              </a:rPr>
              <a:t> على جهاز الكمبيوتر الخاص بك</a:t>
            </a:r>
            <a:endParaRPr lang="en-US" sz="2400" b="1" dirty="0">
              <a:solidFill>
                <a:schemeClr val="tx2"/>
              </a:solidFill>
            </a:endParaRPr>
          </a:p>
          <a:p>
            <a:pPr lvl="0">
              <a:buFont typeface="Arial" pitchFamily="34" charset="0"/>
              <a:buChar char="•"/>
            </a:pPr>
            <a:r>
              <a:rPr lang="ar-EG" sz="2400" dirty="0"/>
              <a:t>كابل </a:t>
            </a:r>
            <a:r>
              <a:rPr lang="en-US" sz="2400" dirty="0"/>
              <a:t>S-video</a:t>
            </a:r>
            <a:r>
              <a:rPr lang="ar-EG" sz="2400" dirty="0"/>
              <a:t> </a:t>
            </a:r>
            <a:r>
              <a:rPr lang="ar-EG" sz="2400" dirty="0" err="1"/>
              <a:t>او</a:t>
            </a:r>
            <a:r>
              <a:rPr lang="ar-EG" sz="2400" dirty="0"/>
              <a:t> كابل </a:t>
            </a:r>
            <a:r>
              <a:rPr lang="en-US" sz="2400" dirty="0"/>
              <a:t>RCA</a:t>
            </a:r>
            <a:r>
              <a:rPr lang="ar-EG" sz="2400" dirty="0"/>
              <a:t> يتضمن موصلات ستريو </a:t>
            </a:r>
            <a:r>
              <a:rPr lang="en-US" sz="2400" dirty="0"/>
              <a:t>RCA</a:t>
            </a:r>
            <a:r>
              <a:rPr lang="ar-EG" sz="2400" dirty="0"/>
              <a:t> وموصل مركب الفيديو وموصل </a:t>
            </a:r>
            <a:r>
              <a:rPr lang="en-US" sz="2400" dirty="0"/>
              <a:t>mini-jack</a:t>
            </a:r>
          </a:p>
          <a:p>
            <a:pPr lvl="0">
              <a:buFont typeface="Arial" pitchFamily="34" charset="0"/>
              <a:buChar char="•"/>
            </a:pPr>
            <a:r>
              <a:rPr lang="ar-EG" sz="2400" b="1" dirty="0">
                <a:solidFill>
                  <a:schemeClr val="tx2"/>
                </a:solidFill>
              </a:rPr>
              <a:t>برنامج </a:t>
            </a:r>
            <a:r>
              <a:rPr lang="en-US" sz="2400" b="1" dirty="0">
                <a:solidFill>
                  <a:schemeClr val="tx2"/>
                </a:solidFill>
              </a:rPr>
              <a:t>Windows Movie Maker 2.1</a:t>
            </a:r>
            <a:r>
              <a:rPr lang="ar-EG" sz="2400" b="1" dirty="0">
                <a:solidFill>
                  <a:schemeClr val="tx2"/>
                </a:solidFill>
              </a:rPr>
              <a:t> يتم تثبيته مع حزمة الخدمة </a:t>
            </a:r>
            <a:r>
              <a:rPr lang="en-US" sz="2400" b="1" dirty="0">
                <a:solidFill>
                  <a:schemeClr val="tx2"/>
                </a:solidFill>
              </a:rPr>
              <a:t>Microsoft Windows XP Service Pack 2</a:t>
            </a:r>
            <a:r>
              <a:rPr lang="ar-EG" sz="2400" b="1" dirty="0">
                <a:solidFill>
                  <a:schemeClr val="tx2"/>
                </a:solidFill>
              </a:rPr>
              <a:t>.</a:t>
            </a:r>
            <a:endParaRPr lang="en-US" sz="2400" b="1" dirty="0">
              <a:solidFill>
                <a:schemeClr val="tx2"/>
              </a:solidFill>
            </a:endParaRPr>
          </a:p>
          <a:p>
            <a:pPr lvl="0">
              <a:buFont typeface="Arial" pitchFamily="34" charset="0"/>
              <a:buChar char="•"/>
            </a:pPr>
            <a:r>
              <a:rPr lang="ar-EG" sz="2400" dirty="0"/>
              <a:t>يجب </a:t>
            </a:r>
            <a:r>
              <a:rPr lang="ar-EG" sz="2400" dirty="0" err="1"/>
              <a:t>ان</a:t>
            </a:r>
            <a:r>
              <a:rPr lang="ar-EG" sz="2400" dirty="0"/>
              <a:t> تدعم كاميرا </a:t>
            </a:r>
            <a:r>
              <a:rPr lang="en-US" sz="2400" dirty="0"/>
              <a:t>DV</a:t>
            </a:r>
            <a:r>
              <a:rPr lang="ar-EG" sz="2400" dirty="0"/>
              <a:t> المتوفرة لديك ميزة " تمرير الفيديو الرقمي " (يمكن تمرير الفيديو التمثيلي خلال كاميرا </a:t>
            </a:r>
            <a:r>
              <a:rPr lang="en-US" sz="2400" dirty="0"/>
              <a:t>DV</a:t>
            </a:r>
            <a:r>
              <a:rPr lang="ar-EG" sz="2400" dirty="0"/>
              <a:t> والى جهاز الكمبيوتر الخاص بك) . للحصول على معلومات حول ما </a:t>
            </a:r>
            <a:r>
              <a:rPr lang="ar-EG" sz="2400" dirty="0" err="1"/>
              <a:t>اذا</a:t>
            </a:r>
            <a:r>
              <a:rPr lang="ar-EG" sz="2400" dirty="0"/>
              <a:t> كان طراز الكاميرا </a:t>
            </a:r>
            <a:r>
              <a:rPr lang="en-US" sz="2400" dirty="0"/>
              <a:t>DV</a:t>
            </a:r>
            <a:r>
              <a:rPr lang="ar-EG" sz="2400" dirty="0"/>
              <a:t> المتوفرة لديك والإعدادات الملائمة لتمكين " تمرير الفيديو الرقمي " ، راجع الدليل المرفق بكاميرا </a:t>
            </a:r>
            <a:r>
              <a:rPr lang="en-US" sz="2400" dirty="0"/>
              <a:t>DV</a:t>
            </a:r>
            <a:r>
              <a:rPr lang="ar-EG" sz="2400" dirty="0"/>
              <a:t> الخاصة بك.</a:t>
            </a:r>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1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nodeType="clickEffect">
                                  <p:stCondLst>
                                    <p:cond delay="0"/>
                                  </p:stCondLst>
                                  <p:iterate type="lt">
                                    <p:tmPct val="50000"/>
                                  </p:iterate>
                                  <p:childTnLst>
                                    <p:set>
                                      <p:cBhvr>
                                        <p:cTn id="11"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12" dur="50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50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14" dur="500"/>
                                        <p:tgtEl>
                                          <p:spTgt spid="2">
                                            <p:txEl>
                                              <p:pRg st="2" end="2"/>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nodeType="clickEffect">
                                  <p:stCondLst>
                                    <p:cond delay="0"/>
                                  </p:stCondLst>
                                  <p:iterate type="lt">
                                    <p:tmPct val="50000"/>
                                  </p:iterate>
                                  <p:childTnLst>
                                    <p:set>
                                      <p:cBhvr>
                                        <p:cTn id="18" dur="1" fill="hold">
                                          <p:stCondLst>
                                            <p:cond delay="0"/>
                                          </p:stCondLst>
                                        </p:cTn>
                                        <p:tgtEl>
                                          <p:spTgt spid="2">
                                            <p:txEl>
                                              <p:pRg st="3" end="3"/>
                                            </p:txEl>
                                          </p:spTgt>
                                        </p:tgtEl>
                                        <p:attrNameLst>
                                          <p:attrName>style.visibility</p:attrName>
                                        </p:attrNameLst>
                                      </p:cBhvr>
                                      <p:to>
                                        <p:strVal val="visible"/>
                                      </p:to>
                                    </p:set>
                                    <p:anim calcmode="discrete" valueType="clr">
                                      <p:cBhvr override="childStyle">
                                        <p:cTn id="19" dur="500"/>
                                        <p:tgtEl>
                                          <p:spTgt spid="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0" dur="500"/>
                                        <p:tgtEl>
                                          <p:spTgt spid="2">
                                            <p:txEl>
                                              <p:pRg st="3" end="3"/>
                                            </p:txEl>
                                          </p:spTgt>
                                        </p:tgtEl>
                                        <p:attrNameLst>
                                          <p:attrName>fillcolor</p:attrName>
                                        </p:attrNameLst>
                                      </p:cBhvr>
                                      <p:tavLst>
                                        <p:tav tm="0">
                                          <p:val>
                                            <p:clrVal>
                                              <a:schemeClr val="accent2"/>
                                            </p:clrVal>
                                          </p:val>
                                        </p:tav>
                                        <p:tav tm="50000">
                                          <p:val>
                                            <p:clrVal>
                                              <a:schemeClr val="hlink"/>
                                            </p:clrVal>
                                          </p:val>
                                        </p:tav>
                                      </p:tavLst>
                                    </p:anim>
                                    <p:set>
                                      <p:cBhvr>
                                        <p:cTn id="21" dur="500"/>
                                        <p:tgtEl>
                                          <p:spTgt spid="2">
                                            <p:txEl>
                                              <p:pRg st="3" end="3"/>
                                            </p:txEl>
                                          </p:spTgt>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27" presetClass="entr" presetSubtype="0" fill="hold" nodeType="clickEffect">
                                  <p:stCondLst>
                                    <p:cond delay="0"/>
                                  </p:stCondLst>
                                  <p:iterate type="lt">
                                    <p:tmPct val="50000"/>
                                  </p:iterate>
                                  <p:childTnLst>
                                    <p:set>
                                      <p:cBhvr>
                                        <p:cTn id="25" dur="1" fill="hold">
                                          <p:stCondLst>
                                            <p:cond delay="0"/>
                                          </p:stCondLst>
                                        </p:cTn>
                                        <p:tgtEl>
                                          <p:spTgt spid="2">
                                            <p:txEl>
                                              <p:pRg st="4" end="4"/>
                                            </p:txEl>
                                          </p:spTgt>
                                        </p:tgtEl>
                                        <p:attrNameLst>
                                          <p:attrName>style.visibility</p:attrName>
                                        </p:attrNameLst>
                                      </p:cBhvr>
                                      <p:to>
                                        <p:strVal val="visible"/>
                                      </p:to>
                                    </p:set>
                                    <p:anim calcmode="discrete" valueType="clr">
                                      <p:cBhvr override="childStyle">
                                        <p:cTn id="26" dur="500"/>
                                        <p:tgtEl>
                                          <p:spTgt spid="2">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7" dur="500"/>
                                        <p:tgtEl>
                                          <p:spTgt spid="2">
                                            <p:txEl>
                                              <p:pRg st="4" end="4"/>
                                            </p:txEl>
                                          </p:spTgt>
                                        </p:tgtEl>
                                        <p:attrNameLst>
                                          <p:attrName>fillcolor</p:attrName>
                                        </p:attrNameLst>
                                      </p:cBhvr>
                                      <p:tavLst>
                                        <p:tav tm="0">
                                          <p:val>
                                            <p:clrVal>
                                              <a:schemeClr val="accent2"/>
                                            </p:clrVal>
                                          </p:val>
                                        </p:tav>
                                        <p:tav tm="50000">
                                          <p:val>
                                            <p:clrVal>
                                              <a:schemeClr val="hlink"/>
                                            </p:clrVal>
                                          </p:val>
                                        </p:tav>
                                      </p:tavLst>
                                    </p:anim>
                                    <p:set>
                                      <p:cBhvr>
                                        <p:cTn id="28" dur="500"/>
                                        <p:tgtEl>
                                          <p:spTgt spid="2">
                                            <p:txEl>
                                              <p:pRg st="4" end="4"/>
                                            </p:txEl>
                                          </p:spTgt>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27" presetClass="entr" presetSubtype="0" fill="hold" nodeType="clickEffect">
                                  <p:stCondLst>
                                    <p:cond delay="0"/>
                                  </p:stCondLst>
                                  <p:iterate type="lt">
                                    <p:tmPct val="50000"/>
                                  </p:iterate>
                                  <p:childTnLst>
                                    <p:set>
                                      <p:cBhvr>
                                        <p:cTn id="32" dur="1" fill="hold">
                                          <p:stCondLst>
                                            <p:cond delay="0"/>
                                          </p:stCondLst>
                                        </p:cTn>
                                        <p:tgtEl>
                                          <p:spTgt spid="2">
                                            <p:txEl>
                                              <p:pRg st="5" end="5"/>
                                            </p:txEl>
                                          </p:spTgt>
                                        </p:tgtEl>
                                        <p:attrNameLst>
                                          <p:attrName>style.visibility</p:attrName>
                                        </p:attrNameLst>
                                      </p:cBhvr>
                                      <p:to>
                                        <p:strVal val="visible"/>
                                      </p:to>
                                    </p:set>
                                    <p:anim calcmode="discrete" valueType="clr">
                                      <p:cBhvr override="childStyle">
                                        <p:cTn id="33" dur="500"/>
                                        <p:tgtEl>
                                          <p:spTgt spid="2">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4" dur="500"/>
                                        <p:tgtEl>
                                          <p:spTgt spid="2">
                                            <p:txEl>
                                              <p:pRg st="5" end="5"/>
                                            </p:txEl>
                                          </p:spTgt>
                                        </p:tgtEl>
                                        <p:attrNameLst>
                                          <p:attrName>fillcolor</p:attrName>
                                        </p:attrNameLst>
                                      </p:cBhvr>
                                      <p:tavLst>
                                        <p:tav tm="0">
                                          <p:val>
                                            <p:clrVal>
                                              <a:schemeClr val="accent2"/>
                                            </p:clrVal>
                                          </p:val>
                                        </p:tav>
                                        <p:tav tm="50000">
                                          <p:val>
                                            <p:clrVal>
                                              <a:schemeClr val="hlink"/>
                                            </p:clrVal>
                                          </p:val>
                                        </p:tav>
                                      </p:tavLst>
                                    </p:anim>
                                    <p:set>
                                      <p:cBhvr>
                                        <p:cTn id="35" dur="500"/>
                                        <p:tgtEl>
                                          <p:spTgt spid="2">
                                            <p:txEl>
                                              <p:pRg st="5" end="5"/>
                                            </p:txEl>
                                          </p:spTgt>
                                        </p:tgtEl>
                                        <p:attrNameLst>
                                          <p:attrName>fill.type</p:attrName>
                                        </p:attrNameLst>
                                      </p:cBhvr>
                                      <p:to>
                                        <p:strVal val="solid"/>
                                      </p:to>
                                    </p:set>
                                  </p:childTnLst>
                                </p:cTn>
                              </p:par>
                            </p:childTnLst>
                          </p:cTn>
                        </p:par>
                      </p:childTnLst>
                    </p:cTn>
                  </p:par>
                  <p:par>
                    <p:cTn id="36" fill="hold">
                      <p:stCondLst>
                        <p:cond delay="indefinite"/>
                      </p:stCondLst>
                      <p:childTnLst>
                        <p:par>
                          <p:cTn id="37" fill="hold">
                            <p:stCondLst>
                              <p:cond delay="0"/>
                            </p:stCondLst>
                            <p:childTnLst>
                              <p:par>
                                <p:cTn id="38" presetID="27" presetClass="entr" presetSubtype="0" fill="hold" nodeType="clickEffect">
                                  <p:stCondLst>
                                    <p:cond delay="0"/>
                                  </p:stCondLst>
                                  <p:iterate type="lt">
                                    <p:tmPct val="50000"/>
                                  </p:iterate>
                                  <p:childTnLst>
                                    <p:set>
                                      <p:cBhvr>
                                        <p:cTn id="39" dur="1" fill="hold">
                                          <p:stCondLst>
                                            <p:cond delay="0"/>
                                          </p:stCondLst>
                                        </p:cTn>
                                        <p:tgtEl>
                                          <p:spTgt spid="2">
                                            <p:txEl>
                                              <p:pRg st="6" end="6"/>
                                            </p:txEl>
                                          </p:spTgt>
                                        </p:tgtEl>
                                        <p:attrNameLst>
                                          <p:attrName>style.visibility</p:attrName>
                                        </p:attrNameLst>
                                      </p:cBhvr>
                                      <p:to>
                                        <p:strVal val="visible"/>
                                      </p:to>
                                    </p:set>
                                    <p:anim calcmode="discrete" valueType="clr">
                                      <p:cBhvr override="childStyle">
                                        <p:cTn id="40" dur="500"/>
                                        <p:tgtEl>
                                          <p:spTgt spid="2">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1" dur="500"/>
                                        <p:tgtEl>
                                          <p:spTgt spid="2">
                                            <p:txEl>
                                              <p:pRg st="6" end="6"/>
                                            </p:txEl>
                                          </p:spTgt>
                                        </p:tgtEl>
                                        <p:attrNameLst>
                                          <p:attrName>fillcolor</p:attrName>
                                        </p:attrNameLst>
                                      </p:cBhvr>
                                      <p:tavLst>
                                        <p:tav tm="0">
                                          <p:val>
                                            <p:clrVal>
                                              <a:schemeClr val="accent2"/>
                                            </p:clrVal>
                                          </p:val>
                                        </p:tav>
                                        <p:tav tm="50000">
                                          <p:val>
                                            <p:clrVal>
                                              <a:schemeClr val="hlink"/>
                                            </p:clrVal>
                                          </p:val>
                                        </p:tav>
                                      </p:tavLst>
                                    </p:anim>
                                    <p:set>
                                      <p:cBhvr>
                                        <p:cTn id="42" dur="500"/>
                                        <p:tgtEl>
                                          <p:spTgt spid="2">
                                            <p:txEl>
                                              <p:pRg st="6" end="6"/>
                                            </p:txEl>
                                          </p:spTgt>
                                        </p:tgtEl>
                                        <p:attrNameLst>
                                          <p:attrName>fill.type</p:attrName>
                                        </p:attrNameLst>
                                      </p:cBhvr>
                                      <p:to>
                                        <p:strVal val="solid"/>
                                      </p:to>
                                    </p:set>
                                  </p:childTnLst>
                                </p:cTn>
                              </p:par>
                            </p:childTnLst>
                          </p:cTn>
                        </p:par>
                      </p:childTnLst>
                    </p:cTn>
                  </p:par>
                  <p:par>
                    <p:cTn id="43" fill="hold">
                      <p:stCondLst>
                        <p:cond delay="indefinite"/>
                      </p:stCondLst>
                      <p:childTnLst>
                        <p:par>
                          <p:cTn id="44" fill="hold">
                            <p:stCondLst>
                              <p:cond delay="0"/>
                            </p:stCondLst>
                            <p:childTnLst>
                              <p:par>
                                <p:cTn id="45" presetID="27" presetClass="entr" presetSubtype="0" fill="hold" nodeType="clickEffect">
                                  <p:stCondLst>
                                    <p:cond delay="0"/>
                                  </p:stCondLst>
                                  <p:iterate type="lt">
                                    <p:tmPct val="50000"/>
                                  </p:iterate>
                                  <p:childTnLst>
                                    <p:set>
                                      <p:cBhvr>
                                        <p:cTn id="46" dur="1" fill="hold">
                                          <p:stCondLst>
                                            <p:cond delay="0"/>
                                          </p:stCondLst>
                                        </p:cTn>
                                        <p:tgtEl>
                                          <p:spTgt spid="2">
                                            <p:txEl>
                                              <p:pRg st="7" end="7"/>
                                            </p:txEl>
                                          </p:spTgt>
                                        </p:tgtEl>
                                        <p:attrNameLst>
                                          <p:attrName>style.visibility</p:attrName>
                                        </p:attrNameLst>
                                      </p:cBhvr>
                                      <p:to>
                                        <p:strVal val="visible"/>
                                      </p:to>
                                    </p:set>
                                    <p:anim calcmode="discrete" valueType="clr">
                                      <p:cBhvr override="childStyle">
                                        <p:cTn id="47" dur="500"/>
                                        <p:tgtEl>
                                          <p:spTgt spid="2">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8" dur="500"/>
                                        <p:tgtEl>
                                          <p:spTgt spid="2">
                                            <p:txEl>
                                              <p:pRg st="7" end="7"/>
                                            </p:txEl>
                                          </p:spTgt>
                                        </p:tgtEl>
                                        <p:attrNameLst>
                                          <p:attrName>fillcolor</p:attrName>
                                        </p:attrNameLst>
                                      </p:cBhvr>
                                      <p:tavLst>
                                        <p:tav tm="0">
                                          <p:val>
                                            <p:clrVal>
                                              <a:schemeClr val="accent2"/>
                                            </p:clrVal>
                                          </p:val>
                                        </p:tav>
                                        <p:tav tm="50000">
                                          <p:val>
                                            <p:clrVal>
                                              <a:schemeClr val="hlink"/>
                                            </p:clrVal>
                                          </p:val>
                                        </p:tav>
                                      </p:tavLst>
                                    </p:anim>
                                    <p:set>
                                      <p:cBhvr>
                                        <p:cTn id="49" dur="500"/>
                                        <p:tgtEl>
                                          <p:spTgt spid="2">
                                            <p:txEl>
                                              <p:pRg st="7" end="7"/>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500035" y="-27384"/>
            <a:ext cx="8429684" cy="2369880"/>
          </a:xfrm>
          <a:prstGeom prst="rect">
            <a:avLst/>
          </a:prstGeom>
          <a:noFill/>
        </p:spPr>
        <p:txBody>
          <a:bodyPr wrap="square" rtlCol="1">
            <a:spAutoFit/>
          </a:bodyPr>
          <a:lstStyle/>
          <a:p>
            <a:r>
              <a:rPr lang="ar-EG" sz="320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توصيل أجهزة الفيديو لاستخدام تمرير الفيديو </a:t>
            </a:r>
            <a:r>
              <a:rPr lang="ar-EG" sz="3200" dirty="0" err="1">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الرقمى</a:t>
            </a:r>
            <a:r>
              <a:rPr lang="ar-EG" sz="320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 :</a:t>
            </a:r>
          </a:p>
          <a:p>
            <a:endParaRPr lang="en-US" sz="2000" dirty="0"/>
          </a:p>
          <a:p>
            <a:r>
              <a:rPr lang="ar-EG" sz="2400" dirty="0">
                <a:solidFill>
                  <a:srgbClr val="FFC000"/>
                </a:solidFill>
              </a:rPr>
              <a:t>الخطوة الأولى ... </a:t>
            </a:r>
            <a:r>
              <a:rPr lang="ar-EG" sz="2400" dirty="0">
                <a:solidFill>
                  <a:srgbClr val="FFFF99"/>
                </a:solidFill>
              </a:rPr>
              <a:t>هي توصيل الكاميرا التمثيلية وكاميرا </a:t>
            </a:r>
            <a:r>
              <a:rPr lang="en-US" sz="2400" dirty="0">
                <a:solidFill>
                  <a:srgbClr val="FFFF99"/>
                </a:solidFill>
              </a:rPr>
              <a:t>DV</a:t>
            </a:r>
            <a:r>
              <a:rPr lang="ar-EG" sz="2400" dirty="0">
                <a:solidFill>
                  <a:srgbClr val="FFFF99"/>
                </a:solidFill>
              </a:rPr>
              <a:t>.</a:t>
            </a:r>
          </a:p>
          <a:p>
            <a:r>
              <a:rPr lang="ar-EG" sz="2400" dirty="0">
                <a:solidFill>
                  <a:srgbClr val="92D050"/>
                </a:solidFill>
              </a:rPr>
              <a:t> ثم توصيل كاميرا </a:t>
            </a:r>
            <a:r>
              <a:rPr lang="en-US" sz="2400" dirty="0">
                <a:solidFill>
                  <a:srgbClr val="92D050"/>
                </a:solidFill>
              </a:rPr>
              <a:t>DV</a:t>
            </a:r>
            <a:r>
              <a:rPr lang="ar-EG" sz="2400" dirty="0">
                <a:solidFill>
                  <a:srgbClr val="92D050"/>
                </a:solidFill>
              </a:rPr>
              <a:t> بجهاز الكمبيوتر من خلال منفذ </a:t>
            </a:r>
            <a:r>
              <a:rPr lang="en-US" sz="2400" dirty="0">
                <a:solidFill>
                  <a:srgbClr val="92D050"/>
                </a:solidFill>
              </a:rPr>
              <a:t>IEEE 1394</a:t>
            </a:r>
            <a:r>
              <a:rPr lang="ar-EG" sz="2400" dirty="0">
                <a:solidFill>
                  <a:srgbClr val="92D050"/>
                </a:solidFill>
              </a:rPr>
              <a:t> . </a:t>
            </a:r>
          </a:p>
          <a:p>
            <a:r>
              <a:rPr lang="ar-EG" sz="2400" dirty="0"/>
              <a:t>يتم تحديد أسلوب التوصيل </a:t>
            </a:r>
            <a:r>
              <a:rPr lang="ar-EG" sz="2400" dirty="0" err="1"/>
              <a:t>الذى</a:t>
            </a:r>
            <a:r>
              <a:rPr lang="ar-EG" sz="2400" dirty="0"/>
              <a:t> تستخدمه وفقا لاستخدام كاميرا فيديو تمثيلية </a:t>
            </a:r>
            <a:r>
              <a:rPr lang="ar-EG" sz="2400" dirty="0" err="1"/>
              <a:t>او</a:t>
            </a:r>
            <a:r>
              <a:rPr lang="ar-EG" sz="2400" dirty="0"/>
              <a:t> </a:t>
            </a:r>
            <a:r>
              <a:rPr lang="en-US" sz="2400" dirty="0"/>
              <a:t>VCR</a:t>
            </a:r>
            <a:r>
              <a:rPr lang="ar-EG" sz="2400" dirty="0"/>
              <a:t> ، كما يعتمد على نوع </a:t>
            </a:r>
            <a:r>
              <a:rPr lang="ar-EG" sz="2400" dirty="0" err="1"/>
              <a:t>المقايس</a:t>
            </a:r>
            <a:r>
              <a:rPr lang="ar-EG" sz="2400" dirty="0"/>
              <a:t> الموجودة على الجهاز التمثيلي.</a:t>
            </a:r>
            <a:endParaRPr lang="en-US" sz="2400" dirty="0"/>
          </a:p>
        </p:txBody>
      </p:sp>
      <p:sp>
        <p:nvSpPr>
          <p:cNvPr id="3" name="مربع نص 2"/>
          <p:cNvSpPr txBox="1"/>
          <p:nvPr/>
        </p:nvSpPr>
        <p:spPr>
          <a:xfrm>
            <a:off x="142843" y="2204864"/>
            <a:ext cx="8786875" cy="1692771"/>
          </a:xfrm>
          <a:prstGeom prst="rect">
            <a:avLst/>
          </a:prstGeom>
          <a:noFill/>
        </p:spPr>
        <p:txBody>
          <a:bodyPr wrap="square" rtlCol="1">
            <a:spAutoFit/>
          </a:bodyPr>
          <a:lstStyle/>
          <a:p>
            <a:r>
              <a:rPr lang="ar-EG" sz="3200" b="1" dirty="0">
                <a:ln w="19050">
                  <a:solidFill>
                    <a:schemeClr val="tx2">
                      <a:tint val="1000"/>
                    </a:schemeClr>
                  </a:solidFill>
                  <a:prstDash val="solid"/>
                </a:ln>
                <a:solidFill>
                  <a:schemeClr val="tx2"/>
                </a:solidFill>
                <a:effectLst>
                  <a:outerShdw blurRad="50000" dist="50800" dir="7500000" algn="tl">
                    <a:srgbClr val="000000">
                      <a:shade val="5000"/>
                      <a:alpha val="35000"/>
                    </a:srgbClr>
                  </a:outerShdw>
                </a:effectLst>
              </a:rPr>
              <a:t>استخدام توصيلات </a:t>
            </a:r>
            <a:r>
              <a:rPr lang="en-US" sz="3200" b="1" dirty="0">
                <a:ln w="19050">
                  <a:solidFill>
                    <a:schemeClr val="tx2">
                      <a:tint val="1000"/>
                    </a:schemeClr>
                  </a:solidFill>
                  <a:prstDash val="solid"/>
                </a:ln>
                <a:solidFill>
                  <a:schemeClr val="tx2"/>
                </a:solidFill>
                <a:effectLst>
                  <a:outerShdw blurRad="50000" dist="50800" dir="7500000" algn="tl">
                    <a:srgbClr val="000000">
                      <a:shade val="5000"/>
                      <a:alpha val="35000"/>
                    </a:srgbClr>
                  </a:outerShdw>
                </a:effectLst>
              </a:rPr>
              <a:t>S-video</a:t>
            </a:r>
            <a:endParaRPr lang="en-US" dirty="0">
              <a:solidFill>
                <a:schemeClr val="tx2"/>
              </a:solidFill>
            </a:endParaRPr>
          </a:p>
          <a:p>
            <a:r>
              <a:rPr lang="ar-EG" sz="2400" b="1" dirty="0" err="1"/>
              <a:t>اذا</a:t>
            </a:r>
            <a:r>
              <a:rPr lang="ar-EG" sz="2400" b="1" dirty="0"/>
              <a:t> كانت كاميرا الفيديو التمثيلية </a:t>
            </a:r>
            <a:r>
              <a:rPr lang="ar-EG" sz="2400" b="1" dirty="0" err="1"/>
              <a:t>او</a:t>
            </a:r>
            <a:r>
              <a:rPr lang="ar-EG" sz="2400" b="1" dirty="0"/>
              <a:t> </a:t>
            </a:r>
            <a:r>
              <a:rPr lang="en-US" sz="2400" b="1" dirty="0"/>
              <a:t>VCR</a:t>
            </a:r>
            <a:r>
              <a:rPr lang="ar-EG" sz="2400" b="1" dirty="0"/>
              <a:t> يحتويان على </a:t>
            </a:r>
            <a:r>
              <a:rPr lang="ar-EG" sz="2400" b="1" dirty="0" err="1"/>
              <a:t>مقبس</a:t>
            </a:r>
            <a:r>
              <a:rPr lang="ar-EG" sz="2400" b="1" dirty="0"/>
              <a:t> </a:t>
            </a:r>
            <a:r>
              <a:rPr lang="en-US" sz="2400" b="1" dirty="0"/>
              <a:t>S-video</a:t>
            </a:r>
            <a:r>
              <a:rPr lang="ar-EG" sz="2400" b="1" dirty="0"/>
              <a:t> ،يمكنك استخدام وصلة </a:t>
            </a:r>
            <a:r>
              <a:rPr lang="en-US" sz="2400" b="1" dirty="0"/>
              <a:t>S-video</a:t>
            </a:r>
            <a:r>
              <a:rPr lang="ar-EG" sz="2400" b="1" dirty="0"/>
              <a:t> لتوصيل كاميرا الفيديو التمثيلية الخاصة بك </a:t>
            </a:r>
            <a:r>
              <a:rPr lang="ar-EG" sz="2400" b="1" dirty="0" err="1"/>
              <a:t>او</a:t>
            </a:r>
            <a:r>
              <a:rPr lang="ar-EG" sz="2400" b="1" dirty="0"/>
              <a:t> </a:t>
            </a:r>
            <a:r>
              <a:rPr lang="en-US" sz="2400" b="1" dirty="0"/>
              <a:t>VCR</a:t>
            </a:r>
            <a:r>
              <a:rPr lang="ar-EG" sz="2400" b="1" dirty="0"/>
              <a:t> بكاميرا </a:t>
            </a:r>
            <a:r>
              <a:rPr lang="en-US" sz="2400" b="1" dirty="0"/>
              <a:t>DV</a:t>
            </a:r>
            <a:r>
              <a:rPr lang="ar-EG" sz="2400" b="1" dirty="0"/>
              <a:t>.</a:t>
            </a:r>
            <a:endParaRPr lang="en-US" sz="2400" b="1" dirty="0"/>
          </a:p>
        </p:txBody>
      </p:sp>
      <p:sp>
        <p:nvSpPr>
          <p:cNvPr id="4" name="مربع نص 3"/>
          <p:cNvSpPr txBox="1"/>
          <p:nvPr/>
        </p:nvSpPr>
        <p:spPr>
          <a:xfrm>
            <a:off x="142844" y="3750610"/>
            <a:ext cx="8572560" cy="2800767"/>
          </a:xfrm>
          <a:prstGeom prst="rect">
            <a:avLst/>
          </a:prstGeom>
          <a:noFill/>
        </p:spPr>
        <p:txBody>
          <a:bodyPr wrap="square" rtlCol="1">
            <a:spAutoFit/>
          </a:bodyPr>
          <a:lstStyle/>
          <a:p>
            <a:r>
              <a:rPr lang="ar-EG" sz="3200" b="1" dirty="0">
                <a:ln w="19050">
                  <a:solidFill>
                    <a:schemeClr val="tx2">
                      <a:tint val="1000"/>
                    </a:schemeClr>
                  </a:solidFill>
                  <a:prstDash val="solid"/>
                </a:ln>
                <a:solidFill>
                  <a:schemeClr val="tx2"/>
                </a:solidFill>
                <a:effectLst>
                  <a:outerShdw blurRad="50000" dist="50800" dir="7500000" algn="tl">
                    <a:srgbClr val="000000">
                      <a:shade val="5000"/>
                      <a:alpha val="35000"/>
                    </a:srgbClr>
                  </a:outerShdw>
                </a:effectLst>
              </a:rPr>
              <a:t>توصيلات </a:t>
            </a:r>
            <a:r>
              <a:rPr lang="en-US" sz="3200" b="1" dirty="0">
                <a:ln w="19050">
                  <a:solidFill>
                    <a:schemeClr val="tx2">
                      <a:tint val="1000"/>
                    </a:schemeClr>
                  </a:solidFill>
                  <a:prstDash val="solid"/>
                </a:ln>
                <a:solidFill>
                  <a:schemeClr val="tx2"/>
                </a:solidFill>
                <a:effectLst>
                  <a:outerShdw blurRad="50000" dist="50800" dir="7500000" algn="tl">
                    <a:srgbClr val="000000">
                      <a:shade val="5000"/>
                      <a:alpha val="35000"/>
                    </a:srgbClr>
                  </a:outerShdw>
                </a:effectLst>
              </a:rPr>
              <a:t>S-video</a:t>
            </a:r>
            <a:endParaRPr lang="en-US" sz="2000" b="1" dirty="0">
              <a:solidFill>
                <a:schemeClr val="tx2"/>
              </a:solidFill>
            </a:endParaRPr>
          </a:p>
          <a:p>
            <a:pPr lvl="0">
              <a:buFont typeface="Arial" pitchFamily="34" charset="0"/>
              <a:buChar char="•"/>
            </a:pPr>
            <a:r>
              <a:rPr lang="ar-EG" sz="2400" b="1" dirty="0"/>
              <a:t>يتم توصيل كاميرا </a:t>
            </a:r>
            <a:r>
              <a:rPr lang="en-US" sz="2400" b="1" dirty="0"/>
              <a:t>DV</a:t>
            </a:r>
            <a:r>
              <a:rPr lang="ar-EG" sz="2400" b="1" dirty="0"/>
              <a:t> من واجهة اتصال </a:t>
            </a:r>
            <a:r>
              <a:rPr lang="ar-EG" sz="2400" b="1" dirty="0" err="1"/>
              <a:t>ادخال</a:t>
            </a:r>
            <a:r>
              <a:rPr lang="ar-EG" sz="2400" b="1" dirty="0"/>
              <a:t> – </a:t>
            </a:r>
            <a:r>
              <a:rPr lang="ar-EG" sz="2400" b="1" dirty="0" err="1"/>
              <a:t>اخراج</a:t>
            </a:r>
            <a:r>
              <a:rPr lang="ar-EG" sz="2400" b="1" dirty="0"/>
              <a:t> </a:t>
            </a:r>
            <a:r>
              <a:rPr lang="en-US" sz="2400" b="1" dirty="0"/>
              <a:t>DV</a:t>
            </a:r>
            <a:r>
              <a:rPr lang="ar-EG" sz="2400" b="1" dirty="0"/>
              <a:t> </a:t>
            </a:r>
            <a:r>
              <a:rPr lang="ar-EG" sz="2400" b="1" dirty="0" err="1"/>
              <a:t>الى</a:t>
            </a:r>
            <a:r>
              <a:rPr lang="ar-EG" sz="2400" b="1" dirty="0"/>
              <a:t> منفذ </a:t>
            </a:r>
            <a:r>
              <a:rPr lang="en-US" sz="2400" b="1" dirty="0"/>
              <a:t>IEEE 1394</a:t>
            </a:r>
            <a:r>
              <a:rPr lang="ar-EG" sz="2400" b="1" dirty="0"/>
              <a:t> الموجود على جهاز الكمبيوتر باستخدام كابل </a:t>
            </a:r>
            <a:r>
              <a:rPr lang="en-US" sz="2400" b="1" dirty="0"/>
              <a:t>IEEE 1394</a:t>
            </a:r>
            <a:r>
              <a:rPr lang="ar-EG" sz="2400" b="1" dirty="0"/>
              <a:t> .</a:t>
            </a:r>
            <a:endParaRPr lang="en-US" sz="2000" b="1" dirty="0"/>
          </a:p>
          <a:p>
            <a:pPr lvl="0">
              <a:buFont typeface="Arial" pitchFamily="34" charset="0"/>
              <a:buChar char="•"/>
            </a:pPr>
            <a:r>
              <a:rPr lang="ar-EG" sz="2400" b="1" dirty="0"/>
              <a:t>يتم توصيل كاميرا الفيديو التمثيلية </a:t>
            </a:r>
            <a:r>
              <a:rPr lang="ar-EG" sz="2400" b="1" dirty="0" err="1"/>
              <a:t>او</a:t>
            </a:r>
            <a:r>
              <a:rPr lang="ar-EG" sz="2400" b="1" dirty="0"/>
              <a:t> </a:t>
            </a:r>
            <a:r>
              <a:rPr lang="en-US" sz="2400" b="1" dirty="0"/>
              <a:t>VCR</a:t>
            </a:r>
            <a:r>
              <a:rPr lang="ar-EG" sz="2400" b="1" dirty="0"/>
              <a:t> بكاميرا </a:t>
            </a:r>
            <a:r>
              <a:rPr lang="en-US" sz="2400" b="1" dirty="0"/>
              <a:t>DV</a:t>
            </a:r>
            <a:r>
              <a:rPr lang="ar-EG" sz="2400" b="1" dirty="0"/>
              <a:t> باستخدام كابل </a:t>
            </a:r>
            <a:r>
              <a:rPr lang="en-US" sz="2400" b="1" dirty="0"/>
              <a:t>S-video</a:t>
            </a:r>
            <a:r>
              <a:rPr lang="ar-EG" sz="2400" b="1" dirty="0"/>
              <a:t> وكابل </a:t>
            </a:r>
            <a:r>
              <a:rPr lang="en-US" sz="2400" b="1" dirty="0"/>
              <a:t>RCA</a:t>
            </a:r>
            <a:r>
              <a:rPr lang="ar-EG" sz="2400" b="1" dirty="0"/>
              <a:t>.</a:t>
            </a:r>
            <a:endParaRPr lang="en-US" sz="2000" b="1" dirty="0"/>
          </a:p>
          <a:p>
            <a:pPr>
              <a:buFont typeface="Arial" pitchFamily="34" charset="0"/>
              <a:buChar char="•"/>
            </a:pPr>
            <a:r>
              <a:rPr lang="ar-EG" sz="2400" b="1" dirty="0"/>
              <a:t>يتم استخدام كابل </a:t>
            </a:r>
            <a:r>
              <a:rPr lang="en-US" sz="2400" b="1" dirty="0"/>
              <a:t>S-video</a:t>
            </a:r>
            <a:r>
              <a:rPr lang="ar-EG" sz="2400" b="1" dirty="0"/>
              <a:t> لنقل الفيديو ، بينما يتم استخدام كابل </a:t>
            </a:r>
            <a:r>
              <a:rPr lang="ar-EG" sz="2400" b="1" dirty="0" err="1"/>
              <a:t>ستيريو</a:t>
            </a:r>
            <a:r>
              <a:rPr lang="ar-EG" sz="2400" b="1" dirty="0"/>
              <a:t> </a:t>
            </a:r>
            <a:r>
              <a:rPr lang="en-US" sz="2400" b="1" dirty="0"/>
              <a:t>RCA</a:t>
            </a:r>
            <a:r>
              <a:rPr lang="ar-EG" sz="2400" b="1" dirty="0"/>
              <a:t> لنقل الجزء الصوتى من الفيديو.</a:t>
            </a:r>
            <a:r>
              <a:rPr lang="en-US" sz="2400" b="1" dirty="0"/>
              <a:t> </a:t>
            </a:r>
            <a:endParaRPr lang="ar-SA" sz="2400" b="1" dirty="0" smtClean="0"/>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wipe(down)">
                                      <p:cBhvr>
                                        <p:cTn id="14" dur="1000"/>
                                        <p:tgtEl>
                                          <p:spTgt spid="2">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down)">
                                      <p:cBhvr>
                                        <p:cTn id="19" dur="1000"/>
                                        <p:tgtEl>
                                          <p:spTgt spid="2">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2">
                                            <p:txEl>
                                              <p:pRg st="4" end="4"/>
                                            </p:txEl>
                                          </p:spTgt>
                                        </p:tgtEl>
                                        <p:attrNameLst>
                                          <p:attrName>style.visibility</p:attrName>
                                        </p:attrNameLst>
                                      </p:cBhvr>
                                      <p:to>
                                        <p:strVal val="visible"/>
                                      </p:to>
                                    </p:set>
                                    <p:animEffect transition="in" filter="wipe(down)">
                                      <p:cBhvr>
                                        <p:cTn id="24" dur="1000"/>
                                        <p:tgtEl>
                                          <p:spTgt spid="2">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7" presetClass="entr" presetSubtype="0" fill="hold" nodeType="click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1000"/>
                                        <p:tgtEl>
                                          <p:spTgt spid="3">
                                            <p:txEl>
                                              <p:pRg st="0" end="0"/>
                                            </p:txEl>
                                          </p:spTgt>
                                        </p:tgtEl>
                                      </p:cBhvr>
                                    </p:animEffect>
                                    <p:anim calcmode="lin" valueType="num">
                                      <p:cBhvr>
                                        <p:cTn id="30"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3">
                                            <p:txEl>
                                              <p:pRg st="1" end="1"/>
                                            </p:txEl>
                                          </p:spTgt>
                                        </p:tgtEl>
                                        <p:attrNameLst>
                                          <p:attrName>style.visibility</p:attrName>
                                        </p:attrNameLst>
                                      </p:cBhvr>
                                      <p:to>
                                        <p:strVal val="visible"/>
                                      </p:to>
                                    </p:set>
                                    <p:animEffect transition="in" filter="wipe(down)">
                                      <p:cBhvr>
                                        <p:cTn id="36" dur="1000"/>
                                        <p:tgtEl>
                                          <p:spTgt spid="3">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47" presetClass="entr" presetSubtype="0" fill="hold" nodeType="clickEffect">
                                  <p:stCondLst>
                                    <p:cond delay="0"/>
                                  </p:stCondLst>
                                  <p:childTnLst>
                                    <p:set>
                                      <p:cBhvr>
                                        <p:cTn id="40" dur="1" fill="hold">
                                          <p:stCondLst>
                                            <p:cond delay="0"/>
                                          </p:stCondLst>
                                        </p:cTn>
                                        <p:tgtEl>
                                          <p:spTgt spid="4">
                                            <p:txEl>
                                              <p:pRg st="0" end="0"/>
                                            </p:txEl>
                                          </p:spTgt>
                                        </p:tgtEl>
                                        <p:attrNameLst>
                                          <p:attrName>style.visibility</p:attrName>
                                        </p:attrNameLst>
                                      </p:cBhvr>
                                      <p:to>
                                        <p:strVal val="visible"/>
                                      </p:to>
                                    </p:set>
                                    <p:animEffect transition="in" filter="fade">
                                      <p:cBhvr>
                                        <p:cTn id="41" dur="1000"/>
                                        <p:tgtEl>
                                          <p:spTgt spid="4">
                                            <p:txEl>
                                              <p:pRg st="0" end="0"/>
                                            </p:txEl>
                                          </p:spTgt>
                                        </p:tgtEl>
                                      </p:cBhvr>
                                    </p:animEffect>
                                    <p:anim calcmode="lin" valueType="num">
                                      <p:cBhvr>
                                        <p:cTn id="42"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43"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2" presetClass="entr" presetSubtype="8" fill="hold" nodeType="clickEffect">
                                  <p:stCondLst>
                                    <p:cond delay="0"/>
                                  </p:stCondLst>
                                  <p:childTnLst>
                                    <p:set>
                                      <p:cBhvr>
                                        <p:cTn id="47" dur="1" fill="hold">
                                          <p:stCondLst>
                                            <p:cond delay="0"/>
                                          </p:stCondLst>
                                        </p:cTn>
                                        <p:tgtEl>
                                          <p:spTgt spid="4">
                                            <p:txEl>
                                              <p:pRg st="1" end="1"/>
                                            </p:txEl>
                                          </p:spTgt>
                                        </p:tgtEl>
                                        <p:attrNameLst>
                                          <p:attrName>style.visibility</p:attrName>
                                        </p:attrNameLst>
                                      </p:cBhvr>
                                      <p:to>
                                        <p:strVal val="visible"/>
                                      </p:to>
                                    </p:set>
                                    <p:animEffect transition="in" filter="slide(fromLeft)">
                                      <p:cBhvr>
                                        <p:cTn id="48" dur="1000"/>
                                        <p:tgtEl>
                                          <p:spTgt spid="4">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2" fill="hold" nodeType="clickEffect">
                                  <p:stCondLst>
                                    <p:cond delay="0"/>
                                  </p:stCondLst>
                                  <p:childTnLst>
                                    <p:set>
                                      <p:cBhvr>
                                        <p:cTn id="52" dur="1" fill="hold">
                                          <p:stCondLst>
                                            <p:cond delay="0"/>
                                          </p:stCondLst>
                                        </p:cTn>
                                        <p:tgtEl>
                                          <p:spTgt spid="4">
                                            <p:txEl>
                                              <p:pRg st="2" end="2"/>
                                            </p:txEl>
                                          </p:spTgt>
                                        </p:tgtEl>
                                        <p:attrNameLst>
                                          <p:attrName>style.visibility</p:attrName>
                                        </p:attrNameLst>
                                      </p:cBhvr>
                                      <p:to>
                                        <p:strVal val="visible"/>
                                      </p:to>
                                    </p:set>
                                    <p:animEffect transition="in" filter="slide(fromRight)">
                                      <p:cBhvr>
                                        <p:cTn id="53" dur="1000"/>
                                        <p:tgtEl>
                                          <p:spTgt spid="4">
                                            <p:txEl>
                                              <p:pRg st="2" end="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4" fill="hold" nodeType="clickEffect">
                                  <p:stCondLst>
                                    <p:cond delay="0"/>
                                  </p:stCondLst>
                                  <p:childTnLst>
                                    <p:set>
                                      <p:cBhvr>
                                        <p:cTn id="57" dur="1" fill="hold">
                                          <p:stCondLst>
                                            <p:cond delay="0"/>
                                          </p:stCondLst>
                                        </p:cTn>
                                        <p:tgtEl>
                                          <p:spTgt spid="4">
                                            <p:txEl>
                                              <p:pRg st="3" end="3"/>
                                            </p:txEl>
                                          </p:spTgt>
                                        </p:tgtEl>
                                        <p:attrNameLst>
                                          <p:attrName>style.visibility</p:attrName>
                                        </p:attrNameLst>
                                      </p:cBhvr>
                                      <p:to>
                                        <p:strVal val="visible"/>
                                      </p:to>
                                    </p:set>
                                    <p:animEffect transition="in" filter="slide(fromBottom)">
                                      <p:cBhvr>
                                        <p:cTn id="58" dur="1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AutoShape 186"/>
          <p:cNvSpPr>
            <a:spLocks noChangeArrowheads="1"/>
          </p:cNvSpPr>
          <p:nvPr/>
        </p:nvSpPr>
        <p:spPr bwMode="auto">
          <a:xfrm>
            <a:off x="6948265" y="188640"/>
            <a:ext cx="1910018" cy="1071570"/>
          </a:xfrm>
          <a:prstGeom prst="irregularSeal1">
            <a:avLst/>
          </a:prstGeom>
          <a:ln>
            <a:headEnd/>
            <a:tailEnd/>
          </a:ln>
        </p:spPr>
        <p:style>
          <a:lnRef idx="0">
            <a:schemeClr val="accent2"/>
          </a:lnRef>
          <a:fillRef idx="3">
            <a:schemeClr val="accent2"/>
          </a:fillRef>
          <a:effectRef idx="3">
            <a:schemeClr val="accent2"/>
          </a:effectRef>
          <a:fontRef idx="minor">
            <a:schemeClr val="lt1"/>
          </a:fontRef>
        </p:style>
        <p:txBody>
          <a:bodyPr vert="horz" wrap="square" lIns="91440" tIns="45720" rIns="91440" bIns="45720" numCol="1" anchor="t" anchorCtr="0" compatLnSpc="1">
            <a:prstTxWarp prst="textNoShape">
              <a:avLst/>
            </a:prstTxWarp>
          </a:bodyPr>
          <a:lstStyle/>
          <a:p>
            <a:pPr marL="0" marR="0" lvl="0" indent="0" algn="ctr" defTabSz="914400" rtl="1" eaLnBrk="1" fontAlgn="base" latinLnBrk="0" hangingPunct="1">
              <a:lnSpc>
                <a:spcPct val="100000"/>
              </a:lnSpc>
              <a:spcBef>
                <a:spcPct val="0"/>
              </a:spcBef>
              <a:spcAft>
                <a:spcPts val="1000"/>
              </a:spcAft>
              <a:buClrTx/>
              <a:buSzTx/>
              <a:buFontTx/>
              <a:buNone/>
              <a:tabLst/>
            </a:pPr>
            <a:r>
              <a:rPr kumimoji="0" lang="ar-EG" sz="2400" b="1" i="0" u="none" strike="noStrike" cap="none" normalizeH="0" baseline="0" dirty="0">
                <a:ln>
                  <a:noFill/>
                </a:ln>
                <a:solidFill>
                  <a:schemeClr val="tx2"/>
                </a:solidFill>
                <a:effectLst/>
                <a:latin typeface="Arial" pitchFamily="34" charset="0"/>
                <a:ea typeface="Arial" pitchFamily="34" charset="0"/>
                <a:cs typeface="Arial" pitchFamily="34" charset="0"/>
              </a:rPr>
              <a:t>ملاحظة</a:t>
            </a:r>
            <a:endParaRPr kumimoji="0" lang="ar-EG" sz="2800" b="0" i="0" u="none" strike="noStrike" cap="none" normalizeH="0" baseline="0" dirty="0">
              <a:ln>
                <a:noFill/>
              </a:ln>
              <a:solidFill>
                <a:schemeClr val="tx2"/>
              </a:solidFill>
              <a:effectLst/>
              <a:latin typeface="Arial" pitchFamily="34" charset="0"/>
              <a:cs typeface="Arial" pitchFamily="34" charset="0"/>
            </a:endParaRPr>
          </a:p>
        </p:txBody>
      </p:sp>
      <p:sp>
        <p:nvSpPr>
          <p:cNvPr id="3" name="مربع نص 2"/>
          <p:cNvSpPr txBox="1"/>
          <p:nvPr/>
        </p:nvSpPr>
        <p:spPr>
          <a:xfrm>
            <a:off x="214283" y="980728"/>
            <a:ext cx="8643999" cy="1077218"/>
          </a:xfrm>
          <a:prstGeom prst="rect">
            <a:avLst/>
          </a:prstGeom>
          <a:noFill/>
        </p:spPr>
        <p:txBody>
          <a:bodyPr wrap="square" rtlCol="1">
            <a:spAutoFit/>
          </a:bodyPr>
          <a:lstStyle/>
          <a:p>
            <a:r>
              <a:rPr lang="ar-EG" sz="3200" dirty="0">
                <a:solidFill>
                  <a:schemeClr val="accent3">
                    <a:lumMod val="60000"/>
                    <a:lumOff val="40000"/>
                  </a:schemeClr>
                </a:solidFill>
              </a:rPr>
              <a:t>يفضل استخدام وصلة </a:t>
            </a:r>
            <a:r>
              <a:rPr lang="en-US" sz="3200" dirty="0">
                <a:solidFill>
                  <a:schemeClr val="accent3">
                    <a:lumMod val="60000"/>
                    <a:lumOff val="40000"/>
                  </a:schemeClr>
                </a:solidFill>
              </a:rPr>
              <a:t>S-video</a:t>
            </a:r>
            <a:r>
              <a:rPr lang="ar-EG" sz="3200" dirty="0">
                <a:solidFill>
                  <a:schemeClr val="accent3">
                    <a:lumMod val="60000"/>
                    <a:lumOff val="40000"/>
                  </a:schemeClr>
                </a:solidFill>
              </a:rPr>
              <a:t> حيث انه تؤدى إلى الحصول على جودة أعلى لالتقاط الفيديو.</a:t>
            </a:r>
            <a:endParaRPr lang="en-US" sz="3200" dirty="0">
              <a:solidFill>
                <a:schemeClr val="accent3">
                  <a:lumMod val="60000"/>
                  <a:lumOff val="40000"/>
                </a:schemeClr>
              </a:solidFill>
            </a:endParaRPr>
          </a:p>
        </p:txBody>
      </p:sp>
      <p:sp>
        <p:nvSpPr>
          <p:cNvPr id="4" name="مربع نص 3"/>
          <p:cNvSpPr txBox="1"/>
          <p:nvPr/>
        </p:nvSpPr>
        <p:spPr>
          <a:xfrm>
            <a:off x="0" y="1412776"/>
            <a:ext cx="8964488" cy="2308324"/>
          </a:xfrm>
          <a:prstGeom prst="rect">
            <a:avLst/>
          </a:prstGeom>
          <a:noFill/>
        </p:spPr>
        <p:txBody>
          <a:bodyPr wrap="square" rtlCol="1">
            <a:spAutoFit/>
          </a:bodyPr>
          <a:lstStyle/>
          <a:p>
            <a:pPr algn="ctr"/>
            <a:endParaRPr lang="en-US" sz="2800" dirty="0">
              <a:ln w="10160">
                <a:solidFill>
                  <a:schemeClr val="accent1"/>
                </a:solidFill>
                <a:prstDash val="solid"/>
              </a:ln>
              <a:effectLst>
                <a:outerShdw blurRad="38100" dist="32000" dir="5400000" algn="tl">
                  <a:srgbClr val="000000">
                    <a:alpha val="30000"/>
                  </a:srgbClr>
                </a:outerShdw>
              </a:effectLst>
            </a:endParaRPr>
          </a:p>
          <a:p>
            <a:pPr algn="ctr"/>
            <a:r>
              <a:rPr lang="ar-EG" sz="3200" b="1" dirty="0">
                <a:ln w="10160">
                  <a:solidFill>
                    <a:schemeClr val="accent1"/>
                  </a:solidFill>
                  <a:prstDash val="solid"/>
                </a:ln>
                <a:solidFill>
                  <a:schemeClr val="tx2"/>
                </a:solidFill>
                <a:effectLst>
                  <a:outerShdw blurRad="38100" dist="32000" dir="5400000" algn="tl">
                    <a:srgbClr val="000000">
                      <a:alpha val="30000"/>
                    </a:srgbClr>
                  </a:outerShdw>
                </a:effectLst>
              </a:rPr>
              <a:t>استخدام وصلة فيديو مركب</a:t>
            </a:r>
            <a:endParaRPr lang="en-US" sz="2000" b="1" dirty="0">
              <a:solidFill>
                <a:schemeClr val="tx2"/>
              </a:solidFill>
            </a:endParaRPr>
          </a:p>
          <a:p>
            <a:r>
              <a:rPr lang="ar-EG" sz="2800" dirty="0" err="1"/>
              <a:t>اذا</a:t>
            </a:r>
            <a:r>
              <a:rPr lang="ar-EG" sz="2800" dirty="0"/>
              <a:t> كانت كاميرا الفيديو التماثلية </a:t>
            </a:r>
            <a:r>
              <a:rPr lang="ar-EG" sz="2800" dirty="0" err="1"/>
              <a:t>او</a:t>
            </a:r>
            <a:r>
              <a:rPr lang="ar-EG" sz="2800" dirty="0"/>
              <a:t> </a:t>
            </a:r>
            <a:r>
              <a:rPr lang="en-US" sz="2800" dirty="0"/>
              <a:t>VCR</a:t>
            </a:r>
            <a:r>
              <a:rPr lang="ar-EG" sz="2800" dirty="0"/>
              <a:t> يحتويان على </a:t>
            </a:r>
            <a:r>
              <a:rPr lang="ar-EG" sz="2800" dirty="0" err="1"/>
              <a:t>مقايس</a:t>
            </a:r>
            <a:r>
              <a:rPr lang="ar-EG" sz="2800" dirty="0"/>
              <a:t> فيديو مركب </a:t>
            </a:r>
            <a:r>
              <a:rPr lang="ar-EG" sz="2800" dirty="0" err="1"/>
              <a:t>ومقايس</a:t>
            </a:r>
            <a:r>
              <a:rPr lang="ar-EG" sz="2800" dirty="0"/>
              <a:t> ستريو </a:t>
            </a:r>
            <a:r>
              <a:rPr lang="en-US" sz="2800" dirty="0"/>
              <a:t>RCA</a:t>
            </a:r>
            <a:r>
              <a:rPr lang="ar-EG" sz="2800" dirty="0"/>
              <a:t> ، يمكنك استخدام وصلة فيديو مركبة لتوصيل كاميرا الفيديو التمثيلية الخاصة بك </a:t>
            </a:r>
            <a:r>
              <a:rPr lang="ar-EG" sz="2800" dirty="0" err="1"/>
              <a:t>او</a:t>
            </a:r>
            <a:r>
              <a:rPr lang="ar-EG" sz="2800" dirty="0"/>
              <a:t> </a:t>
            </a:r>
            <a:r>
              <a:rPr lang="en-US" sz="2800" dirty="0"/>
              <a:t>VCR</a:t>
            </a:r>
            <a:r>
              <a:rPr lang="ar-EG" sz="2800" dirty="0"/>
              <a:t> بكاميرا </a:t>
            </a:r>
            <a:r>
              <a:rPr lang="en-US" sz="2800" dirty="0"/>
              <a:t>DV</a:t>
            </a:r>
            <a:r>
              <a:rPr lang="ar-EG" sz="2800" dirty="0"/>
              <a:t> .</a:t>
            </a:r>
            <a:endParaRPr lang="en-US" sz="2400" dirty="0"/>
          </a:p>
        </p:txBody>
      </p:sp>
      <p:sp>
        <p:nvSpPr>
          <p:cNvPr id="5" name="مربع نص 4"/>
          <p:cNvSpPr txBox="1"/>
          <p:nvPr/>
        </p:nvSpPr>
        <p:spPr>
          <a:xfrm>
            <a:off x="-32" y="3140968"/>
            <a:ext cx="9144032" cy="4031873"/>
          </a:xfrm>
          <a:prstGeom prst="rect">
            <a:avLst/>
          </a:prstGeom>
          <a:noFill/>
        </p:spPr>
        <p:txBody>
          <a:bodyPr wrap="square" rtlCol="1">
            <a:spAutoFit/>
          </a:bodyPr>
          <a:lstStyle/>
          <a:p>
            <a:pPr algn="ctr"/>
            <a:endParaRPr lang="en-US" sz="3200" b="1" dirty="0">
              <a:ln w="10160">
                <a:solidFill>
                  <a:schemeClr val="accent1"/>
                </a:solidFill>
                <a:prstDash val="solid"/>
              </a:ln>
              <a:effectLst>
                <a:outerShdw blurRad="38100" dist="32000" dir="5400000" algn="tl">
                  <a:srgbClr val="000000">
                    <a:alpha val="30000"/>
                  </a:srgbClr>
                </a:outerShdw>
              </a:effectLst>
            </a:endParaRPr>
          </a:p>
          <a:p>
            <a:pPr algn="ctr"/>
            <a:r>
              <a:rPr lang="ar-EG" sz="3200" b="1" dirty="0">
                <a:ln w="10160">
                  <a:solidFill>
                    <a:schemeClr val="accent1"/>
                  </a:solidFill>
                  <a:prstDash val="solid"/>
                </a:ln>
                <a:solidFill>
                  <a:schemeClr val="tx2"/>
                </a:solidFill>
                <a:effectLst>
                  <a:outerShdw blurRad="38100" dist="32000" dir="5400000" algn="tl">
                    <a:srgbClr val="000000">
                      <a:alpha val="30000"/>
                    </a:srgbClr>
                  </a:outerShdw>
                </a:effectLst>
              </a:rPr>
              <a:t>توصيلات الفيديو المركب </a:t>
            </a:r>
            <a:endParaRPr lang="en-US" sz="2000" b="1" dirty="0">
              <a:solidFill>
                <a:schemeClr val="tx2"/>
              </a:solidFill>
            </a:endParaRPr>
          </a:p>
          <a:p>
            <a:pPr lvl="0">
              <a:buFont typeface="Arial" pitchFamily="34" charset="0"/>
              <a:buChar char="•"/>
            </a:pPr>
            <a:r>
              <a:rPr lang="ar-EG" sz="2400" b="1" dirty="0"/>
              <a:t>يتم توصيل كاميرا </a:t>
            </a:r>
            <a:r>
              <a:rPr lang="en-US" sz="2400" b="1" dirty="0"/>
              <a:t>DV</a:t>
            </a:r>
            <a:r>
              <a:rPr lang="ar-EG" sz="2400" b="1" dirty="0"/>
              <a:t> من واجهة اتصال ادخال – اخراج </a:t>
            </a:r>
            <a:r>
              <a:rPr lang="en-US" sz="2400" b="1" dirty="0"/>
              <a:t>DV</a:t>
            </a:r>
            <a:r>
              <a:rPr lang="ar-EG" sz="2400" b="1" dirty="0"/>
              <a:t> الى منفذ </a:t>
            </a:r>
            <a:r>
              <a:rPr lang="en-US" sz="2400" b="1" dirty="0"/>
              <a:t>IEEE 1394</a:t>
            </a:r>
            <a:r>
              <a:rPr lang="ar-EG" sz="2400" b="1" dirty="0"/>
              <a:t> الموجود على جهاز الكمبيوتر باستخدام كابل </a:t>
            </a:r>
            <a:r>
              <a:rPr lang="en-US" sz="2400" b="1" dirty="0"/>
              <a:t>IEEE 1394</a:t>
            </a:r>
            <a:r>
              <a:rPr lang="ar-EG" sz="2400" b="1" dirty="0"/>
              <a:t> .</a:t>
            </a:r>
            <a:endParaRPr lang="en-US" sz="2400" b="1" dirty="0"/>
          </a:p>
          <a:p>
            <a:pPr lvl="0">
              <a:buFont typeface="Arial" pitchFamily="34" charset="0"/>
              <a:buChar char="•"/>
            </a:pPr>
            <a:r>
              <a:rPr lang="ar-EG" sz="2400" b="1" dirty="0"/>
              <a:t>يتم توصيل كاميرا الفيديو التمثيلية او </a:t>
            </a:r>
            <a:r>
              <a:rPr lang="en-US" sz="2400" b="1" dirty="0"/>
              <a:t>VCR</a:t>
            </a:r>
            <a:r>
              <a:rPr lang="ar-EG" sz="2400" b="1" dirty="0"/>
              <a:t> بكاميرا </a:t>
            </a:r>
            <a:r>
              <a:rPr lang="en-US" sz="2400" b="1" dirty="0"/>
              <a:t>DV</a:t>
            </a:r>
            <a:r>
              <a:rPr lang="ar-EG" sz="2400" b="1" dirty="0"/>
              <a:t> من خلال وصلة مركبة باستخدام كابل </a:t>
            </a:r>
            <a:r>
              <a:rPr lang="en-US" sz="2400" b="1" dirty="0"/>
              <a:t>RCA</a:t>
            </a:r>
            <a:r>
              <a:rPr lang="ar-EG" sz="2400" b="1" dirty="0"/>
              <a:t> يتضمن ثلاثة موصلات . تحتوى موصلات </a:t>
            </a:r>
            <a:r>
              <a:rPr lang="en-US" sz="2400" b="1" dirty="0"/>
              <a:t>RCA</a:t>
            </a:r>
            <a:r>
              <a:rPr lang="ar-EG" sz="2400" b="1" dirty="0"/>
              <a:t> البيضاء والحمراء على الصوت ، بينما يحتوى الموصل </a:t>
            </a:r>
            <a:r>
              <a:rPr lang="ar-EG" sz="2400" b="1" dirty="0" err="1"/>
              <a:t>الاصفر</a:t>
            </a:r>
            <a:r>
              <a:rPr lang="ar-EG" sz="2400" b="1" dirty="0"/>
              <a:t> على الفيديو . يتم توصيل هذه الموصلات بكاميرا الفيديو </a:t>
            </a:r>
            <a:r>
              <a:rPr lang="ar-EG" sz="2400" b="1" dirty="0" err="1"/>
              <a:t>او</a:t>
            </a:r>
            <a:r>
              <a:rPr lang="ar-EG" sz="2400" b="1" dirty="0"/>
              <a:t> </a:t>
            </a:r>
            <a:r>
              <a:rPr lang="en-US" sz="2400" b="1" dirty="0"/>
              <a:t>VCR</a:t>
            </a:r>
            <a:r>
              <a:rPr lang="ar-EG" sz="2400" b="1" dirty="0"/>
              <a:t>.</a:t>
            </a:r>
            <a:endParaRPr lang="en-US" sz="2400" b="1" dirty="0"/>
          </a:p>
          <a:p>
            <a:pPr>
              <a:buFont typeface="Arial" pitchFamily="34" charset="0"/>
              <a:buChar char="•"/>
            </a:pPr>
            <a:r>
              <a:rPr lang="ar-EG" sz="2400" b="1" dirty="0"/>
              <a:t>يحتوى الطرف </a:t>
            </a:r>
            <a:r>
              <a:rPr lang="ar-EG" sz="2400" b="1" dirty="0" err="1"/>
              <a:t>الاخر</a:t>
            </a:r>
            <a:r>
              <a:rPr lang="ar-EG" sz="2400" b="1" dirty="0"/>
              <a:t> من كابل </a:t>
            </a:r>
            <a:r>
              <a:rPr lang="en-US" sz="2400" b="1" dirty="0"/>
              <a:t>RCA</a:t>
            </a:r>
            <a:r>
              <a:rPr lang="ar-EG" sz="2400" b="1" dirty="0"/>
              <a:t> على الموصل </a:t>
            </a:r>
            <a:r>
              <a:rPr lang="en-US" sz="2400" b="1" dirty="0"/>
              <a:t>mini-jack</a:t>
            </a:r>
            <a:r>
              <a:rPr lang="ar-EG" sz="2400" b="1" dirty="0"/>
              <a:t> يتم توصيلة بكاميرا </a:t>
            </a:r>
            <a:r>
              <a:rPr lang="en-US" sz="2400" b="1" dirty="0"/>
              <a:t>DV</a:t>
            </a:r>
            <a:r>
              <a:rPr lang="ar-EG" sz="2400" b="1" dirty="0"/>
              <a:t>.</a:t>
            </a:r>
            <a:r>
              <a:rPr lang="en-US" sz="2400" b="1" dirty="0"/>
              <a:t> </a:t>
            </a:r>
          </a:p>
        </p:txBody>
      </p:sp>
    </p:spTree>
  </p:cSld>
  <p:clrMapOvr>
    <a:masterClrMapping/>
  </p:clrMapOvr>
  <p:transition spd="slow">
    <p:cover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47106"/>
                                        </p:tgtEl>
                                        <p:attrNameLst>
                                          <p:attrName>style.visibility</p:attrName>
                                        </p:attrNameLst>
                                      </p:cBhvr>
                                      <p:to>
                                        <p:strVal val="visible"/>
                                      </p:to>
                                    </p:set>
                                    <p:animEffect transition="in" filter="fade">
                                      <p:cBhvr>
                                        <p:cTn id="7" dur="2000"/>
                                        <p:tgtEl>
                                          <p:spTgt spid="47106"/>
                                        </p:tgtEl>
                                      </p:cBhvr>
                                    </p:animEffect>
                                    <p:anim calcmode="lin" valueType="num">
                                      <p:cBhvr>
                                        <p:cTn id="8" dur="2000" fill="hold"/>
                                        <p:tgtEl>
                                          <p:spTgt spid="47106"/>
                                        </p:tgtEl>
                                        <p:attrNameLst>
                                          <p:attrName>style.rotation</p:attrName>
                                        </p:attrNameLst>
                                      </p:cBhvr>
                                      <p:tavLst>
                                        <p:tav tm="0">
                                          <p:val>
                                            <p:fltVal val="720"/>
                                          </p:val>
                                        </p:tav>
                                        <p:tav tm="100000">
                                          <p:val>
                                            <p:fltVal val="0"/>
                                          </p:val>
                                        </p:tav>
                                      </p:tavLst>
                                    </p:anim>
                                    <p:anim calcmode="lin" valueType="num">
                                      <p:cBhvr>
                                        <p:cTn id="9" dur="2000" fill="hold"/>
                                        <p:tgtEl>
                                          <p:spTgt spid="47106"/>
                                        </p:tgtEl>
                                        <p:attrNameLst>
                                          <p:attrName>ppt_h</p:attrName>
                                        </p:attrNameLst>
                                      </p:cBhvr>
                                      <p:tavLst>
                                        <p:tav tm="0">
                                          <p:val>
                                            <p:fltVal val="0"/>
                                          </p:val>
                                        </p:tav>
                                        <p:tav tm="100000">
                                          <p:val>
                                            <p:strVal val="#ppt_h"/>
                                          </p:val>
                                        </p:tav>
                                      </p:tavLst>
                                    </p:anim>
                                    <p:anim calcmode="lin" valueType="num">
                                      <p:cBhvr>
                                        <p:cTn id="10" dur="2000" fill="hold"/>
                                        <p:tgtEl>
                                          <p:spTgt spid="47106"/>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5" dur="10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Effect transition="in" filter="dissolve">
                                      <p:cBhvr>
                                        <p:cTn id="20" dur="1000"/>
                                        <p:tgtEl>
                                          <p:spTgt spid="4">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50" presetClass="entr" presetSubtype="0" decel="10000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 calcmode="lin" valueType="num">
                                      <p:cBhvr>
                                        <p:cTn id="25" dur="1000" fill="hold"/>
                                        <p:tgtEl>
                                          <p:spTgt spid="4">
                                            <p:txEl>
                                              <p:pRg st="2" end="2"/>
                                            </p:txEl>
                                          </p:spTgt>
                                        </p:tgtEl>
                                        <p:attrNameLst>
                                          <p:attrName>ppt_w</p:attrName>
                                        </p:attrNameLst>
                                      </p:cBhvr>
                                      <p:tavLst>
                                        <p:tav tm="0">
                                          <p:val>
                                            <p:strVal val="#ppt_w+.3"/>
                                          </p:val>
                                        </p:tav>
                                        <p:tav tm="100000">
                                          <p:val>
                                            <p:strVal val="#ppt_w"/>
                                          </p:val>
                                        </p:tav>
                                      </p:tavLst>
                                    </p:anim>
                                    <p:anim calcmode="lin" valueType="num">
                                      <p:cBhvr>
                                        <p:cTn id="26" dur="1000" fill="hold"/>
                                        <p:tgtEl>
                                          <p:spTgt spid="4">
                                            <p:txEl>
                                              <p:pRg st="2" end="2"/>
                                            </p:txEl>
                                          </p:spTgt>
                                        </p:tgtEl>
                                        <p:attrNameLst>
                                          <p:attrName>ppt_h</p:attrName>
                                        </p:attrNameLst>
                                      </p:cBhvr>
                                      <p:tavLst>
                                        <p:tav tm="0">
                                          <p:val>
                                            <p:strVal val="#ppt_h"/>
                                          </p:val>
                                        </p:tav>
                                        <p:tav tm="100000">
                                          <p:val>
                                            <p:strVal val="#ppt_h"/>
                                          </p:val>
                                        </p:tav>
                                      </p:tavLst>
                                    </p:anim>
                                    <p:animEffect transition="in" filter="fade">
                                      <p:cBhvr>
                                        <p:cTn id="27" dur="1000"/>
                                        <p:tgtEl>
                                          <p:spTgt spid="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5">
                                            <p:txEl>
                                              <p:pRg st="1" end="1"/>
                                            </p:txEl>
                                          </p:spTgt>
                                        </p:tgtEl>
                                        <p:attrNameLst>
                                          <p:attrName>style.visibility</p:attrName>
                                        </p:attrNameLst>
                                      </p:cBhvr>
                                      <p:to>
                                        <p:strVal val="visible"/>
                                      </p:to>
                                    </p:set>
                                    <p:animEffect transition="in" filter="dissolve">
                                      <p:cBhvr>
                                        <p:cTn id="32" dur="1000"/>
                                        <p:tgtEl>
                                          <p:spTgt spid="5">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0" presetClass="entr" presetSubtype="0" decel="100000" fill="hold" nodeType="clickEffect">
                                  <p:stCondLst>
                                    <p:cond delay="0"/>
                                  </p:stCondLst>
                                  <p:childTnLst>
                                    <p:set>
                                      <p:cBhvr>
                                        <p:cTn id="36" dur="1" fill="hold">
                                          <p:stCondLst>
                                            <p:cond delay="0"/>
                                          </p:stCondLst>
                                        </p:cTn>
                                        <p:tgtEl>
                                          <p:spTgt spid="5">
                                            <p:txEl>
                                              <p:pRg st="2" end="2"/>
                                            </p:txEl>
                                          </p:spTgt>
                                        </p:tgtEl>
                                        <p:attrNameLst>
                                          <p:attrName>style.visibility</p:attrName>
                                        </p:attrNameLst>
                                      </p:cBhvr>
                                      <p:to>
                                        <p:strVal val="visible"/>
                                      </p:to>
                                    </p:set>
                                    <p:anim calcmode="lin" valueType="num">
                                      <p:cBhvr>
                                        <p:cTn id="37" dur="1000" fill="hold"/>
                                        <p:tgtEl>
                                          <p:spTgt spid="5">
                                            <p:txEl>
                                              <p:pRg st="2" end="2"/>
                                            </p:txEl>
                                          </p:spTgt>
                                        </p:tgtEl>
                                        <p:attrNameLst>
                                          <p:attrName>ppt_w</p:attrName>
                                        </p:attrNameLst>
                                      </p:cBhvr>
                                      <p:tavLst>
                                        <p:tav tm="0">
                                          <p:val>
                                            <p:strVal val="#ppt_w+.3"/>
                                          </p:val>
                                        </p:tav>
                                        <p:tav tm="100000">
                                          <p:val>
                                            <p:strVal val="#ppt_w"/>
                                          </p:val>
                                        </p:tav>
                                      </p:tavLst>
                                    </p:anim>
                                    <p:anim calcmode="lin" valueType="num">
                                      <p:cBhvr>
                                        <p:cTn id="38" dur="1000" fill="hold"/>
                                        <p:tgtEl>
                                          <p:spTgt spid="5">
                                            <p:txEl>
                                              <p:pRg st="2" end="2"/>
                                            </p:txEl>
                                          </p:spTgt>
                                        </p:tgtEl>
                                        <p:attrNameLst>
                                          <p:attrName>ppt_h</p:attrName>
                                        </p:attrNameLst>
                                      </p:cBhvr>
                                      <p:tavLst>
                                        <p:tav tm="0">
                                          <p:val>
                                            <p:strVal val="#ppt_h"/>
                                          </p:val>
                                        </p:tav>
                                        <p:tav tm="100000">
                                          <p:val>
                                            <p:strVal val="#ppt_h"/>
                                          </p:val>
                                        </p:tav>
                                      </p:tavLst>
                                    </p:anim>
                                    <p:animEffect transition="in" filter="fade">
                                      <p:cBhvr>
                                        <p:cTn id="39" dur="1000"/>
                                        <p:tgtEl>
                                          <p:spTgt spid="5">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50" presetClass="entr" presetSubtype="0" decel="100000" fill="hold" nodeType="clickEffect">
                                  <p:stCondLst>
                                    <p:cond delay="0"/>
                                  </p:stCondLst>
                                  <p:childTnLst>
                                    <p:set>
                                      <p:cBhvr>
                                        <p:cTn id="43" dur="1" fill="hold">
                                          <p:stCondLst>
                                            <p:cond delay="0"/>
                                          </p:stCondLst>
                                        </p:cTn>
                                        <p:tgtEl>
                                          <p:spTgt spid="5">
                                            <p:txEl>
                                              <p:pRg st="3" end="3"/>
                                            </p:txEl>
                                          </p:spTgt>
                                        </p:tgtEl>
                                        <p:attrNameLst>
                                          <p:attrName>style.visibility</p:attrName>
                                        </p:attrNameLst>
                                      </p:cBhvr>
                                      <p:to>
                                        <p:strVal val="visible"/>
                                      </p:to>
                                    </p:set>
                                    <p:anim calcmode="lin" valueType="num">
                                      <p:cBhvr>
                                        <p:cTn id="44" dur="1000" fill="hold"/>
                                        <p:tgtEl>
                                          <p:spTgt spid="5">
                                            <p:txEl>
                                              <p:pRg st="3" end="3"/>
                                            </p:txEl>
                                          </p:spTgt>
                                        </p:tgtEl>
                                        <p:attrNameLst>
                                          <p:attrName>ppt_w</p:attrName>
                                        </p:attrNameLst>
                                      </p:cBhvr>
                                      <p:tavLst>
                                        <p:tav tm="0">
                                          <p:val>
                                            <p:strVal val="#ppt_w+.3"/>
                                          </p:val>
                                        </p:tav>
                                        <p:tav tm="100000">
                                          <p:val>
                                            <p:strVal val="#ppt_w"/>
                                          </p:val>
                                        </p:tav>
                                      </p:tavLst>
                                    </p:anim>
                                    <p:anim calcmode="lin" valueType="num">
                                      <p:cBhvr>
                                        <p:cTn id="45" dur="1000" fill="hold"/>
                                        <p:tgtEl>
                                          <p:spTgt spid="5">
                                            <p:txEl>
                                              <p:pRg st="3" end="3"/>
                                            </p:txEl>
                                          </p:spTgt>
                                        </p:tgtEl>
                                        <p:attrNameLst>
                                          <p:attrName>ppt_h</p:attrName>
                                        </p:attrNameLst>
                                      </p:cBhvr>
                                      <p:tavLst>
                                        <p:tav tm="0">
                                          <p:val>
                                            <p:strVal val="#ppt_h"/>
                                          </p:val>
                                        </p:tav>
                                        <p:tav tm="100000">
                                          <p:val>
                                            <p:strVal val="#ppt_h"/>
                                          </p:val>
                                        </p:tav>
                                      </p:tavLst>
                                    </p:anim>
                                    <p:animEffect transition="in" filter="fade">
                                      <p:cBhvr>
                                        <p:cTn id="46" dur="1000"/>
                                        <p:tgtEl>
                                          <p:spTgt spid="5">
                                            <p:txEl>
                                              <p:pRg st="3" end="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50" presetClass="entr" presetSubtype="0" decel="100000" fill="hold" nodeType="clickEffect">
                                  <p:stCondLst>
                                    <p:cond delay="0"/>
                                  </p:stCondLst>
                                  <p:childTnLst>
                                    <p:set>
                                      <p:cBhvr>
                                        <p:cTn id="50" dur="1" fill="hold">
                                          <p:stCondLst>
                                            <p:cond delay="0"/>
                                          </p:stCondLst>
                                        </p:cTn>
                                        <p:tgtEl>
                                          <p:spTgt spid="5">
                                            <p:txEl>
                                              <p:pRg st="4" end="4"/>
                                            </p:txEl>
                                          </p:spTgt>
                                        </p:tgtEl>
                                        <p:attrNameLst>
                                          <p:attrName>style.visibility</p:attrName>
                                        </p:attrNameLst>
                                      </p:cBhvr>
                                      <p:to>
                                        <p:strVal val="visible"/>
                                      </p:to>
                                    </p:set>
                                    <p:anim calcmode="lin" valueType="num">
                                      <p:cBhvr>
                                        <p:cTn id="51" dur="1000" fill="hold"/>
                                        <p:tgtEl>
                                          <p:spTgt spid="5">
                                            <p:txEl>
                                              <p:pRg st="4" end="4"/>
                                            </p:txEl>
                                          </p:spTgt>
                                        </p:tgtEl>
                                        <p:attrNameLst>
                                          <p:attrName>ppt_w</p:attrName>
                                        </p:attrNameLst>
                                      </p:cBhvr>
                                      <p:tavLst>
                                        <p:tav tm="0">
                                          <p:val>
                                            <p:strVal val="#ppt_w+.3"/>
                                          </p:val>
                                        </p:tav>
                                        <p:tav tm="100000">
                                          <p:val>
                                            <p:strVal val="#ppt_w"/>
                                          </p:val>
                                        </p:tav>
                                      </p:tavLst>
                                    </p:anim>
                                    <p:anim calcmode="lin" valueType="num">
                                      <p:cBhvr>
                                        <p:cTn id="52" dur="1000" fill="hold"/>
                                        <p:tgtEl>
                                          <p:spTgt spid="5">
                                            <p:txEl>
                                              <p:pRg st="4" end="4"/>
                                            </p:txEl>
                                          </p:spTgt>
                                        </p:tgtEl>
                                        <p:attrNameLst>
                                          <p:attrName>ppt_h</p:attrName>
                                        </p:attrNameLst>
                                      </p:cBhvr>
                                      <p:tavLst>
                                        <p:tav tm="0">
                                          <p:val>
                                            <p:strVal val="#ppt_h"/>
                                          </p:val>
                                        </p:tav>
                                        <p:tav tm="100000">
                                          <p:val>
                                            <p:strVal val="#ppt_h"/>
                                          </p:val>
                                        </p:tav>
                                      </p:tavLst>
                                    </p:anim>
                                    <p:animEffect transition="in" filter="fade">
                                      <p:cBhvr>
                                        <p:cTn id="53" dur="10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AutoShape 187"/>
          <p:cNvSpPr>
            <a:spLocks noChangeArrowheads="1"/>
          </p:cNvSpPr>
          <p:nvPr/>
        </p:nvSpPr>
        <p:spPr bwMode="auto">
          <a:xfrm>
            <a:off x="7358084" y="116632"/>
            <a:ext cx="1619245" cy="1171587"/>
          </a:xfrm>
          <a:prstGeom prst="irregularSeal1">
            <a:avLst/>
          </a:prstGeom>
          <a:ln>
            <a:headEnd/>
            <a:tailEnd/>
          </a:ln>
        </p:spPr>
        <p:style>
          <a:lnRef idx="0">
            <a:schemeClr val="accent2"/>
          </a:lnRef>
          <a:fillRef idx="3">
            <a:schemeClr val="accent2"/>
          </a:fillRef>
          <a:effectRef idx="3">
            <a:schemeClr val="accent2"/>
          </a:effectRef>
          <a:fontRef idx="minor">
            <a:schemeClr val="lt1"/>
          </a:fontRef>
        </p:style>
        <p:txBody>
          <a:bodyPr vert="horz" wrap="square" lIns="91440" tIns="45720" rIns="91440" bIns="45720" numCol="1" anchor="t" anchorCtr="0" compatLnSpc="1">
            <a:prstTxWarp prst="textNoShape">
              <a:avLst/>
            </a:prstTxWarp>
          </a:bodyPr>
          <a:lstStyle/>
          <a:p>
            <a:pPr marL="0" marR="0" lvl="0" indent="0" algn="ctr" defTabSz="914400" rtl="1" eaLnBrk="1" fontAlgn="base" latinLnBrk="0" hangingPunct="1">
              <a:lnSpc>
                <a:spcPct val="100000"/>
              </a:lnSpc>
              <a:spcBef>
                <a:spcPct val="0"/>
              </a:spcBef>
              <a:spcAft>
                <a:spcPts val="1000"/>
              </a:spcAft>
              <a:buClrTx/>
              <a:buSzTx/>
              <a:buFontTx/>
              <a:buNone/>
              <a:tabLst/>
            </a:pPr>
            <a:r>
              <a:rPr kumimoji="0" lang="ar-EG" sz="2000" b="1" i="0" u="none" strike="noStrike" cap="none" normalizeH="0" baseline="0" dirty="0">
                <a:ln>
                  <a:noFill/>
                </a:ln>
                <a:solidFill>
                  <a:schemeClr val="bg1"/>
                </a:solidFill>
                <a:effectLst/>
                <a:latin typeface="Arial" pitchFamily="34" charset="0"/>
                <a:ea typeface="Arial" pitchFamily="34" charset="0"/>
                <a:cs typeface="Arial" pitchFamily="34" charset="0"/>
              </a:rPr>
              <a:t>ملاحظة</a:t>
            </a:r>
            <a:endParaRPr kumimoji="0" lang="ar-EG" sz="2800" b="0" i="0" u="none" strike="noStrike" cap="none" normalizeH="0" baseline="0" dirty="0">
              <a:ln>
                <a:noFill/>
              </a:ln>
              <a:solidFill>
                <a:schemeClr val="bg1"/>
              </a:solidFill>
              <a:effectLst/>
              <a:latin typeface="Arial" pitchFamily="34" charset="0"/>
              <a:cs typeface="Arial" pitchFamily="34" charset="0"/>
            </a:endParaRPr>
          </a:p>
        </p:txBody>
      </p:sp>
      <p:sp>
        <p:nvSpPr>
          <p:cNvPr id="3" name="مربع نص 2"/>
          <p:cNvSpPr txBox="1"/>
          <p:nvPr/>
        </p:nvSpPr>
        <p:spPr>
          <a:xfrm>
            <a:off x="179512" y="1196752"/>
            <a:ext cx="8763046" cy="1231106"/>
          </a:xfrm>
          <a:prstGeom prst="rect">
            <a:avLst/>
          </a:prstGeom>
          <a:noFill/>
        </p:spPr>
        <p:txBody>
          <a:bodyPr wrap="square" rtlCol="1">
            <a:spAutoFit/>
          </a:bodyPr>
          <a:lstStyle/>
          <a:p>
            <a:r>
              <a:rPr lang="ar-EG" sz="2800" dirty="0"/>
              <a:t> </a:t>
            </a:r>
            <a:r>
              <a:rPr lang="ar-EG" sz="2800" dirty="0" err="1"/>
              <a:t>فى</a:t>
            </a:r>
            <a:r>
              <a:rPr lang="ar-EG" sz="2800" dirty="0"/>
              <a:t> حالة استخدام </a:t>
            </a:r>
            <a:r>
              <a:rPr lang="en-US" sz="2800" dirty="0"/>
              <a:t>VCR</a:t>
            </a:r>
            <a:r>
              <a:rPr lang="ar-EG" sz="2800" dirty="0"/>
              <a:t> </a:t>
            </a:r>
            <a:r>
              <a:rPr lang="ar-EG" sz="2800" dirty="0" err="1"/>
              <a:t>تمثيلى</a:t>
            </a:r>
            <a:r>
              <a:rPr lang="ar-EG" sz="2800" dirty="0"/>
              <a:t> كمصدر </a:t>
            </a:r>
            <a:r>
              <a:rPr lang="ar-EG" sz="2800" dirty="0" err="1"/>
              <a:t>تمثيلى</a:t>
            </a:r>
            <a:r>
              <a:rPr lang="ar-EG" sz="2800" dirty="0"/>
              <a:t> ، تحقق من تركيب موصلات </a:t>
            </a:r>
            <a:r>
              <a:rPr lang="en-US" sz="2800" dirty="0"/>
              <a:t>RCA</a:t>
            </a:r>
            <a:r>
              <a:rPr lang="ar-EG" sz="2800" dirty="0"/>
              <a:t> </a:t>
            </a:r>
            <a:r>
              <a:rPr lang="ar-EG" sz="2800" dirty="0" err="1"/>
              <a:t>بمقابس</a:t>
            </a:r>
            <a:r>
              <a:rPr lang="ar-EG" sz="2800" dirty="0"/>
              <a:t> مخرج خط </a:t>
            </a:r>
            <a:r>
              <a:rPr lang="en-US" sz="2800" dirty="0"/>
              <a:t>RCA</a:t>
            </a:r>
            <a:r>
              <a:rPr lang="ar-EG" sz="2800" dirty="0"/>
              <a:t> على </a:t>
            </a:r>
            <a:r>
              <a:rPr lang="en-US" sz="2800" dirty="0"/>
              <a:t>VCR</a:t>
            </a:r>
            <a:r>
              <a:rPr lang="ar-EG" sz="2800" dirty="0"/>
              <a:t> الخاص بك.</a:t>
            </a:r>
            <a:endParaRPr lang="en-US" sz="2800" dirty="0"/>
          </a:p>
          <a:p>
            <a:endParaRPr lang="ar-EG" dirty="0"/>
          </a:p>
        </p:txBody>
      </p:sp>
      <p:sp>
        <p:nvSpPr>
          <p:cNvPr id="4" name="مربع نص 3"/>
          <p:cNvSpPr txBox="1"/>
          <p:nvPr/>
        </p:nvSpPr>
        <p:spPr>
          <a:xfrm>
            <a:off x="142844" y="2214554"/>
            <a:ext cx="9001156" cy="4124206"/>
          </a:xfrm>
          <a:prstGeom prst="rect">
            <a:avLst/>
          </a:prstGeom>
          <a:noFill/>
        </p:spPr>
        <p:txBody>
          <a:bodyPr wrap="square" rtlCol="1">
            <a:spAutoFit/>
          </a:bodyPr>
          <a:lstStyle/>
          <a:p>
            <a:r>
              <a:rPr lang="ar-EG" sz="2400" b="1" dirty="0">
                <a:ln w="18415" cmpd="sng">
                  <a:solidFill>
                    <a:srgbClr val="FFFFFF"/>
                  </a:solidFill>
                  <a:prstDash val="solid"/>
                </a:ln>
                <a:solidFill>
                  <a:schemeClr val="tx2"/>
                </a:solidFill>
                <a:effectLst>
                  <a:outerShdw blurRad="63500" dir="3600000" algn="tl" rotWithShape="0">
                    <a:srgbClr val="000000">
                      <a:alpha val="70000"/>
                    </a:srgbClr>
                  </a:outerShdw>
                </a:effectLst>
              </a:rPr>
              <a:t>استخدام ميزة تمرير الفيديو </a:t>
            </a:r>
            <a:r>
              <a:rPr lang="ar-EG" sz="2400" b="1" dirty="0" err="1">
                <a:ln w="18415" cmpd="sng">
                  <a:solidFill>
                    <a:srgbClr val="FFFFFF"/>
                  </a:solidFill>
                  <a:prstDash val="solid"/>
                </a:ln>
                <a:solidFill>
                  <a:schemeClr val="tx2"/>
                </a:solidFill>
                <a:effectLst>
                  <a:outerShdw blurRad="63500" dir="3600000" algn="tl" rotWithShape="0">
                    <a:srgbClr val="000000">
                      <a:alpha val="70000"/>
                    </a:srgbClr>
                  </a:outerShdw>
                </a:effectLst>
              </a:rPr>
              <a:t>الرقمى</a:t>
            </a:r>
            <a:r>
              <a:rPr lang="ar-EG" sz="2400" b="1" dirty="0">
                <a:ln w="18415" cmpd="sng">
                  <a:solidFill>
                    <a:srgbClr val="FFFFFF"/>
                  </a:solidFill>
                  <a:prstDash val="solid"/>
                </a:ln>
                <a:solidFill>
                  <a:schemeClr val="tx2"/>
                </a:solidFill>
                <a:effectLst>
                  <a:outerShdw blurRad="63500" dir="3600000" algn="tl" rotWithShape="0">
                    <a:srgbClr val="000000">
                      <a:alpha val="70000"/>
                    </a:srgbClr>
                  </a:outerShdw>
                </a:effectLst>
              </a:rPr>
              <a:t> لالتقاط الفيديو </a:t>
            </a:r>
            <a:r>
              <a:rPr lang="ar-EG" sz="2400" b="1" dirty="0" err="1">
                <a:ln w="18415" cmpd="sng">
                  <a:solidFill>
                    <a:srgbClr val="FFFFFF"/>
                  </a:solidFill>
                  <a:prstDash val="solid"/>
                </a:ln>
                <a:solidFill>
                  <a:schemeClr val="tx2"/>
                </a:solidFill>
                <a:effectLst>
                  <a:outerShdw blurRad="63500" dir="3600000" algn="tl" rotWithShape="0">
                    <a:srgbClr val="000000">
                      <a:alpha val="70000"/>
                    </a:srgbClr>
                  </a:outerShdw>
                </a:effectLst>
              </a:rPr>
              <a:t>فى</a:t>
            </a:r>
            <a:r>
              <a:rPr lang="ar-EG" sz="2400" b="1" dirty="0">
                <a:ln w="18415" cmpd="sng">
                  <a:solidFill>
                    <a:srgbClr val="FFFFFF"/>
                  </a:solidFill>
                  <a:prstDash val="solid"/>
                </a:ln>
                <a:solidFill>
                  <a:schemeClr val="tx2"/>
                </a:solidFill>
                <a:effectLst>
                  <a:outerShdw blurRad="63500" dir="3600000" algn="tl" rotWithShape="0">
                    <a:srgbClr val="000000">
                      <a:alpha val="70000"/>
                    </a:srgbClr>
                  </a:outerShdw>
                </a:effectLst>
              </a:rPr>
              <a:t> </a:t>
            </a:r>
            <a:r>
              <a:rPr lang="en-US" sz="2400" b="1" dirty="0">
                <a:ln w="18415" cmpd="sng">
                  <a:solidFill>
                    <a:srgbClr val="FFFFFF"/>
                  </a:solidFill>
                  <a:prstDash val="solid"/>
                </a:ln>
                <a:solidFill>
                  <a:schemeClr val="tx2"/>
                </a:solidFill>
                <a:effectLst>
                  <a:outerShdw blurRad="63500" dir="3600000" algn="tl" rotWithShape="0">
                    <a:srgbClr val="000000">
                      <a:alpha val="70000"/>
                    </a:srgbClr>
                  </a:outerShdw>
                </a:effectLst>
              </a:rPr>
              <a:t>Maker Windows Movie</a:t>
            </a:r>
            <a:endParaRPr lang="en-US" sz="1600" b="1" dirty="0">
              <a:solidFill>
                <a:schemeClr val="tx2"/>
              </a:solidFill>
            </a:endParaRPr>
          </a:p>
          <a:p>
            <a:r>
              <a:rPr lang="ar-EG" b="1" dirty="0"/>
              <a:t> </a:t>
            </a:r>
            <a:endParaRPr lang="en-US" b="1" dirty="0"/>
          </a:p>
          <a:p>
            <a:pPr lvl="0"/>
            <a:r>
              <a:rPr lang="ar-EG" sz="2000" b="1" dirty="0"/>
              <a:t>1- </a:t>
            </a:r>
            <a:r>
              <a:rPr lang="ar-EG" sz="2000" b="1" dirty="0" err="1"/>
              <a:t>تاكد</a:t>
            </a:r>
            <a:r>
              <a:rPr lang="ar-EG" sz="2000" b="1" dirty="0"/>
              <a:t> من توصيل كاميرا الفيديو التمثيلية </a:t>
            </a:r>
            <a:r>
              <a:rPr lang="ar-EG" sz="2000" b="1" dirty="0" err="1"/>
              <a:t>او</a:t>
            </a:r>
            <a:r>
              <a:rPr lang="ar-EG" sz="2000" b="1" dirty="0"/>
              <a:t> </a:t>
            </a:r>
            <a:r>
              <a:rPr lang="en-US" sz="2000" b="1" dirty="0"/>
              <a:t>VCR</a:t>
            </a:r>
            <a:r>
              <a:rPr lang="ar-EG" sz="2000" b="1" dirty="0"/>
              <a:t> بكاميرا </a:t>
            </a:r>
            <a:r>
              <a:rPr lang="en-US" sz="2000" b="1" dirty="0"/>
              <a:t>DV</a:t>
            </a:r>
            <a:r>
              <a:rPr lang="ar-EG" sz="2000" b="1" dirty="0"/>
              <a:t> الخاصة بك بشكل صحيح ، ومن توصيل كاميرا </a:t>
            </a:r>
            <a:r>
              <a:rPr lang="en-US" sz="2000" b="1" dirty="0"/>
              <a:t>DV</a:t>
            </a:r>
            <a:r>
              <a:rPr lang="ar-EG" sz="2000" b="1" dirty="0"/>
              <a:t> بجهاز الكمبيوتر باستخدام وصلة </a:t>
            </a:r>
            <a:r>
              <a:rPr lang="en-US" sz="2000" b="1" dirty="0"/>
              <a:t>IEEE 1394</a:t>
            </a:r>
            <a:r>
              <a:rPr lang="ar-EG" sz="2000" b="1" dirty="0"/>
              <a:t>.</a:t>
            </a:r>
            <a:endParaRPr lang="en-US" sz="2000" b="1" dirty="0"/>
          </a:p>
          <a:p>
            <a:pPr lvl="0"/>
            <a:r>
              <a:rPr lang="ar-EG" sz="2000" b="1" dirty="0"/>
              <a:t>2- </a:t>
            </a:r>
            <a:r>
              <a:rPr lang="ar-EG" sz="2000" b="1" dirty="0" err="1"/>
              <a:t>فى</a:t>
            </a:r>
            <a:r>
              <a:rPr lang="ar-EG" sz="2000" b="1" dirty="0"/>
              <a:t> حالة وجود شريط </a:t>
            </a:r>
            <a:r>
              <a:rPr lang="ar-EG" sz="2000" b="1" dirty="0" err="1"/>
              <a:t>فى</a:t>
            </a:r>
            <a:r>
              <a:rPr lang="ar-EG" sz="2000" b="1" dirty="0"/>
              <a:t> كاميرا </a:t>
            </a:r>
            <a:r>
              <a:rPr lang="en-US" sz="2000" b="1" dirty="0"/>
              <a:t>DV</a:t>
            </a:r>
            <a:r>
              <a:rPr lang="ar-EG" sz="2000" b="1" dirty="0"/>
              <a:t> ، قم </a:t>
            </a:r>
            <a:r>
              <a:rPr lang="ar-EG" sz="2000" b="1" dirty="0" err="1"/>
              <a:t>باخراجة</a:t>
            </a:r>
            <a:r>
              <a:rPr lang="ar-EG" sz="2000" b="1" dirty="0"/>
              <a:t> </a:t>
            </a:r>
            <a:r>
              <a:rPr lang="ar-EG" sz="2000" b="1" dirty="0" err="1"/>
              <a:t>وازالتة</a:t>
            </a:r>
            <a:r>
              <a:rPr lang="ar-EG" sz="2000" b="1" dirty="0"/>
              <a:t> من كاميرا </a:t>
            </a:r>
            <a:r>
              <a:rPr lang="en-US" sz="2000" b="1" dirty="0"/>
              <a:t>DV</a:t>
            </a:r>
            <a:r>
              <a:rPr lang="ar-EG" sz="2000" b="1" dirty="0"/>
              <a:t>.</a:t>
            </a:r>
            <a:endParaRPr lang="en-US" sz="2000" b="1" dirty="0"/>
          </a:p>
          <a:p>
            <a:pPr lvl="0"/>
            <a:r>
              <a:rPr lang="ar-EG" sz="2000" b="1" dirty="0"/>
              <a:t>3- قم بتعيين كاميرا </a:t>
            </a:r>
            <a:r>
              <a:rPr lang="en-US" sz="2000" b="1" dirty="0"/>
              <a:t>DV</a:t>
            </a:r>
            <a:r>
              <a:rPr lang="ar-EG" sz="2000" b="1" dirty="0"/>
              <a:t> لتشغيل الفيديو </a:t>
            </a:r>
            <a:r>
              <a:rPr lang="ar-EG" sz="2000" b="1" dirty="0" err="1"/>
              <a:t>الذى</a:t>
            </a:r>
            <a:r>
              <a:rPr lang="ar-EG" sz="2000" b="1" dirty="0"/>
              <a:t> تم </a:t>
            </a:r>
            <a:r>
              <a:rPr lang="ar-EG" sz="2000" b="1" dirty="0" err="1"/>
              <a:t>تسجيلة</a:t>
            </a:r>
            <a:r>
              <a:rPr lang="ar-EG" sz="2000" b="1" dirty="0"/>
              <a:t> (عادة ما يطلق علية </a:t>
            </a:r>
            <a:r>
              <a:rPr lang="en-US" sz="2000" b="1" dirty="0"/>
              <a:t>VTR</a:t>
            </a:r>
            <a:r>
              <a:rPr lang="ar-EG" sz="2000" b="1" dirty="0"/>
              <a:t> </a:t>
            </a:r>
            <a:r>
              <a:rPr lang="ar-EG" sz="2000" b="1" dirty="0" err="1"/>
              <a:t>او</a:t>
            </a:r>
            <a:r>
              <a:rPr lang="ar-EG" sz="2000" b="1" dirty="0"/>
              <a:t> </a:t>
            </a:r>
            <a:r>
              <a:rPr lang="en-US" sz="2000" b="1" dirty="0"/>
              <a:t>VCR</a:t>
            </a:r>
            <a:r>
              <a:rPr lang="ar-EG" sz="2000" b="1" dirty="0"/>
              <a:t> على كاميرا </a:t>
            </a:r>
            <a:r>
              <a:rPr lang="en-US" sz="2000" b="1" dirty="0"/>
              <a:t>DV</a:t>
            </a:r>
            <a:r>
              <a:rPr lang="ar-EG" sz="2000" b="1" dirty="0"/>
              <a:t> ).</a:t>
            </a:r>
            <a:endParaRPr lang="en-US" sz="2000" b="1" dirty="0"/>
          </a:p>
          <a:p>
            <a:pPr lvl="0"/>
            <a:r>
              <a:rPr lang="ar-EG" sz="2000" b="1" dirty="0"/>
              <a:t>4- </a:t>
            </a:r>
            <a:r>
              <a:rPr lang="ar-EG" sz="2000" b="1" dirty="0" err="1"/>
              <a:t>فى</a:t>
            </a:r>
            <a:r>
              <a:rPr lang="ar-EG" sz="2000" b="1" dirty="0"/>
              <a:t> </a:t>
            </a:r>
            <a:r>
              <a:rPr lang="en-US" sz="2000" b="1" dirty="0"/>
              <a:t>Maker Windows Movie</a:t>
            </a:r>
            <a:r>
              <a:rPr lang="ar-EG" sz="2000" b="1" dirty="0"/>
              <a:t> ، قم بتنفيذ احد </a:t>
            </a:r>
            <a:r>
              <a:rPr lang="ar-EG" sz="2000" b="1" dirty="0" err="1"/>
              <a:t>الاجراءات</a:t>
            </a:r>
            <a:r>
              <a:rPr lang="ar-EG" sz="2000" b="1" dirty="0"/>
              <a:t> التالية :</a:t>
            </a:r>
            <a:endParaRPr lang="en-US" sz="2000" b="1" dirty="0"/>
          </a:p>
          <a:p>
            <a:pPr lvl="0">
              <a:buFont typeface="Arial" pitchFamily="34" charset="0"/>
              <a:buChar char="•"/>
            </a:pPr>
            <a:r>
              <a:rPr lang="ar-EG" sz="2000" b="1" dirty="0"/>
              <a:t>من قائمة ملف ، انقر فوق التقاط الفيديو.</a:t>
            </a:r>
            <a:endParaRPr lang="en-US" sz="2000" b="1" dirty="0"/>
          </a:p>
          <a:p>
            <a:pPr lvl="0">
              <a:buFont typeface="Arial" pitchFamily="34" charset="0"/>
              <a:buChar char="•"/>
            </a:pPr>
            <a:r>
              <a:rPr lang="ar-EG" sz="2000" b="1" dirty="0"/>
              <a:t>من جزء "مهام الفيلم" ، ضمن التقاط الفيديو ، انقر فوق التقاط من جهاز فيديو.</a:t>
            </a:r>
            <a:endParaRPr lang="en-US" sz="2000" b="1" dirty="0"/>
          </a:p>
          <a:p>
            <a:pPr lvl="0"/>
            <a:r>
              <a:rPr lang="ar-EG" sz="2000" b="1" dirty="0"/>
              <a:t>5- من صفحة جهاز التقاط الفيديو </a:t>
            </a:r>
            <a:r>
              <a:rPr lang="ar-EG" sz="2000" b="1" dirty="0" err="1"/>
              <a:t>فى</a:t>
            </a:r>
            <a:r>
              <a:rPr lang="ar-EG" sz="2000" b="1" dirty="0"/>
              <a:t> </a:t>
            </a:r>
            <a:r>
              <a:rPr lang="ar-EG" sz="2000" b="1" dirty="0" err="1"/>
              <a:t>الاجهزة</a:t>
            </a:r>
            <a:r>
              <a:rPr lang="ar-EG" sz="2000" b="1" dirty="0"/>
              <a:t> المتوفرة ، انقر فوق كاميرا </a:t>
            </a:r>
            <a:r>
              <a:rPr lang="en-US" sz="2000" b="1" dirty="0"/>
              <a:t>DV</a:t>
            </a:r>
            <a:r>
              <a:rPr lang="ar-EG" sz="2000" b="1" dirty="0"/>
              <a:t> المناسبة.</a:t>
            </a:r>
            <a:endParaRPr lang="en-US" sz="2000" b="1" dirty="0"/>
          </a:p>
          <a:p>
            <a:pPr lvl="0"/>
            <a:r>
              <a:rPr lang="ar-EG" sz="2000" b="1" dirty="0"/>
              <a:t>6- </a:t>
            </a:r>
            <a:r>
              <a:rPr lang="ar-EG" sz="2000" b="1" dirty="0" err="1"/>
              <a:t>فى</a:t>
            </a:r>
            <a:r>
              <a:rPr lang="ar-EG" sz="2000" b="1" dirty="0"/>
              <a:t> مربع ادخل اسم الملف للفيديو الملتقط ، قم </a:t>
            </a:r>
            <a:r>
              <a:rPr lang="ar-EG" sz="2000" b="1" dirty="0" err="1"/>
              <a:t>بادخال</a:t>
            </a:r>
            <a:r>
              <a:rPr lang="ar-EG" sz="2000" b="1" dirty="0"/>
              <a:t> اسم ملف لملف الفيديو الملتقط. ثم ، </a:t>
            </a:r>
            <a:r>
              <a:rPr lang="ar-EG" sz="2000" b="1" dirty="0" err="1"/>
              <a:t>فى</a:t>
            </a:r>
            <a:r>
              <a:rPr lang="ar-EG" sz="2000" b="1" dirty="0"/>
              <a:t> مربع اختر مكان لحفظ الفيديو الملتقط ، حدد الموقع </a:t>
            </a:r>
            <a:r>
              <a:rPr lang="ar-EG" sz="2000" b="1" dirty="0" err="1"/>
              <a:t>الذى</a:t>
            </a:r>
            <a:r>
              <a:rPr lang="ar-EG" sz="2000" b="1" dirty="0"/>
              <a:t> تريد حفظ الفيديو فيه </a:t>
            </a:r>
            <a:r>
              <a:rPr lang="ar-EG" sz="2000" b="1" dirty="0" err="1"/>
              <a:t>او</a:t>
            </a:r>
            <a:r>
              <a:rPr lang="ar-EG" sz="2000" b="1" dirty="0"/>
              <a:t> انقر فوق استعراض لتحديد موقع.</a:t>
            </a:r>
            <a:endParaRPr lang="en-US" sz="2000" b="1" dirty="0"/>
          </a:p>
        </p:txBody>
      </p:sp>
    </p:spTree>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fade">
                                      <p:cBhvr>
                                        <p:cTn id="7" dur="2000"/>
                                        <p:tgtEl>
                                          <p:spTgt spid="48130"/>
                                        </p:tgtEl>
                                      </p:cBhvr>
                                    </p:animEffect>
                                    <p:anim calcmode="lin" valueType="num">
                                      <p:cBhvr>
                                        <p:cTn id="8" dur="2000" fill="hold"/>
                                        <p:tgtEl>
                                          <p:spTgt spid="48130"/>
                                        </p:tgtEl>
                                        <p:attrNameLst>
                                          <p:attrName>style.rotation</p:attrName>
                                        </p:attrNameLst>
                                      </p:cBhvr>
                                      <p:tavLst>
                                        <p:tav tm="0">
                                          <p:val>
                                            <p:fltVal val="720"/>
                                          </p:val>
                                        </p:tav>
                                        <p:tav tm="100000">
                                          <p:val>
                                            <p:fltVal val="0"/>
                                          </p:val>
                                        </p:tav>
                                      </p:tavLst>
                                    </p:anim>
                                    <p:anim calcmode="lin" valueType="num">
                                      <p:cBhvr>
                                        <p:cTn id="9" dur="2000" fill="hold"/>
                                        <p:tgtEl>
                                          <p:spTgt spid="48130"/>
                                        </p:tgtEl>
                                        <p:attrNameLst>
                                          <p:attrName>ppt_h</p:attrName>
                                        </p:attrNameLst>
                                      </p:cBhvr>
                                      <p:tavLst>
                                        <p:tav tm="0">
                                          <p:val>
                                            <p:fltVal val="0"/>
                                          </p:val>
                                        </p:tav>
                                        <p:tav tm="100000">
                                          <p:val>
                                            <p:strVal val="#ppt_h"/>
                                          </p:val>
                                        </p:tav>
                                      </p:tavLst>
                                    </p:anim>
                                    <p:anim calcmode="lin" valueType="num">
                                      <p:cBhvr>
                                        <p:cTn id="10" dur="2000" fill="hold"/>
                                        <p:tgtEl>
                                          <p:spTgt spid="48130"/>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27" presetClass="entr" presetSubtype="0" fill="hold" nodeType="clickEffect">
                                  <p:stCondLst>
                                    <p:cond delay="0"/>
                                  </p:stCondLst>
                                  <p:iterate type="lt">
                                    <p:tmPct val="50000"/>
                                  </p:iterate>
                                  <p:childTnLst>
                                    <p:set>
                                      <p:cBhvr>
                                        <p:cTn id="14" dur="1" fill="hold">
                                          <p:stCondLst>
                                            <p:cond delay="0"/>
                                          </p:stCondLst>
                                        </p:cTn>
                                        <p:tgtEl>
                                          <p:spTgt spid="3">
                                            <p:txEl>
                                              <p:pRg st="0" end="0"/>
                                            </p:txEl>
                                          </p:spTgt>
                                        </p:tgtEl>
                                        <p:attrNameLst>
                                          <p:attrName>style.visibility</p:attrName>
                                        </p:attrNameLst>
                                      </p:cBhvr>
                                      <p:to>
                                        <p:strVal val="visible"/>
                                      </p:to>
                                    </p:set>
                                    <p:anim calcmode="discrete" valueType="clr">
                                      <p:cBhvr override="childStyle">
                                        <p:cTn id="15" dur="500"/>
                                        <p:tgtEl>
                                          <p:spTgt spid="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6" dur="500"/>
                                        <p:tgtEl>
                                          <p:spTgt spid="3">
                                            <p:txEl>
                                              <p:pRg st="0" end="0"/>
                                            </p:txEl>
                                          </p:spTgt>
                                        </p:tgtEl>
                                        <p:attrNameLst>
                                          <p:attrName>fillcolor</p:attrName>
                                        </p:attrNameLst>
                                      </p:cBhvr>
                                      <p:tavLst>
                                        <p:tav tm="0">
                                          <p:val>
                                            <p:clrVal>
                                              <a:schemeClr val="accent2"/>
                                            </p:clrVal>
                                          </p:val>
                                        </p:tav>
                                        <p:tav tm="50000">
                                          <p:val>
                                            <p:clrVal>
                                              <a:schemeClr val="hlink"/>
                                            </p:clrVal>
                                          </p:val>
                                        </p:tav>
                                      </p:tavLst>
                                    </p:anim>
                                    <p:set>
                                      <p:cBhvr>
                                        <p:cTn id="17" dur="500"/>
                                        <p:tgtEl>
                                          <p:spTgt spid="3">
                                            <p:txEl>
                                              <p:pRg st="0" end="0"/>
                                            </p:txEl>
                                          </p:spTgt>
                                        </p:tgtEl>
                                        <p:attrNameLst>
                                          <p:attrName>fill.type</p:attrName>
                                        </p:attrNameLst>
                                      </p:cBhvr>
                                      <p:to>
                                        <p:strVal val="solid"/>
                                      </p:to>
                                    </p:set>
                                  </p:childTnLst>
                                </p:cTn>
                              </p:par>
                            </p:childTnLst>
                          </p:cTn>
                        </p:par>
                      </p:childTnLst>
                    </p:cTn>
                  </p:par>
                  <p:par>
                    <p:cTn id="18" fill="hold">
                      <p:stCondLst>
                        <p:cond delay="indefinite"/>
                      </p:stCondLst>
                      <p:childTnLst>
                        <p:par>
                          <p:cTn id="19" fill="hold">
                            <p:stCondLst>
                              <p:cond delay="0"/>
                            </p:stCondLst>
                            <p:childTnLst>
                              <p:par>
                                <p:cTn id="20" presetID="30" presetClass="entr" presetSubtype="0" fill="hold" nodeType="clickEffect">
                                  <p:stCondLst>
                                    <p:cond delay="0"/>
                                  </p:stCondLst>
                                  <p:iterate type="lt">
                                    <p:tmPct val="0"/>
                                  </p:iterate>
                                  <p:childTnLst>
                                    <p:set>
                                      <p:cBhvr>
                                        <p:cTn id="21" dur="1" fill="hold">
                                          <p:stCondLst>
                                            <p:cond delay="0"/>
                                          </p:stCondLst>
                                        </p:cTn>
                                        <p:tgtEl>
                                          <p:spTgt spid="4">
                                            <p:txEl>
                                              <p:pRg st="0" end="0"/>
                                            </p:txEl>
                                          </p:spTgt>
                                        </p:tgtEl>
                                        <p:attrNameLst>
                                          <p:attrName>style.visibility</p:attrName>
                                        </p:attrNameLst>
                                      </p:cBhvr>
                                      <p:to>
                                        <p:strVal val="visible"/>
                                      </p:to>
                                    </p:set>
                                    <p:animEffect transition="in" filter="fade">
                                      <p:cBhvr>
                                        <p:cTn id="22" dur="800" decel="100000"/>
                                        <p:tgtEl>
                                          <p:spTgt spid="4">
                                            <p:txEl>
                                              <p:pRg st="0" end="0"/>
                                            </p:txEl>
                                          </p:spTgt>
                                        </p:tgtEl>
                                      </p:cBhvr>
                                    </p:animEffect>
                                    <p:anim calcmode="lin" valueType="num">
                                      <p:cBhvr>
                                        <p:cTn id="23" dur="800" decel="100000" fill="hold"/>
                                        <p:tgtEl>
                                          <p:spTgt spid="4">
                                            <p:txEl>
                                              <p:pRg st="0" end="0"/>
                                            </p:txEl>
                                          </p:spTgt>
                                        </p:tgtEl>
                                        <p:attrNameLst>
                                          <p:attrName>style.rotation</p:attrName>
                                        </p:attrNameLst>
                                      </p:cBhvr>
                                      <p:tavLst>
                                        <p:tav tm="0">
                                          <p:val>
                                            <p:fltVal val="-90"/>
                                          </p:val>
                                        </p:tav>
                                        <p:tav tm="100000">
                                          <p:val>
                                            <p:fltVal val="0"/>
                                          </p:val>
                                        </p:tav>
                                      </p:tavLst>
                                    </p:anim>
                                    <p:anim calcmode="lin" valueType="num">
                                      <p:cBhvr>
                                        <p:cTn id="24" dur="800" decel="100000" fill="hold"/>
                                        <p:tgtEl>
                                          <p:spTgt spid="4">
                                            <p:txEl>
                                              <p:pRg st="0" end="0"/>
                                            </p:txEl>
                                          </p:spTgt>
                                        </p:tgtEl>
                                        <p:attrNameLst>
                                          <p:attrName>ppt_x</p:attrName>
                                        </p:attrNameLst>
                                      </p:cBhvr>
                                      <p:tavLst>
                                        <p:tav tm="0">
                                          <p:val>
                                            <p:strVal val="#ppt_x+0.4"/>
                                          </p:val>
                                        </p:tav>
                                        <p:tav tm="100000">
                                          <p:val>
                                            <p:strVal val="#ppt_x-0.05"/>
                                          </p:val>
                                        </p:tav>
                                      </p:tavLst>
                                    </p:anim>
                                    <p:anim calcmode="lin" valueType="num">
                                      <p:cBhvr>
                                        <p:cTn id="25" dur="800" decel="100000" fill="hold"/>
                                        <p:tgtEl>
                                          <p:spTgt spid="4">
                                            <p:txEl>
                                              <p:pRg st="0" end="0"/>
                                            </p:txEl>
                                          </p:spTgt>
                                        </p:tgtEl>
                                        <p:attrNameLst>
                                          <p:attrName>ppt_y</p:attrName>
                                        </p:attrNameLst>
                                      </p:cBhvr>
                                      <p:tavLst>
                                        <p:tav tm="0">
                                          <p:val>
                                            <p:strVal val="#ppt_y-0.4"/>
                                          </p:val>
                                        </p:tav>
                                        <p:tav tm="100000">
                                          <p:val>
                                            <p:strVal val="#ppt_y+0.1"/>
                                          </p:val>
                                        </p:tav>
                                      </p:tavLst>
                                    </p:anim>
                                    <p:anim calcmode="lin" valueType="num">
                                      <p:cBhvr>
                                        <p:cTn id="26" dur="200" accel="100000" fill="hold">
                                          <p:stCondLst>
                                            <p:cond delay="800"/>
                                          </p:stCondLst>
                                        </p:cTn>
                                        <p:tgtEl>
                                          <p:spTgt spid="4">
                                            <p:txEl>
                                              <p:pRg st="0" end="0"/>
                                            </p:txEl>
                                          </p:spTgt>
                                        </p:tgtEl>
                                        <p:attrNameLst>
                                          <p:attrName>ppt_x</p:attrName>
                                        </p:attrNameLst>
                                      </p:cBhvr>
                                      <p:tavLst>
                                        <p:tav tm="0">
                                          <p:val>
                                            <p:strVal val="#ppt_x-0.05"/>
                                          </p:val>
                                        </p:tav>
                                        <p:tav tm="100000">
                                          <p:val>
                                            <p:strVal val="#ppt_x"/>
                                          </p:val>
                                        </p:tav>
                                      </p:tavLst>
                                    </p:anim>
                                    <p:anim calcmode="lin" valueType="num">
                                      <p:cBhvr>
                                        <p:cTn id="27" dur="200" accel="100000" fill="hold">
                                          <p:stCondLst>
                                            <p:cond delay="800"/>
                                          </p:stCondLst>
                                        </p:cTn>
                                        <p:tgtEl>
                                          <p:spTgt spid="4">
                                            <p:txEl>
                                              <p:pRg st="0" end="0"/>
                                            </p:txEl>
                                          </p:spTgt>
                                        </p:tgtEl>
                                        <p:attrNameLst>
                                          <p:attrName>ppt_y</p:attrName>
                                        </p:attrNameLst>
                                      </p:cBhvr>
                                      <p:tavLst>
                                        <p:tav tm="0">
                                          <p:val>
                                            <p:strVal val="#ppt_y+0.1"/>
                                          </p:val>
                                        </p:tav>
                                        <p:tav tm="100000">
                                          <p:val>
                                            <p:strVal val="#ppt_y"/>
                                          </p:val>
                                        </p:tav>
                                      </p:tavLst>
                                    </p:anim>
                                  </p:childTnLst>
                                </p:cTn>
                              </p:par>
                            </p:childTnLst>
                          </p:cTn>
                        </p:par>
                        <p:par>
                          <p:cTn id="28" fill="hold">
                            <p:stCondLst>
                              <p:cond delay="1000"/>
                            </p:stCondLst>
                            <p:childTnLst>
                              <p:par>
                                <p:cTn id="29" presetID="8" presetClass="path" presetSubtype="0" accel="50000" decel="50000" fill="hold" nodeType="afterEffect">
                                  <p:stCondLst>
                                    <p:cond delay="0"/>
                                  </p:stCondLst>
                                  <p:iterate type="lt">
                                    <p:tmPct val="0"/>
                                  </p:iterate>
                                  <p:childTnLst>
                                    <p:animMotion origin="layout" path="M 0 0  L 0.167 0  L 0.21 0.22267  L -0.04 0.22267  L 0 0  Z" pathEditMode="relative" ptsTypes="">
                                      <p:cBhvr>
                                        <p:cTn id="30" dur="2000" fill="hold"/>
                                        <p:tgtEl>
                                          <p:spTgt spid="4">
                                            <p:txEl>
                                              <p:pRg st="0" end="0"/>
                                            </p:txEl>
                                          </p:spTgt>
                                        </p:tgtEl>
                                        <p:attrNameLst>
                                          <p:attrName>ppt_x</p:attrName>
                                          <p:attrName>ppt_y</p:attrName>
                                        </p:attrNameLst>
                                      </p:cBhvr>
                                    </p:animMotion>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animEffect transition="in" filter="fade">
                                      <p:cBhvr>
                                        <p:cTn id="35" dur="1000"/>
                                        <p:tgtEl>
                                          <p:spTgt spid="4">
                                            <p:txEl>
                                              <p:pRg st="2" end="2"/>
                                            </p:txEl>
                                          </p:spTgt>
                                        </p:tgtEl>
                                      </p:cBhvr>
                                    </p:animEffect>
                                    <p:anim calcmode="lin" valueType="num">
                                      <p:cBhvr>
                                        <p:cTn id="36"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nodeType="clickEffect">
                                  <p:stCondLst>
                                    <p:cond delay="0"/>
                                  </p:stCondLst>
                                  <p:childTnLst>
                                    <p:set>
                                      <p:cBhvr>
                                        <p:cTn id="41" dur="1" fill="hold">
                                          <p:stCondLst>
                                            <p:cond delay="0"/>
                                          </p:stCondLst>
                                        </p:cTn>
                                        <p:tgtEl>
                                          <p:spTgt spid="4">
                                            <p:txEl>
                                              <p:pRg st="3" end="3"/>
                                            </p:txEl>
                                          </p:spTgt>
                                        </p:tgtEl>
                                        <p:attrNameLst>
                                          <p:attrName>style.visibility</p:attrName>
                                        </p:attrNameLst>
                                      </p:cBhvr>
                                      <p:to>
                                        <p:strVal val="visible"/>
                                      </p:to>
                                    </p:set>
                                    <p:animEffect transition="in" filter="fade">
                                      <p:cBhvr>
                                        <p:cTn id="42" dur="1000"/>
                                        <p:tgtEl>
                                          <p:spTgt spid="4">
                                            <p:txEl>
                                              <p:pRg st="3" end="3"/>
                                            </p:txEl>
                                          </p:spTgt>
                                        </p:tgtEl>
                                      </p:cBhvr>
                                    </p:animEffect>
                                    <p:anim calcmode="lin" valueType="num">
                                      <p:cBhvr>
                                        <p:cTn id="4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nodeType="clickEffect">
                                  <p:stCondLst>
                                    <p:cond delay="0"/>
                                  </p:stCondLst>
                                  <p:childTnLst>
                                    <p:set>
                                      <p:cBhvr>
                                        <p:cTn id="48" dur="1" fill="hold">
                                          <p:stCondLst>
                                            <p:cond delay="0"/>
                                          </p:stCondLst>
                                        </p:cTn>
                                        <p:tgtEl>
                                          <p:spTgt spid="4">
                                            <p:txEl>
                                              <p:pRg st="4" end="4"/>
                                            </p:txEl>
                                          </p:spTgt>
                                        </p:tgtEl>
                                        <p:attrNameLst>
                                          <p:attrName>style.visibility</p:attrName>
                                        </p:attrNameLst>
                                      </p:cBhvr>
                                      <p:to>
                                        <p:strVal val="visible"/>
                                      </p:to>
                                    </p:set>
                                    <p:animEffect transition="in" filter="fade">
                                      <p:cBhvr>
                                        <p:cTn id="49" dur="1000"/>
                                        <p:tgtEl>
                                          <p:spTgt spid="4">
                                            <p:txEl>
                                              <p:pRg st="4" end="4"/>
                                            </p:txEl>
                                          </p:spTgt>
                                        </p:tgtEl>
                                      </p:cBhvr>
                                    </p:animEffect>
                                    <p:anim calcmode="lin" valueType="num">
                                      <p:cBhvr>
                                        <p:cTn id="5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7" presetClass="entr" presetSubtype="0" fill="hold" nodeType="clickEffect">
                                  <p:stCondLst>
                                    <p:cond delay="0"/>
                                  </p:stCondLst>
                                  <p:childTnLst>
                                    <p:set>
                                      <p:cBhvr>
                                        <p:cTn id="55" dur="1" fill="hold">
                                          <p:stCondLst>
                                            <p:cond delay="0"/>
                                          </p:stCondLst>
                                        </p:cTn>
                                        <p:tgtEl>
                                          <p:spTgt spid="4">
                                            <p:txEl>
                                              <p:pRg st="5" end="5"/>
                                            </p:txEl>
                                          </p:spTgt>
                                        </p:tgtEl>
                                        <p:attrNameLst>
                                          <p:attrName>style.visibility</p:attrName>
                                        </p:attrNameLst>
                                      </p:cBhvr>
                                      <p:to>
                                        <p:strVal val="visible"/>
                                      </p:to>
                                    </p:set>
                                    <p:animEffect transition="in" filter="fade">
                                      <p:cBhvr>
                                        <p:cTn id="56" dur="1000"/>
                                        <p:tgtEl>
                                          <p:spTgt spid="4">
                                            <p:txEl>
                                              <p:pRg st="5" end="5"/>
                                            </p:txEl>
                                          </p:spTgt>
                                        </p:tgtEl>
                                      </p:cBhvr>
                                    </p:animEffect>
                                    <p:anim calcmode="lin" valueType="num">
                                      <p:cBhvr>
                                        <p:cTn id="5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7" presetClass="entr" presetSubtype="0" fill="hold" nodeType="clickEffect">
                                  <p:stCondLst>
                                    <p:cond delay="0"/>
                                  </p:stCondLst>
                                  <p:childTnLst>
                                    <p:set>
                                      <p:cBhvr>
                                        <p:cTn id="62" dur="1" fill="hold">
                                          <p:stCondLst>
                                            <p:cond delay="0"/>
                                          </p:stCondLst>
                                        </p:cTn>
                                        <p:tgtEl>
                                          <p:spTgt spid="4">
                                            <p:txEl>
                                              <p:pRg st="6" end="6"/>
                                            </p:txEl>
                                          </p:spTgt>
                                        </p:tgtEl>
                                        <p:attrNameLst>
                                          <p:attrName>style.visibility</p:attrName>
                                        </p:attrNameLst>
                                      </p:cBhvr>
                                      <p:to>
                                        <p:strVal val="visible"/>
                                      </p:to>
                                    </p:set>
                                    <p:animEffect transition="in" filter="fade">
                                      <p:cBhvr>
                                        <p:cTn id="63" dur="1000"/>
                                        <p:tgtEl>
                                          <p:spTgt spid="4">
                                            <p:txEl>
                                              <p:pRg st="6" end="6"/>
                                            </p:txEl>
                                          </p:spTgt>
                                        </p:tgtEl>
                                      </p:cBhvr>
                                    </p:animEffect>
                                    <p:anim calcmode="lin" valueType="num">
                                      <p:cBhvr>
                                        <p:cTn id="64"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7" presetClass="entr" presetSubtype="0" fill="hold" nodeType="clickEffect">
                                  <p:stCondLst>
                                    <p:cond delay="0"/>
                                  </p:stCondLst>
                                  <p:childTnLst>
                                    <p:set>
                                      <p:cBhvr>
                                        <p:cTn id="69" dur="1" fill="hold">
                                          <p:stCondLst>
                                            <p:cond delay="0"/>
                                          </p:stCondLst>
                                        </p:cTn>
                                        <p:tgtEl>
                                          <p:spTgt spid="4">
                                            <p:txEl>
                                              <p:pRg st="7" end="7"/>
                                            </p:txEl>
                                          </p:spTgt>
                                        </p:tgtEl>
                                        <p:attrNameLst>
                                          <p:attrName>style.visibility</p:attrName>
                                        </p:attrNameLst>
                                      </p:cBhvr>
                                      <p:to>
                                        <p:strVal val="visible"/>
                                      </p:to>
                                    </p:set>
                                    <p:animEffect transition="in" filter="fade">
                                      <p:cBhvr>
                                        <p:cTn id="70" dur="1000"/>
                                        <p:tgtEl>
                                          <p:spTgt spid="4">
                                            <p:txEl>
                                              <p:pRg st="7" end="7"/>
                                            </p:txEl>
                                          </p:spTgt>
                                        </p:tgtEl>
                                      </p:cBhvr>
                                    </p:animEffect>
                                    <p:anim calcmode="lin" valueType="num">
                                      <p:cBhvr>
                                        <p:cTn id="71"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72"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7" presetClass="entr" presetSubtype="0" fill="hold" nodeType="clickEffect">
                                  <p:stCondLst>
                                    <p:cond delay="0"/>
                                  </p:stCondLst>
                                  <p:childTnLst>
                                    <p:set>
                                      <p:cBhvr>
                                        <p:cTn id="76" dur="1" fill="hold">
                                          <p:stCondLst>
                                            <p:cond delay="0"/>
                                          </p:stCondLst>
                                        </p:cTn>
                                        <p:tgtEl>
                                          <p:spTgt spid="4">
                                            <p:txEl>
                                              <p:pRg st="8" end="8"/>
                                            </p:txEl>
                                          </p:spTgt>
                                        </p:tgtEl>
                                        <p:attrNameLst>
                                          <p:attrName>style.visibility</p:attrName>
                                        </p:attrNameLst>
                                      </p:cBhvr>
                                      <p:to>
                                        <p:strVal val="visible"/>
                                      </p:to>
                                    </p:set>
                                    <p:animEffect transition="in" filter="fade">
                                      <p:cBhvr>
                                        <p:cTn id="77" dur="1000"/>
                                        <p:tgtEl>
                                          <p:spTgt spid="4">
                                            <p:txEl>
                                              <p:pRg st="8" end="8"/>
                                            </p:txEl>
                                          </p:spTgt>
                                        </p:tgtEl>
                                      </p:cBhvr>
                                    </p:animEffect>
                                    <p:anim calcmode="lin" valueType="num">
                                      <p:cBhvr>
                                        <p:cTn id="78"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79"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7" presetClass="entr" presetSubtype="0" fill="hold" nodeType="clickEffect">
                                  <p:stCondLst>
                                    <p:cond delay="0"/>
                                  </p:stCondLst>
                                  <p:childTnLst>
                                    <p:set>
                                      <p:cBhvr>
                                        <p:cTn id="83" dur="1" fill="hold">
                                          <p:stCondLst>
                                            <p:cond delay="0"/>
                                          </p:stCondLst>
                                        </p:cTn>
                                        <p:tgtEl>
                                          <p:spTgt spid="4">
                                            <p:txEl>
                                              <p:pRg st="9" end="9"/>
                                            </p:txEl>
                                          </p:spTgt>
                                        </p:tgtEl>
                                        <p:attrNameLst>
                                          <p:attrName>style.visibility</p:attrName>
                                        </p:attrNameLst>
                                      </p:cBhvr>
                                      <p:to>
                                        <p:strVal val="visible"/>
                                      </p:to>
                                    </p:set>
                                    <p:animEffect transition="in" filter="fade">
                                      <p:cBhvr>
                                        <p:cTn id="84" dur="1000"/>
                                        <p:tgtEl>
                                          <p:spTgt spid="4">
                                            <p:txEl>
                                              <p:pRg st="9" end="9"/>
                                            </p:txEl>
                                          </p:spTgt>
                                        </p:tgtEl>
                                      </p:cBhvr>
                                    </p:animEffect>
                                    <p:anim calcmode="lin" valueType="num">
                                      <p:cBhvr>
                                        <p:cTn id="85"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86"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2411760" y="260648"/>
            <a:ext cx="4786346" cy="584775"/>
          </a:xfrm>
          <a:prstGeom prst="rect">
            <a:avLst/>
          </a:prstGeom>
        </p:spPr>
        <p:style>
          <a:lnRef idx="0">
            <a:schemeClr val="accent4"/>
          </a:lnRef>
          <a:fillRef idx="3">
            <a:schemeClr val="accent4"/>
          </a:fillRef>
          <a:effectRef idx="3">
            <a:schemeClr val="accent4"/>
          </a:effectRef>
          <a:fontRef idx="minor">
            <a:schemeClr val="lt1"/>
          </a:fontRef>
        </p:style>
        <p:txBody>
          <a:bodyPr wrap="square" rtlCol="1">
            <a:spAutoFit/>
          </a:bodyPr>
          <a:lstStyle/>
          <a:p>
            <a:pPr algn="ctr"/>
            <a:r>
              <a:rPr lang="ar-EG" sz="3200" b="1" dirty="0"/>
              <a:t>ثالثاً : الرسوم الخطية </a:t>
            </a:r>
            <a:r>
              <a:rPr lang="en-US" sz="3200" b="1" dirty="0"/>
              <a:t>Graphics</a:t>
            </a:r>
            <a:endParaRPr lang="en-US" sz="3200" dirty="0"/>
          </a:p>
        </p:txBody>
      </p:sp>
      <p:sp>
        <p:nvSpPr>
          <p:cNvPr id="3" name="مربع نص 2"/>
          <p:cNvSpPr txBox="1"/>
          <p:nvPr/>
        </p:nvSpPr>
        <p:spPr>
          <a:xfrm>
            <a:off x="142844" y="1268760"/>
            <a:ext cx="8786842" cy="1077218"/>
          </a:xfrm>
          <a:prstGeom prst="rect">
            <a:avLst/>
          </a:prstGeom>
          <a:noFill/>
        </p:spPr>
        <p:txBody>
          <a:bodyPr wrap="square" rtlCol="1">
            <a:spAutoFit/>
          </a:bodyPr>
          <a:lstStyle/>
          <a:p>
            <a:r>
              <a:rPr lang="ar-EG" sz="3200" b="1" dirty="0">
                <a:solidFill>
                  <a:schemeClr val="tx2"/>
                </a:solidFill>
              </a:rPr>
              <a:t>وهى تعبيرات تكوينية بالخطوط و الأشكال تظهر في صورة رسوم بيانية خطية أو دائرية .</a:t>
            </a:r>
            <a:endParaRPr lang="en-US" sz="3200" b="1" dirty="0">
              <a:solidFill>
                <a:schemeClr val="tx2"/>
              </a:solidFill>
            </a:endParaRPr>
          </a:p>
        </p:txBody>
      </p:sp>
      <p:sp>
        <p:nvSpPr>
          <p:cNvPr id="4" name="مربع نص 3"/>
          <p:cNvSpPr txBox="1"/>
          <p:nvPr/>
        </p:nvSpPr>
        <p:spPr>
          <a:xfrm>
            <a:off x="142844" y="2500306"/>
            <a:ext cx="8643999" cy="4031873"/>
          </a:xfrm>
          <a:prstGeom prst="rect">
            <a:avLst/>
          </a:prstGeom>
          <a:noFill/>
        </p:spPr>
        <p:txBody>
          <a:bodyPr wrap="square" rtlCol="1">
            <a:spAutoFit/>
          </a:bodyPr>
          <a:lstStyle/>
          <a:p>
            <a:r>
              <a:rPr lang="ar-EG" sz="3200" b="1" dirty="0"/>
              <a:t>وتستخدم الرسومات الخطية في برامج الوسائط المتعددة بهدف:</a:t>
            </a:r>
          </a:p>
          <a:p>
            <a:endParaRPr lang="en-US" sz="2800" dirty="0"/>
          </a:p>
          <a:p>
            <a:pPr lvl="0">
              <a:buFont typeface="Arial" pitchFamily="34" charset="0"/>
              <a:buChar char="•"/>
            </a:pPr>
            <a:r>
              <a:rPr lang="ar-EG" sz="2800" dirty="0"/>
              <a:t>تمكين المتعلم من سهولة التفاعل مع البرنامج والسير </a:t>
            </a:r>
            <a:r>
              <a:rPr lang="ar-EG" sz="2800" dirty="0" err="1"/>
              <a:t>فية</a:t>
            </a:r>
            <a:r>
              <a:rPr lang="ar-EG" sz="2800" dirty="0"/>
              <a:t> بغير ملل.</a:t>
            </a:r>
          </a:p>
          <a:p>
            <a:pPr lvl="0"/>
            <a:endParaRPr lang="en-US" sz="2800" dirty="0"/>
          </a:p>
          <a:p>
            <a:pPr lvl="0">
              <a:buFont typeface="Arial" pitchFamily="34" charset="0"/>
              <a:buChar char="•"/>
            </a:pPr>
            <a:r>
              <a:rPr lang="ar-EG" sz="2800" dirty="0"/>
              <a:t>توضيح البيانات الرقمية في صورة رسومات مختصرة.</a:t>
            </a:r>
          </a:p>
          <a:p>
            <a:pPr lvl="0"/>
            <a:endParaRPr lang="en-US" sz="2800" dirty="0"/>
          </a:p>
          <a:p>
            <a:pPr lvl="0">
              <a:buFont typeface="Arial" pitchFamily="34" charset="0"/>
              <a:buChar char="•"/>
            </a:pPr>
            <a:r>
              <a:rPr lang="ar-EG" sz="2800" dirty="0"/>
              <a:t>أبداع أدوات الإبحار في العرض.</a:t>
            </a:r>
          </a:p>
          <a:p>
            <a:pPr lvl="0"/>
            <a:endParaRPr lang="en-US" sz="2800" dirty="0"/>
          </a:p>
          <a:p>
            <a:pPr lvl="0">
              <a:buFont typeface="Arial" pitchFamily="34" charset="0"/>
              <a:buChar char="•"/>
            </a:pPr>
            <a:r>
              <a:rPr lang="ar-EG" sz="2800" dirty="0"/>
              <a:t>التوصيف للبناء التنظيمي للعرض ولوحة المسار.</a:t>
            </a:r>
          </a:p>
        </p:txBody>
      </p:sp>
    </p:spTree>
  </p:cSld>
  <p:clrMapOvr>
    <a:masterClrMapping/>
  </p:clrMapOvr>
  <p:transition spd="slow">
    <p:wheel spokes="3"/>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7"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fade">
                                      <p:cBhvr>
                                        <p:cTn id="25" dur="1000"/>
                                        <p:tgtEl>
                                          <p:spTgt spid="3">
                                            <p:txEl>
                                              <p:pRg st="0" end="0"/>
                                            </p:txEl>
                                          </p:spTgt>
                                        </p:tgtEl>
                                      </p:cBhvr>
                                    </p:animEffect>
                                    <p:anim calcmode="lin" valueType="num">
                                      <p:cBhvr>
                                        <p:cTn id="2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slide(fromBottom)">
                                      <p:cBhvr>
                                        <p:cTn id="32" dur="1000"/>
                                        <p:tgtEl>
                                          <p:spTgt spid="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animEffect transition="in" filter="fade">
                                      <p:cBhvr>
                                        <p:cTn id="37" dur="800" decel="100000"/>
                                        <p:tgtEl>
                                          <p:spTgt spid="4">
                                            <p:txEl>
                                              <p:pRg st="2" end="2"/>
                                            </p:txEl>
                                          </p:spTgt>
                                        </p:tgtEl>
                                      </p:cBhvr>
                                    </p:animEffect>
                                    <p:anim calcmode="lin" valueType="num">
                                      <p:cBhvr>
                                        <p:cTn id="38" dur="800" decel="100000" fill="hold"/>
                                        <p:tgtEl>
                                          <p:spTgt spid="4">
                                            <p:txEl>
                                              <p:pRg st="2" end="2"/>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4">
                                            <p:txEl>
                                              <p:pRg st="2" end="2"/>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4">
                                            <p:txEl>
                                              <p:pRg st="2" end="2"/>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4">
                                            <p:txEl>
                                              <p:pRg st="2" end="2"/>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4">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0" presetClass="entr" presetSubtype="0" fill="hold" nodeType="clickEffect">
                                  <p:stCondLst>
                                    <p:cond delay="0"/>
                                  </p:stCondLst>
                                  <p:childTnLst>
                                    <p:set>
                                      <p:cBhvr>
                                        <p:cTn id="46" dur="1" fill="hold">
                                          <p:stCondLst>
                                            <p:cond delay="0"/>
                                          </p:stCondLst>
                                        </p:cTn>
                                        <p:tgtEl>
                                          <p:spTgt spid="4">
                                            <p:txEl>
                                              <p:pRg st="4" end="4"/>
                                            </p:txEl>
                                          </p:spTgt>
                                        </p:tgtEl>
                                        <p:attrNameLst>
                                          <p:attrName>style.visibility</p:attrName>
                                        </p:attrNameLst>
                                      </p:cBhvr>
                                      <p:to>
                                        <p:strVal val="visible"/>
                                      </p:to>
                                    </p:set>
                                    <p:animEffect transition="in" filter="fade">
                                      <p:cBhvr>
                                        <p:cTn id="47" dur="800" decel="100000"/>
                                        <p:tgtEl>
                                          <p:spTgt spid="4">
                                            <p:txEl>
                                              <p:pRg st="4" end="4"/>
                                            </p:txEl>
                                          </p:spTgt>
                                        </p:tgtEl>
                                      </p:cBhvr>
                                    </p:animEffect>
                                    <p:anim calcmode="lin" valueType="num">
                                      <p:cBhvr>
                                        <p:cTn id="48" dur="800" decel="100000" fill="hold"/>
                                        <p:tgtEl>
                                          <p:spTgt spid="4">
                                            <p:txEl>
                                              <p:pRg st="4" end="4"/>
                                            </p:txEl>
                                          </p:spTgt>
                                        </p:tgtEl>
                                        <p:attrNameLst>
                                          <p:attrName>style.rotation</p:attrName>
                                        </p:attrNameLst>
                                      </p:cBhvr>
                                      <p:tavLst>
                                        <p:tav tm="0">
                                          <p:val>
                                            <p:fltVal val="-90"/>
                                          </p:val>
                                        </p:tav>
                                        <p:tav tm="100000">
                                          <p:val>
                                            <p:fltVal val="0"/>
                                          </p:val>
                                        </p:tav>
                                      </p:tavLst>
                                    </p:anim>
                                    <p:anim calcmode="lin" valueType="num">
                                      <p:cBhvr>
                                        <p:cTn id="49" dur="800" decel="100000" fill="hold"/>
                                        <p:tgtEl>
                                          <p:spTgt spid="4">
                                            <p:txEl>
                                              <p:pRg st="4" end="4"/>
                                            </p:txEl>
                                          </p:spTgt>
                                        </p:tgtEl>
                                        <p:attrNameLst>
                                          <p:attrName>ppt_x</p:attrName>
                                        </p:attrNameLst>
                                      </p:cBhvr>
                                      <p:tavLst>
                                        <p:tav tm="0">
                                          <p:val>
                                            <p:strVal val="#ppt_x+0.4"/>
                                          </p:val>
                                        </p:tav>
                                        <p:tav tm="100000">
                                          <p:val>
                                            <p:strVal val="#ppt_x-0.05"/>
                                          </p:val>
                                        </p:tav>
                                      </p:tavLst>
                                    </p:anim>
                                    <p:anim calcmode="lin" valueType="num">
                                      <p:cBhvr>
                                        <p:cTn id="50" dur="800" decel="100000" fill="hold"/>
                                        <p:tgtEl>
                                          <p:spTgt spid="4">
                                            <p:txEl>
                                              <p:pRg st="4" end="4"/>
                                            </p:txEl>
                                          </p:spTgt>
                                        </p:tgtEl>
                                        <p:attrNameLst>
                                          <p:attrName>ppt_y</p:attrName>
                                        </p:attrNameLst>
                                      </p:cBhvr>
                                      <p:tavLst>
                                        <p:tav tm="0">
                                          <p:val>
                                            <p:strVal val="#ppt_y-0.4"/>
                                          </p:val>
                                        </p:tav>
                                        <p:tav tm="100000">
                                          <p:val>
                                            <p:strVal val="#ppt_y+0.1"/>
                                          </p:val>
                                        </p:tav>
                                      </p:tavLst>
                                    </p:anim>
                                    <p:anim calcmode="lin" valueType="num">
                                      <p:cBhvr>
                                        <p:cTn id="51" dur="200" accel="100000" fill="hold">
                                          <p:stCondLst>
                                            <p:cond delay="800"/>
                                          </p:stCondLst>
                                        </p:cTn>
                                        <p:tgtEl>
                                          <p:spTgt spid="4">
                                            <p:txEl>
                                              <p:pRg st="4" end="4"/>
                                            </p:txEl>
                                          </p:spTgt>
                                        </p:tgtEl>
                                        <p:attrNameLst>
                                          <p:attrName>ppt_x</p:attrName>
                                        </p:attrNameLst>
                                      </p:cBhvr>
                                      <p:tavLst>
                                        <p:tav tm="0">
                                          <p:val>
                                            <p:strVal val="#ppt_x-0.05"/>
                                          </p:val>
                                        </p:tav>
                                        <p:tav tm="100000">
                                          <p:val>
                                            <p:strVal val="#ppt_x"/>
                                          </p:val>
                                        </p:tav>
                                      </p:tavLst>
                                    </p:anim>
                                    <p:anim calcmode="lin" valueType="num">
                                      <p:cBhvr>
                                        <p:cTn id="52" dur="200" accel="100000" fill="hold">
                                          <p:stCondLst>
                                            <p:cond delay="800"/>
                                          </p:stCondLst>
                                        </p:cTn>
                                        <p:tgtEl>
                                          <p:spTgt spid="4">
                                            <p:txEl>
                                              <p:pRg st="4" end="4"/>
                                            </p:txEl>
                                          </p:spTgt>
                                        </p:tgtEl>
                                        <p:attrNameLst>
                                          <p:attrName>ppt_y</p:attrName>
                                        </p:attrNameLst>
                                      </p:cBhvr>
                                      <p:tavLst>
                                        <p:tav tm="0">
                                          <p:val>
                                            <p:strVal val="#ppt_y+0.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30" presetClass="entr" presetSubtype="0" fill="hold" nodeType="clickEffect">
                                  <p:stCondLst>
                                    <p:cond delay="0"/>
                                  </p:stCondLst>
                                  <p:childTnLst>
                                    <p:set>
                                      <p:cBhvr>
                                        <p:cTn id="56" dur="1" fill="hold">
                                          <p:stCondLst>
                                            <p:cond delay="0"/>
                                          </p:stCondLst>
                                        </p:cTn>
                                        <p:tgtEl>
                                          <p:spTgt spid="4">
                                            <p:txEl>
                                              <p:pRg st="6" end="6"/>
                                            </p:txEl>
                                          </p:spTgt>
                                        </p:tgtEl>
                                        <p:attrNameLst>
                                          <p:attrName>style.visibility</p:attrName>
                                        </p:attrNameLst>
                                      </p:cBhvr>
                                      <p:to>
                                        <p:strVal val="visible"/>
                                      </p:to>
                                    </p:set>
                                    <p:animEffect transition="in" filter="fade">
                                      <p:cBhvr>
                                        <p:cTn id="57" dur="800" decel="100000"/>
                                        <p:tgtEl>
                                          <p:spTgt spid="4">
                                            <p:txEl>
                                              <p:pRg st="6" end="6"/>
                                            </p:txEl>
                                          </p:spTgt>
                                        </p:tgtEl>
                                      </p:cBhvr>
                                    </p:animEffect>
                                    <p:anim calcmode="lin" valueType="num">
                                      <p:cBhvr>
                                        <p:cTn id="58" dur="800" decel="100000" fill="hold"/>
                                        <p:tgtEl>
                                          <p:spTgt spid="4">
                                            <p:txEl>
                                              <p:pRg st="6" end="6"/>
                                            </p:txEl>
                                          </p:spTgt>
                                        </p:tgtEl>
                                        <p:attrNameLst>
                                          <p:attrName>style.rotation</p:attrName>
                                        </p:attrNameLst>
                                      </p:cBhvr>
                                      <p:tavLst>
                                        <p:tav tm="0">
                                          <p:val>
                                            <p:fltVal val="-90"/>
                                          </p:val>
                                        </p:tav>
                                        <p:tav tm="100000">
                                          <p:val>
                                            <p:fltVal val="0"/>
                                          </p:val>
                                        </p:tav>
                                      </p:tavLst>
                                    </p:anim>
                                    <p:anim calcmode="lin" valueType="num">
                                      <p:cBhvr>
                                        <p:cTn id="59" dur="800" decel="100000" fill="hold"/>
                                        <p:tgtEl>
                                          <p:spTgt spid="4">
                                            <p:txEl>
                                              <p:pRg st="6" end="6"/>
                                            </p:txEl>
                                          </p:spTgt>
                                        </p:tgtEl>
                                        <p:attrNameLst>
                                          <p:attrName>ppt_x</p:attrName>
                                        </p:attrNameLst>
                                      </p:cBhvr>
                                      <p:tavLst>
                                        <p:tav tm="0">
                                          <p:val>
                                            <p:strVal val="#ppt_x+0.4"/>
                                          </p:val>
                                        </p:tav>
                                        <p:tav tm="100000">
                                          <p:val>
                                            <p:strVal val="#ppt_x-0.05"/>
                                          </p:val>
                                        </p:tav>
                                      </p:tavLst>
                                    </p:anim>
                                    <p:anim calcmode="lin" valueType="num">
                                      <p:cBhvr>
                                        <p:cTn id="60" dur="800" decel="100000" fill="hold"/>
                                        <p:tgtEl>
                                          <p:spTgt spid="4">
                                            <p:txEl>
                                              <p:pRg st="6" end="6"/>
                                            </p:txEl>
                                          </p:spTgt>
                                        </p:tgtEl>
                                        <p:attrNameLst>
                                          <p:attrName>ppt_y</p:attrName>
                                        </p:attrNameLst>
                                      </p:cBhvr>
                                      <p:tavLst>
                                        <p:tav tm="0">
                                          <p:val>
                                            <p:strVal val="#ppt_y-0.4"/>
                                          </p:val>
                                        </p:tav>
                                        <p:tav tm="100000">
                                          <p:val>
                                            <p:strVal val="#ppt_y+0.1"/>
                                          </p:val>
                                        </p:tav>
                                      </p:tavLst>
                                    </p:anim>
                                    <p:anim calcmode="lin" valueType="num">
                                      <p:cBhvr>
                                        <p:cTn id="61" dur="200" accel="100000" fill="hold">
                                          <p:stCondLst>
                                            <p:cond delay="800"/>
                                          </p:stCondLst>
                                        </p:cTn>
                                        <p:tgtEl>
                                          <p:spTgt spid="4">
                                            <p:txEl>
                                              <p:pRg st="6" end="6"/>
                                            </p:txEl>
                                          </p:spTgt>
                                        </p:tgtEl>
                                        <p:attrNameLst>
                                          <p:attrName>ppt_x</p:attrName>
                                        </p:attrNameLst>
                                      </p:cBhvr>
                                      <p:tavLst>
                                        <p:tav tm="0">
                                          <p:val>
                                            <p:strVal val="#ppt_x-0.05"/>
                                          </p:val>
                                        </p:tav>
                                        <p:tav tm="100000">
                                          <p:val>
                                            <p:strVal val="#ppt_x"/>
                                          </p:val>
                                        </p:tav>
                                      </p:tavLst>
                                    </p:anim>
                                    <p:anim calcmode="lin" valueType="num">
                                      <p:cBhvr>
                                        <p:cTn id="62" dur="200" accel="100000" fill="hold">
                                          <p:stCondLst>
                                            <p:cond delay="800"/>
                                          </p:stCondLst>
                                        </p:cTn>
                                        <p:tgtEl>
                                          <p:spTgt spid="4">
                                            <p:txEl>
                                              <p:pRg st="6" end="6"/>
                                            </p:txEl>
                                          </p:spTgt>
                                        </p:tgtEl>
                                        <p:attrNameLst>
                                          <p:attrName>ppt_y</p:attrName>
                                        </p:attrNameLst>
                                      </p:cBhvr>
                                      <p:tavLst>
                                        <p:tav tm="0">
                                          <p:val>
                                            <p:strVal val="#ppt_y+0.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30" presetClass="entr" presetSubtype="0" fill="hold" nodeType="clickEffect">
                                  <p:stCondLst>
                                    <p:cond delay="0"/>
                                  </p:stCondLst>
                                  <p:childTnLst>
                                    <p:set>
                                      <p:cBhvr>
                                        <p:cTn id="66" dur="1" fill="hold">
                                          <p:stCondLst>
                                            <p:cond delay="0"/>
                                          </p:stCondLst>
                                        </p:cTn>
                                        <p:tgtEl>
                                          <p:spTgt spid="4">
                                            <p:txEl>
                                              <p:pRg st="8" end="8"/>
                                            </p:txEl>
                                          </p:spTgt>
                                        </p:tgtEl>
                                        <p:attrNameLst>
                                          <p:attrName>style.visibility</p:attrName>
                                        </p:attrNameLst>
                                      </p:cBhvr>
                                      <p:to>
                                        <p:strVal val="visible"/>
                                      </p:to>
                                    </p:set>
                                    <p:animEffect transition="in" filter="fade">
                                      <p:cBhvr>
                                        <p:cTn id="67" dur="800" decel="100000"/>
                                        <p:tgtEl>
                                          <p:spTgt spid="4">
                                            <p:txEl>
                                              <p:pRg st="8" end="8"/>
                                            </p:txEl>
                                          </p:spTgt>
                                        </p:tgtEl>
                                      </p:cBhvr>
                                    </p:animEffect>
                                    <p:anim calcmode="lin" valueType="num">
                                      <p:cBhvr>
                                        <p:cTn id="68" dur="800" decel="100000" fill="hold"/>
                                        <p:tgtEl>
                                          <p:spTgt spid="4">
                                            <p:txEl>
                                              <p:pRg st="8" end="8"/>
                                            </p:txEl>
                                          </p:spTgt>
                                        </p:tgtEl>
                                        <p:attrNameLst>
                                          <p:attrName>style.rotation</p:attrName>
                                        </p:attrNameLst>
                                      </p:cBhvr>
                                      <p:tavLst>
                                        <p:tav tm="0">
                                          <p:val>
                                            <p:fltVal val="-90"/>
                                          </p:val>
                                        </p:tav>
                                        <p:tav tm="100000">
                                          <p:val>
                                            <p:fltVal val="0"/>
                                          </p:val>
                                        </p:tav>
                                      </p:tavLst>
                                    </p:anim>
                                    <p:anim calcmode="lin" valueType="num">
                                      <p:cBhvr>
                                        <p:cTn id="69" dur="800" decel="100000" fill="hold"/>
                                        <p:tgtEl>
                                          <p:spTgt spid="4">
                                            <p:txEl>
                                              <p:pRg st="8" end="8"/>
                                            </p:txEl>
                                          </p:spTgt>
                                        </p:tgtEl>
                                        <p:attrNameLst>
                                          <p:attrName>ppt_x</p:attrName>
                                        </p:attrNameLst>
                                      </p:cBhvr>
                                      <p:tavLst>
                                        <p:tav tm="0">
                                          <p:val>
                                            <p:strVal val="#ppt_x+0.4"/>
                                          </p:val>
                                        </p:tav>
                                        <p:tav tm="100000">
                                          <p:val>
                                            <p:strVal val="#ppt_x-0.05"/>
                                          </p:val>
                                        </p:tav>
                                      </p:tavLst>
                                    </p:anim>
                                    <p:anim calcmode="lin" valueType="num">
                                      <p:cBhvr>
                                        <p:cTn id="70" dur="800" decel="100000" fill="hold"/>
                                        <p:tgtEl>
                                          <p:spTgt spid="4">
                                            <p:txEl>
                                              <p:pRg st="8" end="8"/>
                                            </p:txEl>
                                          </p:spTgt>
                                        </p:tgtEl>
                                        <p:attrNameLst>
                                          <p:attrName>ppt_y</p:attrName>
                                        </p:attrNameLst>
                                      </p:cBhvr>
                                      <p:tavLst>
                                        <p:tav tm="0">
                                          <p:val>
                                            <p:strVal val="#ppt_y-0.4"/>
                                          </p:val>
                                        </p:tav>
                                        <p:tav tm="100000">
                                          <p:val>
                                            <p:strVal val="#ppt_y+0.1"/>
                                          </p:val>
                                        </p:tav>
                                      </p:tavLst>
                                    </p:anim>
                                    <p:anim calcmode="lin" valueType="num">
                                      <p:cBhvr>
                                        <p:cTn id="71" dur="200" accel="100000" fill="hold">
                                          <p:stCondLst>
                                            <p:cond delay="800"/>
                                          </p:stCondLst>
                                        </p:cTn>
                                        <p:tgtEl>
                                          <p:spTgt spid="4">
                                            <p:txEl>
                                              <p:pRg st="8" end="8"/>
                                            </p:txEl>
                                          </p:spTgt>
                                        </p:tgtEl>
                                        <p:attrNameLst>
                                          <p:attrName>ppt_x</p:attrName>
                                        </p:attrNameLst>
                                      </p:cBhvr>
                                      <p:tavLst>
                                        <p:tav tm="0">
                                          <p:val>
                                            <p:strVal val="#ppt_x-0.05"/>
                                          </p:val>
                                        </p:tav>
                                        <p:tav tm="100000">
                                          <p:val>
                                            <p:strVal val="#ppt_x"/>
                                          </p:val>
                                        </p:tav>
                                      </p:tavLst>
                                    </p:anim>
                                    <p:anim calcmode="lin" valueType="num">
                                      <p:cBhvr>
                                        <p:cTn id="72" dur="200" accel="100000" fill="hold">
                                          <p:stCondLst>
                                            <p:cond delay="800"/>
                                          </p:stCondLst>
                                        </p:cTn>
                                        <p:tgtEl>
                                          <p:spTgt spid="4">
                                            <p:txEl>
                                              <p:pRg st="8" end="8"/>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p:cNvSpPr txBox="1"/>
          <p:nvPr/>
        </p:nvSpPr>
        <p:spPr>
          <a:xfrm>
            <a:off x="214282" y="404664"/>
            <a:ext cx="8643999" cy="2800767"/>
          </a:xfrm>
          <a:prstGeom prst="rect">
            <a:avLst/>
          </a:prstGeom>
          <a:noFill/>
        </p:spPr>
        <p:txBody>
          <a:bodyPr wrap="square" rtlCol="1">
            <a:spAutoFit/>
          </a:bodyPr>
          <a:lstStyle/>
          <a:p>
            <a:r>
              <a:rPr lang="ar-EG" sz="3200" b="1" dirty="0">
                <a:solidFill>
                  <a:schemeClr val="tx2"/>
                </a:solidFill>
              </a:rPr>
              <a:t>وهناك بعض الأسس التي يجب أن تأخذ في الاعتبار عند اختيار الرسوم منها:</a:t>
            </a:r>
            <a:endParaRPr lang="en-US" sz="2800" dirty="0">
              <a:solidFill>
                <a:schemeClr val="tx2"/>
              </a:solidFill>
            </a:endParaRPr>
          </a:p>
          <a:p>
            <a:pPr lvl="0">
              <a:buFont typeface="Arial" pitchFamily="34" charset="0"/>
              <a:buChar char="•"/>
            </a:pPr>
            <a:r>
              <a:rPr lang="ar-EG" sz="2800" dirty="0">
                <a:solidFill>
                  <a:srgbClr val="FFFF99"/>
                </a:solidFill>
              </a:rPr>
              <a:t>الغرض : يجب أن تعبر الصورة بوضوح عن الغرض المستخدمة من </a:t>
            </a:r>
            <a:r>
              <a:rPr lang="ar-EG" sz="2800" dirty="0" smtClean="0">
                <a:solidFill>
                  <a:srgbClr val="FFFF99"/>
                </a:solidFill>
              </a:rPr>
              <a:t>أجل</a:t>
            </a:r>
            <a:r>
              <a:rPr lang="ar-SA" sz="2800" dirty="0" smtClean="0">
                <a:solidFill>
                  <a:srgbClr val="FFFF99"/>
                </a:solidFill>
              </a:rPr>
              <a:t>ه</a:t>
            </a:r>
            <a:r>
              <a:rPr lang="ar-EG" sz="2800" dirty="0" smtClean="0">
                <a:solidFill>
                  <a:srgbClr val="FFFF99"/>
                </a:solidFill>
              </a:rPr>
              <a:t>.</a:t>
            </a:r>
            <a:endParaRPr lang="en-US" sz="3200" dirty="0"/>
          </a:p>
          <a:p>
            <a:pPr lvl="0">
              <a:buFont typeface="Arial" pitchFamily="34" charset="0"/>
              <a:buChar char="•"/>
            </a:pPr>
            <a:r>
              <a:rPr lang="ar-EG" sz="2800" dirty="0"/>
              <a:t>الجودة : يجب أن تكون الصورة على درجة عالية من الجودة.</a:t>
            </a:r>
            <a:endParaRPr lang="en-US" sz="2800" dirty="0"/>
          </a:p>
          <a:p>
            <a:pPr lvl="0">
              <a:buFont typeface="Arial" pitchFamily="34" charset="0"/>
              <a:buChar char="•"/>
            </a:pPr>
            <a:r>
              <a:rPr lang="ar-EG" sz="2800" dirty="0">
                <a:solidFill>
                  <a:srgbClr val="FFFF99"/>
                </a:solidFill>
              </a:rPr>
              <a:t>التكلفة : ترتبط التكلفة بمدى الجودة والغرض من الاستخدام.</a:t>
            </a:r>
          </a:p>
        </p:txBody>
      </p:sp>
      <p:sp>
        <p:nvSpPr>
          <p:cNvPr id="4" name="مربع نص 3"/>
          <p:cNvSpPr txBox="1"/>
          <p:nvPr/>
        </p:nvSpPr>
        <p:spPr>
          <a:xfrm>
            <a:off x="142844" y="3140968"/>
            <a:ext cx="8821644" cy="3785652"/>
          </a:xfrm>
          <a:prstGeom prst="rect">
            <a:avLst/>
          </a:prstGeom>
          <a:noFill/>
        </p:spPr>
        <p:txBody>
          <a:bodyPr wrap="square" rtlCol="1">
            <a:spAutoFit/>
          </a:bodyPr>
          <a:lstStyle/>
          <a:p>
            <a:r>
              <a:rPr lang="ar-EG" sz="2400" b="1" dirty="0">
                <a:solidFill>
                  <a:schemeClr val="tx2"/>
                </a:solidFill>
              </a:rPr>
              <a:t>وهناك قواعد عامه لازمة لتوظيف الرسوم الثابتة في برامج الوسائط المتعددة تشمل :-</a:t>
            </a:r>
            <a:endParaRPr lang="en-US" sz="2400" dirty="0">
              <a:solidFill>
                <a:schemeClr val="tx2"/>
              </a:solidFill>
            </a:endParaRPr>
          </a:p>
          <a:p>
            <a:pPr lvl="0">
              <a:buFont typeface="Arial" pitchFamily="34" charset="0"/>
              <a:buChar char="•"/>
            </a:pPr>
            <a:r>
              <a:rPr lang="ar-EG" sz="2000" dirty="0"/>
              <a:t>ا</a:t>
            </a:r>
            <a:r>
              <a:rPr lang="ar-EG" sz="2400" dirty="0"/>
              <a:t>ستخدام الصور الأقل تفاصيل ، فالصور ذات التفاصيل الكثيرة تعمل على تشتيت المتعلم.</a:t>
            </a:r>
            <a:endParaRPr lang="en-US" sz="2400" dirty="0"/>
          </a:p>
          <a:p>
            <a:pPr lvl="0">
              <a:buFont typeface="Arial" pitchFamily="34" charset="0"/>
              <a:buChar char="•"/>
            </a:pPr>
            <a:r>
              <a:rPr lang="ar-EG" sz="2400" dirty="0">
                <a:solidFill>
                  <a:srgbClr val="FFFF66"/>
                </a:solidFill>
              </a:rPr>
              <a:t>تستخدم كبديل لتعزيز استخدام الرسوم المتحركة ولقطات الفيديو.</a:t>
            </a:r>
            <a:endParaRPr lang="en-US" sz="2400" dirty="0">
              <a:solidFill>
                <a:srgbClr val="FFFF66"/>
              </a:solidFill>
            </a:endParaRPr>
          </a:p>
          <a:p>
            <a:pPr lvl="0">
              <a:buFont typeface="Arial" pitchFamily="34" charset="0"/>
              <a:buChar char="•"/>
            </a:pPr>
            <a:r>
              <a:rPr lang="ar-EG" sz="2400" dirty="0"/>
              <a:t>عند احتواء البرنامج على خريطة فيجب </a:t>
            </a:r>
            <a:r>
              <a:rPr lang="ar-EG" sz="2400" dirty="0" err="1"/>
              <a:t>ان</a:t>
            </a:r>
            <a:r>
              <a:rPr lang="ar-EG" sz="2400" dirty="0"/>
              <a:t> يكون بجوارها مفتاح الرسم ومقياس الرسم.</a:t>
            </a:r>
            <a:endParaRPr lang="en-US" sz="2400" dirty="0"/>
          </a:p>
          <a:p>
            <a:pPr lvl="0">
              <a:buFont typeface="Arial" pitchFamily="34" charset="0"/>
              <a:buChar char="•"/>
            </a:pPr>
            <a:r>
              <a:rPr lang="ar-EG" sz="2400" dirty="0">
                <a:solidFill>
                  <a:srgbClr val="FFFF66"/>
                </a:solidFill>
              </a:rPr>
              <a:t>يفضل عرض الرسم المكون من عدة </a:t>
            </a:r>
            <a:r>
              <a:rPr lang="ar-EG" sz="2400" dirty="0" err="1">
                <a:solidFill>
                  <a:srgbClr val="FFFF66"/>
                </a:solidFill>
              </a:rPr>
              <a:t>اجزاء</a:t>
            </a:r>
            <a:r>
              <a:rPr lang="ar-EG" sz="2400" dirty="0">
                <a:solidFill>
                  <a:srgbClr val="FFFF66"/>
                </a:solidFill>
              </a:rPr>
              <a:t> على عدة مراحل.</a:t>
            </a:r>
            <a:endParaRPr lang="en-US" sz="2400" dirty="0">
              <a:solidFill>
                <a:srgbClr val="FFFF66"/>
              </a:solidFill>
            </a:endParaRPr>
          </a:p>
          <a:p>
            <a:pPr lvl="0">
              <a:buFont typeface="Arial" pitchFamily="34" charset="0"/>
              <a:buChar char="•"/>
            </a:pPr>
            <a:r>
              <a:rPr lang="ar-EG" sz="2400" dirty="0"/>
              <a:t>يمكن استخدام الرسوم الكاريكاتورية </a:t>
            </a:r>
            <a:r>
              <a:rPr lang="ar-EG" sz="2400" dirty="0" err="1"/>
              <a:t>فى</a:t>
            </a:r>
            <a:r>
              <a:rPr lang="ar-EG" sz="2400" dirty="0"/>
              <a:t> التغذية الراجعة بشرط عدم السخرية.</a:t>
            </a:r>
            <a:endParaRPr lang="en-US" sz="2400" dirty="0"/>
          </a:p>
          <a:p>
            <a:pPr lvl="0">
              <a:buFont typeface="Arial" pitchFamily="34" charset="0"/>
              <a:buChar char="•"/>
            </a:pPr>
            <a:r>
              <a:rPr lang="ar-EG" sz="2400" dirty="0">
                <a:solidFill>
                  <a:srgbClr val="FFFF66"/>
                </a:solidFill>
              </a:rPr>
              <a:t>البدء من الأعم و </a:t>
            </a:r>
            <a:r>
              <a:rPr lang="ar-EG" sz="2400" dirty="0" err="1">
                <a:solidFill>
                  <a:srgbClr val="FFFF66"/>
                </a:solidFill>
              </a:rPr>
              <a:t>الاشمل</a:t>
            </a:r>
            <a:r>
              <a:rPr lang="ar-EG" sz="2400" dirty="0">
                <a:solidFill>
                  <a:srgbClr val="FFFF66"/>
                </a:solidFill>
              </a:rPr>
              <a:t> </a:t>
            </a:r>
            <a:r>
              <a:rPr lang="ar-EG" sz="2400" dirty="0" err="1">
                <a:solidFill>
                  <a:srgbClr val="FFFF66"/>
                </a:solidFill>
              </a:rPr>
              <a:t>الى</a:t>
            </a:r>
            <a:r>
              <a:rPr lang="ar-EG" sz="2400" dirty="0">
                <a:solidFill>
                  <a:srgbClr val="FFFF66"/>
                </a:solidFill>
              </a:rPr>
              <a:t> الأخص ، ومن الأكبر </a:t>
            </a:r>
            <a:r>
              <a:rPr lang="ar-EG" sz="2400" dirty="0" err="1">
                <a:solidFill>
                  <a:srgbClr val="FFFF66"/>
                </a:solidFill>
              </a:rPr>
              <a:t>الى</a:t>
            </a:r>
            <a:r>
              <a:rPr lang="ar-EG" sz="2400" dirty="0">
                <a:solidFill>
                  <a:srgbClr val="FFFF66"/>
                </a:solidFill>
              </a:rPr>
              <a:t> الأصغر ، ومن الخارج للداخل.</a:t>
            </a:r>
            <a:endParaRPr lang="en-US" sz="2400" dirty="0">
              <a:solidFill>
                <a:srgbClr val="FFFF66"/>
              </a:solidFill>
            </a:endParaRPr>
          </a:p>
          <a:p>
            <a:pPr lvl="0">
              <a:buFont typeface="Arial" pitchFamily="34" charset="0"/>
              <a:buChar char="•"/>
            </a:pPr>
            <a:r>
              <a:rPr lang="ar-EG" sz="2400" dirty="0"/>
              <a:t>الرسوم التعليمية يجب </a:t>
            </a:r>
            <a:r>
              <a:rPr lang="ar-EG" sz="2400" dirty="0" err="1"/>
              <a:t>ان</a:t>
            </a:r>
            <a:r>
              <a:rPr lang="ar-EG" sz="2400" dirty="0"/>
              <a:t> تحافظ على النسب الطبيعية بعكس الرسوم الكاريكاتورية.</a:t>
            </a:r>
            <a:endParaRPr lang="en-US" sz="2400" dirty="0"/>
          </a:p>
          <a:p>
            <a:pPr lvl="0">
              <a:buFont typeface="Arial" pitchFamily="34" charset="0"/>
              <a:buChar char="•"/>
            </a:pPr>
            <a:r>
              <a:rPr lang="ar-EG" sz="2400" dirty="0">
                <a:solidFill>
                  <a:srgbClr val="FFFF66"/>
                </a:solidFill>
              </a:rPr>
              <a:t>الحفاظ على وحدة الشكل ، فالشكل له صفات تميزه كوحدة واحدة كلية فان تفككت أجزاءه فقد وحدته.</a:t>
            </a:r>
          </a:p>
        </p:txBody>
      </p: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7"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1000"/>
                                        <p:tgtEl>
                                          <p:spTgt spid="3">
                                            <p:txEl>
                                              <p:pRg st="1" end="1"/>
                                            </p:txEl>
                                          </p:spTgt>
                                        </p:tgtEl>
                                      </p:cBhvr>
                                    </p:animEffect>
                                    <p:anim calcmode="lin" valueType="num">
                                      <p:cBhvr>
                                        <p:cTn id="16"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7"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7"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1000"/>
                                        <p:tgtEl>
                                          <p:spTgt spid="3">
                                            <p:txEl>
                                              <p:pRg st="2" end="2"/>
                                            </p:txEl>
                                          </p:spTgt>
                                        </p:tgtEl>
                                      </p:cBhvr>
                                    </p:animEffect>
                                    <p:anim calcmode="lin" valueType="num">
                                      <p:cBhvr>
                                        <p:cTn id="2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7"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1000"/>
                                        <p:tgtEl>
                                          <p:spTgt spid="3">
                                            <p:txEl>
                                              <p:pRg st="3" end="3"/>
                                            </p:txEl>
                                          </p:spTgt>
                                        </p:tgtEl>
                                      </p:cBhvr>
                                    </p:animEffect>
                                    <p:anim calcmode="lin" valueType="num">
                                      <p:cBhvr>
                                        <p:cTn id="3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iterate type="lt">
                                    <p:tmPct val="5000"/>
                                  </p:iterate>
                                  <p:childTnLst>
                                    <p:set>
                                      <p:cBhvr>
                                        <p:cTn id="35" dur="1" fill="hold">
                                          <p:stCondLst>
                                            <p:cond delay="0"/>
                                          </p:stCondLst>
                                        </p:cTn>
                                        <p:tgtEl>
                                          <p:spTgt spid="4">
                                            <p:txEl>
                                              <p:pRg st="0" end="0"/>
                                            </p:txEl>
                                          </p:spTgt>
                                        </p:tgtEl>
                                        <p:attrNameLst>
                                          <p:attrName>style.visibility</p:attrName>
                                        </p:attrNameLst>
                                      </p:cBhvr>
                                      <p:to>
                                        <p:strVal val="visible"/>
                                      </p:to>
                                    </p:set>
                                    <p:anim calcmode="lin" valueType="num">
                                      <p:cBhvr>
                                        <p:cTn id="36" dur="1000" fill="hold"/>
                                        <p:tgtEl>
                                          <p:spTgt spid="4">
                                            <p:txEl>
                                              <p:pRg st="0" end="0"/>
                                            </p:txEl>
                                          </p:spTgt>
                                        </p:tgtEl>
                                        <p:attrNameLst>
                                          <p:attrName>ppt_w</p:attrName>
                                        </p:attrNameLst>
                                      </p:cBhvr>
                                      <p:tavLst>
                                        <p:tav tm="0">
                                          <p:val>
                                            <p:fltVal val="0"/>
                                          </p:val>
                                        </p:tav>
                                        <p:tav tm="100000">
                                          <p:val>
                                            <p:strVal val="#ppt_w"/>
                                          </p:val>
                                        </p:tav>
                                      </p:tavLst>
                                    </p:anim>
                                    <p:anim calcmode="lin" valueType="num">
                                      <p:cBhvr>
                                        <p:cTn id="37" dur="1000" fill="hold"/>
                                        <p:tgtEl>
                                          <p:spTgt spid="4">
                                            <p:txEl>
                                              <p:pRg st="0" end="0"/>
                                            </p:txEl>
                                          </p:spTgt>
                                        </p:tgtEl>
                                        <p:attrNameLst>
                                          <p:attrName>ppt_h</p:attrName>
                                        </p:attrNameLst>
                                      </p:cBhvr>
                                      <p:tavLst>
                                        <p:tav tm="0">
                                          <p:val>
                                            <p:fltVal val="0"/>
                                          </p:val>
                                        </p:tav>
                                        <p:tav tm="100000">
                                          <p:val>
                                            <p:strVal val="#ppt_h"/>
                                          </p:val>
                                        </p:tav>
                                      </p:tavLst>
                                    </p:anim>
                                    <p:anim calcmode="lin" valueType="num">
                                      <p:cBhvr>
                                        <p:cTn id="38" dur="1000" fill="hold"/>
                                        <p:tgtEl>
                                          <p:spTgt spid="4">
                                            <p:txEl>
                                              <p:pRg st="0" end="0"/>
                                            </p:txEl>
                                          </p:spTgt>
                                        </p:tgtEl>
                                        <p:attrNameLst>
                                          <p:attrName>style.rotation</p:attrName>
                                        </p:attrNameLst>
                                      </p:cBhvr>
                                      <p:tavLst>
                                        <p:tav tm="0">
                                          <p:val>
                                            <p:fltVal val="90"/>
                                          </p:val>
                                        </p:tav>
                                        <p:tav tm="100000">
                                          <p:val>
                                            <p:fltVal val="0"/>
                                          </p:val>
                                        </p:tav>
                                      </p:tavLst>
                                    </p:anim>
                                    <p:animEffect transition="in" filter="fade">
                                      <p:cBhvr>
                                        <p:cTn id="39" dur="1000"/>
                                        <p:tgtEl>
                                          <p:spTgt spid="4">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47" presetClass="entr" presetSubtype="0" fill="hold" nodeType="clickEffect">
                                  <p:stCondLst>
                                    <p:cond delay="0"/>
                                  </p:stCondLst>
                                  <p:childTnLst>
                                    <p:set>
                                      <p:cBhvr>
                                        <p:cTn id="43" dur="1" fill="hold">
                                          <p:stCondLst>
                                            <p:cond delay="0"/>
                                          </p:stCondLst>
                                        </p:cTn>
                                        <p:tgtEl>
                                          <p:spTgt spid="4">
                                            <p:txEl>
                                              <p:pRg st="1" end="1"/>
                                            </p:txEl>
                                          </p:spTgt>
                                        </p:tgtEl>
                                        <p:attrNameLst>
                                          <p:attrName>style.visibility</p:attrName>
                                        </p:attrNameLst>
                                      </p:cBhvr>
                                      <p:to>
                                        <p:strVal val="visible"/>
                                      </p:to>
                                    </p:set>
                                    <p:animEffect transition="in" filter="fade">
                                      <p:cBhvr>
                                        <p:cTn id="44" dur="1000"/>
                                        <p:tgtEl>
                                          <p:spTgt spid="4">
                                            <p:txEl>
                                              <p:pRg st="1" end="1"/>
                                            </p:txEl>
                                          </p:spTgt>
                                        </p:tgtEl>
                                      </p:cBhvr>
                                    </p:animEffect>
                                    <p:anim calcmode="lin" valueType="num">
                                      <p:cBhvr>
                                        <p:cTn id="4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7" presetClass="entr" presetSubtype="0" fill="hold" nodeType="clickEffect">
                                  <p:stCondLst>
                                    <p:cond delay="0"/>
                                  </p:stCondLst>
                                  <p:childTnLst>
                                    <p:set>
                                      <p:cBhvr>
                                        <p:cTn id="50" dur="1" fill="hold">
                                          <p:stCondLst>
                                            <p:cond delay="0"/>
                                          </p:stCondLst>
                                        </p:cTn>
                                        <p:tgtEl>
                                          <p:spTgt spid="4">
                                            <p:txEl>
                                              <p:pRg st="2" end="2"/>
                                            </p:txEl>
                                          </p:spTgt>
                                        </p:tgtEl>
                                        <p:attrNameLst>
                                          <p:attrName>style.visibility</p:attrName>
                                        </p:attrNameLst>
                                      </p:cBhvr>
                                      <p:to>
                                        <p:strVal val="visible"/>
                                      </p:to>
                                    </p:set>
                                    <p:animEffect transition="in" filter="fade">
                                      <p:cBhvr>
                                        <p:cTn id="51" dur="1000"/>
                                        <p:tgtEl>
                                          <p:spTgt spid="4">
                                            <p:txEl>
                                              <p:pRg st="2" end="2"/>
                                            </p:txEl>
                                          </p:spTgt>
                                        </p:tgtEl>
                                      </p:cBhvr>
                                    </p:animEffect>
                                    <p:anim calcmode="lin" valueType="num">
                                      <p:cBhvr>
                                        <p:cTn id="5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7" presetClass="entr" presetSubtype="0" fill="hold" nodeType="clickEffect">
                                  <p:stCondLst>
                                    <p:cond delay="0"/>
                                  </p:stCondLst>
                                  <p:childTnLst>
                                    <p:set>
                                      <p:cBhvr>
                                        <p:cTn id="57" dur="1" fill="hold">
                                          <p:stCondLst>
                                            <p:cond delay="0"/>
                                          </p:stCondLst>
                                        </p:cTn>
                                        <p:tgtEl>
                                          <p:spTgt spid="4">
                                            <p:txEl>
                                              <p:pRg st="3" end="3"/>
                                            </p:txEl>
                                          </p:spTgt>
                                        </p:tgtEl>
                                        <p:attrNameLst>
                                          <p:attrName>style.visibility</p:attrName>
                                        </p:attrNameLst>
                                      </p:cBhvr>
                                      <p:to>
                                        <p:strVal val="visible"/>
                                      </p:to>
                                    </p:set>
                                    <p:animEffect transition="in" filter="fade">
                                      <p:cBhvr>
                                        <p:cTn id="58" dur="1000"/>
                                        <p:tgtEl>
                                          <p:spTgt spid="4">
                                            <p:txEl>
                                              <p:pRg st="3" end="3"/>
                                            </p:txEl>
                                          </p:spTgt>
                                        </p:tgtEl>
                                      </p:cBhvr>
                                    </p:animEffect>
                                    <p:anim calcmode="lin" valueType="num">
                                      <p:cBhvr>
                                        <p:cTn id="5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6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7" presetClass="entr" presetSubtype="0" fill="hold" nodeType="clickEffect">
                                  <p:stCondLst>
                                    <p:cond delay="0"/>
                                  </p:stCondLst>
                                  <p:childTnLst>
                                    <p:set>
                                      <p:cBhvr>
                                        <p:cTn id="64" dur="1" fill="hold">
                                          <p:stCondLst>
                                            <p:cond delay="0"/>
                                          </p:stCondLst>
                                        </p:cTn>
                                        <p:tgtEl>
                                          <p:spTgt spid="4">
                                            <p:txEl>
                                              <p:pRg st="4" end="4"/>
                                            </p:txEl>
                                          </p:spTgt>
                                        </p:tgtEl>
                                        <p:attrNameLst>
                                          <p:attrName>style.visibility</p:attrName>
                                        </p:attrNameLst>
                                      </p:cBhvr>
                                      <p:to>
                                        <p:strVal val="visible"/>
                                      </p:to>
                                    </p:set>
                                    <p:animEffect transition="in" filter="fade">
                                      <p:cBhvr>
                                        <p:cTn id="65" dur="1000"/>
                                        <p:tgtEl>
                                          <p:spTgt spid="4">
                                            <p:txEl>
                                              <p:pRg st="4" end="4"/>
                                            </p:txEl>
                                          </p:spTgt>
                                        </p:tgtEl>
                                      </p:cBhvr>
                                    </p:animEffect>
                                    <p:anim calcmode="lin" valueType="num">
                                      <p:cBhvr>
                                        <p:cTn id="6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6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7" presetClass="entr" presetSubtype="0" fill="hold" nodeType="clickEffect">
                                  <p:stCondLst>
                                    <p:cond delay="0"/>
                                  </p:stCondLst>
                                  <p:childTnLst>
                                    <p:set>
                                      <p:cBhvr>
                                        <p:cTn id="71" dur="1" fill="hold">
                                          <p:stCondLst>
                                            <p:cond delay="0"/>
                                          </p:stCondLst>
                                        </p:cTn>
                                        <p:tgtEl>
                                          <p:spTgt spid="4">
                                            <p:txEl>
                                              <p:pRg st="5" end="5"/>
                                            </p:txEl>
                                          </p:spTgt>
                                        </p:tgtEl>
                                        <p:attrNameLst>
                                          <p:attrName>style.visibility</p:attrName>
                                        </p:attrNameLst>
                                      </p:cBhvr>
                                      <p:to>
                                        <p:strVal val="visible"/>
                                      </p:to>
                                    </p:set>
                                    <p:animEffect transition="in" filter="fade">
                                      <p:cBhvr>
                                        <p:cTn id="72" dur="1000"/>
                                        <p:tgtEl>
                                          <p:spTgt spid="4">
                                            <p:txEl>
                                              <p:pRg st="5" end="5"/>
                                            </p:txEl>
                                          </p:spTgt>
                                        </p:tgtEl>
                                      </p:cBhvr>
                                    </p:animEffect>
                                    <p:anim calcmode="lin" valueType="num">
                                      <p:cBhvr>
                                        <p:cTn id="7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7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7" presetClass="entr" presetSubtype="0" fill="hold" nodeType="clickEffect">
                                  <p:stCondLst>
                                    <p:cond delay="0"/>
                                  </p:stCondLst>
                                  <p:childTnLst>
                                    <p:set>
                                      <p:cBhvr>
                                        <p:cTn id="78" dur="1" fill="hold">
                                          <p:stCondLst>
                                            <p:cond delay="0"/>
                                          </p:stCondLst>
                                        </p:cTn>
                                        <p:tgtEl>
                                          <p:spTgt spid="4">
                                            <p:txEl>
                                              <p:pRg st="6" end="6"/>
                                            </p:txEl>
                                          </p:spTgt>
                                        </p:tgtEl>
                                        <p:attrNameLst>
                                          <p:attrName>style.visibility</p:attrName>
                                        </p:attrNameLst>
                                      </p:cBhvr>
                                      <p:to>
                                        <p:strVal val="visible"/>
                                      </p:to>
                                    </p:set>
                                    <p:animEffect transition="in" filter="fade">
                                      <p:cBhvr>
                                        <p:cTn id="79" dur="1000"/>
                                        <p:tgtEl>
                                          <p:spTgt spid="4">
                                            <p:txEl>
                                              <p:pRg st="6" end="6"/>
                                            </p:txEl>
                                          </p:spTgt>
                                        </p:tgtEl>
                                      </p:cBhvr>
                                    </p:animEffect>
                                    <p:anim calcmode="lin" valueType="num">
                                      <p:cBhvr>
                                        <p:cTn id="8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81"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7" presetClass="entr" presetSubtype="0" fill="hold" nodeType="clickEffect">
                                  <p:stCondLst>
                                    <p:cond delay="0"/>
                                  </p:stCondLst>
                                  <p:childTnLst>
                                    <p:set>
                                      <p:cBhvr>
                                        <p:cTn id="85" dur="1" fill="hold">
                                          <p:stCondLst>
                                            <p:cond delay="0"/>
                                          </p:stCondLst>
                                        </p:cTn>
                                        <p:tgtEl>
                                          <p:spTgt spid="4">
                                            <p:txEl>
                                              <p:pRg st="7" end="7"/>
                                            </p:txEl>
                                          </p:spTgt>
                                        </p:tgtEl>
                                        <p:attrNameLst>
                                          <p:attrName>style.visibility</p:attrName>
                                        </p:attrNameLst>
                                      </p:cBhvr>
                                      <p:to>
                                        <p:strVal val="visible"/>
                                      </p:to>
                                    </p:set>
                                    <p:animEffect transition="in" filter="fade">
                                      <p:cBhvr>
                                        <p:cTn id="86" dur="1000"/>
                                        <p:tgtEl>
                                          <p:spTgt spid="4">
                                            <p:txEl>
                                              <p:pRg st="7" end="7"/>
                                            </p:txEl>
                                          </p:spTgt>
                                        </p:tgtEl>
                                      </p:cBhvr>
                                    </p:animEffect>
                                    <p:anim calcmode="lin" valueType="num">
                                      <p:cBhvr>
                                        <p:cTn id="8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88"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47" presetClass="entr" presetSubtype="0" fill="hold" nodeType="clickEffect">
                                  <p:stCondLst>
                                    <p:cond delay="0"/>
                                  </p:stCondLst>
                                  <p:childTnLst>
                                    <p:set>
                                      <p:cBhvr>
                                        <p:cTn id="92" dur="1" fill="hold">
                                          <p:stCondLst>
                                            <p:cond delay="0"/>
                                          </p:stCondLst>
                                        </p:cTn>
                                        <p:tgtEl>
                                          <p:spTgt spid="4">
                                            <p:txEl>
                                              <p:pRg st="8" end="8"/>
                                            </p:txEl>
                                          </p:spTgt>
                                        </p:tgtEl>
                                        <p:attrNameLst>
                                          <p:attrName>style.visibility</p:attrName>
                                        </p:attrNameLst>
                                      </p:cBhvr>
                                      <p:to>
                                        <p:strVal val="visible"/>
                                      </p:to>
                                    </p:set>
                                    <p:animEffect transition="in" filter="fade">
                                      <p:cBhvr>
                                        <p:cTn id="93" dur="1000"/>
                                        <p:tgtEl>
                                          <p:spTgt spid="4">
                                            <p:txEl>
                                              <p:pRg st="8" end="8"/>
                                            </p:txEl>
                                          </p:spTgt>
                                        </p:tgtEl>
                                      </p:cBhvr>
                                    </p:animEffect>
                                    <p:anim calcmode="lin" valueType="num">
                                      <p:cBhvr>
                                        <p:cTn id="94"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95"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2195736" y="188640"/>
            <a:ext cx="5519536" cy="584775"/>
          </a:xfrm>
          <a:prstGeom prst="rect">
            <a:avLst/>
          </a:prstGeom>
        </p:spPr>
        <p:style>
          <a:lnRef idx="0">
            <a:schemeClr val="accent4"/>
          </a:lnRef>
          <a:fillRef idx="3">
            <a:schemeClr val="accent4"/>
          </a:fillRef>
          <a:effectRef idx="3">
            <a:schemeClr val="accent4"/>
          </a:effectRef>
          <a:fontRef idx="minor">
            <a:schemeClr val="lt1"/>
          </a:fontRef>
        </p:style>
        <p:txBody>
          <a:bodyPr wrap="square" rtlCol="1">
            <a:spAutoFit/>
          </a:bodyPr>
          <a:lstStyle/>
          <a:p>
            <a:pPr algn="ctr"/>
            <a:r>
              <a:rPr lang="ar-EG" sz="3200" b="1" dirty="0"/>
              <a:t>رابعاً : الرسوم الثابتة </a:t>
            </a:r>
            <a:r>
              <a:rPr lang="en-US" sz="3200" b="1" dirty="0"/>
              <a:t>(Image ) Still</a:t>
            </a:r>
            <a:endParaRPr lang="en-US" sz="3200" dirty="0"/>
          </a:p>
        </p:txBody>
      </p:sp>
      <p:sp>
        <p:nvSpPr>
          <p:cNvPr id="3" name="مربع نص 2"/>
          <p:cNvSpPr txBox="1"/>
          <p:nvPr/>
        </p:nvSpPr>
        <p:spPr>
          <a:xfrm>
            <a:off x="1" y="836712"/>
            <a:ext cx="9001123" cy="1477328"/>
          </a:xfrm>
          <a:prstGeom prst="rect">
            <a:avLst/>
          </a:prstGeom>
          <a:noFill/>
        </p:spPr>
        <p:txBody>
          <a:bodyPr wrap="square" rtlCol="1">
            <a:spAutoFit/>
          </a:bodyPr>
          <a:lstStyle/>
          <a:p>
            <a:r>
              <a:rPr lang="ar-EG" sz="2400" b="1" dirty="0" err="1">
                <a:solidFill>
                  <a:schemeClr val="tx2"/>
                </a:solidFill>
              </a:rPr>
              <a:t>هى</a:t>
            </a:r>
            <a:r>
              <a:rPr lang="ar-EG" sz="2400" b="1" dirty="0">
                <a:solidFill>
                  <a:schemeClr val="tx2"/>
                </a:solidFill>
              </a:rPr>
              <a:t> لقطات ثابتة لأشياء حقيقية يمكن عرضها </a:t>
            </a:r>
            <a:r>
              <a:rPr lang="ar-EG" sz="2400" b="1" dirty="0" err="1">
                <a:solidFill>
                  <a:schemeClr val="tx2"/>
                </a:solidFill>
              </a:rPr>
              <a:t>لاى</a:t>
            </a:r>
            <a:r>
              <a:rPr lang="ar-EG" sz="2400" b="1" dirty="0">
                <a:solidFill>
                  <a:schemeClr val="tx2"/>
                </a:solidFill>
              </a:rPr>
              <a:t> فترة زمنية ، وقد تؤخذ من الكتب والمجلات عن طريق الماسح </a:t>
            </a:r>
            <a:r>
              <a:rPr lang="ar-EG" sz="2400" b="1" dirty="0" err="1">
                <a:solidFill>
                  <a:schemeClr val="tx2"/>
                </a:solidFill>
              </a:rPr>
              <a:t>الضوئى</a:t>
            </a:r>
            <a:r>
              <a:rPr lang="ar-EG" sz="2400" b="1" dirty="0">
                <a:solidFill>
                  <a:schemeClr val="tx2"/>
                </a:solidFill>
              </a:rPr>
              <a:t> </a:t>
            </a:r>
            <a:r>
              <a:rPr lang="en-US" sz="2400" b="1" dirty="0">
                <a:solidFill>
                  <a:schemeClr val="tx2"/>
                </a:solidFill>
              </a:rPr>
              <a:t>Scanner</a:t>
            </a:r>
            <a:r>
              <a:rPr lang="ar-EG" sz="2400" b="1" dirty="0">
                <a:solidFill>
                  <a:schemeClr val="tx2"/>
                </a:solidFill>
              </a:rPr>
              <a:t> وعند نقلها </a:t>
            </a:r>
            <a:r>
              <a:rPr lang="ar-EG" sz="2400" b="1" dirty="0" err="1">
                <a:solidFill>
                  <a:schemeClr val="tx2"/>
                </a:solidFill>
              </a:rPr>
              <a:t>الى</a:t>
            </a:r>
            <a:r>
              <a:rPr lang="ar-EG" sz="2400" b="1" dirty="0">
                <a:solidFill>
                  <a:schemeClr val="tx2"/>
                </a:solidFill>
              </a:rPr>
              <a:t> الكمبيوتر يمكن </a:t>
            </a:r>
            <a:r>
              <a:rPr lang="ar-EG" sz="2400" b="1" dirty="0" err="1">
                <a:solidFill>
                  <a:schemeClr val="tx2"/>
                </a:solidFill>
              </a:rPr>
              <a:t>ان</a:t>
            </a:r>
            <a:r>
              <a:rPr lang="ar-EG" sz="2400" b="1" dirty="0">
                <a:solidFill>
                  <a:schemeClr val="tx2"/>
                </a:solidFill>
              </a:rPr>
              <a:t> تكون صغيرة .</a:t>
            </a:r>
            <a:endParaRPr lang="en-US" sz="2400" b="1" dirty="0">
              <a:solidFill>
                <a:schemeClr val="tx2"/>
              </a:solidFill>
            </a:endParaRPr>
          </a:p>
          <a:p>
            <a:endParaRPr lang="ar-EG" dirty="0"/>
          </a:p>
        </p:txBody>
      </p:sp>
      <p:sp>
        <p:nvSpPr>
          <p:cNvPr id="4" name="مربع نص 3"/>
          <p:cNvSpPr txBox="1"/>
          <p:nvPr/>
        </p:nvSpPr>
        <p:spPr>
          <a:xfrm>
            <a:off x="1" y="2424066"/>
            <a:ext cx="9001158" cy="3785652"/>
          </a:xfrm>
          <a:prstGeom prst="rect">
            <a:avLst/>
          </a:prstGeom>
          <a:noFill/>
        </p:spPr>
        <p:txBody>
          <a:bodyPr wrap="square" rtlCol="1">
            <a:spAutoFit/>
          </a:bodyPr>
          <a:lstStyle/>
          <a:p>
            <a:r>
              <a:rPr lang="ar-EG" sz="3600" b="1" dirty="0">
                <a:solidFill>
                  <a:schemeClr val="tx2"/>
                </a:solidFill>
              </a:rPr>
              <a:t>وهناك بعض الاعتبارات التى يجب ان تتوافر فى الرسوم الثابتة او الصورة :-</a:t>
            </a:r>
            <a:endParaRPr lang="en-US" sz="2400" b="1" dirty="0">
              <a:solidFill>
                <a:schemeClr val="tx2"/>
              </a:solidFill>
            </a:endParaRPr>
          </a:p>
          <a:p>
            <a:pPr lvl="0">
              <a:buFont typeface="Arial" pitchFamily="34" charset="0"/>
              <a:buChar char="•"/>
            </a:pPr>
            <a:r>
              <a:rPr lang="ar-EG" sz="2400" dirty="0"/>
              <a:t>ا</a:t>
            </a:r>
            <a:r>
              <a:rPr lang="ar-EG" sz="2800" dirty="0"/>
              <a:t>ستخدام إمكانيات الحاسب فى إظهار الرسوم بالأبعاد الثلاثية.</a:t>
            </a:r>
            <a:endParaRPr lang="en-US" sz="2800" dirty="0"/>
          </a:p>
          <a:p>
            <a:pPr lvl="0">
              <a:buFont typeface="Arial" pitchFamily="34" charset="0"/>
              <a:buChar char="•"/>
            </a:pPr>
            <a:r>
              <a:rPr lang="ar-EG" sz="2800" dirty="0"/>
              <a:t>تجاهل التفاصيل الزائدة التى قد تثير ارتباك المتعلم داخل الصورة.</a:t>
            </a:r>
            <a:endParaRPr lang="en-US" sz="2800" dirty="0"/>
          </a:p>
          <a:p>
            <a:pPr lvl="0">
              <a:buFont typeface="Arial" pitchFamily="34" charset="0"/>
              <a:buChar char="•"/>
            </a:pPr>
            <a:r>
              <a:rPr lang="ar-EG" sz="2800" dirty="0"/>
              <a:t>اقتران الصورة او الرسوم بالنص المصاحب لها مثل العناوين ، او التعليقات لمساعده المتعلمين على فهم الهدف من الصور ومعناها.</a:t>
            </a:r>
            <a:endParaRPr lang="en-US" sz="2800" dirty="0"/>
          </a:p>
          <a:p>
            <a:pPr lvl="0">
              <a:buFont typeface="Arial" pitchFamily="34" charset="0"/>
              <a:buChar char="•"/>
            </a:pPr>
            <a:r>
              <a:rPr lang="ar-EG" sz="2800" dirty="0"/>
              <a:t>استخدام الرسومات المبسطة وتجنب استخدام الرسومات المعقدة والمزدحمة بالتفاصيل.</a:t>
            </a:r>
          </a:p>
        </p:txBody>
      </p:sp>
    </p:spTree>
  </p:cSld>
  <p:clrMapOvr>
    <a:masterClrMapping/>
  </p:clrMapOvr>
  <p:transition spd="slow">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7"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fade">
                                      <p:cBhvr>
                                        <p:cTn id="25" dur="1000"/>
                                        <p:tgtEl>
                                          <p:spTgt spid="3">
                                            <p:txEl>
                                              <p:pRg st="0" end="0"/>
                                            </p:txEl>
                                          </p:spTgt>
                                        </p:tgtEl>
                                      </p:cBhvr>
                                    </p:animEffect>
                                    <p:anim calcmode="lin" valueType="num">
                                      <p:cBhvr>
                                        <p:cTn id="2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50" presetClass="entr" presetSubtype="0" decel="100000" fill="hold"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 calcmode="lin" valueType="num">
                                      <p:cBhvr>
                                        <p:cTn id="32" dur="1000" fill="hold"/>
                                        <p:tgtEl>
                                          <p:spTgt spid="4">
                                            <p:txEl>
                                              <p:pRg st="0" end="0"/>
                                            </p:txEl>
                                          </p:spTgt>
                                        </p:tgtEl>
                                        <p:attrNameLst>
                                          <p:attrName>ppt_w</p:attrName>
                                        </p:attrNameLst>
                                      </p:cBhvr>
                                      <p:tavLst>
                                        <p:tav tm="0">
                                          <p:val>
                                            <p:strVal val="#ppt_w+.3"/>
                                          </p:val>
                                        </p:tav>
                                        <p:tav tm="100000">
                                          <p:val>
                                            <p:strVal val="#ppt_w"/>
                                          </p:val>
                                        </p:tav>
                                      </p:tavLst>
                                    </p:anim>
                                    <p:anim calcmode="lin" valueType="num">
                                      <p:cBhvr>
                                        <p:cTn id="33" dur="1000" fill="hold"/>
                                        <p:tgtEl>
                                          <p:spTgt spid="4">
                                            <p:txEl>
                                              <p:pRg st="0" end="0"/>
                                            </p:txEl>
                                          </p:spTgt>
                                        </p:tgtEl>
                                        <p:attrNameLst>
                                          <p:attrName>ppt_h</p:attrName>
                                        </p:attrNameLst>
                                      </p:cBhvr>
                                      <p:tavLst>
                                        <p:tav tm="0">
                                          <p:val>
                                            <p:strVal val="#ppt_h"/>
                                          </p:val>
                                        </p:tav>
                                        <p:tav tm="100000">
                                          <p:val>
                                            <p:strVal val="#ppt_h"/>
                                          </p:val>
                                        </p:tav>
                                      </p:tavLst>
                                    </p:anim>
                                    <p:animEffect transition="in" filter="fade">
                                      <p:cBhvr>
                                        <p:cTn id="34" dur="1000"/>
                                        <p:tgtEl>
                                          <p:spTgt spid="4">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7" presetClass="entr" presetSubtype="0" fill="hold" nodeType="clickEffect">
                                  <p:stCondLst>
                                    <p:cond delay="0"/>
                                  </p:stCondLst>
                                  <p:childTnLst>
                                    <p:set>
                                      <p:cBhvr>
                                        <p:cTn id="38" dur="1" fill="hold">
                                          <p:stCondLst>
                                            <p:cond delay="0"/>
                                          </p:stCondLst>
                                        </p:cTn>
                                        <p:tgtEl>
                                          <p:spTgt spid="4">
                                            <p:txEl>
                                              <p:pRg st="1" end="1"/>
                                            </p:txEl>
                                          </p:spTgt>
                                        </p:tgtEl>
                                        <p:attrNameLst>
                                          <p:attrName>style.visibility</p:attrName>
                                        </p:attrNameLst>
                                      </p:cBhvr>
                                      <p:to>
                                        <p:strVal val="visible"/>
                                      </p:to>
                                    </p:set>
                                    <p:animEffect transition="in" filter="fade">
                                      <p:cBhvr>
                                        <p:cTn id="39" dur="1000"/>
                                        <p:tgtEl>
                                          <p:spTgt spid="4">
                                            <p:txEl>
                                              <p:pRg st="1" end="1"/>
                                            </p:txEl>
                                          </p:spTgt>
                                        </p:tgtEl>
                                      </p:cBhvr>
                                    </p:animEffect>
                                    <p:anim calcmode="lin" valueType="num">
                                      <p:cBhvr>
                                        <p:cTn id="4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7" presetClass="entr" presetSubtype="0" fill="hold" nodeType="clickEffect">
                                  <p:stCondLst>
                                    <p:cond delay="0"/>
                                  </p:stCondLst>
                                  <p:childTnLst>
                                    <p:set>
                                      <p:cBhvr>
                                        <p:cTn id="45" dur="1" fill="hold">
                                          <p:stCondLst>
                                            <p:cond delay="0"/>
                                          </p:stCondLst>
                                        </p:cTn>
                                        <p:tgtEl>
                                          <p:spTgt spid="4">
                                            <p:txEl>
                                              <p:pRg st="2" end="2"/>
                                            </p:txEl>
                                          </p:spTgt>
                                        </p:tgtEl>
                                        <p:attrNameLst>
                                          <p:attrName>style.visibility</p:attrName>
                                        </p:attrNameLst>
                                      </p:cBhvr>
                                      <p:to>
                                        <p:strVal val="visible"/>
                                      </p:to>
                                    </p:set>
                                    <p:animEffect transition="in" filter="fade">
                                      <p:cBhvr>
                                        <p:cTn id="46" dur="1000"/>
                                        <p:tgtEl>
                                          <p:spTgt spid="4">
                                            <p:txEl>
                                              <p:pRg st="2" end="2"/>
                                            </p:txEl>
                                          </p:spTgt>
                                        </p:tgtEl>
                                      </p:cBhvr>
                                    </p:animEffect>
                                    <p:anim calcmode="lin" valueType="num">
                                      <p:cBhvr>
                                        <p:cTn id="4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48"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7" presetClass="entr" presetSubtype="0" fill="hold" nodeType="clickEffect">
                                  <p:stCondLst>
                                    <p:cond delay="0"/>
                                  </p:stCondLst>
                                  <p:childTnLst>
                                    <p:set>
                                      <p:cBhvr>
                                        <p:cTn id="52" dur="1" fill="hold">
                                          <p:stCondLst>
                                            <p:cond delay="0"/>
                                          </p:stCondLst>
                                        </p:cTn>
                                        <p:tgtEl>
                                          <p:spTgt spid="4">
                                            <p:txEl>
                                              <p:pRg st="3" end="3"/>
                                            </p:txEl>
                                          </p:spTgt>
                                        </p:tgtEl>
                                        <p:attrNameLst>
                                          <p:attrName>style.visibility</p:attrName>
                                        </p:attrNameLst>
                                      </p:cBhvr>
                                      <p:to>
                                        <p:strVal val="visible"/>
                                      </p:to>
                                    </p:set>
                                    <p:animEffect transition="in" filter="fade">
                                      <p:cBhvr>
                                        <p:cTn id="53" dur="1000"/>
                                        <p:tgtEl>
                                          <p:spTgt spid="4">
                                            <p:txEl>
                                              <p:pRg st="3" end="3"/>
                                            </p:txEl>
                                          </p:spTgt>
                                        </p:tgtEl>
                                      </p:cBhvr>
                                    </p:animEffect>
                                    <p:anim calcmode="lin" valueType="num">
                                      <p:cBhvr>
                                        <p:cTn id="5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55"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7" presetClass="entr" presetSubtype="0" fill="hold" nodeType="clickEffect">
                                  <p:stCondLst>
                                    <p:cond delay="0"/>
                                  </p:stCondLst>
                                  <p:childTnLst>
                                    <p:set>
                                      <p:cBhvr>
                                        <p:cTn id="59" dur="1" fill="hold">
                                          <p:stCondLst>
                                            <p:cond delay="0"/>
                                          </p:stCondLst>
                                        </p:cTn>
                                        <p:tgtEl>
                                          <p:spTgt spid="4">
                                            <p:txEl>
                                              <p:pRg st="4" end="4"/>
                                            </p:txEl>
                                          </p:spTgt>
                                        </p:tgtEl>
                                        <p:attrNameLst>
                                          <p:attrName>style.visibility</p:attrName>
                                        </p:attrNameLst>
                                      </p:cBhvr>
                                      <p:to>
                                        <p:strVal val="visible"/>
                                      </p:to>
                                    </p:set>
                                    <p:animEffect transition="in" filter="fade">
                                      <p:cBhvr>
                                        <p:cTn id="60" dur="1000"/>
                                        <p:tgtEl>
                                          <p:spTgt spid="4">
                                            <p:txEl>
                                              <p:pRg st="4" end="4"/>
                                            </p:txEl>
                                          </p:spTgt>
                                        </p:tgtEl>
                                      </p:cBhvr>
                                    </p:animEffect>
                                    <p:anim calcmode="lin" valueType="num">
                                      <p:cBhvr>
                                        <p:cTn id="61"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62"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331640" y="116632"/>
            <a:ext cx="6740823" cy="584775"/>
          </a:xfrm>
          <a:prstGeom prst="rect">
            <a:avLst/>
          </a:prstGeom>
        </p:spPr>
        <p:style>
          <a:lnRef idx="0">
            <a:schemeClr val="accent4"/>
          </a:lnRef>
          <a:fillRef idx="3">
            <a:schemeClr val="accent4"/>
          </a:fillRef>
          <a:effectRef idx="3">
            <a:schemeClr val="accent4"/>
          </a:effectRef>
          <a:fontRef idx="minor">
            <a:schemeClr val="lt1"/>
          </a:fontRef>
        </p:style>
        <p:txBody>
          <a:bodyPr wrap="square" rtlCol="1">
            <a:spAutoFit/>
          </a:bodyPr>
          <a:lstStyle/>
          <a:p>
            <a:pPr algn="ctr"/>
            <a:r>
              <a:rPr lang="ar-EG" sz="3200" b="1" dirty="0"/>
              <a:t>خامساً : الصور المتحركة </a:t>
            </a:r>
            <a:r>
              <a:rPr lang="en-US" sz="3200" b="1" dirty="0"/>
              <a:t>(Video) Motion</a:t>
            </a:r>
            <a:endParaRPr lang="en-US" sz="3200" dirty="0"/>
          </a:p>
        </p:txBody>
      </p:sp>
      <p:sp>
        <p:nvSpPr>
          <p:cNvPr id="3" name="مربع نص 2"/>
          <p:cNvSpPr txBox="1"/>
          <p:nvPr/>
        </p:nvSpPr>
        <p:spPr>
          <a:xfrm>
            <a:off x="214283" y="836712"/>
            <a:ext cx="8643999" cy="1815882"/>
          </a:xfrm>
          <a:prstGeom prst="rect">
            <a:avLst/>
          </a:prstGeom>
          <a:noFill/>
        </p:spPr>
        <p:txBody>
          <a:bodyPr wrap="square" rtlCol="1">
            <a:spAutoFit/>
          </a:bodyPr>
          <a:lstStyle/>
          <a:p>
            <a:r>
              <a:rPr lang="ar-EG" sz="2800" dirty="0"/>
              <a:t>وهى مجموعة من اللقطات </a:t>
            </a:r>
            <a:r>
              <a:rPr lang="ar-EG" sz="2800" dirty="0" err="1"/>
              <a:t>الفيلميه</a:t>
            </a:r>
            <a:r>
              <a:rPr lang="ar-EG" sz="2800" dirty="0"/>
              <a:t> المتحركة تسجل بطريقة تماثلية </a:t>
            </a:r>
            <a:r>
              <a:rPr lang="en-US" sz="2800" dirty="0" err="1"/>
              <a:t>unlog</a:t>
            </a:r>
            <a:r>
              <a:rPr lang="ar-EG" sz="2800" dirty="0"/>
              <a:t> </a:t>
            </a:r>
            <a:r>
              <a:rPr lang="ar-EG" sz="2800" dirty="0" err="1"/>
              <a:t>أورقمية</a:t>
            </a:r>
            <a:r>
              <a:rPr lang="ar-EG" sz="2800" dirty="0"/>
              <a:t> </a:t>
            </a:r>
            <a:r>
              <a:rPr lang="en-US" sz="2800" dirty="0"/>
              <a:t>digital</a:t>
            </a:r>
            <a:r>
              <a:rPr lang="ar-EG" sz="2800" dirty="0"/>
              <a:t>.</a:t>
            </a:r>
            <a:endParaRPr lang="en-US" sz="2400" dirty="0"/>
          </a:p>
          <a:p>
            <a:r>
              <a:rPr lang="ar-EG" sz="2800" dirty="0" err="1"/>
              <a:t>الاول</a:t>
            </a:r>
            <a:r>
              <a:rPr lang="ar-EG" sz="2800" dirty="0"/>
              <a:t> : </a:t>
            </a:r>
            <a:r>
              <a:rPr lang="ar-EG" sz="2800" dirty="0" err="1"/>
              <a:t>اثارة</a:t>
            </a:r>
            <a:r>
              <a:rPr lang="ar-EG" sz="2800" dirty="0"/>
              <a:t> الدافعية </a:t>
            </a:r>
            <a:r>
              <a:rPr lang="en-US" sz="2800" dirty="0"/>
              <a:t>Motivation </a:t>
            </a:r>
            <a:r>
              <a:rPr lang="ar-EG" sz="2800" dirty="0"/>
              <a:t> .</a:t>
            </a:r>
          </a:p>
          <a:p>
            <a:r>
              <a:rPr lang="ar-EG" sz="2800" dirty="0" err="1"/>
              <a:t>الثانى</a:t>
            </a:r>
            <a:r>
              <a:rPr lang="ar-EG" sz="2800" dirty="0"/>
              <a:t> : هو تقديم العروض العملية وخاصة المهارات العملية .</a:t>
            </a:r>
            <a:endParaRPr lang="en-US" sz="2800" dirty="0"/>
          </a:p>
        </p:txBody>
      </p:sp>
      <p:sp>
        <p:nvSpPr>
          <p:cNvPr id="4" name="مربع نص 3"/>
          <p:cNvSpPr txBox="1"/>
          <p:nvPr/>
        </p:nvSpPr>
        <p:spPr>
          <a:xfrm>
            <a:off x="0" y="2708920"/>
            <a:ext cx="9036496" cy="4031873"/>
          </a:xfrm>
          <a:prstGeom prst="rect">
            <a:avLst/>
          </a:prstGeom>
          <a:noFill/>
        </p:spPr>
        <p:txBody>
          <a:bodyPr wrap="square" rtlCol="1">
            <a:spAutoFit/>
          </a:bodyPr>
          <a:lstStyle/>
          <a:p>
            <a:r>
              <a:rPr lang="ar-EG" sz="3200" b="1" dirty="0">
                <a:ln w="10160">
                  <a:solidFill>
                    <a:schemeClr val="accent1"/>
                  </a:solidFill>
                  <a:prstDash val="solid"/>
                </a:ln>
                <a:solidFill>
                  <a:schemeClr val="tx2"/>
                </a:solidFill>
              </a:rPr>
              <a:t>لتوظيف صورة الفيديو فى برنامج الوسائط المتعددة معاير منها ما يلى</a:t>
            </a:r>
            <a:endParaRPr lang="ar-SA" sz="3200" b="1" dirty="0">
              <a:ln w="10160">
                <a:solidFill>
                  <a:schemeClr val="accent1"/>
                </a:solidFill>
                <a:prstDash val="solid"/>
              </a:ln>
              <a:solidFill>
                <a:schemeClr val="tx2"/>
              </a:solidFill>
            </a:endParaRPr>
          </a:p>
          <a:p>
            <a:r>
              <a:rPr lang="ar-EG" sz="2400" b="1" dirty="0" smtClean="0"/>
              <a:t>تج</a:t>
            </a:r>
            <a:r>
              <a:rPr lang="ar-SA" sz="2400" b="1" dirty="0"/>
              <a:t>ن</a:t>
            </a:r>
            <a:r>
              <a:rPr lang="ar-EG" sz="2400" b="1" dirty="0" smtClean="0"/>
              <a:t>ب </a:t>
            </a:r>
            <a:r>
              <a:rPr lang="ar-EG" sz="2400" b="1" dirty="0"/>
              <a:t>التصوير من منظور غير مألوف حتى لا يضيع وقت المتعلم فى محاولة فهم محتوى المشهد .</a:t>
            </a:r>
            <a:endParaRPr lang="en-US" sz="2400" b="1" dirty="0"/>
          </a:p>
          <a:p>
            <a:pPr lvl="0">
              <a:buFont typeface="Arial" pitchFamily="34" charset="0"/>
              <a:buChar char="•"/>
            </a:pPr>
            <a:r>
              <a:rPr lang="ar-EG" sz="2400" b="1" dirty="0"/>
              <a:t>تستخدم السرعات الطبيعية فى عرض الفيديو , الا فى الحالات التى لا تدرك الا بالسرعات البطيئة او السريعة .</a:t>
            </a:r>
            <a:endParaRPr lang="en-US" sz="2400" b="1" dirty="0"/>
          </a:p>
          <a:p>
            <a:pPr lvl="0">
              <a:buFont typeface="Arial" pitchFamily="34" charset="0"/>
              <a:buChar char="•"/>
            </a:pPr>
            <a:r>
              <a:rPr lang="ar-EG" sz="2400" b="1" dirty="0"/>
              <a:t>جعل حركات الكاميرا طبيعية ومنطقية مع استبعاد العناصر الصغيرة من المشهد .</a:t>
            </a:r>
            <a:endParaRPr lang="en-US" sz="2400" b="1" dirty="0"/>
          </a:p>
          <a:p>
            <a:pPr lvl="0">
              <a:buFont typeface="Arial" pitchFamily="34" charset="0"/>
              <a:buChar char="•"/>
            </a:pPr>
            <a:r>
              <a:rPr lang="ar-EG" sz="2400" b="1" dirty="0"/>
              <a:t>عند استخدام نافذة </a:t>
            </a:r>
            <a:r>
              <a:rPr lang="ar-EG" sz="2400" b="1" dirty="0" err="1"/>
              <a:t>فيدية</a:t>
            </a:r>
            <a:r>
              <a:rPr lang="ar-EG" sz="2400" b="1" dirty="0"/>
              <a:t> صغيرة نسبياً , فإنه يفضل استخدام لقطات مقرية قدر </a:t>
            </a:r>
            <a:r>
              <a:rPr lang="ar-EG" sz="2400" b="1" dirty="0" err="1"/>
              <a:t>الامكان</a:t>
            </a:r>
            <a:r>
              <a:rPr lang="ar-EG" sz="2400" b="1" dirty="0"/>
              <a:t> بحيث تستبعد من الكادر العناصر غير المفيدة , مع تجنب اللقطات العامة </a:t>
            </a:r>
            <a:r>
              <a:rPr lang="ar-EG" sz="2400" b="1" dirty="0" err="1"/>
              <a:t>التى</a:t>
            </a:r>
            <a:r>
              <a:rPr lang="ar-EG" sz="2400" b="1" dirty="0"/>
              <a:t> لا تحمل تفاصيل محددة .</a:t>
            </a:r>
          </a:p>
        </p:txBody>
      </p:sp>
    </p:spTree>
  </p:cSld>
  <p:clrMapOvr>
    <a:masterClrMapping/>
  </p:clrMapOvr>
  <p:transition spd="slow">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7" presetClass="entr" presetSubtype="0" fill="hold" nodeType="clickEffect">
                                  <p:stCondLst>
                                    <p:cond delay="0"/>
                                  </p:stCondLst>
                                  <p:iterate type="lt">
                                    <p:tmPct val="50000"/>
                                  </p:iterate>
                                  <p:childTnLst>
                                    <p:set>
                                      <p:cBhvr>
                                        <p:cTn id="24" dur="1" fill="hold">
                                          <p:stCondLst>
                                            <p:cond delay="0"/>
                                          </p:stCondLst>
                                        </p:cTn>
                                        <p:tgtEl>
                                          <p:spTgt spid="3">
                                            <p:txEl>
                                              <p:pRg st="0" end="0"/>
                                            </p:txEl>
                                          </p:spTgt>
                                        </p:tgtEl>
                                        <p:attrNameLst>
                                          <p:attrName>style.visibility</p:attrName>
                                        </p:attrNameLst>
                                      </p:cBhvr>
                                      <p:to>
                                        <p:strVal val="visible"/>
                                      </p:to>
                                    </p:set>
                                    <p:anim calcmode="discrete" valueType="clr">
                                      <p:cBhvr override="childStyle">
                                        <p:cTn id="25" dur="80"/>
                                        <p:tgtEl>
                                          <p:spTgt spid="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6" dur="80"/>
                                        <p:tgtEl>
                                          <p:spTgt spid="3">
                                            <p:txEl>
                                              <p:pRg st="0" end="0"/>
                                            </p:txEl>
                                          </p:spTgt>
                                        </p:tgtEl>
                                        <p:attrNameLst>
                                          <p:attrName>fillcolor</p:attrName>
                                        </p:attrNameLst>
                                      </p:cBhvr>
                                      <p:tavLst>
                                        <p:tav tm="0">
                                          <p:val>
                                            <p:clrVal>
                                              <a:schemeClr val="accent2"/>
                                            </p:clrVal>
                                          </p:val>
                                        </p:tav>
                                        <p:tav tm="50000">
                                          <p:val>
                                            <p:clrVal>
                                              <a:schemeClr val="hlink"/>
                                            </p:clrVal>
                                          </p:val>
                                        </p:tav>
                                      </p:tavLst>
                                    </p:anim>
                                    <p:set>
                                      <p:cBhvr>
                                        <p:cTn id="27" dur="80"/>
                                        <p:tgtEl>
                                          <p:spTgt spid="3">
                                            <p:txEl>
                                              <p:pRg st="0" end="0"/>
                                            </p:txEl>
                                          </p:spTgt>
                                        </p:tgtEl>
                                        <p:attrNameLst>
                                          <p:attrName>fill.type</p:attrName>
                                        </p:attrNameLst>
                                      </p:cBhvr>
                                      <p:to>
                                        <p:strVal val="solid"/>
                                      </p:to>
                                    </p:set>
                                  </p:childTnLst>
                                </p:cTn>
                              </p:par>
                            </p:childTnLst>
                          </p:cTn>
                        </p:par>
                      </p:childTnLst>
                    </p:cTn>
                  </p:par>
                  <p:par>
                    <p:cTn id="28" fill="hold">
                      <p:stCondLst>
                        <p:cond delay="indefinite"/>
                      </p:stCondLst>
                      <p:childTnLst>
                        <p:par>
                          <p:cTn id="29" fill="hold">
                            <p:stCondLst>
                              <p:cond delay="0"/>
                            </p:stCondLst>
                            <p:childTnLst>
                              <p:par>
                                <p:cTn id="30" presetID="47" presetClass="entr" presetSubtype="0" fill="hold"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fade">
                                      <p:cBhvr>
                                        <p:cTn id="32" dur="1000"/>
                                        <p:tgtEl>
                                          <p:spTgt spid="3">
                                            <p:txEl>
                                              <p:pRg st="1" end="1"/>
                                            </p:txEl>
                                          </p:spTgt>
                                        </p:tgtEl>
                                      </p:cBhvr>
                                    </p:animEffect>
                                    <p:anim calcmode="lin" valueType="num">
                                      <p:cBhvr>
                                        <p:cTn id="3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7" presetClass="entr" presetSubtype="0" fill="hold"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Effect transition="in" filter="fade">
                                      <p:cBhvr>
                                        <p:cTn id="39" dur="1000"/>
                                        <p:tgtEl>
                                          <p:spTgt spid="3">
                                            <p:txEl>
                                              <p:pRg st="2" end="2"/>
                                            </p:txEl>
                                          </p:spTgt>
                                        </p:tgtEl>
                                      </p:cBhvr>
                                    </p:animEffect>
                                    <p:anim calcmode="lin" valueType="num">
                                      <p:cBhvr>
                                        <p:cTn id="4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30" presetClass="entr" presetSubtype="0" fill="hold" nodeType="clickEffect">
                                  <p:stCondLst>
                                    <p:cond delay="0"/>
                                  </p:stCondLst>
                                  <p:iterate type="lt">
                                    <p:tmPct val="0"/>
                                  </p:iterate>
                                  <p:childTnLst>
                                    <p:set>
                                      <p:cBhvr>
                                        <p:cTn id="45" dur="1" fill="hold">
                                          <p:stCondLst>
                                            <p:cond delay="0"/>
                                          </p:stCondLst>
                                        </p:cTn>
                                        <p:tgtEl>
                                          <p:spTgt spid="4">
                                            <p:txEl>
                                              <p:pRg st="0" end="0"/>
                                            </p:txEl>
                                          </p:spTgt>
                                        </p:tgtEl>
                                        <p:attrNameLst>
                                          <p:attrName>style.visibility</p:attrName>
                                        </p:attrNameLst>
                                      </p:cBhvr>
                                      <p:to>
                                        <p:strVal val="visible"/>
                                      </p:to>
                                    </p:set>
                                    <p:animEffect transition="in" filter="fade">
                                      <p:cBhvr>
                                        <p:cTn id="46" dur="800" decel="100000"/>
                                        <p:tgtEl>
                                          <p:spTgt spid="4">
                                            <p:txEl>
                                              <p:pRg st="0" end="0"/>
                                            </p:txEl>
                                          </p:spTgt>
                                        </p:tgtEl>
                                      </p:cBhvr>
                                    </p:animEffect>
                                    <p:anim calcmode="lin" valueType="num">
                                      <p:cBhvr>
                                        <p:cTn id="47" dur="800" decel="100000" fill="hold"/>
                                        <p:tgtEl>
                                          <p:spTgt spid="4">
                                            <p:txEl>
                                              <p:pRg st="0" end="0"/>
                                            </p:txEl>
                                          </p:spTgt>
                                        </p:tgtEl>
                                        <p:attrNameLst>
                                          <p:attrName>style.rotation</p:attrName>
                                        </p:attrNameLst>
                                      </p:cBhvr>
                                      <p:tavLst>
                                        <p:tav tm="0">
                                          <p:val>
                                            <p:fltVal val="-90"/>
                                          </p:val>
                                        </p:tav>
                                        <p:tav tm="100000">
                                          <p:val>
                                            <p:fltVal val="0"/>
                                          </p:val>
                                        </p:tav>
                                      </p:tavLst>
                                    </p:anim>
                                    <p:anim calcmode="lin" valueType="num">
                                      <p:cBhvr>
                                        <p:cTn id="48" dur="800" decel="100000" fill="hold"/>
                                        <p:tgtEl>
                                          <p:spTgt spid="4">
                                            <p:txEl>
                                              <p:pRg st="0" end="0"/>
                                            </p:txEl>
                                          </p:spTgt>
                                        </p:tgtEl>
                                        <p:attrNameLst>
                                          <p:attrName>ppt_x</p:attrName>
                                        </p:attrNameLst>
                                      </p:cBhvr>
                                      <p:tavLst>
                                        <p:tav tm="0">
                                          <p:val>
                                            <p:strVal val="#ppt_x+0.4"/>
                                          </p:val>
                                        </p:tav>
                                        <p:tav tm="100000">
                                          <p:val>
                                            <p:strVal val="#ppt_x-0.05"/>
                                          </p:val>
                                        </p:tav>
                                      </p:tavLst>
                                    </p:anim>
                                    <p:anim calcmode="lin" valueType="num">
                                      <p:cBhvr>
                                        <p:cTn id="49" dur="800" decel="100000" fill="hold"/>
                                        <p:tgtEl>
                                          <p:spTgt spid="4">
                                            <p:txEl>
                                              <p:pRg st="0" end="0"/>
                                            </p:txEl>
                                          </p:spTgt>
                                        </p:tgtEl>
                                        <p:attrNameLst>
                                          <p:attrName>ppt_y</p:attrName>
                                        </p:attrNameLst>
                                      </p:cBhvr>
                                      <p:tavLst>
                                        <p:tav tm="0">
                                          <p:val>
                                            <p:strVal val="#ppt_y-0.4"/>
                                          </p:val>
                                        </p:tav>
                                        <p:tav tm="100000">
                                          <p:val>
                                            <p:strVal val="#ppt_y+0.1"/>
                                          </p:val>
                                        </p:tav>
                                      </p:tavLst>
                                    </p:anim>
                                    <p:anim calcmode="lin" valueType="num">
                                      <p:cBhvr>
                                        <p:cTn id="50" dur="200" accel="100000" fill="hold">
                                          <p:stCondLst>
                                            <p:cond delay="800"/>
                                          </p:stCondLst>
                                        </p:cTn>
                                        <p:tgtEl>
                                          <p:spTgt spid="4">
                                            <p:txEl>
                                              <p:pRg st="0" end="0"/>
                                            </p:txEl>
                                          </p:spTgt>
                                        </p:tgtEl>
                                        <p:attrNameLst>
                                          <p:attrName>ppt_x</p:attrName>
                                        </p:attrNameLst>
                                      </p:cBhvr>
                                      <p:tavLst>
                                        <p:tav tm="0">
                                          <p:val>
                                            <p:strVal val="#ppt_x-0.05"/>
                                          </p:val>
                                        </p:tav>
                                        <p:tav tm="100000">
                                          <p:val>
                                            <p:strVal val="#ppt_x"/>
                                          </p:val>
                                        </p:tav>
                                      </p:tavLst>
                                    </p:anim>
                                    <p:anim calcmode="lin" valueType="num">
                                      <p:cBhvr>
                                        <p:cTn id="51" dur="200" accel="100000" fill="hold">
                                          <p:stCondLst>
                                            <p:cond delay="800"/>
                                          </p:stCondLst>
                                        </p:cTn>
                                        <p:tgtEl>
                                          <p:spTgt spid="4">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30" presetClass="entr" presetSubtype="0" fill="hold" nodeType="clickEffect">
                                  <p:stCondLst>
                                    <p:cond delay="0"/>
                                  </p:stCondLst>
                                  <p:iterate type="lt">
                                    <p:tmPct val="0"/>
                                  </p:iterate>
                                  <p:childTnLst>
                                    <p:set>
                                      <p:cBhvr>
                                        <p:cTn id="55" dur="1" fill="hold">
                                          <p:stCondLst>
                                            <p:cond delay="0"/>
                                          </p:stCondLst>
                                        </p:cTn>
                                        <p:tgtEl>
                                          <p:spTgt spid="4">
                                            <p:txEl>
                                              <p:pRg st="1" end="1"/>
                                            </p:txEl>
                                          </p:spTgt>
                                        </p:tgtEl>
                                        <p:attrNameLst>
                                          <p:attrName>style.visibility</p:attrName>
                                        </p:attrNameLst>
                                      </p:cBhvr>
                                      <p:to>
                                        <p:strVal val="visible"/>
                                      </p:to>
                                    </p:set>
                                    <p:animEffect transition="in" filter="fade">
                                      <p:cBhvr>
                                        <p:cTn id="56" dur="800" decel="100000"/>
                                        <p:tgtEl>
                                          <p:spTgt spid="4">
                                            <p:txEl>
                                              <p:pRg st="1" end="1"/>
                                            </p:txEl>
                                          </p:spTgt>
                                        </p:tgtEl>
                                      </p:cBhvr>
                                    </p:animEffect>
                                    <p:anim calcmode="lin" valueType="num">
                                      <p:cBhvr>
                                        <p:cTn id="57" dur="800" decel="100000" fill="hold"/>
                                        <p:tgtEl>
                                          <p:spTgt spid="4">
                                            <p:txEl>
                                              <p:pRg st="1" end="1"/>
                                            </p:txEl>
                                          </p:spTgt>
                                        </p:tgtEl>
                                        <p:attrNameLst>
                                          <p:attrName>style.rotation</p:attrName>
                                        </p:attrNameLst>
                                      </p:cBhvr>
                                      <p:tavLst>
                                        <p:tav tm="0">
                                          <p:val>
                                            <p:fltVal val="-90"/>
                                          </p:val>
                                        </p:tav>
                                        <p:tav tm="100000">
                                          <p:val>
                                            <p:fltVal val="0"/>
                                          </p:val>
                                        </p:tav>
                                      </p:tavLst>
                                    </p:anim>
                                    <p:anim calcmode="lin" valueType="num">
                                      <p:cBhvr>
                                        <p:cTn id="58" dur="800" decel="100000" fill="hold"/>
                                        <p:tgtEl>
                                          <p:spTgt spid="4">
                                            <p:txEl>
                                              <p:pRg st="1" end="1"/>
                                            </p:txEl>
                                          </p:spTgt>
                                        </p:tgtEl>
                                        <p:attrNameLst>
                                          <p:attrName>ppt_x</p:attrName>
                                        </p:attrNameLst>
                                      </p:cBhvr>
                                      <p:tavLst>
                                        <p:tav tm="0">
                                          <p:val>
                                            <p:strVal val="#ppt_x+0.4"/>
                                          </p:val>
                                        </p:tav>
                                        <p:tav tm="100000">
                                          <p:val>
                                            <p:strVal val="#ppt_x-0.05"/>
                                          </p:val>
                                        </p:tav>
                                      </p:tavLst>
                                    </p:anim>
                                    <p:anim calcmode="lin" valueType="num">
                                      <p:cBhvr>
                                        <p:cTn id="59" dur="800" decel="100000" fill="hold"/>
                                        <p:tgtEl>
                                          <p:spTgt spid="4">
                                            <p:txEl>
                                              <p:pRg st="1" end="1"/>
                                            </p:txEl>
                                          </p:spTgt>
                                        </p:tgtEl>
                                        <p:attrNameLst>
                                          <p:attrName>ppt_y</p:attrName>
                                        </p:attrNameLst>
                                      </p:cBhvr>
                                      <p:tavLst>
                                        <p:tav tm="0">
                                          <p:val>
                                            <p:strVal val="#ppt_y-0.4"/>
                                          </p:val>
                                        </p:tav>
                                        <p:tav tm="100000">
                                          <p:val>
                                            <p:strVal val="#ppt_y+0.1"/>
                                          </p:val>
                                        </p:tav>
                                      </p:tavLst>
                                    </p:anim>
                                    <p:anim calcmode="lin" valueType="num">
                                      <p:cBhvr>
                                        <p:cTn id="60" dur="200" accel="100000" fill="hold">
                                          <p:stCondLst>
                                            <p:cond delay="800"/>
                                          </p:stCondLst>
                                        </p:cTn>
                                        <p:tgtEl>
                                          <p:spTgt spid="4">
                                            <p:txEl>
                                              <p:pRg st="1" end="1"/>
                                            </p:txEl>
                                          </p:spTgt>
                                        </p:tgtEl>
                                        <p:attrNameLst>
                                          <p:attrName>ppt_x</p:attrName>
                                        </p:attrNameLst>
                                      </p:cBhvr>
                                      <p:tavLst>
                                        <p:tav tm="0">
                                          <p:val>
                                            <p:strVal val="#ppt_x-0.05"/>
                                          </p:val>
                                        </p:tav>
                                        <p:tav tm="100000">
                                          <p:val>
                                            <p:strVal val="#ppt_x"/>
                                          </p:val>
                                        </p:tav>
                                      </p:tavLst>
                                    </p:anim>
                                    <p:anim calcmode="lin" valueType="num">
                                      <p:cBhvr>
                                        <p:cTn id="61" dur="200" accel="100000" fill="hold">
                                          <p:stCondLst>
                                            <p:cond delay="800"/>
                                          </p:stCondLst>
                                        </p:cTn>
                                        <p:tgtEl>
                                          <p:spTgt spid="4">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7" presetClass="entr" presetSubtype="0" fill="hold" nodeType="clickEffect">
                                  <p:stCondLst>
                                    <p:cond delay="0"/>
                                  </p:stCondLst>
                                  <p:childTnLst>
                                    <p:set>
                                      <p:cBhvr>
                                        <p:cTn id="65" dur="1" fill="hold">
                                          <p:stCondLst>
                                            <p:cond delay="0"/>
                                          </p:stCondLst>
                                        </p:cTn>
                                        <p:tgtEl>
                                          <p:spTgt spid="4">
                                            <p:txEl>
                                              <p:pRg st="2" end="2"/>
                                            </p:txEl>
                                          </p:spTgt>
                                        </p:tgtEl>
                                        <p:attrNameLst>
                                          <p:attrName>style.visibility</p:attrName>
                                        </p:attrNameLst>
                                      </p:cBhvr>
                                      <p:to>
                                        <p:strVal val="visible"/>
                                      </p:to>
                                    </p:set>
                                    <p:animEffect transition="in" filter="fade">
                                      <p:cBhvr>
                                        <p:cTn id="66" dur="1000"/>
                                        <p:tgtEl>
                                          <p:spTgt spid="4">
                                            <p:txEl>
                                              <p:pRg st="2" end="2"/>
                                            </p:txEl>
                                          </p:spTgt>
                                        </p:tgtEl>
                                      </p:cBhvr>
                                    </p:animEffect>
                                    <p:anim calcmode="lin" valueType="num">
                                      <p:cBhvr>
                                        <p:cTn id="6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68"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7" presetClass="entr" presetSubtype="0" fill="hold" nodeType="clickEffect">
                                  <p:stCondLst>
                                    <p:cond delay="0"/>
                                  </p:stCondLst>
                                  <p:childTnLst>
                                    <p:set>
                                      <p:cBhvr>
                                        <p:cTn id="72" dur="1" fill="hold">
                                          <p:stCondLst>
                                            <p:cond delay="0"/>
                                          </p:stCondLst>
                                        </p:cTn>
                                        <p:tgtEl>
                                          <p:spTgt spid="4">
                                            <p:txEl>
                                              <p:pRg st="3" end="3"/>
                                            </p:txEl>
                                          </p:spTgt>
                                        </p:tgtEl>
                                        <p:attrNameLst>
                                          <p:attrName>style.visibility</p:attrName>
                                        </p:attrNameLst>
                                      </p:cBhvr>
                                      <p:to>
                                        <p:strVal val="visible"/>
                                      </p:to>
                                    </p:set>
                                    <p:animEffect transition="in" filter="fade">
                                      <p:cBhvr>
                                        <p:cTn id="73" dur="1000"/>
                                        <p:tgtEl>
                                          <p:spTgt spid="4">
                                            <p:txEl>
                                              <p:pRg st="3" end="3"/>
                                            </p:txEl>
                                          </p:spTgt>
                                        </p:tgtEl>
                                      </p:cBhvr>
                                    </p:animEffect>
                                    <p:anim calcmode="lin" valueType="num">
                                      <p:cBhvr>
                                        <p:cTn id="7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75"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7" presetClass="entr" presetSubtype="0" fill="hold" nodeType="clickEffect">
                                  <p:stCondLst>
                                    <p:cond delay="0"/>
                                  </p:stCondLst>
                                  <p:childTnLst>
                                    <p:set>
                                      <p:cBhvr>
                                        <p:cTn id="79" dur="1" fill="hold">
                                          <p:stCondLst>
                                            <p:cond delay="0"/>
                                          </p:stCondLst>
                                        </p:cTn>
                                        <p:tgtEl>
                                          <p:spTgt spid="4">
                                            <p:txEl>
                                              <p:pRg st="4" end="4"/>
                                            </p:txEl>
                                          </p:spTgt>
                                        </p:tgtEl>
                                        <p:attrNameLst>
                                          <p:attrName>style.visibility</p:attrName>
                                        </p:attrNameLst>
                                      </p:cBhvr>
                                      <p:to>
                                        <p:strVal val="visible"/>
                                      </p:to>
                                    </p:set>
                                    <p:animEffect transition="in" filter="fade">
                                      <p:cBhvr>
                                        <p:cTn id="80" dur="1000"/>
                                        <p:tgtEl>
                                          <p:spTgt spid="4">
                                            <p:txEl>
                                              <p:pRg st="4" end="4"/>
                                            </p:txEl>
                                          </p:spTgt>
                                        </p:tgtEl>
                                      </p:cBhvr>
                                    </p:animEffect>
                                    <p:anim calcmode="lin" valueType="num">
                                      <p:cBhvr>
                                        <p:cTn id="81"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82"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0" y="116632"/>
            <a:ext cx="9144000" cy="3046988"/>
          </a:xfrm>
          <a:prstGeom prst="rect">
            <a:avLst/>
          </a:prstGeom>
          <a:noFill/>
        </p:spPr>
        <p:txBody>
          <a:bodyPr wrap="square" rtlCol="1">
            <a:spAutoFit/>
          </a:bodyPr>
          <a:lstStyle/>
          <a:p>
            <a:pPr lvl="0"/>
            <a:r>
              <a:rPr lang="ar-EG" sz="2800" b="1" dirty="0"/>
              <a:t>امتدادات ملفات الصور :</a:t>
            </a:r>
            <a:endParaRPr lang="en-US" sz="2800" b="1" dirty="0"/>
          </a:p>
          <a:p>
            <a:r>
              <a:rPr lang="ar-EG" sz="2400" b="1" dirty="0"/>
              <a:t>تقسم الصور بشكل عام </a:t>
            </a:r>
            <a:r>
              <a:rPr lang="ar-EG" sz="2400" b="1" dirty="0" err="1"/>
              <a:t>الـــى</a:t>
            </a:r>
            <a:r>
              <a:rPr lang="ar-EG" sz="2400" b="1" dirty="0"/>
              <a:t> : </a:t>
            </a:r>
          </a:p>
          <a:p>
            <a:r>
              <a:rPr lang="ar-EG" sz="2400" b="1" dirty="0"/>
              <a:t>صور نقطية ( </a:t>
            </a:r>
            <a:r>
              <a:rPr lang="en-US" sz="2400" b="1" dirty="0"/>
              <a:t>bitmapped </a:t>
            </a:r>
            <a:r>
              <a:rPr lang="ar-EG" sz="2400" b="1" dirty="0"/>
              <a:t> ) وصور </a:t>
            </a:r>
            <a:r>
              <a:rPr lang="ar-EG" sz="2400" b="1" dirty="0" err="1"/>
              <a:t>شعاعية</a:t>
            </a:r>
            <a:r>
              <a:rPr lang="ar-EG" sz="2400" b="1" dirty="0"/>
              <a:t> ( </a:t>
            </a:r>
            <a:r>
              <a:rPr lang="en-US" sz="2400" b="1" dirty="0"/>
              <a:t>vectored </a:t>
            </a:r>
            <a:r>
              <a:rPr lang="ar-EG" sz="2400" b="1" dirty="0"/>
              <a:t> ) </a:t>
            </a:r>
          </a:p>
          <a:p>
            <a:endParaRPr lang="ar-EG" sz="2000" b="1" dirty="0"/>
          </a:p>
          <a:p>
            <a:r>
              <a:rPr lang="ar-EG" sz="2400" b="1" dirty="0"/>
              <a:t>الصيغ النقطية : تمثل الصور على شكل شبكة من </a:t>
            </a:r>
            <a:r>
              <a:rPr lang="ar-EG" sz="2400" b="1" dirty="0" err="1"/>
              <a:t>البكسلات</a:t>
            </a:r>
            <a:r>
              <a:rPr lang="ar-EG" sz="2400" b="1" dirty="0"/>
              <a:t> , بحيث يكون لكل بكسل موقع ولون محدد , الصيغ </a:t>
            </a:r>
            <a:r>
              <a:rPr lang="ar-EG" sz="2400" b="1" dirty="0" err="1"/>
              <a:t>الشعاعية</a:t>
            </a:r>
            <a:r>
              <a:rPr lang="ar-EG" sz="2400" b="1" dirty="0"/>
              <a:t> : تحوي على وصف </a:t>
            </a:r>
            <a:r>
              <a:rPr lang="ar-EG" sz="2400" b="1" dirty="0" err="1"/>
              <a:t>هندسى</a:t>
            </a:r>
            <a:r>
              <a:rPr lang="ar-EG" sz="2400" b="1" dirty="0"/>
              <a:t> يمكن </a:t>
            </a:r>
            <a:r>
              <a:rPr lang="ar-EG" sz="2400" b="1" dirty="0" err="1"/>
              <a:t>ان</a:t>
            </a:r>
            <a:r>
              <a:rPr lang="ar-EG" sz="2400" b="1" dirty="0"/>
              <a:t> يطبق </a:t>
            </a:r>
            <a:r>
              <a:rPr lang="ar-EG" sz="2400" b="1" dirty="0" err="1"/>
              <a:t>بأى</a:t>
            </a:r>
            <a:r>
              <a:rPr lang="ar-EG" sz="2400" b="1" dirty="0"/>
              <a:t> حجم عرض مطلوب ودون أن يطرأ أي </a:t>
            </a:r>
            <a:r>
              <a:rPr lang="ar-EG" sz="2400" b="1" dirty="0" err="1"/>
              <a:t>تشوية</a:t>
            </a:r>
            <a:r>
              <a:rPr lang="ar-EG" sz="2400" b="1" dirty="0"/>
              <a:t> على الصورة . كما يمكن أن تحوي هذه الملفات على بيانات نقطية . </a:t>
            </a:r>
            <a:endParaRPr lang="en-US" sz="2400" b="1" dirty="0"/>
          </a:p>
        </p:txBody>
      </p:sp>
      <p:pic>
        <p:nvPicPr>
          <p:cNvPr id="3" name="صورة 2" descr="Untitled.jpg"/>
          <p:cNvPicPr>
            <a:picLocks noChangeAspect="1"/>
          </p:cNvPicPr>
          <p:nvPr/>
        </p:nvPicPr>
        <p:blipFill>
          <a:blip r:embed="rId2"/>
          <a:stretch>
            <a:fillRect/>
          </a:stretch>
        </p:blipFill>
        <p:spPr>
          <a:xfrm>
            <a:off x="1285852" y="3073520"/>
            <a:ext cx="6786610" cy="2587728"/>
          </a:xfrm>
          <a:prstGeom prst="rect">
            <a:avLst/>
          </a:prstGeom>
        </p:spPr>
      </p:pic>
      <p:sp>
        <p:nvSpPr>
          <p:cNvPr id="4" name="مربع نص 3"/>
          <p:cNvSpPr txBox="1"/>
          <p:nvPr/>
        </p:nvSpPr>
        <p:spPr>
          <a:xfrm>
            <a:off x="0" y="5929330"/>
            <a:ext cx="8929686" cy="400110"/>
          </a:xfrm>
          <a:prstGeom prst="rect">
            <a:avLst/>
          </a:prstGeom>
          <a:noFill/>
        </p:spPr>
        <p:txBody>
          <a:bodyPr wrap="square" rtlCol="1">
            <a:spAutoFit/>
          </a:bodyPr>
          <a:lstStyle/>
          <a:p>
            <a:r>
              <a:rPr lang="ar-EG" sz="2000" dirty="0">
                <a:ln w="10160">
                  <a:solidFill>
                    <a:schemeClr val="accent1"/>
                  </a:solidFill>
                  <a:prstDash val="solid"/>
                </a:ln>
              </a:rPr>
              <a:t>فى بعض الأحيان يجب أن تحول كل الرسومات الشعاعية إلى أنماط نقطية لكي تعرض على الشاشات الرقمية </a:t>
            </a:r>
            <a:endParaRPr lang="en-US" sz="2000" dirty="0">
              <a:ln w="10160">
                <a:solidFill>
                  <a:schemeClr val="accent1"/>
                </a:solidFill>
                <a:prstDash val="solid"/>
              </a:ln>
            </a:endParaRPr>
          </a:p>
        </p:txBody>
      </p:sp>
    </p:spTree>
  </p:cSld>
  <p:clrMapOvr>
    <a:masterClrMapping/>
  </p:clrMapOvr>
  <p:transition>
    <p:comb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slide(fromLeft)">
                                      <p:cBhvr>
                                        <p:cTn id="7" dur="1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800" decel="100000"/>
                                        <p:tgtEl>
                                          <p:spTgt spid="2">
                                            <p:txEl>
                                              <p:pRg st="1" end="1"/>
                                            </p:txEl>
                                          </p:spTgt>
                                        </p:tgtEl>
                                      </p:cBhvr>
                                    </p:animEffect>
                                    <p:anim calcmode="lin" valueType="num">
                                      <p:cBhvr>
                                        <p:cTn id="13" dur="800" decel="100000" fill="hold"/>
                                        <p:tgtEl>
                                          <p:spTgt spid="2">
                                            <p:txEl>
                                              <p:pRg st="1" end="1"/>
                                            </p:txEl>
                                          </p:spTgt>
                                        </p:tgtEl>
                                        <p:attrNameLst>
                                          <p:attrName>style.rotation</p:attrName>
                                        </p:attrNameLst>
                                      </p:cBhvr>
                                      <p:tavLst>
                                        <p:tav tm="0">
                                          <p:val>
                                            <p:fltVal val="-90"/>
                                          </p:val>
                                        </p:tav>
                                        <p:tav tm="100000">
                                          <p:val>
                                            <p:fltVal val="0"/>
                                          </p:val>
                                        </p:tav>
                                      </p:tavLst>
                                    </p:anim>
                                    <p:anim calcmode="lin" valueType="num">
                                      <p:cBhvr>
                                        <p:cTn id="14" dur="800" decel="100000" fill="hold"/>
                                        <p:tgtEl>
                                          <p:spTgt spid="2">
                                            <p:txEl>
                                              <p:pRg st="1" end="1"/>
                                            </p:txEl>
                                          </p:spTgt>
                                        </p:tgtEl>
                                        <p:attrNameLst>
                                          <p:attrName>ppt_x</p:attrName>
                                        </p:attrNameLst>
                                      </p:cBhvr>
                                      <p:tavLst>
                                        <p:tav tm="0">
                                          <p:val>
                                            <p:strVal val="#ppt_x+0.4"/>
                                          </p:val>
                                        </p:tav>
                                        <p:tav tm="100000">
                                          <p:val>
                                            <p:strVal val="#ppt_x-0.05"/>
                                          </p:val>
                                        </p:tav>
                                      </p:tavLst>
                                    </p:anim>
                                    <p:anim calcmode="lin" valueType="num">
                                      <p:cBhvr>
                                        <p:cTn id="15" dur="800" decel="100000" fill="hold"/>
                                        <p:tgtEl>
                                          <p:spTgt spid="2">
                                            <p:txEl>
                                              <p:pRg st="1" end="1"/>
                                            </p:txEl>
                                          </p:spTgt>
                                        </p:tgtEl>
                                        <p:attrNameLst>
                                          <p:attrName>ppt_y</p:attrName>
                                        </p:attrNameLst>
                                      </p:cBhvr>
                                      <p:tavLst>
                                        <p:tav tm="0">
                                          <p:val>
                                            <p:strVal val="#ppt_y-0.4"/>
                                          </p:val>
                                        </p:tav>
                                        <p:tav tm="100000">
                                          <p:val>
                                            <p:strVal val="#ppt_y+0.1"/>
                                          </p:val>
                                        </p:tav>
                                      </p:tavLst>
                                    </p:anim>
                                    <p:anim calcmode="lin" valueType="num">
                                      <p:cBhvr>
                                        <p:cTn id="16" dur="200" accel="100000" fill="hold">
                                          <p:stCondLst>
                                            <p:cond delay="800"/>
                                          </p:stCondLst>
                                        </p:cTn>
                                        <p:tgtEl>
                                          <p:spTgt spid="2">
                                            <p:txEl>
                                              <p:pRg st="1" end="1"/>
                                            </p:txEl>
                                          </p:spTgt>
                                        </p:tgtEl>
                                        <p:attrNameLst>
                                          <p:attrName>ppt_x</p:attrName>
                                        </p:attrNameLst>
                                      </p:cBhvr>
                                      <p:tavLst>
                                        <p:tav tm="0">
                                          <p:val>
                                            <p:strVal val="#ppt_x-0.05"/>
                                          </p:val>
                                        </p:tav>
                                        <p:tav tm="100000">
                                          <p:val>
                                            <p:strVal val="#ppt_x"/>
                                          </p:val>
                                        </p:tav>
                                      </p:tavLst>
                                    </p:anim>
                                    <p:anim calcmode="lin" valueType="num">
                                      <p:cBhvr>
                                        <p:cTn id="17" dur="200" accel="100000" fill="hold">
                                          <p:stCondLst>
                                            <p:cond delay="800"/>
                                          </p:stCondLst>
                                        </p:cTn>
                                        <p:tgtEl>
                                          <p:spTgt spid="2">
                                            <p:txEl>
                                              <p:pRg st="1" end="1"/>
                                            </p:txEl>
                                          </p:spTgt>
                                        </p:tgtEl>
                                        <p:attrNameLst>
                                          <p:attrName>ppt_y</p:attrName>
                                        </p:attrNameLst>
                                      </p:cBhvr>
                                      <p:tavLst>
                                        <p:tav tm="0">
                                          <p:val>
                                            <p:strVal val="#ppt_y+0.1"/>
                                          </p:val>
                                        </p:tav>
                                        <p:tav tm="100000">
                                          <p:val>
                                            <p:strVal val="#ppt_y"/>
                                          </p:val>
                                        </p:tav>
                                      </p:tavLst>
                                    </p:anim>
                                  </p:childTnLst>
                                </p:cTn>
                              </p:par>
                              <p:par>
                                <p:cTn id="18" presetID="30" presetClass="entr" presetSubtype="0" fill="hold" nodeType="with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animEffect transition="in" filter="fade">
                                      <p:cBhvr>
                                        <p:cTn id="20" dur="800" decel="100000"/>
                                        <p:tgtEl>
                                          <p:spTgt spid="2">
                                            <p:txEl>
                                              <p:pRg st="2" end="2"/>
                                            </p:txEl>
                                          </p:spTgt>
                                        </p:tgtEl>
                                      </p:cBhvr>
                                    </p:animEffect>
                                    <p:anim calcmode="lin" valueType="num">
                                      <p:cBhvr>
                                        <p:cTn id="21" dur="800" decel="100000" fill="hold"/>
                                        <p:tgtEl>
                                          <p:spTgt spid="2">
                                            <p:txEl>
                                              <p:pRg st="2" end="2"/>
                                            </p:txEl>
                                          </p:spTgt>
                                        </p:tgtEl>
                                        <p:attrNameLst>
                                          <p:attrName>style.rotation</p:attrName>
                                        </p:attrNameLst>
                                      </p:cBhvr>
                                      <p:tavLst>
                                        <p:tav tm="0">
                                          <p:val>
                                            <p:fltVal val="-90"/>
                                          </p:val>
                                        </p:tav>
                                        <p:tav tm="100000">
                                          <p:val>
                                            <p:fltVal val="0"/>
                                          </p:val>
                                        </p:tav>
                                      </p:tavLst>
                                    </p:anim>
                                    <p:anim calcmode="lin" valueType="num">
                                      <p:cBhvr>
                                        <p:cTn id="22" dur="800" decel="100000" fill="hold"/>
                                        <p:tgtEl>
                                          <p:spTgt spid="2">
                                            <p:txEl>
                                              <p:pRg st="2" end="2"/>
                                            </p:txEl>
                                          </p:spTgt>
                                        </p:tgtEl>
                                        <p:attrNameLst>
                                          <p:attrName>ppt_x</p:attrName>
                                        </p:attrNameLst>
                                      </p:cBhvr>
                                      <p:tavLst>
                                        <p:tav tm="0">
                                          <p:val>
                                            <p:strVal val="#ppt_x+0.4"/>
                                          </p:val>
                                        </p:tav>
                                        <p:tav tm="100000">
                                          <p:val>
                                            <p:strVal val="#ppt_x-0.05"/>
                                          </p:val>
                                        </p:tav>
                                      </p:tavLst>
                                    </p:anim>
                                    <p:anim calcmode="lin" valueType="num">
                                      <p:cBhvr>
                                        <p:cTn id="23" dur="800" decel="100000" fill="hold"/>
                                        <p:tgtEl>
                                          <p:spTgt spid="2">
                                            <p:txEl>
                                              <p:pRg st="2" end="2"/>
                                            </p:txEl>
                                          </p:spTgt>
                                        </p:tgtEl>
                                        <p:attrNameLst>
                                          <p:attrName>ppt_y</p:attrName>
                                        </p:attrNameLst>
                                      </p:cBhvr>
                                      <p:tavLst>
                                        <p:tav tm="0">
                                          <p:val>
                                            <p:strVal val="#ppt_y-0.4"/>
                                          </p:val>
                                        </p:tav>
                                        <p:tav tm="100000">
                                          <p:val>
                                            <p:strVal val="#ppt_y+0.1"/>
                                          </p:val>
                                        </p:tav>
                                      </p:tavLst>
                                    </p:anim>
                                    <p:anim calcmode="lin" valueType="num">
                                      <p:cBhvr>
                                        <p:cTn id="24" dur="200" accel="100000" fill="hold">
                                          <p:stCondLst>
                                            <p:cond delay="800"/>
                                          </p:stCondLst>
                                        </p:cTn>
                                        <p:tgtEl>
                                          <p:spTgt spid="2">
                                            <p:txEl>
                                              <p:pRg st="2" end="2"/>
                                            </p:txEl>
                                          </p:spTgt>
                                        </p:tgtEl>
                                        <p:attrNameLst>
                                          <p:attrName>ppt_x</p:attrName>
                                        </p:attrNameLst>
                                      </p:cBhvr>
                                      <p:tavLst>
                                        <p:tav tm="0">
                                          <p:val>
                                            <p:strVal val="#ppt_x-0.05"/>
                                          </p:val>
                                        </p:tav>
                                        <p:tav tm="100000">
                                          <p:val>
                                            <p:strVal val="#ppt_x"/>
                                          </p:val>
                                        </p:tav>
                                      </p:tavLst>
                                    </p:anim>
                                    <p:anim calcmode="lin" valueType="num">
                                      <p:cBhvr>
                                        <p:cTn id="25" dur="200" accel="100000" fill="hold">
                                          <p:stCondLst>
                                            <p:cond delay="800"/>
                                          </p:stCondLst>
                                        </p:cTn>
                                        <p:tgtEl>
                                          <p:spTgt spid="2">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58" presetClass="entr" presetSubtype="0" accel="100000" fill="hold" nodeType="clickEffect">
                                  <p:stCondLst>
                                    <p:cond delay="0"/>
                                  </p:stCondLst>
                                  <p:childTnLst>
                                    <p:set>
                                      <p:cBhvr>
                                        <p:cTn id="29" dur="1" fill="hold">
                                          <p:stCondLst>
                                            <p:cond delay="0"/>
                                          </p:stCondLst>
                                        </p:cTn>
                                        <p:tgtEl>
                                          <p:spTgt spid="2">
                                            <p:txEl>
                                              <p:pRg st="4" end="4"/>
                                            </p:txEl>
                                          </p:spTgt>
                                        </p:tgtEl>
                                        <p:attrNameLst>
                                          <p:attrName>style.visibility</p:attrName>
                                        </p:attrNameLst>
                                      </p:cBhvr>
                                      <p:to>
                                        <p:strVal val="visible"/>
                                      </p:to>
                                    </p:set>
                                    <p:anim calcmode="lin" valueType="num">
                                      <p:cBhvr>
                                        <p:cTn id="30" dur="1000" fill="hold"/>
                                        <p:tgtEl>
                                          <p:spTgt spid="2">
                                            <p:txEl>
                                              <p:pRg st="4" end="4"/>
                                            </p:txEl>
                                          </p:spTgt>
                                        </p:tgtEl>
                                        <p:attrNameLst>
                                          <p:attrName>ppt_w</p:attrName>
                                        </p:attrNameLst>
                                      </p:cBhvr>
                                      <p:tavLst>
                                        <p:tav tm="0">
                                          <p:val>
                                            <p:strVal val="#ppt_w*2.5"/>
                                          </p:val>
                                        </p:tav>
                                        <p:tav tm="100000">
                                          <p:val>
                                            <p:strVal val="#ppt_w"/>
                                          </p:val>
                                        </p:tav>
                                      </p:tavLst>
                                    </p:anim>
                                    <p:anim calcmode="lin" valueType="num">
                                      <p:cBhvr>
                                        <p:cTn id="31" dur="1000" fill="hold"/>
                                        <p:tgtEl>
                                          <p:spTgt spid="2">
                                            <p:txEl>
                                              <p:pRg st="4" end="4"/>
                                            </p:txEl>
                                          </p:spTgt>
                                        </p:tgtEl>
                                        <p:attrNameLst>
                                          <p:attrName>ppt_h</p:attrName>
                                        </p:attrNameLst>
                                      </p:cBhvr>
                                      <p:tavLst>
                                        <p:tav tm="0">
                                          <p:val>
                                            <p:strVal val="#ppt_h*0.01"/>
                                          </p:val>
                                        </p:tav>
                                        <p:tav tm="100000">
                                          <p:val>
                                            <p:strVal val="#ppt_h"/>
                                          </p:val>
                                        </p:tav>
                                      </p:tavLst>
                                    </p:anim>
                                    <p:anim calcmode="lin" valueType="num">
                                      <p:cBhvr>
                                        <p:cTn id="3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4" end="4"/>
                                            </p:txEl>
                                          </p:spTgt>
                                        </p:tgtEl>
                                        <p:attrNameLst>
                                          <p:attrName>ppt_y</p:attrName>
                                        </p:attrNameLst>
                                      </p:cBhvr>
                                      <p:tavLst>
                                        <p:tav tm="0">
                                          <p:val>
                                            <p:strVal val="#ppt_h+1"/>
                                          </p:val>
                                        </p:tav>
                                        <p:tav tm="100000">
                                          <p:val>
                                            <p:strVal val="#ppt_y"/>
                                          </p:val>
                                        </p:tav>
                                      </p:tavLst>
                                    </p:anim>
                                    <p:animEffect transition="in" filter="fade">
                                      <p:cBhvr>
                                        <p:cTn id="34" dur="1000"/>
                                        <p:tgtEl>
                                          <p:spTgt spid="2">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4" presetClass="entr" presetSubtype="0"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 from="(-#ppt_w/2)" to="(#ppt_x)" calcmode="lin" valueType="num">
                                      <p:cBhvr>
                                        <p:cTn id="39" dur="600" fill="hold">
                                          <p:stCondLst>
                                            <p:cond delay="0"/>
                                          </p:stCondLst>
                                        </p:cTn>
                                        <p:tgtEl>
                                          <p:spTgt spid="3"/>
                                        </p:tgtEl>
                                        <p:attrNameLst>
                                          <p:attrName>ppt_x</p:attrName>
                                        </p:attrNameLst>
                                      </p:cBhvr>
                                    </p:anim>
                                    <p:anim from="0" to="-1.0" calcmode="lin" valueType="num">
                                      <p:cBhvr>
                                        <p:cTn id="40" dur="200" decel="50000" autoRev="1" fill="hold">
                                          <p:stCondLst>
                                            <p:cond delay="600"/>
                                          </p:stCondLst>
                                        </p:cTn>
                                        <p:tgtEl>
                                          <p:spTgt spid="3"/>
                                        </p:tgtEl>
                                        <p:attrNameLst>
                                          <p:attrName>xshear</p:attrName>
                                        </p:attrNameLst>
                                      </p:cBhvr>
                                    </p:anim>
                                    <p:animScale>
                                      <p:cBhvr>
                                        <p:cTn id="41" dur="200" decel="100000" autoRev="1" fill="hold">
                                          <p:stCondLst>
                                            <p:cond delay="600"/>
                                          </p:stCondLst>
                                        </p:cTn>
                                        <p:tgtEl>
                                          <p:spTgt spid="3"/>
                                        </p:tgtEl>
                                      </p:cBhvr>
                                      <p:from x="100000" y="100000"/>
                                      <p:to x="80000" y="100000"/>
                                    </p:animScale>
                                    <p:anim by="(#ppt_h/3+#ppt_w*0.1)" calcmode="lin" valueType="num">
                                      <p:cBhvr additive="sum">
                                        <p:cTn id="42" dur="200" decel="100000" autoRev="1" fill="hold">
                                          <p:stCondLst>
                                            <p:cond delay="600"/>
                                          </p:stCondLst>
                                        </p:cTn>
                                        <p:tgtEl>
                                          <p:spTgt spid="3"/>
                                        </p:tgtEl>
                                        <p:attrNameLst>
                                          <p:attrName>ppt_x</p:attrName>
                                        </p:attrNameLst>
                                      </p:cBhvr>
                                    </p:anim>
                                  </p:childTnLst>
                                </p:cTn>
                              </p:par>
                            </p:childTnLst>
                          </p:cTn>
                        </p:par>
                      </p:childTnLst>
                    </p:cTn>
                  </p:par>
                  <p:par>
                    <p:cTn id="43" fill="hold">
                      <p:stCondLst>
                        <p:cond delay="indefinite"/>
                      </p:stCondLst>
                      <p:childTnLst>
                        <p:par>
                          <p:cTn id="44" fill="hold">
                            <p:stCondLst>
                              <p:cond delay="0"/>
                            </p:stCondLst>
                            <p:childTnLst>
                              <p:par>
                                <p:cTn id="45" presetID="58" presetClass="entr" presetSubtype="0" accel="100000" fill="hold" nodeType="clickEffect">
                                  <p:stCondLst>
                                    <p:cond delay="0"/>
                                  </p:stCondLst>
                                  <p:childTnLst>
                                    <p:set>
                                      <p:cBhvr>
                                        <p:cTn id="46" dur="1" fill="hold">
                                          <p:stCondLst>
                                            <p:cond delay="0"/>
                                          </p:stCondLst>
                                        </p:cTn>
                                        <p:tgtEl>
                                          <p:spTgt spid="4">
                                            <p:txEl>
                                              <p:pRg st="0" end="0"/>
                                            </p:txEl>
                                          </p:spTgt>
                                        </p:tgtEl>
                                        <p:attrNameLst>
                                          <p:attrName>style.visibility</p:attrName>
                                        </p:attrNameLst>
                                      </p:cBhvr>
                                      <p:to>
                                        <p:strVal val="visible"/>
                                      </p:to>
                                    </p:set>
                                    <p:anim calcmode="lin" valueType="num">
                                      <p:cBhvr>
                                        <p:cTn id="47" dur="500" fill="hold"/>
                                        <p:tgtEl>
                                          <p:spTgt spid="4">
                                            <p:txEl>
                                              <p:pRg st="0" end="0"/>
                                            </p:txEl>
                                          </p:spTgt>
                                        </p:tgtEl>
                                        <p:attrNameLst>
                                          <p:attrName>ppt_w</p:attrName>
                                        </p:attrNameLst>
                                      </p:cBhvr>
                                      <p:tavLst>
                                        <p:tav tm="0">
                                          <p:val>
                                            <p:strVal val="#ppt_w*2.5"/>
                                          </p:val>
                                        </p:tav>
                                        <p:tav tm="100000">
                                          <p:val>
                                            <p:strVal val="#ppt_w"/>
                                          </p:val>
                                        </p:tav>
                                      </p:tavLst>
                                    </p:anim>
                                    <p:anim calcmode="lin" valueType="num">
                                      <p:cBhvr>
                                        <p:cTn id="48" dur="500" fill="hold"/>
                                        <p:tgtEl>
                                          <p:spTgt spid="4">
                                            <p:txEl>
                                              <p:pRg st="0" end="0"/>
                                            </p:txEl>
                                          </p:spTgt>
                                        </p:tgtEl>
                                        <p:attrNameLst>
                                          <p:attrName>ppt_h</p:attrName>
                                        </p:attrNameLst>
                                      </p:cBhvr>
                                      <p:tavLst>
                                        <p:tav tm="0">
                                          <p:val>
                                            <p:strVal val="#ppt_h*0.01"/>
                                          </p:val>
                                        </p:tav>
                                        <p:tav tm="100000">
                                          <p:val>
                                            <p:strVal val="#ppt_h"/>
                                          </p:val>
                                        </p:tav>
                                      </p:tavLst>
                                    </p:anim>
                                    <p:anim calcmode="lin" valueType="num">
                                      <p:cBhvr>
                                        <p:cTn id="4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50" dur="500" fill="hold"/>
                                        <p:tgtEl>
                                          <p:spTgt spid="4">
                                            <p:txEl>
                                              <p:pRg st="0" end="0"/>
                                            </p:txEl>
                                          </p:spTgt>
                                        </p:tgtEl>
                                        <p:attrNameLst>
                                          <p:attrName>ppt_y</p:attrName>
                                        </p:attrNameLst>
                                      </p:cBhvr>
                                      <p:tavLst>
                                        <p:tav tm="0">
                                          <p:val>
                                            <p:strVal val="#ppt_h+1"/>
                                          </p:val>
                                        </p:tav>
                                        <p:tav tm="100000">
                                          <p:val>
                                            <p:strVal val="#ppt_y"/>
                                          </p:val>
                                        </p:tav>
                                      </p:tavLst>
                                    </p:anim>
                                    <p:animEffect transition="in" filter="fade">
                                      <p:cBhvr>
                                        <p:cTn id="51"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214282" y="428604"/>
            <a:ext cx="8786875" cy="4647426"/>
          </a:xfrm>
          <a:prstGeom prst="rect">
            <a:avLst/>
          </a:prstGeom>
          <a:noFill/>
        </p:spPr>
        <p:txBody>
          <a:bodyPr wrap="square" rtlCol="1">
            <a:spAutoFit/>
          </a:bodyPr>
          <a:lstStyle/>
          <a:p>
            <a:r>
              <a:rPr lang="ar-EG" sz="2800" b="1" dirty="0">
                <a:solidFill>
                  <a:schemeClr val="tx2"/>
                </a:solidFill>
              </a:rPr>
              <a:t>صيغ ملفات الصور هي وسائل لتنظيم هذه الصور وتخزينها </a:t>
            </a:r>
            <a:endParaRPr lang="en-US" sz="2800" b="1" dirty="0">
              <a:solidFill>
                <a:schemeClr val="tx2"/>
              </a:solidFill>
            </a:endParaRPr>
          </a:p>
          <a:p>
            <a:r>
              <a:rPr lang="ar-EG" sz="2800" b="1" dirty="0">
                <a:solidFill>
                  <a:schemeClr val="tx2"/>
                </a:solidFill>
              </a:rPr>
              <a:t>احد أسباب تعدد أنواع الامتدادات هي الحاجة للضغط ...</a:t>
            </a:r>
            <a:endParaRPr lang="en-US" sz="2400" b="1" dirty="0">
              <a:solidFill>
                <a:schemeClr val="tx2"/>
              </a:solidFill>
            </a:endParaRPr>
          </a:p>
          <a:p>
            <a:pPr algn="ctr"/>
            <a:r>
              <a:rPr lang="ar-EG" sz="3600" b="1" dirty="0"/>
              <a:t>هناك نوعان من خوارزميات ضغط الملفات : </a:t>
            </a:r>
            <a:endParaRPr lang="en-US" sz="3600" b="1" dirty="0"/>
          </a:p>
          <a:p>
            <a:pPr algn="l" rtl="0"/>
            <a:r>
              <a:rPr lang="en-US" sz="3200" b="1" dirty="0">
                <a:solidFill>
                  <a:schemeClr val="tx2"/>
                </a:solidFill>
              </a:rPr>
              <a:t>Lossless compression : </a:t>
            </a:r>
          </a:p>
          <a:p>
            <a:r>
              <a:rPr lang="ar-EG" sz="2800" dirty="0"/>
              <a:t>تنقص هذه الخوارزميات من حجم الملف دون أية خسارة من دقة الصورة أي أنها لا تؤدى </a:t>
            </a:r>
            <a:r>
              <a:rPr lang="ar-EG" sz="2800" dirty="0" err="1"/>
              <a:t>الى</a:t>
            </a:r>
            <a:r>
              <a:rPr lang="ar-EG" sz="2800" dirty="0"/>
              <a:t> خسارة أي بيانات أصلية عند فك الضغط .</a:t>
            </a:r>
          </a:p>
          <a:p>
            <a:pPr algn="l"/>
            <a:r>
              <a:rPr lang="en-US" sz="3200" b="1" dirty="0" err="1">
                <a:solidFill>
                  <a:schemeClr val="tx2"/>
                </a:solidFill>
              </a:rPr>
              <a:t>Lossy</a:t>
            </a:r>
            <a:r>
              <a:rPr lang="en-US" sz="3200" b="1" dirty="0">
                <a:solidFill>
                  <a:schemeClr val="tx2"/>
                </a:solidFill>
              </a:rPr>
              <a:t> compression  :</a:t>
            </a:r>
            <a:endParaRPr lang="ar-EG" sz="2800" dirty="0">
              <a:solidFill>
                <a:schemeClr val="tx2"/>
              </a:solidFill>
            </a:endParaRPr>
          </a:p>
          <a:p>
            <a:r>
              <a:rPr lang="ar-EG" sz="2800" dirty="0"/>
              <a:t>يتم ضغط الملف من خلال تجاهل أي بيانات تقرر أنها غير ضرورية أي أنها تستغل الحدود الطبيعية التي تراها العين الإنسانية وتتجاهل المعلومات المخفية </a:t>
            </a:r>
            <a:r>
              <a:rPr lang="ar-EG" sz="2800" dirty="0">
                <a:solidFill>
                  <a:srgbClr val="FFFF66"/>
                </a:solidFill>
              </a:rPr>
              <a:t>..</a:t>
            </a:r>
            <a:endParaRPr lang="en-US" sz="2800" dirty="0">
              <a:solidFill>
                <a:srgbClr val="FFFF66"/>
              </a:solidFill>
            </a:endParaRPr>
          </a:p>
        </p:txBody>
      </p:sp>
      <p:sp>
        <p:nvSpPr>
          <p:cNvPr id="3" name="مربع نص 2"/>
          <p:cNvSpPr txBox="1"/>
          <p:nvPr/>
        </p:nvSpPr>
        <p:spPr>
          <a:xfrm>
            <a:off x="1000100" y="5214950"/>
            <a:ext cx="7215239" cy="1261884"/>
          </a:xfrm>
          <a:prstGeom prst="rect">
            <a:avLst/>
          </a:prstGeom>
          <a:noFill/>
        </p:spPr>
        <p:txBody>
          <a:bodyPr wrap="square" rtlCol="1">
            <a:spAutoFit/>
          </a:bodyPr>
          <a:lstStyle/>
          <a:p>
            <a:pPr lvl="0" algn="ctr">
              <a:buFont typeface="Arial" pitchFamily="34" charset="0"/>
              <a:buChar char="•"/>
            </a:pPr>
            <a:r>
              <a:rPr lang="ar-EG" sz="3200" b="1" dirty="0"/>
              <a:t>أنواع امتدادات الصور المستخدمة والشائعة </a:t>
            </a:r>
            <a:r>
              <a:rPr lang="ar-EG" sz="3200" b="1" dirty="0" err="1"/>
              <a:t>هى</a:t>
            </a:r>
            <a:r>
              <a:rPr lang="ar-EG" sz="3200" b="1" dirty="0"/>
              <a:t> :</a:t>
            </a:r>
          </a:p>
          <a:p>
            <a:pPr lvl="0" algn="ctr"/>
            <a:endParaRPr lang="en-US" sz="2000" b="1" dirty="0"/>
          </a:p>
          <a:p>
            <a:pPr algn="ctr"/>
            <a:r>
              <a:rPr lang="en-US" sz="2400" b="1" dirty="0">
                <a:solidFill>
                  <a:schemeClr val="tx2"/>
                </a:solidFill>
              </a:rPr>
              <a:t>JPEG – GIF – BMP – TIFF – PNG</a:t>
            </a:r>
            <a:endParaRPr lang="ar-EG" sz="2400" b="1" dirty="0">
              <a:solidFill>
                <a:schemeClr val="tx2"/>
              </a:solidFill>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2">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2">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2">
                                            <p:txEl>
                                              <p:pRg st="0" end="0"/>
                                            </p:txEl>
                                          </p:spTgt>
                                        </p:tgtEl>
                                      </p:cBhvr>
                                    </p:animEffect>
                                  </p:childTnLst>
                                </p:cTn>
                              </p:par>
                              <p:par>
                                <p:cTn id="11" presetID="31" presetClass="entr" presetSubtype="0" fill="hold" nodeType="withEffect">
                                  <p:stCondLst>
                                    <p:cond delay="0"/>
                                  </p:stCondLst>
                                  <p:iterate type="lt">
                                    <p:tmPct val="5000"/>
                                  </p:iterate>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p:cTn id="13" dur="1000" fill="hold"/>
                                        <p:tgtEl>
                                          <p:spTgt spid="2">
                                            <p:txEl>
                                              <p:pRg st="1" end="1"/>
                                            </p:txEl>
                                          </p:spTgt>
                                        </p:tgtEl>
                                        <p:attrNameLst>
                                          <p:attrName>ppt_w</p:attrName>
                                        </p:attrNameLst>
                                      </p:cBhvr>
                                      <p:tavLst>
                                        <p:tav tm="0">
                                          <p:val>
                                            <p:fltVal val="0"/>
                                          </p:val>
                                        </p:tav>
                                        <p:tav tm="100000">
                                          <p:val>
                                            <p:strVal val="#ppt_w"/>
                                          </p:val>
                                        </p:tav>
                                      </p:tavLst>
                                    </p:anim>
                                    <p:anim calcmode="lin" valueType="num">
                                      <p:cBhvr>
                                        <p:cTn id="14" dur="1000" fill="hold"/>
                                        <p:tgtEl>
                                          <p:spTgt spid="2">
                                            <p:txEl>
                                              <p:pRg st="1" end="1"/>
                                            </p:txEl>
                                          </p:spTgt>
                                        </p:tgtEl>
                                        <p:attrNameLst>
                                          <p:attrName>ppt_h</p:attrName>
                                        </p:attrNameLst>
                                      </p:cBhvr>
                                      <p:tavLst>
                                        <p:tav tm="0">
                                          <p:val>
                                            <p:fltVal val="0"/>
                                          </p:val>
                                        </p:tav>
                                        <p:tav tm="100000">
                                          <p:val>
                                            <p:strVal val="#ppt_h"/>
                                          </p:val>
                                        </p:tav>
                                      </p:tavLst>
                                    </p:anim>
                                    <p:anim calcmode="lin" valueType="num">
                                      <p:cBhvr>
                                        <p:cTn id="15" dur="1000" fill="hold"/>
                                        <p:tgtEl>
                                          <p:spTgt spid="2">
                                            <p:txEl>
                                              <p:pRg st="1" end="1"/>
                                            </p:txEl>
                                          </p:spTgt>
                                        </p:tgtEl>
                                        <p:attrNameLst>
                                          <p:attrName>style.rotation</p:attrName>
                                        </p:attrNameLst>
                                      </p:cBhvr>
                                      <p:tavLst>
                                        <p:tav tm="0">
                                          <p:val>
                                            <p:fltVal val="90"/>
                                          </p:val>
                                        </p:tav>
                                        <p:tav tm="100000">
                                          <p:val>
                                            <p:fltVal val="0"/>
                                          </p:val>
                                        </p:tav>
                                      </p:tavLst>
                                    </p:anim>
                                    <p:animEffect transition="in" filter="fade">
                                      <p:cBhvr>
                                        <p:cTn id="16" dur="1000"/>
                                        <p:tgtEl>
                                          <p:spTgt spid="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6" presetClass="entr" presetSubtype="0" fill="hold" nodeType="clickEffect">
                                  <p:stCondLst>
                                    <p:cond delay="0"/>
                                  </p:stCondLst>
                                  <p:iterate type="lt">
                                    <p:tmPct val="10000"/>
                                  </p:iterate>
                                  <p:childTnLst>
                                    <p:set>
                                      <p:cBhvr>
                                        <p:cTn id="27" dur="1" fill="hold">
                                          <p:stCondLst>
                                            <p:cond delay="0"/>
                                          </p:stCondLst>
                                        </p:cTn>
                                        <p:tgtEl>
                                          <p:spTgt spid="2">
                                            <p:txEl>
                                              <p:pRg st="3" end="3"/>
                                            </p:txEl>
                                          </p:spTgt>
                                        </p:tgtEl>
                                        <p:attrNameLst>
                                          <p:attrName>style.visibility</p:attrName>
                                        </p:attrNameLst>
                                      </p:cBhvr>
                                      <p:to>
                                        <p:strVal val="visible"/>
                                      </p:to>
                                    </p:set>
                                    <p:anim by="(-#ppt_w*2)" calcmode="lin" valueType="num">
                                      <p:cBhvr rctx="PPT">
                                        <p:cTn id="28" dur="500" autoRev="1" fill="hold">
                                          <p:stCondLst>
                                            <p:cond delay="0"/>
                                          </p:stCondLst>
                                        </p:cTn>
                                        <p:tgtEl>
                                          <p:spTgt spid="2">
                                            <p:txEl>
                                              <p:pRg st="3" end="3"/>
                                            </p:txEl>
                                          </p:spTgt>
                                        </p:tgtEl>
                                        <p:attrNameLst>
                                          <p:attrName>ppt_w</p:attrName>
                                        </p:attrNameLst>
                                      </p:cBhvr>
                                    </p:anim>
                                    <p:anim by="(#ppt_w*0.50)" calcmode="lin" valueType="num">
                                      <p:cBhvr>
                                        <p:cTn id="29" dur="500" decel="50000" autoRev="1" fill="hold">
                                          <p:stCondLst>
                                            <p:cond delay="0"/>
                                          </p:stCondLst>
                                        </p:cTn>
                                        <p:tgtEl>
                                          <p:spTgt spid="2">
                                            <p:txEl>
                                              <p:pRg st="3" end="3"/>
                                            </p:txEl>
                                          </p:spTgt>
                                        </p:tgtEl>
                                        <p:attrNameLst>
                                          <p:attrName>ppt_x</p:attrName>
                                        </p:attrNameLst>
                                      </p:cBhvr>
                                    </p:anim>
                                    <p:anim from="(-#ppt_h/2)" to="(#ppt_y)" calcmode="lin" valueType="num">
                                      <p:cBhvr>
                                        <p:cTn id="30" dur="1000" fill="hold">
                                          <p:stCondLst>
                                            <p:cond delay="0"/>
                                          </p:stCondLst>
                                        </p:cTn>
                                        <p:tgtEl>
                                          <p:spTgt spid="2">
                                            <p:txEl>
                                              <p:pRg st="3" end="3"/>
                                            </p:txEl>
                                          </p:spTgt>
                                        </p:tgtEl>
                                        <p:attrNameLst>
                                          <p:attrName>ppt_y</p:attrName>
                                        </p:attrNameLst>
                                      </p:cBhvr>
                                    </p:anim>
                                    <p:animRot by="21600000">
                                      <p:cBhvr>
                                        <p:cTn id="31" dur="1000" fill="hold">
                                          <p:stCondLst>
                                            <p:cond delay="0"/>
                                          </p:stCondLst>
                                        </p:cTn>
                                        <p:tgtEl>
                                          <p:spTgt spid="2">
                                            <p:txEl>
                                              <p:pRg st="3" end="3"/>
                                            </p:txEl>
                                          </p:spTgt>
                                        </p:tgtEl>
                                        <p:attrNameLst>
                                          <p:attrName>r</p:attrName>
                                        </p:attrNameLst>
                                      </p:cBhvr>
                                    </p:animRot>
                                  </p:childTnLst>
                                </p:cTn>
                              </p:par>
                            </p:childTnLst>
                          </p:cTn>
                        </p:par>
                      </p:childTnLst>
                    </p:cTn>
                  </p:par>
                  <p:par>
                    <p:cTn id="32" fill="hold">
                      <p:stCondLst>
                        <p:cond delay="indefinite"/>
                      </p:stCondLst>
                      <p:childTnLst>
                        <p:par>
                          <p:cTn id="33" fill="hold">
                            <p:stCondLst>
                              <p:cond delay="0"/>
                            </p:stCondLst>
                            <p:childTnLst>
                              <p:par>
                                <p:cTn id="34" presetID="47" presetClass="entr" presetSubtype="0" fill="hold" nodeType="clickEffect">
                                  <p:stCondLst>
                                    <p:cond delay="0"/>
                                  </p:stCondLst>
                                  <p:childTnLst>
                                    <p:set>
                                      <p:cBhvr>
                                        <p:cTn id="35" dur="1" fill="hold">
                                          <p:stCondLst>
                                            <p:cond delay="0"/>
                                          </p:stCondLst>
                                        </p:cTn>
                                        <p:tgtEl>
                                          <p:spTgt spid="2">
                                            <p:txEl>
                                              <p:pRg st="4" end="4"/>
                                            </p:txEl>
                                          </p:spTgt>
                                        </p:tgtEl>
                                        <p:attrNameLst>
                                          <p:attrName>style.visibility</p:attrName>
                                        </p:attrNameLst>
                                      </p:cBhvr>
                                      <p:to>
                                        <p:strVal val="visible"/>
                                      </p:to>
                                    </p:set>
                                    <p:animEffect transition="in" filter="fade">
                                      <p:cBhvr>
                                        <p:cTn id="36" dur="1000"/>
                                        <p:tgtEl>
                                          <p:spTgt spid="2">
                                            <p:txEl>
                                              <p:pRg st="4" end="4"/>
                                            </p:txEl>
                                          </p:spTgt>
                                        </p:tgtEl>
                                      </p:cBhvr>
                                    </p:animEffect>
                                    <p:anim calcmode="lin" valueType="num">
                                      <p:cBhvr>
                                        <p:cTn id="37"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8"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56" presetClass="entr" presetSubtype="0" fill="hold" nodeType="clickEffect">
                                  <p:stCondLst>
                                    <p:cond delay="0"/>
                                  </p:stCondLst>
                                  <p:iterate type="lt">
                                    <p:tmPct val="10000"/>
                                  </p:iterate>
                                  <p:childTnLst>
                                    <p:set>
                                      <p:cBhvr>
                                        <p:cTn id="42" dur="1" fill="hold">
                                          <p:stCondLst>
                                            <p:cond delay="0"/>
                                          </p:stCondLst>
                                        </p:cTn>
                                        <p:tgtEl>
                                          <p:spTgt spid="2">
                                            <p:txEl>
                                              <p:pRg st="5" end="5"/>
                                            </p:txEl>
                                          </p:spTgt>
                                        </p:tgtEl>
                                        <p:attrNameLst>
                                          <p:attrName>style.visibility</p:attrName>
                                        </p:attrNameLst>
                                      </p:cBhvr>
                                      <p:to>
                                        <p:strVal val="visible"/>
                                      </p:to>
                                    </p:set>
                                    <p:anim by="(-#ppt_w*2)" calcmode="lin" valueType="num">
                                      <p:cBhvr rctx="PPT">
                                        <p:cTn id="43" dur="500" autoRev="1" fill="hold">
                                          <p:stCondLst>
                                            <p:cond delay="0"/>
                                          </p:stCondLst>
                                        </p:cTn>
                                        <p:tgtEl>
                                          <p:spTgt spid="2">
                                            <p:txEl>
                                              <p:pRg st="5" end="5"/>
                                            </p:txEl>
                                          </p:spTgt>
                                        </p:tgtEl>
                                        <p:attrNameLst>
                                          <p:attrName>ppt_w</p:attrName>
                                        </p:attrNameLst>
                                      </p:cBhvr>
                                    </p:anim>
                                    <p:anim by="(#ppt_w*0.50)" calcmode="lin" valueType="num">
                                      <p:cBhvr>
                                        <p:cTn id="44" dur="500" decel="50000" autoRev="1" fill="hold">
                                          <p:stCondLst>
                                            <p:cond delay="0"/>
                                          </p:stCondLst>
                                        </p:cTn>
                                        <p:tgtEl>
                                          <p:spTgt spid="2">
                                            <p:txEl>
                                              <p:pRg st="5" end="5"/>
                                            </p:txEl>
                                          </p:spTgt>
                                        </p:tgtEl>
                                        <p:attrNameLst>
                                          <p:attrName>ppt_x</p:attrName>
                                        </p:attrNameLst>
                                      </p:cBhvr>
                                    </p:anim>
                                    <p:anim from="(-#ppt_h/2)" to="(#ppt_y)" calcmode="lin" valueType="num">
                                      <p:cBhvr>
                                        <p:cTn id="45" dur="1000" fill="hold">
                                          <p:stCondLst>
                                            <p:cond delay="0"/>
                                          </p:stCondLst>
                                        </p:cTn>
                                        <p:tgtEl>
                                          <p:spTgt spid="2">
                                            <p:txEl>
                                              <p:pRg st="5" end="5"/>
                                            </p:txEl>
                                          </p:spTgt>
                                        </p:tgtEl>
                                        <p:attrNameLst>
                                          <p:attrName>ppt_y</p:attrName>
                                        </p:attrNameLst>
                                      </p:cBhvr>
                                    </p:anim>
                                    <p:animRot by="21600000">
                                      <p:cBhvr>
                                        <p:cTn id="46" dur="1000" fill="hold">
                                          <p:stCondLst>
                                            <p:cond delay="0"/>
                                          </p:stCondLst>
                                        </p:cTn>
                                        <p:tgtEl>
                                          <p:spTgt spid="2">
                                            <p:txEl>
                                              <p:pRg st="5" end="5"/>
                                            </p:txEl>
                                          </p:spTgt>
                                        </p:tgtEl>
                                        <p:attrNameLst>
                                          <p:attrName>r</p:attrName>
                                        </p:attrNameLst>
                                      </p:cBhvr>
                                    </p:animRot>
                                  </p:childTnLst>
                                </p:cTn>
                              </p:par>
                            </p:childTnLst>
                          </p:cTn>
                        </p:par>
                      </p:childTnLst>
                    </p:cTn>
                  </p:par>
                  <p:par>
                    <p:cTn id="47" fill="hold">
                      <p:stCondLst>
                        <p:cond delay="indefinite"/>
                      </p:stCondLst>
                      <p:childTnLst>
                        <p:par>
                          <p:cTn id="48" fill="hold">
                            <p:stCondLst>
                              <p:cond delay="0"/>
                            </p:stCondLst>
                            <p:childTnLst>
                              <p:par>
                                <p:cTn id="49" presetID="47" presetClass="entr" presetSubtype="0" fill="hold" nodeType="clickEffect">
                                  <p:stCondLst>
                                    <p:cond delay="0"/>
                                  </p:stCondLst>
                                  <p:childTnLst>
                                    <p:set>
                                      <p:cBhvr>
                                        <p:cTn id="50" dur="1" fill="hold">
                                          <p:stCondLst>
                                            <p:cond delay="0"/>
                                          </p:stCondLst>
                                        </p:cTn>
                                        <p:tgtEl>
                                          <p:spTgt spid="2">
                                            <p:txEl>
                                              <p:pRg st="6" end="6"/>
                                            </p:txEl>
                                          </p:spTgt>
                                        </p:tgtEl>
                                        <p:attrNameLst>
                                          <p:attrName>style.visibility</p:attrName>
                                        </p:attrNameLst>
                                      </p:cBhvr>
                                      <p:to>
                                        <p:strVal val="visible"/>
                                      </p:to>
                                    </p:set>
                                    <p:animEffect transition="in" filter="fade">
                                      <p:cBhvr>
                                        <p:cTn id="51" dur="1000"/>
                                        <p:tgtEl>
                                          <p:spTgt spid="2">
                                            <p:txEl>
                                              <p:pRg st="6" end="6"/>
                                            </p:txEl>
                                          </p:spTgt>
                                        </p:tgtEl>
                                      </p:cBhvr>
                                    </p:animEffect>
                                    <p:anim calcmode="lin" valueType="num">
                                      <p:cBhvr>
                                        <p:cTn id="52"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3"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8" presetClass="entr" presetSubtype="0" accel="50000" fill="hold" nodeType="clickEffect">
                                  <p:stCondLst>
                                    <p:cond delay="0"/>
                                  </p:stCondLst>
                                  <p:childTnLst>
                                    <p:set>
                                      <p:cBhvr>
                                        <p:cTn id="57" dur="1" fill="hold">
                                          <p:stCondLst>
                                            <p:cond delay="0"/>
                                          </p:stCondLst>
                                        </p:cTn>
                                        <p:tgtEl>
                                          <p:spTgt spid="3">
                                            <p:txEl>
                                              <p:pRg st="0" end="0"/>
                                            </p:txEl>
                                          </p:spTgt>
                                        </p:tgtEl>
                                        <p:attrNameLst>
                                          <p:attrName>style.visibility</p:attrName>
                                        </p:attrNameLst>
                                      </p:cBhvr>
                                      <p:to>
                                        <p:strVal val="visible"/>
                                      </p:to>
                                    </p:set>
                                    <p:anim calcmode="lin" valueType="num">
                                      <p:cBhvr>
                                        <p:cTn id="58" dur="1000" fill="hold"/>
                                        <p:tgtEl>
                                          <p:spTgt spid="3">
                                            <p:txEl>
                                              <p:pRg st="0" end="0"/>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59" dur="1000" fill="hold"/>
                                        <p:tgtEl>
                                          <p:spTgt spid="3">
                                            <p:txEl>
                                              <p:pRg st="0" end="0"/>
                                            </p:txEl>
                                          </p:spTgt>
                                        </p:tgtEl>
                                        <p:attrNameLst>
                                          <p:attrName>ppt_x</p:attrName>
                                        </p:attrNameLst>
                                      </p:cBhvr>
                                      <p:tavLst>
                                        <p:tav tm="0">
                                          <p:val>
                                            <p:fltVal val="-1"/>
                                          </p:val>
                                        </p:tav>
                                        <p:tav tm="50000">
                                          <p:val>
                                            <p:fltVal val="0.95"/>
                                          </p:val>
                                        </p:tav>
                                        <p:tav tm="100000">
                                          <p:val>
                                            <p:strVal val="#ppt_x"/>
                                          </p:val>
                                        </p:tav>
                                      </p:tavLst>
                                    </p:anim>
                                    <p:anim calcmode="lin" valueType="num">
                                      <p:cBhvr>
                                        <p:cTn id="60" dur="1000" fill="hold"/>
                                        <p:tgtEl>
                                          <p:spTgt spid="3">
                                            <p:txEl>
                                              <p:pRg st="0" end="0"/>
                                            </p:txEl>
                                          </p:spTgt>
                                        </p:tgtEl>
                                        <p:attrNameLst>
                                          <p:attrName>ppt_y</p:attrName>
                                        </p:attrNameLst>
                                      </p:cBhvr>
                                      <p:tavLst>
                                        <p:tav tm="0">
                                          <p:val>
                                            <p:strVal val="#ppt_y"/>
                                          </p:val>
                                        </p:tav>
                                        <p:tav tm="100000">
                                          <p:val>
                                            <p:strVal val="#ppt_y"/>
                                          </p:val>
                                        </p:tav>
                                      </p:tavLst>
                                    </p:anim>
                                    <p:animEffect transition="in" filter="fade">
                                      <p:cBhvr>
                                        <p:cTn id="61" dur="1000"/>
                                        <p:tgtEl>
                                          <p:spTgt spid="3">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58" presetClass="entr" presetSubtype="0" accel="100000" fill="hold" nodeType="clickEffect">
                                  <p:stCondLst>
                                    <p:cond delay="0"/>
                                  </p:stCondLst>
                                  <p:childTnLst>
                                    <p:set>
                                      <p:cBhvr>
                                        <p:cTn id="65" dur="1" fill="hold">
                                          <p:stCondLst>
                                            <p:cond delay="0"/>
                                          </p:stCondLst>
                                        </p:cTn>
                                        <p:tgtEl>
                                          <p:spTgt spid="3">
                                            <p:txEl>
                                              <p:pRg st="2" end="2"/>
                                            </p:txEl>
                                          </p:spTgt>
                                        </p:tgtEl>
                                        <p:attrNameLst>
                                          <p:attrName>style.visibility</p:attrName>
                                        </p:attrNameLst>
                                      </p:cBhvr>
                                      <p:to>
                                        <p:strVal val="visible"/>
                                      </p:to>
                                    </p:set>
                                    <p:anim calcmode="lin" valueType="num">
                                      <p:cBhvr>
                                        <p:cTn id="66" dur="500" fill="hold"/>
                                        <p:tgtEl>
                                          <p:spTgt spid="3">
                                            <p:txEl>
                                              <p:pRg st="2" end="2"/>
                                            </p:txEl>
                                          </p:spTgt>
                                        </p:tgtEl>
                                        <p:attrNameLst>
                                          <p:attrName>ppt_w</p:attrName>
                                        </p:attrNameLst>
                                      </p:cBhvr>
                                      <p:tavLst>
                                        <p:tav tm="0">
                                          <p:val>
                                            <p:strVal val="#ppt_w*2.5"/>
                                          </p:val>
                                        </p:tav>
                                        <p:tav tm="100000">
                                          <p:val>
                                            <p:strVal val="#ppt_w"/>
                                          </p:val>
                                        </p:tav>
                                      </p:tavLst>
                                    </p:anim>
                                    <p:anim calcmode="lin" valueType="num">
                                      <p:cBhvr>
                                        <p:cTn id="67" dur="500" fill="hold"/>
                                        <p:tgtEl>
                                          <p:spTgt spid="3">
                                            <p:txEl>
                                              <p:pRg st="2" end="2"/>
                                            </p:txEl>
                                          </p:spTgt>
                                        </p:tgtEl>
                                        <p:attrNameLst>
                                          <p:attrName>ppt_h</p:attrName>
                                        </p:attrNameLst>
                                      </p:cBhvr>
                                      <p:tavLst>
                                        <p:tav tm="0">
                                          <p:val>
                                            <p:strVal val="#ppt_h*0.01"/>
                                          </p:val>
                                        </p:tav>
                                        <p:tav tm="100000">
                                          <p:val>
                                            <p:strVal val="#ppt_h"/>
                                          </p:val>
                                        </p:tav>
                                      </p:tavLst>
                                    </p:anim>
                                    <p:anim calcmode="lin" valueType="num">
                                      <p:cBhvr>
                                        <p:cTn id="6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69" dur="500" fill="hold"/>
                                        <p:tgtEl>
                                          <p:spTgt spid="3">
                                            <p:txEl>
                                              <p:pRg st="2" end="2"/>
                                            </p:txEl>
                                          </p:spTgt>
                                        </p:tgtEl>
                                        <p:attrNameLst>
                                          <p:attrName>ppt_y</p:attrName>
                                        </p:attrNameLst>
                                      </p:cBhvr>
                                      <p:tavLst>
                                        <p:tav tm="0">
                                          <p:val>
                                            <p:strVal val="#ppt_h+1"/>
                                          </p:val>
                                        </p:tav>
                                        <p:tav tm="100000">
                                          <p:val>
                                            <p:strVal val="#ppt_y"/>
                                          </p:val>
                                        </p:tav>
                                      </p:tavLst>
                                    </p:anim>
                                    <p:animEffect transition="in" filter="fade">
                                      <p:cBhvr>
                                        <p:cTn id="7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539552" y="928670"/>
            <a:ext cx="8247291" cy="1815882"/>
          </a:xfrm>
          <a:prstGeom prst="rect">
            <a:avLst/>
          </a:prstGeom>
          <a:noFill/>
        </p:spPr>
        <p:txBody>
          <a:bodyPr wrap="square" rtlCol="1">
            <a:spAutoFit/>
          </a:bodyPr>
          <a:lstStyle/>
          <a:p>
            <a:pPr>
              <a:buFont typeface="Arial" pitchFamily="34" charset="0"/>
              <a:buChar char="•"/>
            </a:pPr>
            <a:r>
              <a:rPr lang="ar-EG" sz="2800" b="1" dirty="0">
                <a:solidFill>
                  <a:schemeClr val="tx2"/>
                </a:solidFill>
              </a:rPr>
              <a:t>الامتداد : </a:t>
            </a:r>
            <a:r>
              <a:rPr lang="en-US" sz="2800" b="1" dirty="0">
                <a:solidFill>
                  <a:schemeClr val="tx2"/>
                </a:solidFill>
              </a:rPr>
              <a:t> jpg , jpeg , </a:t>
            </a:r>
            <a:r>
              <a:rPr lang="en-US" sz="2800" b="1" dirty="0" err="1">
                <a:solidFill>
                  <a:schemeClr val="tx2"/>
                </a:solidFill>
              </a:rPr>
              <a:t>jfif</a:t>
            </a:r>
            <a:r>
              <a:rPr lang="en-US" sz="2800" b="1" dirty="0">
                <a:solidFill>
                  <a:schemeClr val="tx2"/>
                </a:solidFill>
              </a:rPr>
              <a:t> , </a:t>
            </a:r>
            <a:r>
              <a:rPr lang="en-US" sz="2800" b="1" dirty="0" err="1">
                <a:solidFill>
                  <a:schemeClr val="tx2"/>
                </a:solidFill>
              </a:rPr>
              <a:t>jfl</a:t>
            </a:r>
            <a:endParaRPr lang="en-US" sz="2800" b="1" dirty="0">
              <a:solidFill>
                <a:schemeClr val="tx2"/>
              </a:solidFill>
            </a:endParaRPr>
          </a:p>
          <a:p>
            <a:pPr>
              <a:buFont typeface="Arial" pitchFamily="34" charset="0"/>
              <a:buChar char="•"/>
            </a:pPr>
            <a:r>
              <a:rPr lang="ar-EG" sz="2800" b="1" dirty="0">
                <a:solidFill>
                  <a:schemeClr val="tx2"/>
                </a:solidFill>
              </a:rPr>
              <a:t>النوع : </a:t>
            </a:r>
            <a:r>
              <a:rPr lang="en-US" sz="2800" b="1" dirty="0">
                <a:solidFill>
                  <a:schemeClr val="tx2"/>
                </a:solidFill>
              </a:rPr>
              <a:t>bitmapped</a:t>
            </a:r>
          </a:p>
          <a:p>
            <a:r>
              <a:rPr lang="ar-EG" sz="2800" b="1" dirty="0">
                <a:solidFill>
                  <a:schemeClr val="tx2"/>
                </a:solidFill>
              </a:rPr>
              <a:t>خوارزمية الضغط : ( </a:t>
            </a:r>
            <a:r>
              <a:rPr lang="en-US" sz="2800" b="1" dirty="0" err="1">
                <a:solidFill>
                  <a:schemeClr val="tx2"/>
                </a:solidFill>
              </a:rPr>
              <a:t>lossy</a:t>
            </a:r>
            <a:r>
              <a:rPr lang="ar-EG" sz="2800" b="1" dirty="0">
                <a:solidFill>
                  <a:schemeClr val="tx2"/>
                </a:solidFill>
              </a:rPr>
              <a:t> )</a:t>
            </a:r>
            <a:endParaRPr lang="en-US" sz="2800" b="1" dirty="0">
              <a:solidFill>
                <a:schemeClr val="tx2"/>
              </a:solidFill>
            </a:endParaRPr>
          </a:p>
          <a:p>
            <a:pPr>
              <a:buFont typeface="Arial" pitchFamily="34" charset="0"/>
              <a:buChar char="•"/>
            </a:pPr>
            <a:r>
              <a:rPr lang="ar-EG" sz="2800" b="1" dirty="0">
                <a:solidFill>
                  <a:schemeClr val="tx2"/>
                </a:solidFill>
              </a:rPr>
              <a:t>عمق اللون : 24 بت </a:t>
            </a:r>
          </a:p>
        </p:txBody>
      </p:sp>
      <p:sp>
        <p:nvSpPr>
          <p:cNvPr id="3" name="مربع نص 2"/>
          <p:cNvSpPr txBox="1"/>
          <p:nvPr/>
        </p:nvSpPr>
        <p:spPr>
          <a:xfrm>
            <a:off x="714348" y="428604"/>
            <a:ext cx="6072231" cy="461665"/>
          </a:xfrm>
          <a:prstGeom prst="rect">
            <a:avLst/>
          </a:prstGeom>
          <a:solidFill>
            <a:schemeClr val="tx2">
              <a:lumMod val="50000"/>
            </a:schemeClr>
          </a:solidFill>
        </p:spPr>
        <p:txBody>
          <a:bodyPr wrap="square" rtlCol="1">
            <a:spAutoFit/>
          </a:bodyPr>
          <a:lstStyle/>
          <a:p>
            <a:pPr algn="l"/>
            <a:r>
              <a:rPr lang="en-US" sz="2400" b="1" dirty="0"/>
              <a:t>JPEG </a:t>
            </a:r>
            <a:r>
              <a:rPr lang="en-US" sz="2400" dirty="0"/>
              <a:t>:  Joint Photographic Experts Group</a:t>
            </a:r>
          </a:p>
        </p:txBody>
      </p:sp>
      <p:sp>
        <p:nvSpPr>
          <p:cNvPr id="4" name="مربع نص 3"/>
          <p:cNvSpPr txBox="1"/>
          <p:nvPr/>
        </p:nvSpPr>
        <p:spPr>
          <a:xfrm>
            <a:off x="357158" y="2708920"/>
            <a:ext cx="8429684" cy="3785652"/>
          </a:xfrm>
          <a:prstGeom prst="rect">
            <a:avLst/>
          </a:prstGeom>
          <a:noFill/>
        </p:spPr>
        <p:txBody>
          <a:bodyPr wrap="square" rtlCol="1">
            <a:spAutoFit/>
          </a:bodyPr>
          <a:lstStyle/>
          <a:p>
            <a:r>
              <a:rPr lang="en-US" sz="2000" b="1" dirty="0"/>
              <a:t>JPEG </a:t>
            </a:r>
            <a:r>
              <a:rPr lang="ar-EG" sz="2000" b="1" dirty="0"/>
              <a:t> </a:t>
            </a:r>
            <a:r>
              <a:rPr lang="ar-EG" sz="2000" b="1" dirty="0" err="1"/>
              <a:t>هى</a:t>
            </a:r>
            <a:r>
              <a:rPr lang="ar-EG" sz="2000" b="1" dirty="0"/>
              <a:t> التقنية الموحدة لضغط الصورة . حيث أنها مصممة للصور بالألوان ( 24 بت ) أو للصور الرقمية الرمادية الطبيعية ( مشاهد من العالم الحقيقي ) . ليست مناسبة للصور المتحركة , أو الرسوم السوداء والبيضاء فهي تعالج الصور الثابتة فقط لكن هناك المعيار </a:t>
            </a:r>
            <a:r>
              <a:rPr lang="en-US" sz="2000" b="1" dirty="0"/>
              <a:t>MPEG</a:t>
            </a:r>
            <a:r>
              <a:rPr lang="ar-EG" sz="2000" b="1" dirty="0"/>
              <a:t> للصور المتحركة , كما أنها لا تدعم الشفافية . </a:t>
            </a:r>
            <a:endParaRPr lang="en-US" sz="2000" b="1" dirty="0"/>
          </a:p>
          <a:p>
            <a:r>
              <a:rPr lang="ar-EG" sz="2000" b="1" dirty="0"/>
              <a:t>قبل </a:t>
            </a:r>
            <a:r>
              <a:rPr lang="en-US" sz="2000" b="1" dirty="0"/>
              <a:t>JPEG</a:t>
            </a:r>
            <a:r>
              <a:rPr lang="ar-EG" sz="2000" b="1" dirty="0"/>
              <a:t> , كان هناك صيغ قليلة جداً تدعم 24 بت </a:t>
            </a:r>
            <a:r>
              <a:rPr lang="en-US" sz="2000" b="1" dirty="0"/>
              <a:t>TIFF</a:t>
            </a:r>
            <a:r>
              <a:rPr lang="ar-EG" sz="2000" b="1" dirty="0"/>
              <a:t> ... و </a:t>
            </a:r>
            <a:r>
              <a:rPr lang="en-US" sz="2000" b="1" dirty="0"/>
              <a:t>BMP</a:t>
            </a:r>
            <a:r>
              <a:rPr lang="ar-EG" sz="2000" b="1" dirty="0"/>
              <a:t> تدعم 24 بت , لكنها أخفقت </a:t>
            </a:r>
            <a:r>
              <a:rPr lang="ar-EG" sz="2000" b="1" dirty="0" err="1"/>
              <a:t>فى</a:t>
            </a:r>
            <a:r>
              <a:rPr lang="ar-EG" sz="2000" b="1" dirty="0"/>
              <a:t> تحقيق الخسارة الأقل عند ضغط البيانات .</a:t>
            </a:r>
          </a:p>
          <a:p>
            <a:r>
              <a:rPr lang="ar-EG" sz="2000" b="1" dirty="0"/>
              <a:t>خوارزمية " </a:t>
            </a:r>
            <a:r>
              <a:rPr lang="en-US" sz="2000" b="1" dirty="0" err="1"/>
              <a:t>lossy</a:t>
            </a:r>
            <a:r>
              <a:rPr lang="ar-EG" sz="2000" b="1" dirty="0"/>
              <a:t> "  , تعني بأن الصورة </a:t>
            </a:r>
            <a:r>
              <a:rPr lang="ar-EG" sz="2000" b="1" dirty="0" err="1"/>
              <a:t>التى</a:t>
            </a:r>
            <a:r>
              <a:rPr lang="ar-EG" sz="2000" b="1" dirty="0"/>
              <a:t> تنتج من فك الضغط ليست مماثلة للصورة الأصلية . حيث أن هذه الخوارزمية تنجز معظم ضغطها باستغلال خواص العين البشرية , فالتفاصيل الصغيرة للون لا تلاحظ كما تلاحظ تفاصيل الكثافة الضوئية </a:t>
            </a:r>
            <a:r>
              <a:rPr lang="en-US" sz="2000" b="1" dirty="0"/>
              <a:t>JPEG</a:t>
            </a:r>
            <a:r>
              <a:rPr lang="ar-EG" sz="2000" b="1" dirty="0"/>
              <a:t> .. </a:t>
            </a:r>
            <a:r>
              <a:rPr lang="ar-EG" sz="2000" b="1" dirty="0" err="1"/>
              <a:t>تظغط</a:t>
            </a:r>
            <a:r>
              <a:rPr lang="ar-EG" sz="2000" b="1" dirty="0"/>
              <a:t> الصور بالخسارة الممتازة . فخوارزمية الضغط تتضمن حذف البيانات من أجل تحرير مساحة كافية ( تسمح برفع درجة الضغط .. ) مع العلم </a:t>
            </a:r>
            <a:r>
              <a:rPr lang="ar-EG" sz="2000" b="1" dirty="0" err="1"/>
              <a:t>ان</a:t>
            </a:r>
            <a:r>
              <a:rPr lang="ar-EG" sz="2000" b="1" dirty="0"/>
              <a:t> سعة البيانات المضغوطة تعتمد على محتويات الصورة . درجة الضغط قد تصل </a:t>
            </a:r>
            <a:r>
              <a:rPr lang="ar-EG" sz="2000" b="1" dirty="0" err="1"/>
              <a:t>الى</a:t>
            </a:r>
            <a:r>
              <a:rPr lang="ar-EG" sz="2000" b="1" dirty="0"/>
              <a:t> 25 1 : بدون </a:t>
            </a:r>
            <a:r>
              <a:rPr lang="ar-EG" sz="2000" b="1" dirty="0" err="1"/>
              <a:t>خساة</a:t>
            </a:r>
            <a:r>
              <a:rPr lang="ar-EG" sz="2000" b="1" dirty="0"/>
              <a:t> مرئية </a:t>
            </a:r>
            <a:r>
              <a:rPr lang="ar-EG" sz="2000" b="1" dirty="0" err="1"/>
              <a:t>فى</a:t>
            </a:r>
            <a:r>
              <a:rPr lang="ar-EG" sz="2000" b="1" dirty="0"/>
              <a:t> الجودة .. لذا </a:t>
            </a:r>
            <a:r>
              <a:rPr lang="ar-EG" sz="2000" b="1" dirty="0" err="1"/>
              <a:t>فهى</a:t>
            </a:r>
            <a:r>
              <a:rPr lang="ar-EG" sz="2000" b="1" dirty="0"/>
              <a:t> مثالية للنقل عبر الشبكة ..</a:t>
            </a:r>
            <a:endParaRPr lang="en-US" sz="2000" b="1"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05"/>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 calcmode="lin" valueType="num">
                                      <p:cBhvr>
                                        <p:cTn id="9" dur="1000" fill="hold"/>
                                        <p:tgtEl>
                                          <p:spTgt spid="3"/>
                                        </p:tgtEl>
                                        <p:attrNameLst>
                                          <p:attrName>ppt_x</p:attrName>
                                        </p:attrNameLst>
                                      </p:cBhvr>
                                      <p:tavLst>
                                        <p:tav tm="0">
                                          <p:val>
                                            <p:strVal val="#ppt_x-.2"/>
                                          </p:val>
                                        </p:tav>
                                        <p:tav tm="100000">
                                          <p:val>
                                            <p:strVal val="#ppt_x"/>
                                          </p:val>
                                        </p:tav>
                                      </p:tavLst>
                                    </p:anim>
                                    <p:anim calcmode="lin" valueType="num">
                                      <p:cBhvr>
                                        <p:cTn id="10" dur="1000" fill="hold"/>
                                        <p:tgtEl>
                                          <p:spTgt spid="3"/>
                                        </p:tgtEl>
                                        <p:attrNameLst>
                                          <p:attrName>ppt_y</p:attrName>
                                        </p:attrNameLst>
                                      </p:cBhvr>
                                      <p:tavLst>
                                        <p:tav tm="0">
                                          <p:val>
                                            <p:strVal val="#ppt_y"/>
                                          </p:val>
                                        </p:tav>
                                        <p:tav tm="100000">
                                          <p:val>
                                            <p:strVal val="#ppt_y"/>
                                          </p:val>
                                        </p:tav>
                                      </p:tavLst>
                                    </p:anim>
                                    <p:animEffect transition="in" filter="fade">
                                      <p:cBhvr>
                                        <p:cTn id="11" dur="10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nodeType="clickEffect">
                                  <p:stCondLst>
                                    <p:cond delay="0"/>
                                  </p:stCondLst>
                                  <p:childTnLst>
                                    <p:set>
                                      <p:cBhvr>
                                        <p:cTn id="15" dur="1" fill="hold">
                                          <p:stCondLst>
                                            <p:cond delay="0"/>
                                          </p:stCondLst>
                                        </p:cTn>
                                        <p:tgtEl>
                                          <p:spTgt spid="2">
                                            <p:txEl>
                                              <p:pRg st="0" end="0"/>
                                            </p:txEl>
                                          </p:spTgt>
                                        </p:tgtEl>
                                        <p:attrNameLst>
                                          <p:attrName>style.visibility</p:attrName>
                                        </p:attrNameLst>
                                      </p:cBhvr>
                                      <p:to>
                                        <p:strVal val="visible"/>
                                      </p:to>
                                    </p:set>
                                    <p:animEffect transition="in" filter="fade">
                                      <p:cBhvr>
                                        <p:cTn id="16" dur="1000"/>
                                        <p:tgtEl>
                                          <p:spTgt spid="2">
                                            <p:txEl>
                                              <p:pRg st="0" end="0"/>
                                            </p:txEl>
                                          </p:spTgt>
                                        </p:tgtEl>
                                      </p:cBhvr>
                                    </p:animEffect>
                                    <p:anim calcmode="lin" valueType="num">
                                      <p:cBhvr>
                                        <p:cTn id="17"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8"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7" presetClass="entr" presetSubtype="0" fill="hold" nodeType="clickEffect">
                                  <p:stCondLst>
                                    <p:cond delay="0"/>
                                  </p:stCondLst>
                                  <p:childTnLst>
                                    <p:set>
                                      <p:cBhvr>
                                        <p:cTn id="22" dur="1" fill="hold">
                                          <p:stCondLst>
                                            <p:cond delay="0"/>
                                          </p:stCondLst>
                                        </p:cTn>
                                        <p:tgtEl>
                                          <p:spTgt spid="2">
                                            <p:txEl>
                                              <p:pRg st="1" end="1"/>
                                            </p:txEl>
                                          </p:spTgt>
                                        </p:tgtEl>
                                        <p:attrNameLst>
                                          <p:attrName>style.visibility</p:attrName>
                                        </p:attrNameLst>
                                      </p:cBhvr>
                                      <p:to>
                                        <p:strVal val="visible"/>
                                      </p:to>
                                    </p:set>
                                    <p:animEffect transition="in" filter="fade">
                                      <p:cBhvr>
                                        <p:cTn id="23" dur="1000"/>
                                        <p:tgtEl>
                                          <p:spTgt spid="2">
                                            <p:txEl>
                                              <p:pRg st="1" end="1"/>
                                            </p:txEl>
                                          </p:spTgt>
                                        </p:tgtEl>
                                      </p:cBhvr>
                                    </p:animEffect>
                                    <p:anim calcmode="lin" valueType="num">
                                      <p:cBhvr>
                                        <p:cTn id="24"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5"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7" presetClass="entr" presetSubtype="0" fill="hold" nodeType="clickEffect">
                                  <p:stCondLst>
                                    <p:cond delay="0"/>
                                  </p:stCondLst>
                                  <p:childTnLst>
                                    <p:set>
                                      <p:cBhvr>
                                        <p:cTn id="29" dur="1" fill="hold">
                                          <p:stCondLst>
                                            <p:cond delay="0"/>
                                          </p:stCondLst>
                                        </p:cTn>
                                        <p:tgtEl>
                                          <p:spTgt spid="2">
                                            <p:txEl>
                                              <p:pRg st="2" end="2"/>
                                            </p:txEl>
                                          </p:spTgt>
                                        </p:tgtEl>
                                        <p:attrNameLst>
                                          <p:attrName>style.visibility</p:attrName>
                                        </p:attrNameLst>
                                      </p:cBhvr>
                                      <p:to>
                                        <p:strVal val="visible"/>
                                      </p:to>
                                    </p:set>
                                    <p:animEffect transition="in" filter="fade">
                                      <p:cBhvr>
                                        <p:cTn id="30" dur="1000"/>
                                        <p:tgtEl>
                                          <p:spTgt spid="2">
                                            <p:txEl>
                                              <p:pRg st="2" end="2"/>
                                            </p:txEl>
                                          </p:spTgt>
                                        </p:tgtEl>
                                      </p:cBhvr>
                                    </p:animEffect>
                                    <p:anim calcmode="lin" valueType="num">
                                      <p:cBhvr>
                                        <p:cTn id="31"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2"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7" presetClass="entr" presetSubtype="0" fill="hold" nodeType="clickEffect">
                                  <p:stCondLst>
                                    <p:cond delay="0"/>
                                  </p:stCondLst>
                                  <p:childTnLst>
                                    <p:set>
                                      <p:cBhvr>
                                        <p:cTn id="36" dur="1" fill="hold">
                                          <p:stCondLst>
                                            <p:cond delay="0"/>
                                          </p:stCondLst>
                                        </p:cTn>
                                        <p:tgtEl>
                                          <p:spTgt spid="2">
                                            <p:txEl>
                                              <p:pRg st="3" end="3"/>
                                            </p:txEl>
                                          </p:spTgt>
                                        </p:tgtEl>
                                        <p:attrNameLst>
                                          <p:attrName>style.visibility</p:attrName>
                                        </p:attrNameLst>
                                      </p:cBhvr>
                                      <p:to>
                                        <p:strVal val="visible"/>
                                      </p:to>
                                    </p:set>
                                    <p:animEffect transition="in" filter="fade">
                                      <p:cBhvr>
                                        <p:cTn id="37" dur="1000"/>
                                        <p:tgtEl>
                                          <p:spTgt spid="2">
                                            <p:txEl>
                                              <p:pRg st="3" end="3"/>
                                            </p:txEl>
                                          </p:spTgt>
                                        </p:tgtEl>
                                      </p:cBhvr>
                                    </p:animEffect>
                                    <p:anim calcmode="lin" valueType="num">
                                      <p:cBhvr>
                                        <p:cTn id="38"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9"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9" presetClass="entr" presetSubtype="0" fill="hold" nodeType="clickEffect">
                                  <p:stCondLst>
                                    <p:cond delay="0"/>
                                  </p:stCondLst>
                                  <p:childTnLst>
                                    <p:set>
                                      <p:cBhvr>
                                        <p:cTn id="43" dur="1" fill="hold">
                                          <p:stCondLst>
                                            <p:cond delay="0"/>
                                          </p:stCondLst>
                                        </p:cTn>
                                        <p:tgtEl>
                                          <p:spTgt spid="4">
                                            <p:txEl>
                                              <p:pRg st="0" end="0"/>
                                            </p:txEl>
                                          </p:spTgt>
                                        </p:tgtEl>
                                        <p:attrNameLst>
                                          <p:attrName>style.visibility</p:attrName>
                                        </p:attrNameLst>
                                      </p:cBhvr>
                                      <p:to>
                                        <p:strVal val="visible"/>
                                      </p:to>
                                    </p:set>
                                    <p:anim calcmode="lin" valueType="num">
                                      <p:cBhvr>
                                        <p:cTn id="44" dur="1000" fill="hold"/>
                                        <p:tgtEl>
                                          <p:spTgt spid="4">
                                            <p:txEl>
                                              <p:pRg st="0" end="0"/>
                                            </p:txEl>
                                          </p:spTgt>
                                        </p:tgtEl>
                                        <p:attrNameLst>
                                          <p:attrName>ppt_x</p:attrName>
                                        </p:attrNameLst>
                                      </p:cBhvr>
                                      <p:tavLst>
                                        <p:tav tm="0">
                                          <p:val>
                                            <p:strVal val="#ppt_x-.2"/>
                                          </p:val>
                                        </p:tav>
                                        <p:tav tm="100000">
                                          <p:val>
                                            <p:strVal val="#ppt_x"/>
                                          </p:val>
                                        </p:tav>
                                      </p:tavLst>
                                    </p:anim>
                                    <p:anim calcmode="lin" valueType="num">
                                      <p:cBhvr>
                                        <p:cTn id="45" dur="1000" fill="hold"/>
                                        <p:tgtEl>
                                          <p:spTgt spid="4">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46" dur="1000"/>
                                        <p:tgtEl>
                                          <p:spTgt spid="4">
                                            <p:txEl>
                                              <p:pRg st="0" end="0"/>
                                            </p:txEl>
                                          </p:spTgt>
                                        </p:tgtEl>
                                      </p:cBhvr>
                                    </p:animEffect>
                                  </p:childTnLst>
                                </p:cTn>
                              </p:par>
                              <p:par>
                                <p:cTn id="47" presetID="29" presetClass="entr" presetSubtype="0" fill="hold" nodeType="withEffect">
                                  <p:stCondLst>
                                    <p:cond delay="0"/>
                                  </p:stCondLst>
                                  <p:childTnLst>
                                    <p:set>
                                      <p:cBhvr>
                                        <p:cTn id="48" dur="1" fill="hold">
                                          <p:stCondLst>
                                            <p:cond delay="0"/>
                                          </p:stCondLst>
                                        </p:cTn>
                                        <p:tgtEl>
                                          <p:spTgt spid="4">
                                            <p:txEl>
                                              <p:pRg st="1" end="1"/>
                                            </p:txEl>
                                          </p:spTgt>
                                        </p:tgtEl>
                                        <p:attrNameLst>
                                          <p:attrName>style.visibility</p:attrName>
                                        </p:attrNameLst>
                                      </p:cBhvr>
                                      <p:to>
                                        <p:strVal val="visible"/>
                                      </p:to>
                                    </p:set>
                                    <p:anim calcmode="lin" valueType="num">
                                      <p:cBhvr>
                                        <p:cTn id="49" dur="1000" fill="hold"/>
                                        <p:tgtEl>
                                          <p:spTgt spid="4">
                                            <p:txEl>
                                              <p:pRg st="1" end="1"/>
                                            </p:txEl>
                                          </p:spTgt>
                                        </p:tgtEl>
                                        <p:attrNameLst>
                                          <p:attrName>ppt_x</p:attrName>
                                        </p:attrNameLst>
                                      </p:cBhvr>
                                      <p:tavLst>
                                        <p:tav tm="0">
                                          <p:val>
                                            <p:strVal val="#ppt_x-.2"/>
                                          </p:val>
                                        </p:tav>
                                        <p:tav tm="100000">
                                          <p:val>
                                            <p:strVal val="#ppt_x"/>
                                          </p:val>
                                        </p:tav>
                                      </p:tavLst>
                                    </p:anim>
                                    <p:anim calcmode="lin" valueType="num">
                                      <p:cBhvr>
                                        <p:cTn id="50" dur="1000" fill="hold"/>
                                        <p:tgtEl>
                                          <p:spTgt spid="4">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51" dur="1000"/>
                                        <p:tgtEl>
                                          <p:spTgt spid="4">
                                            <p:txEl>
                                              <p:pRg st="1" end="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9" presetClass="entr" presetSubtype="0" fill="hold" nodeType="clickEffect">
                                  <p:stCondLst>
                                    <p:cond delay="0"/>
                                  </p:stCondLst>
                                  <p:childTnLst>
                                    <p:set>
                                      <p:cBhvr>
                                        <p:cTn id="55" dur="1" fill="hold">
                                          <p:stCondLst>
                                            <p:cond delay="0"/>
                                          </p:stCondLst>
                                        </p:cTn>
                                        <p:tgtEl>
                                          <p:spTgt spid="4">
                                            <p:txEl>
                                              <p:pRg st="2" end="2"/>
                                            </p:txEl>
                                          </p:spTgt>
                                        </p:tgtEl>
                                        <p:attrNameLst>
                                          <p:attrName>style.visibility</p:attrName>
                                        </p:attrNameLst>
                                      </p:cBhvr>
                                      <p:to>
                                        <p:strVal val="visible"/>
                                      </p:to>
                                    </p:set>
                                    <p:anim calcmode="lin" valueType="num">
                                      <p:cBhvr>
                                        <p:cTn id="56" dur="1000" fill="hold"/>
                                        <p:tgtEl>
                                          <p:spTgt spid="4">
                                            <p:txEl>
                                              <p:pRg st="2" end="2"/>
                                            </p:txEl>
                                          </p:spTgt>
                                        </p:tgtEl>
                                        <p:attrNameLst>
                                          <p:attrName>ppt_x</p:attrName>
                                        </p:attrNameLst>
                                      </p:cBhvr>
                                      <p:tavLst>
                                        <p:tav tm="0">
                                          <p:val>
                                            <p:strVal val="#ppt_x-.2"/>
                                          </p:val>
                                        </p:tav>
                                        <p:tav tm="100000">
                                          <p:val>
                                            <p:strVal val="#ppt_x"/>
                                          </p:val>
                                        </p:tav>
                                      </p:tavLst>
                                    </p:anim>
                                    <p:anim calcmode="lin" valueType="num">
                                      <p:cBhvr>
                                        <p:cTn id="57" dur="1000" fill="hold"/>
                                        <p:tgtEl>
                                          <p:spTgt spid="4">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58" dur="1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500034" y="571480"/>
            <a:ext cx="5214975" cy="461665"/>
          </a:xfrm>
          <a:prstGeom prst="rect">
            <a:avLst/>
          </a:prstGeom>
          <a:solidFill>
            <a:schemeClr val="tx2">
              <a:lumMod val="50000"/>
            </a:schemeClr>
          </a:solidFill>
        </p:spPr>
        <p:txBody>
          <a:bodyPr wrap="square" rtlCol="1">
            <a:spAutoFit/>
          </a:bodyPr>
          <a:lstStyle/>
          <a:p>
            <a:pPr algn="l"/>
            <a:r>
              <a:rPr lang="en-US" sz="2400" b="1" dirty="0"/>
              <a:t>GIF</a:t>
            </a:r>
            <a:r>
              <a:rPr lang="en-US" sz="2400" dirty="0"/>
              <a:t> : Graphics Interchange Format</a:t>
            </a:r>
          </a:p>
        </p:txBody>
      </p:sp>
      <p:sp>
        <p:nvSpPr>
          <p:cNvPr id="3" name="مربع نص 2"/>
          <p:cNvSpPr txBox="1"/>
          <p:nvPr/>
        </p:nvSpPr>
        <p:spPr>
          <a:xfrm>
            <a:off x="3714744" y="764704"/>
            <a:ext cx="5000660" cy="1815882"/>
          </a:xfrm>
          <a:prstGeom prst="rect">
            <a:avLst/>
          </a:prstGeom>
          <a:noFill/>
        </p:spPr>
        <p:txBody>
          <a:bodyPr wrap="square" rtlCol="1">
            <a:spAutoFit/>
          </a:bodyPr>
          <a:lstStyle/>
          <a:p>
            <a:pPr>
              <a:buFont typeface="Arial" pitchFamily="34" charset="0"/>
              <a:buChar char="•"/>
            </a:pPr>
            <a:r>
              <a:rPr lang="ar-EG" sz="2800" b="1" dirty="0">
                <a:solidFill>
                  <a:schemeClr val="tx2"/>
                </a:solidFill>
              </a:rPr>
              <a:t>الامتداد : </a:t>
            </a:r>
            <a:r>
              <a:rPr lang="en-US" sz="2800" b="1" dirty="0">
                <a:solidFill>
                  <a:schemeClr val="tx2"/>
                </a:solidFill>
              </a:rPr>
              <a:t>gif</a:t>
            </a:r>
          </a:p>
          <a:p>
            <a:pPr>
              <a:buFont typeface="Arial" pitchFamily="34" charset="0"/>
              <a:buChar char="•"/>
            </a:pPr>
            <a:r>
              <a:rPr lang="ar-EG" sz="2800" b="1" dirty="0">
                <a:solidFill>
                  <a:schemeClr val="tx2"/>
                </a:solidFill>
              </a:rPr>
              <a:t>النوع : </a:t>
            </a:r>
            <a:r>
              <a:rPr lang="en-US" sz="2800" b="1" dirty="0">
                <a:solidFill>
                  <a:schemeClr val="tx2"/>
                </a:solidFill>
              </a:rPr>
              <a:t>bitmapped</a:t>
            </a:r>
          </a:p>
          <a:p>
            <a:pPr>
              <a:buFont typeface="Arial" pitchFamily="34" charset="0"/>
              <a:buChar char="•"/>
            </a:pPr>
            <a:r>
              <a:rPr lang="ar-EG" sz="2800" b="1" dirty="0">
                <a:solidFill>
                  <a:schemeClr val="tx2"/>
                </a:solidFill>
              </a:rPr>
              <a:t>خوارزمية الضغط : </a:t>
            </a:r>
            <a:r>
              <a:rPr lang="en-US" sz="2800" b="1" dirty="0">
                <a:solidFill>
                  <a:schemeClr val="tx2"/>
                </a:solidFill>
              </a:rPr>
              <a:t>LZW .. Lossless</a:t>
            </a:r>
          </a:p>
          <a:p>
            <a:pPr>
              <a:buFont typeface="Arial" pitchFamily="34" charset="0"/>
              <a:buChar char="•"/>
            </a:pPr>
            <a:r>
              <a:rPr lang="ar-EG" sz="2800" b="1" dirty="0">
                <a:solidFill>
                  <a:schemeClr val="tx2"/>
                </a:solidFill>
              </a:rPr>
              <a:t>عمق اللون : يصل إلي 8 بت</a:t>
            </a:r>
          </a:p>
        </p:txBody>
      </p:sp>
      <p:sp>
        <p:nvSpPr>
          <p:cNvPr id="4" name="مربع نص 3"/>
          <p:cNvSpPr txBox="1"/>
          <p:nvPr/>
        </p:nvSpPr>
        <p:spPr>
          <a:xfrm>
            <a:off x="179512" y="2636912"/>
            <a:ext cx="8715406" cy="4154984"/>
          </a:xfrm>
          <a:prstGeom prst="rect">
            <a:avLst/>
          </a:prstGeom>
          <a:noFill/>
        </p:spPr>
        <p:txBody>
          <a:bodyPr wrap="square" rtlCol="1">
            <a:spAutoFit/>
          </a:bodyPr>
          <a:lstStyle/>
          <a:p>
            <a:r>
              <a:rPr lang="ar-EG" sz="2400" dirty="0"/>
              <a:t>ظهرت </a:t>
            </a:r>
            <a:r>
              <a:rPr lang="ar-EG" sz="2400" dirty="0" err="1"/>
              <a:t>فى</a:t>
            </a:r>
            <a:r>
              <a:rPr lang="ar-EG" sz="2400" dirty="0"/>
              <a:t> .. 1987 : صيغة ملف </a:t>
            </a:r>
            <a:r>
              <a:rPr lang="en-US" sz="2400" dirty="0"/>
              <a:t>GIF</a:t>
            </a:r>
            <a:r>
              <a:rPr lang="ar-EG" sz="2400" dirty="0"/>
              <a:t> تستعمل لحفظ وتحويل الصور </a:t>
            </a:r>
            <a:r>
              <a:rPr lang="ar-EG" sz="2400" dirty="0" err="1"/>
              <a:t>فى</a:t>
            </a:r>
            <a:r>
              <a:rPr lang="ar-EG" sz="2400" dirty="0"/>
              <a:t> نمط الفهرسة ( ليس أكثر من 256 لون ) . تدعم الصيغة أيضاً خوارزمية ضغط </a:t>
            </a:r>
            <a:r>
              <a:rPr lang="en-US" sz="2400" dirty="0"/>
              <a:t>LZW</a:t>
            </a:r>
            <a:r>
              <a:rPr lang="ar-EG" sz="2400" dirty="0"/>
              <a:t> هذه الصيغة تدعم الشفافية ( أي حفظ الصور بخلفية شفافة من غير خلفية ) بيضاء , </a:t>
            </a:r>
            <a:r>
              <a:rPr lang="ar-EG" sz="2400" dirty="0" err="1"/>
              <a:t>فى</a:t>
            </a:r>
            <a:r>
              <a:rPr lang="ar-EG" sz="2400" dirty="0"/>
              <a:t> 1989 تم تجديد الصيغة . اسم النسخة الجديدة كان </a:t>
            </a:r>
            <a:r>
              <a:rPr lang="en-US" sz="2400" dirty="0"/>
              <a:t>gif 89</a:t>
            </a:r>
            <a:r>
              <a:rPr lang="ar-EG" sz="2400" dirty="0"/>
              <a:t> . يدعم ميزة إضافة لأداء الصور المتحركة .</a:t>
            </a:r>
            <a:endParaRPr lang="en-US" sz="2400" dirty="0"/>
          </a:p>
          <a:p>
            <a:r>
              <a:rPr lang="ar-EG" sz="2400" dirty="0" err="1"/>
              <a:t>فى</a:t>
            </a:r>
            <a:r>
              <a:rPr lang="ar-EG" sz="2400" dirty="0"/>
              <a:t> الوقت الحاضر الصيغة </a:t>
            </a:r>
            <a:r>
              <a:rPr lang="en-US" sz="2400" dirty="0"/>
              <a:t>GIF</a:t>
            </a:r>
            <a:r>
              <a:rPr lang="ar-EG" sz="2400" dirty="0"/>
              <a:t> </a:t>
            </a:r>
            <a:r>
              <a:rPr lang="ar-EG" sz="2400" dirty="0" err="1"/>
              <a:t>هى</a:t>
            </a:r>
            <a:r>
              <a:rPr lang="ar-EG" sz="2400" dirty="0"/>
              <a:t> </a:t>
            </a:r>
            <a:r>
              <a:rPr lang="ar-EG" sz="2400" dirty="0" err="1"/>
              <a:t>إحدي</a:t>
            </a:r>
            <a:r>
              <a:rPr lang="ar-EG" sz="2400" dirty="0"/>
              <a:t> الصيغ التخطيطية الأكثر شعبية مع أنها ليست مناسبة لحفظ الصور ذات الألوان الواقعية , لأنها لا تحوي أكثر من 256 لون . هى فى الغالب تستعمل لعرض الصور المتحركة والمرسومة .</a:t>
            </a:r>
            <a:endParaRPr lang="en-US" sz="2400" dirty="0"/>
          </a:p>
          <a:p>
            <a:r>
              <a:rPr lang="ar-EG" sz="2400" dirty="0"/>
              <a:t>والملف صيغة  </a:t>
            </a:r>
            <a:r>
              <a:rPr lang="en-US" sz="2400" dirty="0"/>
              <a:t>GIF</a:t>
            </a:r>
            <a:r>
              <a:rPr lang="ar-EG" sz="2400" dirty="0"/>
              <a:t> له مجموعة من خوارزميات الضغط </a:t>
            </a:r>
            <a:r>
              <a:rPr lang="ar-EG" sz="2400" dirty="0" err="1"/>
              <a:t>التى</a:t>
            </a:r>
            <a:r>
              <a:rPr lang="ar-EG" sz="2400" dirty="0"/>
              <a:t> تسمح بضغط الصور بالألوان الأفقية المتسلسلة . ذلك يعني بأن الملف , الذي يحتوي بيانات تخطيطية أفقية , سيأخذ أماكن أقل من نفس الملف ببيانات تخطيطية عمودية .</a:t>
            </a:r>
            <a:endParaRPr lang="en-US" sz="2400" dirty="0"/>
          </a:p>
        </p:txBody>
      </p:sp>
    </p:spTree>
  </p:cSld>
  <p:clrMapOvr>
    <a:masterClrMapping/>
  </p:clrMapOvr>
  <p:transition spd="slow">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05"/>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 calcmode="lin" valueType="num">
                                      <p:cBhvr>
                                        <p:cTn id="9" dur="1000" fill="hold"/>
                                        <p:tgtEl>
                                          <p:spTgt spid="2"/>
                                        </p:tgtEl>
                                        <p:attrNameLst>
                                          <p:attrName>ppt_x</p:attrName>
                                        </p:attrNameLst>
                                      </p:cBhvr>
                                      <p:tavLst>
                                        <p:tav tm="0">
                                          <p:val>
                                            <p:strVal val="#ppt_x-.2"/>
                                          </p:val>
                                        </p:tav>
                                        <p:tav tm="100000">
                                          <p:val>
                                            <p:strVal val="#ppt_x"/>
                                          </p:val>
                                        </p:tav>
                                      </p:tavLst>
                                    </p:anim>
                                    <p:anim calcmode="lin" valueType="num">
                                      <p:cBhvr>
                                        <p:cTn id="10" dur="1000" fill="hold"/>
                                        <p:tgtEl>
                                          <p:spTgt spid="2"/>
                                        </p:tgtEl>
                                        <p:attrNameLst>
                                          <p:attrName>ppt_y</p:attrName>
                                        </p:attrNameLst>
                                      </p:cBhvr>
                                      <p:tavLst>
                                        <p:tav tm="0">
                                          <p:val>
                                            <p:strVal val="#ppt_y"/>
                                          </p:val>
                                        </p:tav>
                                        <p:tav tm="100000">
                                          <p:val>
                                            <p:strVal val="#ppt_y"/>
                                          </p:val>
                                        </p:tav>
                                      </p:tavLst>
                                    </p:anim>
                                    <p:animEffect transition="in" filter="fade">
                                      <p:cBhvr>
                                        <p:cTn id="11" dur="10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nodeType="click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fade">
                                      <p:cBhvr>
                                        <p:cTn id="16" dur="1000"/>
                                        <p:tgtEl>
                                          <p:spTgt spid="3">
                                            <p:txEl>
                                              <p:pRg st="0" end="0"/>
                                            </p:txEl>
                                          </p:spTgt>
                                        </p:tgtEl>
                                      </p:cBhvr>
                                    </p:animEffect>
                                    <p:anim calcmode="lin" valueType="num">
                                      <p:cBhvr>
                                        <p:cTn id="1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8"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7"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fade">
                                      <p:cBhvr>
                                        <p:cTn id="23" dur="1000"/>
                                        <p:tgtEl>
                                          <p:spTgt spid="3">
                                            <p:txEl>
                                              <p:pRg st="1" end="1"/>
                                            </p:txEl>
                                          </p:spTgt>
                                        </p:tgtEl>
                                      </p:cBhvr>
                                    </p:animEffect>
                                    <p:anim calcmode="lin" valueType="num">
                                      <p:cBhvr>
                                        <p:cTn id="2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7" presetClass="entr" presetSubtype="0" fill="hold"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fade">
                                      <p:cBhvr>
                                        <p:cTn id="30" dur="1000"/>
                                        <p:tgtEl>
                                          <p:spTgt spid="3">
                                            <p:txEl>
                                              <p:pRg st="2" end="2"/>
                                            </p:txEl>
                                          </p:spTgt>
                                        </p:tgtEl>
                                      </p:cBhvr>
                                    </p:animEffect>
                                    <p:anim calcmode="lin" valueType="num">
                                      <p:cBhvr>
                                        <p:cTn id="31"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7" presetClass="entr" presetSubtype="0"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fade">
                                      <p:cBhvr>
                                        <p:cTn id="37" dur="1000"/>
                                        <p:tgtEl>
                                          <p:spTgt spid="3">
                                            <p:txEl>
                                              <p:pRg st="3" end="3"/>
                                            </p:txEl>
                                          </p:spTgt>
                                        </p:tgtEl>
                                      </p:cBhvr>
                                    </p:animEffect>
                                    <p:anim calcmode="lin" valueType="num">
                                      <p:cBhvr>
                                        <p:cTn id="3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9" presetClass="entr" presetSubtype="0" fill="hold" nodeType="clickEffect">
                                  <p:stCondLst>
                                    <p:cond delay="0"/>
                                  </p:stCondLst>
                                  <p:childTnLst>
                                    <p:set>
                                      <p:cBhvr>
                                        <p:cTn id="43" dur="1" fill="hold">
                                          <p:stCondLst>
                                            <p:cond delay="0"/>
                                          </p:stCondLst>
                                        </p:cTn>
                                        <p:tgtEl>
                                          <p:spTgt spid="4">
                                            <p:txEl>
                                              <p:pRg st="0" end="0"/>
                                            </p:txEl>
                                          </p:spTgt>
                                        </p:tgtEl>
                                        <p:attrNameLst>
                                          <p:attrName>style.visibility</p:attrName>
                                        </p:attrNameLst>
                                      </p:cBhvr>
                                      <p:to>
                                        <p:strVal val="visible"/>
                                      </p:to>
                                    </p:set>
                                    <p:anim calcmode="lin" valueType="num">
                                      <p:cBhvr>
                                        <p:cTn id="44" dur="1000" fill="hold"/>
                                        <p:tgtEl>
                                          <p:spTgt spid="4">
                                            <p:txEl>
                                              <p:pRg st="0" end="0"/>
                                            </p:txEl>
                                          </p:spTgt>
                                        </p:tgtEl>
                                        <p:attrNameLst>
                                          <p:attrName>ppt_x</p:attrName>
                                        </p:attrNameLst>
                                      </p:cBhvr>
                                      <p:tavLst>
                                        <p:tav tm="0">
                                          <p:val>
                                            <p:strVal val="#ppt_x-.2"/>
                                          </p:val>
                                        </p:tav>
                                        <p:tav tm="100000">
                                          <p:val>
                                            <p:strVal val="#ppt_x"/>
                                          </p:val>
                                        </p:tav>
                                      </p:tavLst>
                                    </p:anim>
                                    <p:anim calcmode="lin" valueType="num">
                                      <p:cBhvr>
                                        <p:cTn id="45" dur="1000" fill="hold"/>
                                        <p:tgtEl>
                                          <p:spTgt spid="4">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46" dur="1000"/>
                                        <p:tgtEl>
                                          <p:spTgt spid="4">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9" presetClass="entr" presetSubtype="0" fill="hold" nodeType="clickEffect">
                                  <p:stCondLst>
                                    <p:cond delay="0"/>
                                  </p:stCondLst>
                                  <p:childTnLst>
                                    <p:set>
                                      <p:cBhvr>
                                        <p:cTn id="50" dur="1" fill="hold">
                                          <p:stCondLst>
                                            <p:cond delay="0"/>
                                          </p:stCondLst>
                                        </p:cTn>
                                        <p:tgtEl>
                                          <p:spTgt spid="4">
                                            <p:txEl>
                                              <p:pRg st="1" end="1"/>
                                            </p:txEl>
                                          </p:spTgt>
                                        </p:tgtEl>
                                        <p:attrNameLst>
                                          <p:attrName>style.visibility</p:attrName>
                                        </p:attrNameLst>
                                      </p:cBhvr>
                                      <p:to>
                                        <p:strVal val="visible"/>
                                      </p:to>
                                    </p:set>
                                    <p:anim calcmode="lin" valueType="num">
                                      <p:cBhvr>
                                        <p:cTn id="51" dur="1000" fill="hold"/>
                                        <p:tgtEl>
                                          <p:spTgt spid="4">
                                            <p:txEl>
                                              <p:pRg st="1" end="1"/>
                                            </p:txEl>
                                          </p:spTgt>
                                        </p:tgtEl>
                                        <p:attrNameLst>
                                          <p:attrName>ppt_x</p:attrName>
                                        </p:attrNameLst>
                                      </p:cBhvr>
                                      <p:tavLst>
                                        <p:tav tm="0">
                                          <p:val>
                                            <p:strVal val="#ppt_x-.2"/>
                                          </p:val>
                                        </p:tav>
                                        <p:tav tm="100000">
                                          <p:val>
                                            <p:strVal val="#ppt_x"/>
                                          </p:val>
                                        </p:tav>
                                      </p:tavLst>
                                    </p:anim>
                                    <p:anim calcmode="lin" valueType="num">
                                      <p:cBhvr>
                                        <p:cTn id="52" dur="1000" fill="hold"/>
                                        <p:tgtEl>
                                          <p:spTgt spid="4">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53" dur="1000"/>
                                        <p:tgtEl>
                                          <p:spTgt spid="4">
                                            <p:txEl>
                                              <p:pRg st="1" end="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9" presetClass="entr" presetSubtype="0" fill="hold" nodeType="clickEffect">
                                  <p:stCondLst>
                                    <p:cond delay="0"/>
                                  </p:stCondLst>
                                  <p:childTnLst>
                                    <p:set>
                                      <p:cBhvr>
                                        <p:cTn id="57" dur="1" fill="hold">
                                          <p:stCondLst>
                                            <p:cond delay="0"/>
                                          </p:stCondLst>
                                        </p:cTn>
                                        <p:tgtEl>
                                          <p:spTgt spid="4">
                                            <p:txEl>
                                              <p:pRg st="2" end="2"/>
                                            </p:txEl>
                                          </p:spTgt>
                                        </p:tgtEl>
                                        <p:attrNameLst>
                                          <p:attrName>style.visibility</p:attrName>
                                        </p:attrNameLst>
                                      </p:cBhvr>
                                      <p:to>
                                        <p:strVal val="visible"/>
                                      </p:to>
                                    </p:set>
                                    <p:anim calcmode="lin" valueType="num">
                                      <p:cBhvr>
                                        <p:cTn id="58" dur="1000" fill="hold"/>
                                        <p:tgtEl>
                                          <p:spTgt spid="4">
                                            <p:txEl>
                                              <p:pRg st="2" end="2"/>
                                            </p:txEl>
                                          </p:spTgt>
                                        </p:tgtEl>
                                        <p:attrNameLst>
                                          <p:attrName>ppt_x</p:attrName>
                                        </p:attrNameLst>
                                      </p:cBhvr>
                                      <p:tavLst>
                                        <p:tav tm="0">
                                          <p:val>
                                            <p:strVal val="#ppt_x-.2"/>
                                          </p:val>
                                        </p:tav>
                                        <p:tav tm="100000">
                                          <p:val>
                                            <p:strVal val="#ppt_x"/>
                                          </p:val>
                                        </p:tav>
                                      </p:tavLst>
                                    </p:anim>
                                    <p:anim calcmode="lin" valueType="num">
                                      <p:cBhvr>
                                        <p:cTn id="59" dur="1000" fill="hold"/>
                                        <p:tgtEl>
                                          <p:spTgt spid="4">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60" dur="1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357161" y="571482"/>
            <a:ext cx="4919745" cy="461665"/>
          </a:xfrm>
          <a:prstGeom prst="rect">
            <a:avLst/>
          </a:prstGeom>
          <a:solidFill>
            <a:schemeClr val="tx2">
              <a:lumMod val="50000"/>
            </a:schemeClr>
          </a:solid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dobe Caslon Pro Bold" pitchFamily="18" charset="0"/>
                <a:ea typeface="Calibri" pitchFamily="34" charset="0"/>
                <a:cs typeface="Arial" pitchFamily="34" charset="0"/>
              </a:rPr>
              <a:t>Bitmap</a:t>
            </a:r>
            <a:r>
              <a:rPr kumimoji="0" lang="en-US" sz="2400" b="0" i="0" u="none" strike="noStrike" cap="none" normalizeH="0" baseline="0" dirty="0">
                <a:ln>
                  <a:noFill/>
                </a:ln>
                <a:solidFill>
                  <a:schemeClr val="tx1"/>
                </a:solidFill>
                <a:effectLst/>
                <a:latin typeface="Adobe Caslon Pro Bold" pitchFamily="18" charset="0"/>
                <a:ea typeface="Calibri" pitchFamily="34" charset="0"/>
                <a:cs typeface="Arial" pitchFamily="34" charset="0"/>
              </a:rPr>
              <a:t>: Microsoft Windows Bitmap</a:t>
            </a: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sp>
        <p:nvSpPr>
          <p:cNvPr id="4" name="مربع نص 3"/>
          <p:cNvSpPr txBox="1"/>
          <p:nvPr/>
        </p:nvSpPr>
        <p:spPr>
          <a:xfrm>
            <a:off x="2285984" y="1142986"/>
            <a:ext cx="6286544" cy="1815882"/>
          </a:xfrm>
          <a:prstGeom prst="rect">
            <a:avLst/>
          </a:prstGeom>
          <a:noFill/>
        </p:spPr>
        <p:txBody>
          <a:bodyPr wrap="square" rtlCol="1">
            <a:spAutoFit/>
          </a:bodyPr>
          <a:lstStyle/>
          <a:p>
            <a:pPr>
              <a:buFont typeface="Arial" pitchFamily="34" charset="0"/>
              <a:buChar char="•"/>
            </a:pPr>
            <a:r>
              <a:rPr lang="ar-EG" sz="2800" b="1" dirty="0">
                <a:solidFill>
                  <a:schemeClr val="tx2"/>
                </a:solidFill>
              </a:rPr>
              <a:t>الامتداد : </a:t>
            </a:r>
            <a:r>
              <a:rPr lang="en-US" sz="2800" b="1" dirty="0">
                <a:solidFill>
                  <a:schemeClr val="tx2"/>
                </a:solidFill>
              </a:rPr>
              <a:t>dib , </a:t>
            </a:r>
            <a:r>
              <a:rPr lang="en-US" sz="2800" b="1" dirty="0" err="1">
                <a:solidFill>
                  <a:schemeClr val="tx2"/>
                </a:solidFill>
              </a:rPr>
              <a:t>rle</a:t>
            </a:r>
            <a:r>
              <a:rPr lang="en-US" sz="2800" b="1" dirty="0">
                <a:solidFill>
                  <a:schemeClr val="tx2"/>
                </a:solidFill>
              </a:rPr>
              <a:t> , bmp</a:t>
            </a:r>
          </a:p>
          <a:p>
            <a:pPr>
              <a:buFont typeface="Arial" pitchFamily="34" charset="0"/>
              <a:buChar char="•"/>
            </a:pPr>
            <a:r>
              <a:rPr lang="ar-EG" sz="2800" b="1" dirty="0">
                <a:solidFill>
                  <a:schemeClr val="tx2"/>
                </a:solidFill>
              </a:rPr>
              <a:t>النوع : </a:t>
            </a:r>
            <a:r>
              <a:rPr lang="en-US" sz="2800" b="1" dirty="0">
                <a:solidFill>
                  <a:schemeClr val="tx2"/>
                </a:solidFill>
              </a:rPr>
              <a:t>bitmapped</a:t>
            </a:r>
          </a:p>
          <a:p>
            <a:pPr>
              <a:buFont typeface="Arial" pitchFamily="34" charset="0"/>
              <a:buChar char="•"/>
            </a:pPr>
            <a:r>
              <a:rPr lang="ar-EG" sz="2800" b="1" dirty="0">
                <a:solidFill>
                  <a:schemeClr val="tx2"/>
                </a:solidFill>
              </a:rPr>
              <a:t>خوارزمية الضغط : </a:t>
            </a:r>
            <a:r>
              <a:rPr lang="en-US" sz="2800" b="1" dirty="0" err="1">
                <a:solidFill>
                  <a:schemeClr val="tx2"/>
                </a:solidFill>
              </a:rPr>
              <a:t>RLE..lossless</a:t>
            </a:r>
            <a:endParaRPr lang="en-US" sz="2800" b="1" dirty="0">
              <a:solidFill>
                <a:schemeClr val="tx2"/>
              </a:solidFill>
            </a:endParaRPr>
          </a:p>
          <a:p>
            <a:pPr>
              <a:buFont typeface="Arial" pitchFamily="34" charset="0"/>
              <a:buChar char="•"/>
            </a:pPr>
            <a:r>
              <a:rPr lang="ar-EG" sz="2800" b="1" dirty="0">
                <a:solidFill>
                  <a:schemeClr val="tx2"/>
                </a:solidFill>
              </a:rPr>
              <a:t>عمق اللون : يصل إلى 32 بت</a:t>
            </a:r>
          </a:p>
        </p:txBody>
      </p:sp>
      <p:sp>
        <p:nvSpPr>
          <p:cNvPr id="5" name="مربع نص 4"/>
          <p:cNvSpPr txBox="1"/>
          <p:nvPr/>
        </p:nvSpPr>
        <p:spPr>
          <a:xfrm>
            <a:off x="179512" y="3068707"/>
            <a:ext cx="8647387" cy="3539430"/>
          </a:xfrm>
          <a:prstGeom prst="rect">
            <a:avLst/>
          </a:prstGeom>
          <a:noFill/>
        </p:spPr>
        <p:txBody>
          <a:bodyPr wrap="square" rtlCol="1">
            <a:spAutoFit/>
          </a:bodyPr>
          <a:lstStyle/>
          <a:p>
            <a:r>
              <a:rPr lang="ar-EG" sz="3200" dirty="0"/>
              <a:t>كل نسخ </a:t>
            </a:r>
            <a:r>
              <a:rPr lang="en-US" sz="3200" dirty="0"/>
              <a:t>BMP</a:t>
            </a:r>
            <a:r>
              <a:rPr lang="ar-EG" sz="3200" dirty="0"/>
              <a:t> صممت للحاسبات بمعالجات إنتل ... إن نسخة الصيغة الحالية تستطيع حفظ صور بمستويات جودة مختلفة ( </a:t>
            </a:r>
            <a:r>
              <a:rPr lang="ar-EG" sz="3200" dirty="0" err="1"/>
              <a:t>الى</a:t>
            </a:r>
            <a:r>
              <a:rPr lang="ar-EG" sz="3200" dirty="0"/>
              <a:t> حد 32 بت ). وهي تستعمل لحفظ الصور بالألوان والأسود والأبيض .. الفائدة الرئيسية لـ </a:t>
            </a:r>
            <a:r>
              <a:rPr lang="en-US" sz="3200" dirty="0"/>
              <a:t>BMP</a:t>
            </a:r>
            <a:r>
              <a:rPr lang="ar-EG" sz="3200" dirty="0"/>
              <a:t> قابلية استعمالها ودعمها القوي للبرمجيات وخاصة استخدامها </a:t>
            </a:r>
            <a:r>
              <a:rPr lang="ar-EG" sz="3200" dirty="0" err="1"/>
              <a:t>فى</a:t>
            </a:r>
            <a:r>
              <a:rPr lang="ar-EG" sz="3200" dirty="0"/>
              <a:t> برنامج </a:t>
            </a:r>
            <a:r>
              <a:rPr lang="ar-EG" sz="3200" dirty="0" err="1"/>
              <a:t>الويندوز</a:t>
            </a:r>
            <a:r>
              <a:rPr lang="ar-EG" sz="3200" dirty="0"/>
              <a:t> , كما تستخدم </a:t>
            </a:r>
            <a:r>
              <a:rPr lang="ar-EG" sz="3200" dirty="0" err="1"/>
              <a:t>فى</a:t>
            </a:r>
            <a:r>
              <a:rPr lang="ar-EG" sz="3200" dirty="0"/>
              <a:t> هذه الصيغة خوارزمية الضغط ( </a:t>
            </a:r>
            <a:r>
              <a:rPr lang="en-US" sz="3200" dirty="0"/>
              <a:t>run-length </a:t>
            </a:r>
            <a:r>
              <a:rPr lang="en-US" sz="3200" dirty="0" err="1"/>
              <a:t>ebcoding</a:t>
            </a:r>
            <a:r>
              <a:rPr lang="en-US" sz="3200" dirty="0"/>
              <a:t> ..</a:t>
            </a:r>
            <a:r>
              <a:rPr lang="ar-EG" sz="3200" dirty="0"/>
              <a:t> ) </a:t>
            </a:r>
            <a:r>
              <a:rPr lang="en-US" sz="3200" dirty="0"/>
              <a:t>RLE</a:t>
            </a:r>
            <a:endParaRPr lang="ar-EG" sz="3200" dirty="0"/>
          </a:p>
        </p:txBody>
      </p:sp>
    </p:spTree>
  </p:cSld>
  <p:clrMapOvr>
    <a:masterClrMapping/>
  </p:clrMapOvr>
  <p:transition spd="slow">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1025"/>
                                        </p:tgtEl>
                                        <p:attrNameLst>
                                          <p:attrName>style.visibility</p:attrName>
                                        </p:attrNameLst>
                                      </p:cBhvr>
                                      <p:to>
                                        <p:strVal val="visible"/>
                                      </p:to>
                                    </p:set>
                                    <p:anim calcmode="lin" valueType="num">
                                      <p:cBhvr>
                                        <p:cTn id="7" dur="1000" fill="hold"/>
                                        <p:tgtEl>
                                          <p:spTgt spid="1025"/>
                                        </p:tgtEl>
                                        <p:attrNameLst>
                                          <p:attrName>ppt_w</p:attrName>
                                        </p:attrNameLst>
                                      </p:cBhvr>
                                      <p:tavLst>
                                        <p:tav tm="0">
                                          <p:val>
                                            <p:strVal val="#ppt_w*0.05"/>
                                          </p:val>
                                        </p:tav>
                                        <p:tav tm="100000">
                                          <p:val>
                                            <p:strVal val="#ppt_w"/>
                                          </p:val>
                                        </p:tav>
                                      </p:tavLst>
                                    </p:anim>
                                    <p:anim calcmode="lin" valueType="num">
                                      <p:cBhvr>
                                        <p:cTn id="8" dur="1000" fill="hold"/>
                                        <p:tgtEl>
                                          <p:spTgt spid="1025"/>
                                        </p:tgtEl>
                                        <p:attrNameLst>
                                          <p:attrName>ppt_h</p:attrName>
                                        </p:attrNameLst>
                                      </p:cBhvr>
                                      <p:tavLst>
                                        <p:tav tm="0">
                                          <p:val>
                                            <p:strVal val="#ppt_h"/>
                                          </p:val>
                                        </p:tav>
                                        <p:tav tm="100000">
                                          <p:val>
                                            <p:strVal val="#ppt_h"/>
                                          </p:val>
                                        </p:tav>
                                      </p:tavLst>
                                    </p:anim>
                                    <p:anim calcmode="lin" valueType="num">
                                      <p:cBhvr>
                                        <p:cTn id="9" dur="1000" fill="hold"/>
                                        <p:tgtEl>
                                          <p:spTgt spid="1025"/>
                                        </p:tgtEl>
                                        <p:attrNameLst>
                                          <p:attrName>ppt_x</p:attrName>
                                        </p:attrNameLst>
                                      </p:cBhvr>
                                      <p:tavLst>
                                        <p:tav tm="0">
                                          <p:val>
                                            <p:strVal val="#ppt_x-.2"/>
                                          </p:val>
                                        </p:tav>
                                        <p:tav tm="100000">
                                          <p:val>
                                            <p:strVal val="#ppt_x"/>
                                          </p:val>
                                        </p:tav>
                                      </p:tavLst>
                                    </p:anim>
                                    <p:anim calcmode="lin" valueType="num">
                                      <p:cBhvr>
                                        <p:cTn id="10" dur="1000" fill="hold"/>
                                        <p:tgtEl>
                                          <p:spTgt spid="1025"/>
                                        </p:tgtEl>
                                        <p:attrNameLst>
                                          <p:attrName>ppt_y</p:attrName>
                                        </p:attrNameLst>
                                      </p:cBhvr>
                                      <p:tavLst>
                                        <p:tav tm="0">
                                          <p:val>
                                            <p:strVal val="#ppt_y"/>
                                          </p:val>
                                        </p:tav>
                                        <p:tav tm="100000">
                                          <p:val>
                                            <p:strVal val="#ppt_y"/>
                                          </p:val>
                                        </p:tav>
                                      </p:tavLst>
                                    </p:anim>
                                    <p:animEffect transition="in" filter="fade">
                                      <p:cBhvr>
                                        <p:cTn id="11" dur="1000"/>
                                        <p:tgtEl>
                                          <p:spTgt spid="1025"/>
                                        </p:tgtEl>
                                      </p:cBhvr>
                                    </p:animEffect>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nodeType="clickEffect">
                                  <p:stCondLst>
                                    <p:cond delay="0"/>
                                  </p:stCondLst>
                                  <p:childTnLst>
                                    <p:set>
                                      <p:cBhvr>
                                        <p:cTn id="15" dur="1" fill="hold">
                                          <p:stCondLst>
                                            <p:cond delay="0"/>
                                          </p:stCondLst>
                                        </p:cTn>
                                        <p:tgtEl>
                                          <p:spTgt spid="4">
                                            <p:txEl>
                                              <p:pRg st="0" end="0"/>
                                            </p:txEl>
                                          </p:spTgt>
                                        </p:tgtEl>
                                        <p:attrNameLst>
                                          <p:attrName>style.visibility</p:attrName>
                                        </p:attrNameLst>
                                      </p:cBhvr>
                                      <p:to>
                                        <p:strVal val="visible"/>
                                      </p:to>
                                    </p:set>
                                    <p:animEffect transition="in" filter="fade">
                                      <p:cBhvr>
                                        <p:cTn id="16" dur="1000"/>
                                        <p:tgtEl>
                                          <p:spTgt spid="4">
                                            <p:txEl>
                                              <p:pRg st="0" end="0"/>
                                            </p:txEl>
                                          </p:spTgt>
                                        </p:tgtEl>
                                      </p:cBhvr>
                                    </p:animEffect>
                                    <p:anim calcmode="lin" valueType="num">
                                      <p:cBhvr>
                                        <p:cTn id="17"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8"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7" presetClass="entr" presetSubtype="0"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fade">
                                      <p:cBhvr>
                                        <p:cTn id="23" dur="1000"/>
                                        <p:tgtEl>
                                          <p:spTgt spid="4">
                                            <p:txEl>
                                              <p:pRg st="1" end="1"/>
                                            </p:txEl>
                                          </p:spTgt>
                                        </p:tgtEl>
                                      </p:cBhvr>
                                    </p:animEffect>
                                    <p:anim calcmode="lin" valueType="num">
                                      <p:cBhvr>
                                        <p:cTn id="2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5"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7" presetClass="entr" presetSubtype="0" fill="hold" nodeType="clickEffect">
                                  <p:stCondLst>
                                    <p:cond delay="0"/>
                                  </p:stCondLst>
                                  <p:childTnLst>
                                    <p:set>
                                      <p:cBhvr>
                                        <p:cTn id="29" dur="1" fill="hold">
                                          <p:stCondLst>
                                            <p:cond delay="0"/>
                                          </p:stCondLst>
                                        </p:cTn>
                                        <p:tgtEl>
                                          <p:spTgt spid="4">
                                            <p:txEl>
                                              <p:pRg st="2" end="2"/>
                                            </p:txEl>
                                          </p:spTgt>
                                        </p:tgtEl>
                                        <p:attrNameLst>
                                          <p:attrName>style.visibility</p:attrName>
                                        </p:attrNameLst>
                                      </p:cBhvr>
                                      <p:to>
                                        <p:strVal val="visible"/>
                                      </p:to>
                                    </p:set>
                                    <p:animEffect transition="in" filter="fade">
                                      <p:cBhvr>
                                        <p:cTn id="30" dur="1000"/>
                                        <p:tgtEl>
                                          <p:spTgt spid="4">
                                            <p:txEl>
                                              <p:pRg st="2" end="2"/>
                                            </p:txEl>
                                          </p:spTgt>
                                        </p:tgtEl>
                                      </p:cBhvr>
                                    </p:animEffect>
                                    <p:anim calcmode="lin" valueType="num">
                                      <p:cBhvr>
                                        <p:cTn id="31"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2"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7" presetClass="entr" presetSubtype="0" fill="hold"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animEffect transition="in" filter="fade">
                                      <p:cBhvr>
                                        <p:cTn id="37" dur="1000"/>
                                        <p:tgtEl>
                                          <p:spTgt spid="4">
                                            <p:txEl>
                                              <p:pRg st="3" end="3"/>
                                            </p:txEl>
                                          </p:spTgt>
                                        </p:tgtEl>
                                      </p:cBhvr>
                                    </p:animEffect>
                                    <p:anim calcmode="lin" valueType="num">
                                      <p:cBhvr>
                                        <p:cTn id="3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9" presetClass="entr" presetSubtype="0" fill="hold" nodeType="clickEffect">
                                  <p:stCondLst>
                                    <p:cond delay="0"/>
                                  </p:stCondLst>
                                  <p:childTnLst>
                                    <p:set>
                                      <p:cBhvr>
                                        <p:cTn id="43" dur="1" fill="hold">
                                          <p:stCondLst>
                                            <p:cond delay="0"/>
                                          </p:stCondLst>
                                        </p:cTn>
                                        <p:tgtEl>
                                          <p:spTgt spid="5">
                                            <p:txEl>
                                              <p:pRg st="0" end="0"/>
                                            </p:txEl>
                                          </p:spTgt>
                                        </p:tgtEl>
                                        <p:attrNameLst>
                                          <p:attrName>style.visibility</p:attrName>
                                        </p:attrNameLst>
                                      </p:cBhvr>
                                      <p:to>
                                        <p:strVal val="visible"/>
                                      </p:to>
                                    </p:set>
                                    <p:anim calcmode="lin" valueType="num">
                                      <p:cBhvr>
                                        <p:cTn id="44" dur="1000" fill="hold"/>
                                        <p:tgtEl>
                                          <p:spTgt spid="5">
                                            <p:txEl>
                                              <p:pRg st="0" end="0"/>
                                            </p:txEl>
                                          </p:spTgt>
                                        </p:tgtEl>
                                        <p:attrNameLst>
                                          <p:attrName>ppt_x</p:attrName>
                                        </p:attrNameLst>
                                      </p:cBhvr>
                                      <p:tavLst>
                                        <p:tav tm="0">
                                          <p:val>
                                            <p:strVal val="#ppt_x-.2"/>
                                          </p:val>
                                        </p:tav>
                                        <p:tav tm="100000">
                                          <p:val>
                                            <p:strVal val="#ppt_x"/>
                                          </p:val>
                                        </p:tav>
                                      </p:tavLst>
                                    </p:anim>
                                    <p:anim calcmode="lin" valueType="num">
                                      <p:cBhvr>
                                        <p:cTn id="45" dur="1000" fill="hold"/>
                                        <p:tgtEl>
                                          <p:spTgt spid="5">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46" dur="1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500035" y="642920"/>
            <a:ext cx="4857784" cy="461665"/>
          </a:xfrm>
          <a:prstGeom prst="rect">
            <a:avLst/>
          </a:prstGeom>
          <a:solidFill>
            <a:schemeClr val="tx2">
              <a:lumMod val="50000"/>
            </a:schemeClr>
          </a:solidFill>
        </p:spPr>
        <p:txBody>
          <a:bodyPr wrap="square" rtlCol="1">
            <a:spAutoFit/>
          </a:bodyPr>
          <a:lstStyle/>
          <a:p>
            <a:pPr algn="l"/>
            <a:r>
              <a:rPr lang="en-US" sz="2400" b="1" dirty="0"/>
              <a:t>TIFF</a:t>
            </a:r>
            <a:r>
              <a:rPr lang="en-US" sz="2400" dirty="0"/>
              <a:t>: Tagged Image File Format </a:t>
            </a:r>
          </a:p>
        </p:txBody>
      </p:sp>
      <p:sp>
        <p:nvSpPr>
          <p:cNvPr id="3" name="مربع نص 2"/>
          <p:cNvSpPr txBox="1"/>
          <p:nvPr/>
        </p:nvSpPr>
        <p:spPr>
          <a:xfrm>
            <a:off x="2928926" y="764704"/>
            <a:ext cx="5715040" cy="1384995"/>
          </a:xfrm>
          <a:prstGeom prst="rect">
            <a:avLst/>
          </a:prstGeom>
          <a:noFill/>
        </p:spPr>
        <p:txBody>
          <a:bodyPr wrap="square" rtlCol="1">
            <a:spAutoFit/>
          </a:bodyPr>
          <a:lstStyle/>
          <a:p>
            <a:pPr>
              <a:buFont typeface="Arial" pitchFamily="34" charset="0"/>
              <a:buChar char="•"/>
            </a:pPr>
            <a:r>
              <a:rPr lang="ar-EG" sz="2800" b="1" dirty="0">
                <a:solidFill>
                  <a:schemeClr val="tx2"/>
                </a:solidFill>
              </a:rPr>
              <a:t>الامتداد : </a:t>
            </a:r>
            <a:r>
              <a:rPr lang="en-US" sz="2800" b="1" dirty="0" err="1">
                <a:solidFill>
                  <a:schemeClr val="tx2"/>
                </a:solidFill>
              </a:rPr>
              <a:t>tif</a:t>
            </a:r>
            <a:endParaRPr lang="en-US" sz="2800" b="1" dirty="0">
              <a:solidFill>
                <a:schemeClr val="tx2"/>
              </a:solidFill>
            </a:endParaRPr>
          </a:p>
          <a:p>
            <a:pPr>
              <a:buFont typeface="Arial" pitchFamily="34" charset="0"/>
              <a:buChar char="•"/>
            </a:pPr>
            <a:r>
              <a:rPr lang="ar-EG" sz="2800" b="1" dirty="0">
                <a:solidFill>
                  <a:schemeClr val="tx2"/>
                </a:solidFill>
              </a:rPr>
              <a:t>النوع : </a:t>
            </a:r>
            <a:r>
              <a:rPr lang="en-US" sz="2800" b="1" dirty="0">
                <a:solidFill>
                  <a:schemeClr val="tx2"/>
                </a:solidFill>
              </a:rPr>
              <a:t>bitmapped</a:t>
            </a:r>
          </a:p>
          <a:p>
            <a:pPr>
              <a:buFont typeface="Arial" pitchFamily="34" charset="0"/>
              <a:buChar char="•"/>
            </a:pPr>
            <a:r>
              <a:rPr lang="ar-EG" sz="2800" b="1" dirty="0">
                <a:solidFill>
                  <a:schemeClr val="tx2"/>
                </a:solidFill>
              </a:rPr>
              <a:t>عمق اللون : يصل إلى 48 بت </a:t>
            </a:r>
          </a:p>
        </p:txBody>
      </p:sp>
      <p:sp>
        <p:nvSpPr>
          <p:cNvPr id="4" name="مربع نص 3"/>
          <p:cNvSpPr txBox="1"/>
          <p:nvPr/>
        </p:nvSpPr>
        <p:spPr>
          <a:xfrm>
            <a:off x="0" y="2132856"/>
            <a:ext cx="8964488" cy="4832092"/>
          </a:xfrm>
          <a:prstGeom prst="rect">
            <a:avLst/>
          </a:prstGeom>
          <a:noFill/>
        </p:spPr>
        <p:txBody>
          <a:bodyPr wrap="square" rtlCol="1">
            <a:spAutoFit/>
          </a:bodyPr>
          <a:lstStyle/>
          <a:p>
            <a:r>
              <a:rPr lang="ar-EG" sz="2800" dirty="0"/>
              <a:t>ظهرت </a:t>
            </a:r>
            <a:r>
              <a:rPr lang="ar-EG" sz="2800" dirty="0" err="1"/>
              <a:t>فى</a:t>
            </a:r>
            <a:r>
              <a:rPr lang="ar-EG" sz="2800" dirty="0"/>
              <a:t> 1986 : تستعمل لحفظ الصور البيضاء والسوداء . ( </a:t>
            </a:r>
            <a:r>
              <a:rPr lang="en-US" sz="2800" dirty="0"/>
              <a:t>Tiff 3.0</a:t>
            </a:r>
            <a:r>
              <a:rPr lang="ar-EG" sz="2800" dirty="0"/>
              <a:t>) </a:t>
            </a:r>
            <a:r>
              <a:rPr lang="ar-EG" sz="2800" dirty="0" err="1"/>
              <a:t>فى</a:t>
            </a:r>
            <a:r>
              <a:rPr lang="ar-EG" sz="2800" dirty="0"/>
              <a:t> 1987 تم </a:t>
            </a:r>
            <a:r>
              <a:rPr lang="ar-EG" sz="2800" dirty="0" err="1"/>
              <a:t>اصدار</a:t>
            </a:r>
            <a:r>
              <a:rPr lang="ar-EG" sz="2800" dirty="0"/>
              <a:t> ( </a:t>
            </a:r>
            <a:r>
              <a:rPr lang="en-US" sz="2800" dirty="0"/>
              <a:t>Tiff 4.0</a:t>
            </a:r>
            <a:r>
              <a:rPr lang="ar-EG" sz="2800" dirty="0"/>
              <a:t> ) حصلت على انتشار كبير </a:t>
            </a:r>
            <a:r>
              <a:rPr lang="ar-EG" sz="2800" dirty="0" err="1"/>
              <a:t>لانها</a:t>
            </a:r>
            <a:r>
              <a:rPr lang="ar-EG" sz="2800" dirty="0"/>
              <a:t> تدعم صور ( </a:t>
            </a:r>
            <a:r>
              <a:rPr lang="en-US" sz="2800" dirty="0"/>
              <a:t>RGB</a:t>
            </a:r>
            <a:r>
              <a:rPr lang="ar-EG" sz="2800" dirty="0"/>
              <a:t> ) احمر , أخضر , أزرق , أما صيغة ( </a:t>
            </a:r>
            <a:r>
              <a:rPr lang="en-US" sz="2800" dirty="0"/>
              <a:t>Tiff 5.0</a:t>
            </a:r>
            <a:r>
              <a:rPr lang="ar-EG" sz="2800" dirty="0"/>
              <a:t> ) ظهرت </a:t>
            </a:r>
            <a:r>
              <a:rPr lang="ar-EG" sz="2800" dirty="0" err="1"/>
              <a:t>فى</a:t>
            </a:r>
            <a:r>
              <a:rPr lang="ar-EG" sz="2800" dirty="0"/>
              <a:t> 1988 , والتي تستطيع حفظ صور ذات لوحة ألوان وتدعم خوارزمية ضغط ...</a:t>
            </a:r>
            <a:r>
              <a:rPr lang="en-US" sz="2800" dirty="0"/>
              <a:t>LZW</a:t>
            </a:r>
            <a:r>
              <a:rPr lang="ar-EG" sz="2800" dirty="0"/>
              <a:t>, </a:t>
            </a:r>
            <a:r>
              <a:rPr lang="ar-EG" sz="2800" dirty="0" err="1"/>
              <a:t>فى</a:t>
            </a:r>
            <a:r>
              <a:rPr lang="ar-EG" sz="2800" dirty="0"/>
              <a:t> 1992 تم إظهار ( </a:t>
            </a:r>
            <a:r>
              <a:rPr lang="en-US" sz="2800" dirty="0"/>
              <a:t>Tiff 6.0</a:t>
            </a:r>
            <a:r>
              <a:rPr lang="ar-EG" sz="2800" dirty="0"/>
              <a:t> ) , تدعم ألوان </a:t>
            </a:r>
            <a:r>
              <a:rPr lang="en-US" sz="2800" dirty="0"/>
              <a:t>CMYK</a:t>
            </a:r>
            <a:r>
              <a:rPr lang="ar-EG" sz="2800" dirty="0"/>
              <a:t> و </a:t>
            </a:r>
            <a:r>
              <a:rPr lang="en-US" sz="2800" dirty="0" err="1"/>
              <a:t>YcbCr</a:t>
            </a:r>
            <a:r>
              <a:rPr lang="ar-EG" sz="2800" dirty="0"/>
              <a:t> وخوارزمية ضغط ..</a:t>
            </a:r>
            <a:r>
              <a:rPr lang="en-US" sz="2800" dirty="0"/>
              <a:t>Jpeg</a:t>
            </a:r>
            <a:r>
              <a:rPr lang="ar-EG" sz="2800" dirty="0"/>
              <a:t>صيغة </a:t>
            </a:r>
            <a:r>
              <a:rPr lang="en-US" sz="2800" dirty="0"/>
              <a:t>Tiff</a:t>
            </a:r>
            <a:r>
              <a:rPr lang="ar-EG" sz="2800" dirty="0"/>
              <a:t> الحالية ( </a:t>
            </a:r>
            <a:r>
              <a:rPr lang="en-US" sz="2800" dirty="0"/>
              <a:t>Tiff 6.0</a:t>
            </a:r>
            <a:r>
              <a:rPr lang="ar-EG" sz="2800" dirty="0"/>
              <a:t> ) صيغة ملف غنية ومرنة , مدعومة من قبل عدة برامج .</a:t>
            </a:r>
            <a:endParaRPr lang="en-US" sz="2800" dirty="0"/>
          </a:p>
          <a:p>
            <a:r>
              <a:rPr lang="ar-EG" sz="2800" dirty="0"/>
              <a:t>إن الصيغة قادرة على حفظ صور ذات ألوان نصفية ( ليست داكنة ولا فاتحة ) بكثافة بكسل مختلفة . لذا , هذه الصيغة تعتبر الأفضل </a:t>
            </a:r>
            <a:r>
              <a:rPr lang="ar-EG" sz="2800" dirty="0" err="1"/>
              <a:t>لحقظ</a:t>
            </a:r>
            <a:r>
              <a:rPr lang="ar-EG" sz="2800" dirty="0"/>
              <a:t> ومعالجة الصور التخطيطية ولكنها لم تدعم عالميا .. صيغة </a:t>
            </a:r>
            <a:r>
              <a:rPr lang="en-US" sz="2800" dirty="0"/>
              <a:t>Tiff </a:t>
            </a:r>
            <a:r>
              <a:rPr lang="ar-EG" sz="2800" dirty="0"/>
              <a:t> هي إحدي أكثر الصيغ المتعددة الأغراض .</a:t>
            </a:r>
            <a:endParaRPr lang="en-US" sz="2800" dirty="0"/>
          </a:p>
        </p:txBody>
      </p:sp>
    </p:spTree>
  </p:cSld>
  <p:clrMapOvr>
    <a:masterClrMapping/>
  </p:clrMapOvr>
  <p:transition spd="slow">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05"/>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 calcmode="lin" valueType="num">
                                      <p:cBhvr>
                                        <p:cTn id="9" dur="1000" fill="hold"/>
                                        <p:tgtEl>
                                          <p:spTgt spid="2"/>
                                        </p:tgtEl>
                                        <p:attrNameLst>
                                          <p:attrName>ppt_x</p:attrName>
                                        </p:attrNameLst>
                                      </p:cBhvr>
                                      <p:tavLst>
                                        <p:tav tm="0">
                                          <p:val>
                                            <p:strVal val="#ppt_x-.2"/>
                                          </p:val>
                                        </p:tav>
                                        <p:tav tm="100000">
                                          <p:val>
                                            <p:strVal val="#ppt_x"/>
                                          </p:val>
                                        </p:tav>
                                      </p:tavLst>
                                    </p:anim>
                                    <p:anim calcmode="lin" valueType="num">
                                      <p:cBhvr>
                                        <p:cTn id="10" dur="1000" fill="hold"/>
                                        <p:tgtEl>
                                          <p:spTgt spid="2"/>
                                        </p:tgtEl>
                                        <p:attrNameLst>
                                          <p:attrName>ppt_y</p:attrName>
                                        </p:attrNameLst>
                                      </p:cBhvr>
                                      <p:tavLst>
                                        <p:tav tm="0">
                                          <p:val>
                                            <p:strVal val="#ppt_y"/>
                                          </p:val>
                                        </p:tav>
                                        <p:tav tm="100000">
                                          <p:val>
                                            <p:strVal val="#ppt_y"/>
                                          </p:val>
                                        </p:tav>
                                      </p:tavLst>
                                    </p:anim>
                                    <p:animEffect transition="in" filter="fade">
                                      <p:cBhvr>
                                        <p:cTn id="11" dur="10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nodeType="click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fade">
                                      <p:cBhvr>
                                        <p:cTn id="16" dur="1000"/>
                                        <p:tgtEl>
                                          <p:spTgt spid="3">
                                            <p:txEl>
                                              <p:pRg st="0" end="0"/>
                                            </p:txEl>
                                          </p:spTgt>
                                        </p:tgtEl>
                                      </p:cBhvr>
                                    </p:animEffect>
                                    <p:anim calcmode="lin" valueType="num">
                                      <p:cBhvr>
                                        <p:cTn id="1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8"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7"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fade">
                                      <p:cBhvr>
                                        <p:cTn id="23" dur="1000"/>
                                        <p:tgtEl>
                                          <p:spTgt spid="3">
                                            <p:txEl>
                                              <p:pRg st="1" end="1"/>
                                            </p:txEl>
                                          </p:spTgt>
                                        </p:tgtEl>
                                      </p:cBhvr>
                                    </p:animEffect>
                                    <p:anim calcmode="lin" valueType="num">
                                      <p:cBhvr>
                                        <p:cTn id="2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7" presetClass="entr" presetSubtype="0" fill="hold"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fade">
                                      <p:cBhvr>
                                        <p:cTn id="30" dur="1000"/>
                                        <p:tgtEl>
                                          <p:spTgt spid="3">
                                            <p:txEl>
                                              <p:pRg st="2" end="2"/>
                                            </p:txEl>
                                          </p:spTgt>
                                        </p:tgtEl>
                                      </p:cBhvr>
                                    </p:animEffect>
                                    <p:anim calcmode="lin" valueType="num">
                                      <p:cBhvr>
                                        <p:cTn id="31"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9" presetClass="entr" presetSubtype="0" fill="hold"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 calcmode="lin" valueType="num">
                                      <p:cBhvr>
                                        <p:cTn id="37" dur="1000" fill="hold"/>
                                        <p:tgtEl>
                                          <p:spTgt spid="4">
                                            <p:txEl>
                                              <p:pRg st="0" end="0"/>
                                            </p:txEl>
                                          </p:spTgt>
                                        </p:tgtEl>
                                        <p:attrNameLst>
                                          <p:attrName>ppt_x</p:attrName>
                                        </p:attrNameLst>
                                      </p:cBhvr>
                                      <p:tavLst>
                                        <p:tav tm="0">
                                          <p:val>
                                            <p:strVal val="#ppt_x-.2"/>
                                          </p:val>
                                        </p:tav>
                                        <p:tav tm="100000">
                                          <p:val>
                                            <p:strVal val="#ppt_x"/>
                                          </p:val>
                                        </p:tav>
                                      </p:tavLst>
                                    </p:anim>
                                    <p:anim calcmode="lin" valueType="num">
                                      <p:cBhvr>
                                        <p:cTn id="38" dur="1000" fill="hold"/>
                                        <p:tgtEl>
                                          <p:spTgt spid="4">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39" dur="1000"/>
                                        <p:tgtEl>
                                          <p:spTgt spid="4">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9" presetClass="entr" presetSubtype="0" fill="hold" nodeType="clickEffect">
                                  <p:stCondLst>
                                    <p:cond delay="0"/>
                                  </p:stCondLst>
                                  <p:childTnLst>
                                    <p:set>
                                      <p:cBhvr>
                                        <p:cTn id="43" dur="1" fill="hold">
                                          <p:stCondLst>
                                            <p:cond delay="0"/>
                                          </p:stCondLst>
                                        </p:cTn>
                                        <p:tgtEl>
                                          <p:spTgt spid="4">
                                            <p:txEl>
                                              <p:pRg st="1" end="1"/>
                                            </p:txEl>
                                          </p:spTgt>
                                        </p:tgtEl>
                                        <p:attrNameLst>
                                          <p:attrName>style.visibility</p:attrName>
                                        </p:attrNameLst>
                                      </p:cBhvr>
                                      <p:to>
                                        <p:strVal val="visible"/>
                                      </p:to>
                                    </p:set>
                                    <p:anim calcmode="lin" valueType="num">
                                      <p:cBhvr>
                                        <p:cTn id="44" dur="1000" fill="hold"/>
                                        <p:tgtEl>
                                          <p:spTgt spid="4">
                                            <p:txEl>
                                              <p:pRg st="1" end="1"/>
                                            </p:txEl>
                                          </p:spTgt>
                                        </p:tgtEl>
                                        <p:attrNameLst>
                                          <p:attrName>ppt_x</p:attrName>
                                        </p:attrNameLst>
                                      </p:cBhvr>
                                      <p:tavLst>
                                        <p:tav tm="0">
                                          <p:val>
                                            <p:strVal val="#ppt_x-.2"/>
                                          </p:val>
                                        </p:tav>
                                        <p:tav tm="100000">
                                          <p:val>
                                            <p:strVal val="#ppt_x"/>
                                          </p:val>
                                        </p:tav>
                                      </p:tavLst>
                                    </p:anim>
                                    <p:anim calcmode="lin" valueType="num">
                                      <p:cBhvr>
                                        <p:cTn id="45" dur="1000" fill="hold"/>
                                        <p:tgtEl>
                                          <p:spTgt spid="4">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46" dur="1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428598" y="500044"/>
            <a:ext cx="4714908" cy="461665"/>
          </a:xfrm>
          <a:prstGeom prst="rect">
            <a:avLst/>
          </a:prstGeom>
          <a:solidFill>
            <a:schemeClr val="tx2">
              <a:lumMod val="50000"/>
            </a:schemeClr>
          </a:solidFill>
        </p:spPr>
        <p:txBody>
          <a:bodyPr wrap="square" rtlCol="1">
            <a:spAutoFit/>
          </a:bodyPr>
          <a:lstStyle/>
          <a:p>
            <a:pPr algn="l"/>
            <a:r>
              <a:rPr lang="en-US" sz="2400" b="1" dirty="0"/>
              <a:t>PNG</a:t>
            </a:r>
            <a:r>
              <a:rPr lang="en-US" sz="2400" dirty="0"/>
              <a:t>: Portable Network Graphic</a:t>
            </a:r>
          </a:p>
        </p:txBody>
      </p:sp>
      <p:sp>
        <p:nvSpPr>
          <p:cNvPr id="3" name="مربع نص 2"/>
          <p:cNvSpPr txBox="1"/>
          <p:nvPr/>
        </p:nvSpPr>
        <p:spPr>
          <a:xfrm>
            <a:off x="3347864" y="840008"/>
            <a:ext cx="5286412" cy="1815882"/>
          </a:xfrm>
          <a:prstGeom prst="rect">
            <a:avLst/>
          </a:prstGeom>
          <a:noFill/>
        </p:spPr>
        <p:txBody>
          <a:bodyPr wrap="square" rtlCol="1">
            <a:spAutoFit/>
          </a:bodyPr>
          <a:lstStyle/>
          <a:p>
            <a:pPr>
              <a:buFont typeface="Arial" pitchFamily="34" charset="0"/>
              <a:buChar char="•"/>
            </a:pPr>
            <a:r>
              <a:rPr lang="ar-EG" sz="2800" b="1" dirty="0">
                <a:solidFill>
                  <a:schemeClr val="tx2"/>
                </a:solidFill>
              </a:rPr>
              <a:t>الامتداد : </a:t>
            </a:r>
            <a:r>
              <a:rPr lang="en-US" sz="2800" b="1" dirty="0" err="1">
                <a:solidFill>
                  <a:schemeClr val="tx2"/>
                </a:solidFill>
              </a:rPr>
              <a:t>png</a:t>
            </a:r>
            <a:r>
              <a:rPr lang="en-US" sz="2800" b="1" dirty="0">
                <a:solidFill>
                  <a:schemeClr val="tx2"/>
                </a:solidFill>
              </a:rPr>
              <a:t> </a:t>
            </a:r>
          </a:p>
          <a:p>
            <a:pPr>
              <a:buFont typeface="Arial" pitchFamily="34" charset="0"/>
              <a:buChar char="•"/>
            </a:pPr>
            <a:r>
              <a:rPr lang="ar-EG" sz="2800" b="1" dirty="0">
                <a:solidFill>
                  <a:schemeClr val="tx2"/>
                </a:solidFill>
              </a:rPr>
              <a:t>النوع : </a:t>
            </a:r>
            <a:r>
              <a:rPr lang="en-US" sz="2800" b="1" dirty="0">
                <a:solidFill>
                  <a:schemeClr val="tx2"/>
                </a:solidFill>
              </a:rPr>
              <a:t>bitmapped </a:t>
            </a:r>
          </a:p>
          <a:p>
            <a:pPr>
              <a:buFont typeface="Arial" pitchFamily="34" charset="0"/>
              <a:buChar char="•"/>
            </a:pPr>
            <a:r>
              <a:rPr lang="ar-EG" sz="2800" b="1" dirty="0">
                <a:solidFill>
                  <a:schemeClr val="tx2"/>
                </a:solidFill>
              </a:rPr>
              <a:t>خوارزمية الضغط : </a:t>
            </a:r>
            <a:r>
              <a:rPr lang="en-US" sz="2800" b="1" dirty="0" err="1">
                <a:solidFill>
                  <a:schemeClr val="tx2"/>
                </a:solidFill>
              </a:rPr>
              <a:t>Deflate..lossless</a:t>
            </a:r>
            <a:endParaRPr lang="en-US" sz="2800" b="1" dirty="0">
              <a:solidFill>
                <a:schemeClr val="tx2"/>
              </a:solidFill>
            </a:endParaRPr>
          </a:p>
          <a:p>
            <a:pPr>
              <a:buFont typeface="Arial" pitchFamily="34" charset="0"/>
              <a:buChar char="•"/>
            </a:pPr>
            <a:r>
              <a:rPr lang="ar-EG" sz="2800" b="1" dirty="0">
                <a:solidFill>
                  <a:schemeClr val="tx2"/>
                </a:solidFill>
              </a:rPr>
              <a:t>عمق اللون : يصل إلى 48 بت </a:t>
            </a:r>
          </a:p>
        </p:txBody>
      </p:sp>
      <p:sp>
        <p:nvSpPr>
          <p:cNvPr id="4" name="مربع نص 3"/>
          <p:cNvSpPr txBox="1"/>
          <p:nvPr/>
        </p:nvSpPr>
        <p:spPr>
          <a:xfrm>
            <a:off x="0" y="2586384"/>
            <a:ext cx="8964488" cy="4154984"/>
          </a:xfrm>
          <a:prstGeom prst="rect">
            <a:avLst/>
          </a:prstGeom>
          <a:noFill/>
        </p:spPr>
        <p:txBody>
          <a:bodyPr wrap="square" rtlCol="1">
            <a:spAutoFit/>
          </a:bodyPr>
          <a:lstStyle/>
          <a:p>
            <a:r>
              <a:rPr lang="ar-EG" sz="2400" b="1" dirty="0"/>
              <a:t>صيغة ملف </a:t>
            </a:r>
            <a:r>
              <a:rPr lang="en-US" sz="2400" b="1" dirty="0" err="1"/>
              <a:t>Png</a:t>
            </a:r>
            <a:r>
              <a:rPr lang="en-US" sz="2400" b="1" dirty="0"/>
              <a:t> </a:t>
            </a:r>
            <a:r>
              <a:rPr lang="ar-EG" sz="2400" b="1" dirty="0"/>
              <a:t> صيغة تقدمية جديدة نسبياً صممت أصلاً </a:t>
            </a:r>
            <a:r>
              <a:rPr lang="ar-EG" sz="2400" b="1" dirty="0" err="1"/>
              <a:t>لإستبدال</a:t>
            </a:r>
            <a:r>
              <a:rPr lang="ar-EG" sz="2400" b="1" dirty="0"/>
              <a:t> صور . </a:t>
            </a:r>
            <a:r>
              <a:rPr lang="en-US" sz="2400" b="1" dirty="0"/>
              <a:t>Gif</a:t>
            </a:r>
            <a:r>
              <a:rPr lang="ar-EG" sz="2400" b="1" dirty="0"/>
              <a:t>صيغة </a:t>
            </a:r>
            <a:r>
              <a:rPr lang="en-US" sz="2400" b="1" dirty="0" err="1"/>
              <a:t>Png</a:t>
            </a:r>
            <a:r>
              <a:rPr lang="ar-EG" sz="2400" b="1" dirty="0"/>
              <a:t> لها مجموعة الميزات الجديدة التي تفتقر لها </a:t>
            </a:r>
            <a:r>
              <a:rPr lang="en-US" sz="2400" b="1" dirty="0"/>
              <a:t>Gif</a:t>
            </a:r>
            <a:r>
              <a:rPr lang="ar-EG" sz="2400" b="1" dirty="0"/>
              <a:t> تضغط </a:t>
            </a:r>
            <a:r>
              <a:rPr lang="en-US" sz="2400" b="1" dirty="0" err="1"/>
              <a:t>Png</a:t>
            </a:r>
            <a:r>
              <a:rPr lang="ar-EG" sz="2400" b="1" dirty="0"/>
              <a:t> بخسارة أقل بمساعدة خوارزمية .</a:t>
            </a:r>
            <a:r>
              <a:rPr lang="en-US" sz="2400" b="1" dirty="0"/>
              <a:t>Deflate</a:t>
            </a:r>
            <a:r>
              <a:rPr lang="ar-EG" sz="2400" b="1" dirty="0"/>
              <a:t> تعالج الصيغة 256 مستوى شفافية ( ذلك يعني بأن الصور قد تكون شفافة جزئياً . الحقيقة , هذه الصيغة تدعم عمق لون يصل إلى 48 بت وتؤدي ضغط بخسارة أقل , مما يجعل من المحتمل حفظ صور بألوان واقعية حيث أنها لا تفقد من جودتها خلال الضغط وفك الضغط . تدعم الحركة داخل الصور مع دعمها للشفافية كما نلاحظ دائما فى صيغ الايقونات العالية الدقة . </a:t>
            </a:r>
            <a:endParaRPr lang="en-US" sz="2400" b="1" dirty="0"/>
          </a:p>
          <a:p>
            <a:r>
              <a:rPr lang="ar-EG" sz="2400" b="1" dirty="0"/>
              <a:t>ولعل واحدة من أبرز تلك المفاهيم التكنولوجية هي مفهوم " الضغط " </a:t>
            </a:r>
            <a:r>
              <a:rPr lang="ar-EG" sz="2400" b="1" dirty="0" err="1"/>
              <a:t>او</a:t>
            </a:r>
            <a:r>
              <a:rPr lang="ar-EG" sz="2400" b="1" dirty="0"/>
              <a:t> " </a:t>
            </a:r>
            <a:r>
              <a:rPr lang="en-US" sz="2400" b="1" dirty="0"/>
              <a:t>Compression</a:t>
            </a:r>
            <a:r>
              <a:rPr lang="ar-EG" sz="2400" b="1" dirty="0"/>
              <a:t> " الذي يعني بشكل مبسط " فن إزالة المعلومات الزائدة أو المكررة من أحد الملفات أو من مجموعة من البيانات بنفس الطريقة التي يمكن بواسطتها إعادة تشكيل المحتوي الأصلي – وهي العملية التي يطلق عليها انضغاط – </a:t>
            </a:r>
            <a:r>
              <a:rPr lang="ar-EG" sz="2400" b="1" dirty="0" err="1"/>
              <a:t>فى</a:t>
            </a:r>
            <a:r>
              <a:rPr lang="ar-EG" sz="2400" b="1" dirty="0"/>
              <a:t> احدي المراحل اللاحقة "</a:t>
            </a:r>
          </a:p>
        </p:txBody>
      </p:sp>
    </p:spTree>
  </p:cSld>
  <p:clrMapOvr>
    <a:masterClrMapping/>
  </p:clrMapOvr>
  <p:transition spd="slow">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3000" fill="hold"/>
                                        <p:tgtEl>
                                          <p:spTgt spid="2"/>
                                        </p:tgtEl>
                                        <p:attrNameLst>
                                          <p:attrName>ppt_w</p:attrName>
                                        </p:attrNameLst>
                                      </p:cBhvr>
                                      <p:tavLst>
                                        <p:tav tm="0">
                                          <p:val>
                                            <p:strVal val="#ppt_w*0.05"/>
                                          </p:val>
                                        </p:tav>
                                        <p:tav tm="100000">
                                          <p:val>
                                            <p:strVal val="#ppt_w"/>
                                          </p:val>
                                        </p:tav>
                                      </p:tavLst>
                                    </p:anim>
                                    <p:anim calcmode="lin" valueType="num">
                                      <p:cBhvr>
                                        <p:cTn id="8" dur="3000" fill="hold"/>
                                        <p:tgtEl>
                                          <p:spTgt spid="2"/>
                                        </p:tgtEl>
                                        <p:attrNameLst>
                                          <p:attrName>ppt_h</p:attrName>
                                        </p:attrNameLst>
                                      </p:cBhvr>
                                      <p:tavLst>
                                        <p:tav tm="0">
                                          <p:val>
                                            <p:strVal val="#ppt_h"/>
                                          </p:val>
                                        </p:tav>
                                        <p:tav tm="100000">
                                          <p:val>
                                            <p:strVal val="#ppt_h"/>
                                          </p:val>
                                        </p:tav>
                                      </p:tavLst>
                                    </p:anim>
                                    <p:anim calcmode="lin" valueType="num">
                                      <p:cBhvr>
                                        <p:cTn id="9" dur="3000" fill="hold"/>
                                        <p:tgtEl>
                                          <p:spTgt spid="2"/>
                                        </p:tgtEl>
                                        <p:attrNameLst>
                                          <p:attrName>ppt_x</p:attrName>
                                        </p:attrNameLst>
                                      </p:cBhvr>
                                      <p:tavLst>
                                        <p:tav tm="0">
                                          <p:val>
                                            <p:strVal val="#ppt_x-.2"/>
                                          </p:val>
                                        </p:tav>
                                        <p:tav tm="100000">
                                          <p:val>
                                            <p:strVal val="#ppt_x"/>
                                          </p:val>
                                        </p:tav>
                                      </p:tavLst>
                                    </p:anim>
                                    <p:anim calcmode="lin" valueType="num">
                                      <p:cBhvr>
                                        <p:cTn id="10" dur="3000" fill="hold"/>
                                        <p:tgtEl>
                                          <p:spTgt spid="2"/>
                                        </p:tgtEl>
                                        <p:attrNameLst>
                                          <p:attrName>ppt_y</p:attrName>
                                        </p:attrNameLst>
                                      </p:cBhvr>
                                      <p:tavLst>
                                        <p:tav tm="0">
                                          <p:val>
                                            <p:strVal val="#ppt_y"/>
                                          </p:val>
                                        </p:tav>
                                        <p:tav tm="100000">
                                          <p:val>
                                            <p:strVal val="#ppt_y"/>
                                          </p:val>
                                        </p:tav>
                                      </p:tavLst>
                                    </p:anim>
                                    <p:animEffect transition="in" filter="fade">
                                      <p:cBhvr>
                                        <p:cTn id="11" dur="30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nodeType="click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fade">
                                      <p:cBhvr>
                                        <p:cTn id="16" dur="1000"/>
                                        <p:tgtEl>
                                          <p:spTgt spid="3">
                                            <p:txEl>
                                              <p:pRg st="0" end="0"/>
                                            </p:txEl>
                                          </p:spTgt>
                                        </p:tgtEl>
                                      </p:cBhvr>
                                    </p:animEffect>
                                    <p:anim calcmode="lin" valueType="num">
                                      <p:cBhvr>
                                        <p:cTn id="1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8"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7"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fade">
                                      <p:cBhvr>
                                        <p:cTn id="23" dur="1000"/>
                                        <p:tgtEl>
                                          <p:spTgt spid="3">
                                            <p:txEl>
                                              <p:pRg st="1" end="1"/>
                                            </p:txEl>
                                          </p:spTgt>
                                        </p:tgtEl>
                                      </p:cBhvr>
                                    </p:animEffect>
                                    <p:anim calcmode="lin" valueType="num">
                                      <p:cBhvr>
                                        <p:cTn id="2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7" presetClass="entr" presetSubtype="0" fill="hold"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fade">
                                      <p:cBhvr>
                                        <p:cTn id="30" dur="1000"/>
                                        <p:tgtEl>
                                          <p:spTgt spid="3">
                                            <p:txEl>
                                              <p:pRg st="2" end="2"/>
                                            </p:txEl>
                                          </p:spTgt>
                                        </p:tgtEl>
                                      </p:cBhvr>
                                    </p:animEffect>
                                    <p:anim calcmode="lin" valueType="num">
                                      <p:cBhvr>
                                        <p:cTn id="31"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7" presetClass="entr" presetSubtype="0"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fade">
                                      <p:cBhvr>
                                        <p:cTn id="37" dur="1000"/>
                                        <p:tgtEl>
                                          <p:spTgt spid="3">
                                            <p:txEl>
                                              <p:pRg st="3" end="3"/>
                                            </p:txEl>
                                          </p:spTgt>
                                        </p:tgtEl>
                                      </p:cBhvr>
                                    </p:animEffect>
                                    <p:anim calcmode="lin" valueType="num">
                                      <p:cBhvr>
                                        <p:cTn id="3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9" presetClass="entr" presetSubtype="0" fill="hold" nodeType="clickEffect">
                                  <p:stCondLst>
                                    <p:cond delay="0"/>
                                  </p:stCondLst>
                                  <p:childTnLst>
                                    <p:set>
                                      <p:cBhvr>
                                        <p:cTn id="43" dur="1" fill="hold">
                                          <p:stCondLst>
                                            <p:cond delay="0"/>
                                          </p:stCondLst>
                                        </p:cTn>
                                        <p:tgtEl>
                                          <p:spTgt spid="4">
                                            <p:txEl>
                                              <p:pRg st="0" end="0"/>
                                            </p:txEl>
                                          </p:spTgt>
                                        </p:tgtEl>
                                        <p:attrNameLst>
                                          <p:attrName>style.visibility</p:attrName>
                                        </p:attrNameLst>
                                      </p:cBhvr>
                                      <p:to>
                                        <p:strVal val="visible"/>
                                      </p:to>
                                    </p:set>
                                    <p:anim calcmode="lin" valueType="num">
                                      <p:cBhvr>
                                        <p:cTn id="44" dur="1000" fill="hold"/>
                                        <p:tgtEl>
                                          <p:spTgt spid="4">
                                            <p:txEl>
                                              <p:pRg st="0" end="0"/>
                                            </p:txEl>
                                          </p:spTgt>
                                        </p:tgtEl>
                                        <p:attrNameLst>
                                          <p:attrName>ppt_x</p:attrName>
                                        </p:attrNameLst>
                                      </p:cBhvr>
                                      <p:tavLst>
                                        <p:tav tm="0">
                                          <p:val>
                                            <p:strVal val="#ppt_x-.2"/>
                                          </p:val>
                                        </p:tav>
                                        <p:tav tm="100000">
                                          <p:val>
                                            <p:strVal val="#ppt_x"/>
                                          </p:val>
                                        </p:tav>
                                      </p:tavLst>
                                    </p:anim>
                                    <p:anim calcmode="lin" valueType="num">
                                      <p:cBhvr>
                                        <p:cTn id="45" dur="1000" fill="hold"/>
                                        <p:tgtEl>
                                          <p:spTgt spid="4">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46" dur="1000"/>
                                        <p:tgtEl>
                                          <p:spTgt spid="4">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9" presetClass="entr" presetSubtype="0" fill="hold" nodeType="clickEffect">
                                  <p:stCondLst>
                                    <p:cond delay="0"/>
                                  </p:stCondLst>
                                  <p:childTnLst>
                                    <p:set>
                                      <p:cBhvr>
                                        <p:cTn id="50" dur="1" fill="hold">
                                          <p:stCondLst>
                                            <p:cond delay="0"/>
                                          </p:stCondLst>
                                        </p:cTn>
                                        <p:tgtEl>
                                          <p:spTgt spid="4">
                                            <p:txEl>
                                              <p:pRg st="1" end="1"/>
                                            </p:txEl>
                                          </p:spTgt>
                                        </p:tgtEl>
                                        <p:attrNameLst>
                                          <p:attrName>style.visibility</p:attrName>
                                        </p:attrNameLst>
                                      </p:cBhvr>
                                      <p:to>
                                        <p:strVal val="visible"/>
                                      </p:to>
                                    </p:set>
                                    <p:anim calcmode="lin" valueType="num">
                                      <p:cBhvr>
                                        <p:cTn id="51" dur="1000" fill="hold"/>
                                        <p:tgtEl>
                                          <p:spTgt spid="4">
                                            <p:txEl>
                                              <p:pRg st="1" end="1"/>
                                            </p:txEl>
                                          </p:spTgt>
                                        </p:tgtEl>
                                        <p:attrNameLst>
                                          <p:attrName>ppt_x</p:attrName>
                                        </p:attrNameLst>
                                      </p:cBhvr>
                                      <p:tavLst>
                                        <p:tav tm="0">
                                          <p:val>
                                            <p:strVal val="#ppt_x-.2"/>
                                          </p:val>
                                        </p:tav>
                                        <p:tav tm="100000">
                                          <p:val>
                                            <p:strVal val="#ppt_x"/>
                                          </p:val>
                                        </p:tav>
                                      </p:tavLst>
                                    </p:anim>
                                    <p:anim calcmode="lin" valueType="num">
                                      <p:cBhvr>
                                        <p:cTn id="52" dur="1000" fill="hold"/>
                                        <p:tgtEl>
                                          <p:spTgt spid="4">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53" dur="1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268361" y="35913"/>
            <a:ext cx="6799007" cy="584775"/>
          </a:xfrm>
          <a:prstGeom prst="rect">
            <a:avLst/>
          </a:prstGeom>
        </p:spPr>
        <p:style>
          <a:lnRef idx="1">
            <a:schemeClr val="accent3"/>
          </a:lnRef>
          <a:fillRef idx="3">
            <a:schemeClr val="accent3"/>
          </a:fillRef>
          <a:effectRef idx="2">
            <a:schemeClr val="accent3"/>
          </a:effectRef>
          <a:fontRef idx="minor">
            <a:schemeClr val="lt1"/>
          </a:fontRef>
        </p:style>
        <p:txBody>
          <a:bodyPr wrap="square" rtlCol="1">
            <a:spAutoFit/>
          </a:bodyPr>
          <a:lstStyle/>
          <a:p>
            <a:pPr algn="ctr"/>
            <a:r>
              <a:rPr lang="ar-EG" sz="3200" b="1" dirty="0"/>
              <a:t>العوامل المؤثرة </a:t>
            </a:r>
            <a:r>
              <a:rPr lang="ar-EG" sz="3200" b="1" dirty="0" err="1"/>
              <a:t>فى</a:t>
            </a:r>
            <a:r>
              <a:rPr lang="ar-EG" sz="3200" b="1" dirty="0"/>
              <a:t> </a:t>
            </a:r>
            <a:r>
              <a:rPr lang="ar-EG" sz="3200" b="1" dirty="0" err="1"/>
              <a:t>انتاج</a:t>
            </a:r>
            <a:r>
              <a:rPr lang="ar-EG" sz="3200" b="1" dirty="0"/>
              <a:t> فيلم وسائط متعددة : </a:t>
            </a:r>
            <a:endParaRPr lang="en-US" sz="3200" dirty="0"/>
          </a:p>
        </p:txBody>
      </p:sp>
      <p:sp>
        <p:nvSpPr>
          <p:cNvPr id="3" name="مربع نص 2"/>
          <p:cNvSpPr txBox="1"/>
          <p:nvPr/>
        </p:nvSpPr>
        <p:spPr>
          <a:xfrm>
            <a:off x="-396552" y="1181065"/>
            <a:ext cx="9584796" cy="5632311"/>
          </a:xfrm>
          <a:prstGeom prst="rect">
            <a:avLst/>
          </a:prstGeom>
          <a:noFill/>
        </p:spPr>
        <p:txBody>
          <a:bodyPr wrap="square" rtlCol="1">
            <a:spAutoFit/>
          </a:bodyPr>
          <a:lstStyle/>
          <a:p>
            <a:pPr lvl="0" algn="r" rtl="1">
              <a:buFont typeface="Arial" pitchFamily="34" charset="0"/>
              <a:buChar char="•"/>
            </a:pPr>
            <a:r>
              <a:rPr lang="ar-EG" sz="2400" b="1" dirty="0"/>
              <a:t>لقطات متناهية القرب </a:t>
            </a:r>
            <a:r>
              <a:rPr lang="en-US" sz="2400" b="1" dirty="0"/>
              <a:t>Extreme close up shot</a:t>
            </a:r>
            <a:r>
              <a:rPr lang="ar-EG" sz="2400" b="1" dirty="0"/>
              <a:t> : وهى التي تبرز جزءا من الوجهة.</a:t>
            </a:r>
            <a:endParaRPr lang="en-US" sz="2400" b="1" dirty="0"/>
          </a:p>
          <a:p>
            <a:pPr lvl="0" algn="r" rtl="1">
              <a:buFont typeface="Arial" pitchFamily="34" charset="0"/>
              <a:buChar char="•"/>
            </a:pPr>
            <a:r>
              <a:rPr lang="ar-EG" sz="2400" b="1" dirty="0"/>
              <a:t>لقطة مقربة جدا </a:t>
            </a:r>
            <a:r>
              <a:rPr lang="en-US" sz="2400" b="1" dirty="0"/>
              <a:t>Very close up shot </a:t>
            </a:r>
            <a:r>
              <a:rPr lang="ar-EG" sz="2400" b="1" dirty="0"/>
              <a:t> : وتظهر مساحة الوجه من منتصف الجبهة </a:t>
            </a:r>
            <a:r>
              <a:rPr lang="ar-EG" sz="2400" b="1" dirty="0" smtClean="0"/>
              <a:t>إلى</a:t>
            </a:r>
            <a:endParaRPr lang="ar-SA" sz="2400" b="1" dirty="0" smtClean="0"/>
          </a:p>
          <a:p>
            <a:pPr lvl="0" algn="r" rtl="1">
              <a:buFont typeface="Arial" pitchFamily="34" charset="0"/>
              <a:buChar char="•"/>
            </a:pPr>
            <a:r>
              <a:rPr lang="ar-EG" sz="2400" b="1" dirty="0" smtClean="0"/>
              <a:t> </a:t>
            </a:r>
            <a:r>
              <a:rPr lang="ar-EG" sz="2400" b="1" dirty="0"/>
              <a:t>ما فوق الذقن بقليل .</a:t>
            </a:r>
            <a:endParaRPr lang="en-US" sz="2400" b="1" dirty="0"/>
          </a:p>
          <a:p>
            <a:pPr lvl="0" algn="r" rtl="1">
              <a:buFont typeface="Arial" pitchFamily="34" charset="0"/>
              <a:buChar char="•"/>
            </a:pPr>
            <a:r>
              <a:rPr lang="ar-EG" sz="2400" b="1" dirty="0"/>
              <a:t>لقطة كبيرة </a:t>
            </a:r>
            <a:r>
              <a:rPr lang="en-US" sz="2400" b="1" dirty="0"/>
              <a:t>Big close up shot</a:t>
            </a:r>
            <a:r>
              <a:rPr lang="ar-EG" sz="2400" b="1" dirty="0"/>
              <a:t> : وهى لقطة للوجه كاملا , حيث يملأ الوجه الشاشة تقريباً</a:t>
            </a:r>
            <a:endParaRPr lang="en-US" sz="2400" b="1" dirty="0"/>
          </a:p>
          <a:p>
            <a:pPr lvl="0" algn="r" rtl="1">
              <a:buFont typeface="Arial" pitchFamily="34" charset="0"/>
              <a:buChar char="•"/>
            </a:pPr>
            <a:r>
              <a:rPr lang="ar-EG" sz="2400" b="1" dirty="0"/>
              <a:t>لقطة مقربة </a:t>
            </a:r>
            <a:r>
              <a:rPr lang="en-US" sz="2400" b="1" dirty="0"/>
              <a:t>Close up shot </a:t>
            </a:r>
            <a:r>
              <a:rPr lang="ar-EG" sz="2400" b="1" dirty="0"/>
              <a:t> : ويظهر فيها مساحة من الجسم من أعلى الرأس مباشرة إلى ما فوق الصدر.</a:t>
            </a:r>
            <a:endParaRPr lang="en-US" sz="2400" b="1" dirty="0"/>
          </a:p>
          <a:p>
            <a:pPr lvl="0" algn="r" rtl="1">
              <a:buFont typeface="Arial" pitchFamily="34" charset="0"/>
              <a:buChar char="•"/>
            </a:pPr>
            <a:r>
              <a:rPr lang="ar-EG" sz="2400" b="1" dirty="0"/>
              <a:t>لقطة متوسطة القرب </a:t>
            </a:r>
            <a:r>
              <a:rPr lang="en-US" sz="2400" b="1" dirty="0"/>
              <a:t> Medium close up shot </a:t>
            </a:r>
            <a:r>
              <a:rPr lang="ar-EG" sz="2400" b="1" dirty="0"/>
              <a:t> : ويظهر فيها الجسم من أعلى </a:t>
            </a:r>
            <a:r>
              <a:rPr lang="ar-EG" sz="2400" b="1" dirty="0" smtClean="0"/>
              <a:t>الراس</a:t>
            </a:r>
            <a:endParaRPr lang="ar-SA" sz="2400" b="1" dirty="0" smtClean="0"/>
          </a:p>
          <a:p>
            <a:pPr lvl="0" algn="r" rtl="1">
              <a:buFont typeface="Arial" pitchFamily="34" charset="0"/>
              <a:buChar char="•"/>
            </a:pPr>
            <a:r>
              <a:rPr lang="ar-EG" sz="2400" b="1" dirty="0" smtClean="0"/>
              <a:t> </a:t>
            </a:r>
            <a:r>
              <a:rPr lang="ar-EG" sz="2400" b="1" dirty="0"/>
              <a:t>إلى أسفل الصدر.</a:t>
            </a:r>
            <a:endParaRPr lang="en-US" sz="2400" b="1" dirty="0"/>
          </a:p>
          <a:p>
            <a:pPr lvl="0" algn="r" rtl="1">
              <a:buFont typeface="Arial" pitchFamily="34" charset="0"/>
              <a:buChar char="•"/>
            </a:pPr>
            <a:r>
              <a:rPr lang="ar-EG" sz="2400" b="1" dirty="0"/>
              <a:t>لقطة متوسطة </a:t>
            </a:r>
            <a:r>
              <a:rPr lang="en-US" sz="2400" b="1" dirty="0"/>
              <a:t>Medium shot </a:t>
            </a:r>
            <a:r>
              <a:rPr lang="ar-EG" sz="2400" b="1" dirty="0"/>
              <a:t> : ويظهر فيها الجسم من الرأس إلى الوسط .</a:t>
            </a:r>
            <a:endParaRPr lang="en-US" sz="2400" b="1" dirty="0"/>
          </a:p>
          <a:p>
            <a:pPr lvl="0" algn="r" rtl="1">
              <a:buFont typeface="Arial" pitchFamily="34" charset="0"/>
              <a:buChar char="•"/>
            </a:pPr>
            <a:r>
              <a:rPr lang="ar-EG" sz="2400" b="1" dirty="0"/>
              <a:t>لقطة الركبة </a:t>
            </a:r>
            <a:r>
              <a:rPr lang="en-US" sz="2400" b="1" dirty="0"/>
              <a:t>Knee shot </a:t>
            </a:r>
            <a:r>
              <a:rPr lang="ar-EG" sz="2400" b="1" dirty="0"/>
              <a:t> : ويظهر فيها الجسم من الرأس إلى الركبة .</a:t>
            </a:r>
            <a:endParaRPr lang="en-US" sz="2400" b="1" dirty="0"/>
          </a:p>
          <a:p>
            <a:pPr lvl="0" algn="r" rtl="1">
              <a:buFont typeface="Arial" pitchFamily="34" charset="0"/>
              <a:buChar char="•"/>
            </a:pPr>
            <a:r>
              <a:rPr lang="ar-EG" sz="2400" b="1" dirty="0"/>
              <a:t>لقطة متوسطة البعد </a:t>
            </a:r>
            <a:r>
              <a:rPr lang="en-US" sz="2400" b="1" dirty="0"/>
              <a:t>Medium long shot </a:t>
            </a:r>
            <a:r>
              <a:rPr lang="ar-EG" sz="2400" b="1" dirty="0"/>
              <a:t> : وهى لقطة تظهر الجسم كاملا مع وجود فراغ بسيط أعلى الجسم وأسفله .</a:t>
            </a:r>
            <a:endParaRPr lang="en-US" sz="2400" b="1" dirty="0"/>
          </a:p>
          <a:p>
            <a:pPr lvl="0" algn="r" rtl="1">
              <a:buFont typeface="Arial" pitchFamily="34" charset="0"/>
              <a:buChar char="•"/>
            </a:pPr>
            <a:r>
              <a:rPr lang="ar-EG" sz="2400" b="1" dirty="0"/>
              <a:t>لقطة بعيدة </a:t>
            </a:r>
            <a:r>
              <a:rPr lang="en-US" sz="2400" b="1" dirty="0"/>
              <a:t>Long shot </a:t>
            </a:r>
            <a:r>
              <a:rPr lang="ar-EG" sz="2400" b="1" dirty="0"/>
              <a:t> : وهى لقطة تظهر الجسم </a:t>
            </a:r>
            <a:r>
              <a:rPr lang="ar-EG" sz="2400" b="1" dirty="0" err="1"/>
              <a:t>فى</a:t>
            </a:r>
            <a:r>
              <a:rPr lang="ar-EG" sz="2400" b="1" dirty="0"/>
              <a:t> الشاشة وهو يحتل ثلثها .</a:t>
            </a:r>
            <a:endParaRPr lang="en-US" sz="2400" b="1" dirty="0"/>
          </a:p>
          <a:p>
            <a:pPr lvl="0" algn="r" rtl="1">
              <a:buFont typeface="Arial" pitchFamily="34" charset="0"/>
              <a:buChar char="•"/>
            </a:pPr>
            <a:r>
              <a:rPr lang="ar-EG" sz="2400" b="1" dirty="0"/>
              <a:t>لقطة بعيدة جداً </a:t>
            </a:r>
            <a:r>
              <a:rPr lang="en-US" sz="2400" b="1" dirty="0"/>
              <a:t>Extreme long shot </a:t>
            </a:r>
            <a:r>
              <a:rPr lang="ar-EG" sz="2400" b="1" dirty="0"/>
              <a:t> : ويظهر جسم الشخص صغير جداً ومن ثم يشعر المشاهد بأنه على مسافة بعيدة من الأشياء التي تأتى </a:t>
            </a:r>
            <a:r>
              <a:rPr lang="ar-EG" sz="2400" b="1" dirty="0" err="1"/>
              <a:t>فى</a:t>
            </a:r>
            <a:r>
              <a:rPr lang="ar-EG" sz="2400" b="1" dirty="0"/>
              <a:t> مقدمة المنظر .</a:t>
            </a:r>
          </a:p>
        </p:txBody>
      </p:sp>
      <p:sp>
        <p:nvSpPr>
          <p:cNvPr id="4" name="مربع نص 3"/>
          <p:cNvSpPr txBox="1"/>
          <p:nvPr/>
        </p:nvSpPr>
        <p:spPr>
          <a:xfrm>
            <a:off x="5643571" y="692696"/>
            <a:ext cx="2786082" cy="523220"/>
          </a:xfrm>
          <a:prstGeom prst="rect">
            <a:avLst/>
          </a:prstGeom>
        </p:spPr>
        <p:style>
          <a:lnRef idx="1">
            <a:schemeClr val="accent3"/>
          </a:lnRef>
          <a:fillRef idx="2">
            <a:schemeClr val="accent3"/>
          </a:fillRef>
          <a:effectRef idx="1">
            <a:schemeClr val="accent3"/>
          </a:effectRef>
          <a:fontRef idx="minor">
            <a:schemeClr val="dk1"/>
          </a:fontRef>
        </p:style>
        <p:txBody>
          <a:bodyPr wrap="square" rtlCol="1">
            <a:spAutoFit/>
          </a:bodyPr>
          <a:lstStyle/>
          <a:p>
            <a:r>
              <a:rPr lang="ar-EG" sz="2800" b="1" dirty="0"/>
              <a:t>أولا : أحجام اللقطات </a:t>
            </a:r>
          </a:p>
        </p:txBody>
      </p:sp>
    </p:spTree>
    <p:extLst>
      <p:ext uri="{BB962C8B-B14F-4D97-AF65-F5344CB8AC3E}">
        <p14:creationId xmlns:p14="http://schemas.microsoft.com/office/powerpoint/2010/main" val="4124122213"/>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0" fill="hold"/>
                                        <p:tgtEl>
                                          <p:spTgt spid="2"/>
                                        </p:tgtEl>
                                        <p:attrNameLst>
                                          <p:attrName>ppt_w</p:attrName>
                                        </p:attrNameLst>
                                      </p:cBhvr>
                                      <p:tavLst>
                                        <p:tav tm="0" fmla="#ppt_w*sin(2.5*pi*$)">
                                          <p:val>
                                            <p:fltVal val="0"/>
                                          </p:val>
                                        </p:tav>
                                        <p:tav tm="100000">
                                          <p:val>
                                            <p:fltVal val="1"/>
                                          </p:val>
                                        </p:tav>
                                      </p:tavLst>
                                    </p:anim>
                                    <p:anim calcmode="lin" valueType="num">
                                      <p:cBhvr>
                                        <p:cTn id="8" dur="5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48" presetClass="entr" presetSubtype="0" accel="5000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4" dur="1000" fill="hold"/>
                                        <p:tgtEl>
                                          <p:spTgt spid="4"/>
                                        </p:tgtEl>
                                        <p:attrNameLst>
                                          <p:attrName>ppt_x</p:attrName>
                                        </p:attrNameLst>
                                      </p:cBhvr>
                                      <p:tavLst>
                                        <p:tav tm="0">
                                          <p:val>
                                            <p:fltVal val="-1"/>
                                          </p:val>
                                        </p:tav>
                                        <p:tav tm="50000">
                                          <p:val>
                                            <p:fltVal val="0.95"/>
                                          </p:val>
                                        </p:tav>
                                        <p:tav tm="100000">
                                          <p:val>
                                            <p:strVal val="#ppt_x"/>
                                          </p:val>
                                        </p:tav>
                                      </p:tavLst>
                                    </p:anim>
                                    <p:anim calcmode="lin" valueType="num">
                                      <p:cBhvr>
                                        <p:cTn id="15" dur="1000" fill="hold"/>
                                        <p:tgtEl>
                                          <p:spTgt spid="4"/>
                                        </p:tgtEl>
                                        <p:attrNameLst>
                                          <p:attrName>ppt_y</p:attrName>
                                        </p:attrNameLst>
                                      </p:cBhvr>
                                      <p:tavLst>
                                        <p:tav tm="0">
                                          <p:val>
                                            <p:strVal val="#ppt_y"/>
                                          </p:val>
                                        </p:tav>
                                        <p:tav tm="100000">
                                          <p:val>
                                            <p:strVal val="#ppt_y"/>
                                          </p:val>
                                        </p:tav>
                                      </p:tavLst>
                                    </p:anim>
                                    <p:animEffect transition="in" filter="fade">
                                      <p:cBhvr>
                                        <p:cTn id="16" dur="1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3" fill="hold"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 calcmode="lin" valueType="num">
                                      <p:cBhvr additive="base">
                                        <p:cTn id="21" dur="10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22" dur="1000" fill="hold"/>
                                        <p:tgtEl>
                                          <p:spTgt spid="3">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9"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additive="base">
                                        <p:cTn id="27"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28" dur="1000" fill="hold"/>
                                        <p:tgtEl>
                                          <p:spTgt spid="3">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9" fill="hold" nodeType="click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 calcmode="lin" valueType="num">
                                      <p:cBhvr additive="base">
                                        <p:cTn id="33" dur="10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34" dur="1000" fill="hold"/>
                                        <p:tgtEl>
                                          <p:spTgt spid="3">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6" fill="hold" nodeType="click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 calcmode="lin" valueType="num">
                                      <p:cBhvr additive="base">
                                        <p:cTn id="39" dur="10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40" dur="10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12" fill="hold" nodeType="click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anim calcmode="lin" valueType="num">
                                      <p:cBhvr additive="base">
                                        <p:cTn id="45" dur="10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46" dur="10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1" fill="hold" nodeType="click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anim calcmode="lin" valueType="num">
                                      <p:cBhvr additive="base">
                                        <p:cTn id="5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52" dur="1000" fill="hold"/>
                                        <p:tgtEl>
                                          <p:spTgt spid="3">
                                            <p:txEl>
                                              <p:pRg st="5" end="5"/>
                                            </p:txEl>
                                          </p:spTgt>
                                        </p:tgtEl>
                                        <p:attrNameLst>
                                          <p:attrName>ppt_y</p:attrName>
                                        </p:attrNameLst>
                                      </p:cBhvr>
                                      <p:tavLst>
                                        <p:tav tm="0">
                                          <p:val>
                                            <p:strVal val="0-#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1" fill="hold" nodeType="clickEffect">
                                  <p:stCondLst>
                                    <p:cond delay="0"/>
                                  </p:stCondLst>
                                  <p:childTnLst>
                                    <p:set>
                                      <p:cBhvr>
                                        <p:cTn id="56" dur="1" fill="hold">
                                          <p:stCondLst>
                                            <p:cond delay="0"/>
                                          </p:stCondLst>
                                        </p:cTn>
                                        <p:tgtEl>
                                          <p:spTgt spid="3">
                                            <p:txEl>
                                              <p:pRg st="6" end="6"/>
                                            </p:txEl>
                                          </p:spTgt>
                                        </p:tgtEl>
                                        <p:attrNameLst>
                                          <p:attrName>style.visibility</p:attrName>
                                        </p:attrNameLst>
                                      </p:cBhvr>
                                      <p:to>
                                        <p:strVal val="visible"/>
                                      </p:to>
                                    </p:set>
                                    <p:anim calcmode="lin" valueType="num">
                                      <p:cBhvr additive="base">
                                        <p:cTn id="5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8" dur="1000" fill="hold"/>
                                        <p:tgtEl>
                                          <p:spTgt spid="3">
                                            <p:txEl>
                                              <p:pRg st="6" end="6"/>
                                            </p:txEl>
                                          </p:spTgt>
                                        </p:tgtEl>
                                        <p:attrNameLst>
                                          <p:attrName>ppt_y</p:attrName>
                                        </p:attrNameLst>
                                      </p:cBhvr>
                                      <p:tavLst>
                                        <p:tav tm="0">
                                          <p:val>
                                            <p:strVal val="0-#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2" fill="hold"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 calcmode="lin" valueType="num">
                                      <p:cBhvr additive="base">
                                        <p:cTn id="63" dur="1000" fill="hold"/>
                                        <p:tgtEl>
                                          <p:spTgt spid="3">
                                            <p:txEl>
                                              <p:pRg st="7" end="7"/>
                                            </p:txEl>
                                          </p:spTgt>
                                        </p:tgtEl>
                                        <p:attrNameLst>
                                          <p:attrName>ppt_x</p:attrName>
                                        </p:attrNameLst>
                                      </p:cBhvr>
                                      <p:tavLst>
                                        <p:tav tm="0">
                                          <p:val>
                                            <p:strVal val="1+#ppt_w/2"/>
                                          </p:val>
                                        </p:tav>
                                        <p:tav tm="100000">
                                          <p:val>
                                            <p:strVal val="#ppt_x"/>
                                          </p:val>
                                        </p:tav>
                                      </p:tavLst>
                                    </p:anim>
                                    <p:anim calcmode="lin" valueType="num">
                                      <p:cBhvr additive="base">
                                        <p:cTn id="64" dur="1000" fill="hold"/>
                                        <p:tgtEl>
                                          <p:spTgt spid="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nodeType="clickEffect">
                                  <p:stCondLst>
                                    <p:cond delay="0"/>
                                  </p:stCondLst>
                                  <p:childTnLst>
                                    <p:set>
                                      <p:cBhvr>
                                        <p:cTn id="68" dur="1" fill="hold">
                                          <p:stCondLst>
                                            <p:cond delay="0"/>
                                          </p:stCondLst>
                                        </p:cTn>
                                        <p:tgtEl>
                                          <p:spTgt spid="3">
                                            <p:txEl>
                                              <p:pRg st="8" end="8"/>
                                            </p:txEl>
                                          </p:spTgt>
                                        </p:tgtEl>
                                        <p:attrNameLst>
                                          <p:attrName>style.visibility</p:attrName>
                                        </p:attrNameLst>
                                      </p:cBhvr>
                                      <p:to>
                                        <p:strVal val="visible"/>
                                      </p:to>
                                    </p:set>
                                    <p:anim calcmode="lin" valueType="num">
                                      <p:cBhvr additive="base">
                                        <p:cTn id="69" dur="1000" fill="hold"/>
                                        <p:tgtEl>
                                          <p:spTgt spid="3">
                                            <p:txEl>
                                              <p:pRg st="8" end="8"/>
                                            </p:txEl>
                                          </p:spTgt>
                                        </p:tgtEl>
                                        <p:attrNameLst>
                                          <p:attrName>ppt_x</p:attrName>
                                        </p:attrNameLst>
                                      </p:cBhvr>
                                      <p:tavLst>
                                        <p:tav tm="0">
                                          <p:val>
                                            <p:strVal val="0-#ppt_w/2"/>
                                          </p:val>
                                        </p:tav>
                                        <p:tav tm="100000">
                                          <p:val>
                                            <p:strVal val="#ppt_x"/>
                                          </p:val>
                                        </p:tav>
                                      </p:tavLst>
                                    </p:anim>
                                    <p:anim calcmode="lin" valueType="num">
                                      <p:cBhvr additive="base">
                                        <p:cTn id="70" dur="1000" fill="hold"/>
                                        <p:tgtEl>
                                          <p:spTgt spid="3">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3">
                                            <p:txEl>
                                              <p:pRg st="9" end="9"/>
                                            </p:txEl>
                                          </p:spTgt>
                                        </p:tgtEl>
                                        <p:attrNameLst>
                                          <p:attrName>style.visibility</p:attrName>
                                        </p:attrNameLst>
                                      </p:cBhvr>
                                      <p:to>
                                        <p:strVal val="visible"/>
                                      </p:to>
                                    </p:set>
                                    <p:anim calcmode="lin" valueType="num">
                                      <p:cBhvr additive="base">
                                        <p:cTn id="75"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76" dur="10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3" fill="hold" nodeType="clickEffect">
                                  <p:stCondLst>
                                    <p:cond delay="0"/>
                                  </p:stCondLst>
                                  <p:childTnLst>
                                    <p:set>
                                      <p:cBhvr>
                                        <p:cTn id="80" dur="1" fill="hold">
                                          <p:stCondLst>
                                            <p:cond delay="0"/>
                                          </p:stCondLst>
                                        </p:cTn>
                                        <p:tgtEl>
                                          <p:spTgt spid="3">
                                            <p:txEl>
                                              <p:pRg st="10" end="10"/>
                                            </p:txEl>
                                          </p:spTgt>
                                        </p:tgtEl>
                                        <p:attrNameLst>
                                          <p:attrName>style.visibility</p:attrName>
                                        </p:attrNameLst>
                                      </p:cBhvr>
                                      <p:to>
                                        <p:strVal val="visible"/>
                                      </p:to>
                                    </p:set>
                                    <p:anim calcmode="lin" valueType="num">
                                      <p:cBhvr additive="base">
                                        <p:cTn id="81" dur="1000" fill="hold"/>
                                        <p:tgtEl>
                                          <p:spTgt spid="3">
                                            <p:txEl>
                                              <p:pRg st="10" end="10"/>
                                            </p:txEl>
                                          </p:spTgt>
                                        </p:tgtEl>
                                        <p:attrNameLst>
                                          <p:attrName>ppt_x</p:attrName>
                                        </p:attrNameLst>
                                      </p:cBhvr>
                                      <p:tavLst>
                                        <p:tav tm="0">
                                          <p:val>
                                            <p:strVal val="1+#ppt_w/2"/>
                                          </p:val>
                                        </p:tav>
                                        <p:tav tm="100000">
                                          <p:val>
                                            <p:strVal val="#ppt_x"/>
                                          </p:val>
                                        </p:tav>
                                      </p:tavLst>
                                    </p:anim>
                                    <p:anim calcmode="lin" valueType="num">
                                      <p:cBhvr additive="base">
                                        <p:cTn id="82" dur="1000" fill="hold"/>
                                        <p:tgtEl>
                                          <p:spTgt spid="3">
                                            <p:txEl>
                                              <p:pRg st="10" end="10"/>
                                            </p:txEl>
                                          </p:spTgt>
                                        </p:tgtEl>
                                        <p:attrNameLst>
                                          <p:attrName>ppt_y</p:attrName>
                                        </p:attrNameLst>
                                      </p:cBhvr>
                                      <p:tavLst>
                                        <p:tav tm="0">
                                          <p:val>
                                            <p:strVal val="0-#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9" fill="hold" nodeType="clickEffect">
                                  <p:stCondLst>
                                    <p:cond delay="0"/>
                                  </p:stCondLst>
                                  <p:childTnLst>
                                    <p:set>
                                      <p:cBhvr>
                                        <p:cTn id="86" dur="1" fill="hold">
                                          <p:stCondLst>
                                            <p:cond delay="0"/>
                                          </p:stCondLst>
                                        </p:cTn>
                                        <p:tgtEl>
                                          <p:spTgt spid="3">
                                            <p:txEl>
                                              <p:pRg st="11" end="11"/>
                                            </p:txEl>
                                          </p:spTgt>
                                        </p:tgtEl>
                                        <p:attrNameLst>
                                          <p:attrName>style.visibility</p:attrName>
                                        </p:attrNameLst>
                                      </p:cBhvr>
                                      <p:to>
                                        <p:strVal val="visible"/>
                                      </p:to>
                                    </p:set>
                                    <p:anim calcmode="lin" valueType="num">
                                      <p:cBhvr additive="base">
                                        <p:cTn id="87" dur="1000" fill="hold"/>
                                        <p:tgtEl>
                                          <p:spTgt spid="3">
                                            <p:txEl>
                                              <p:pRg st="11" end="11"/>
                                            </p:txEl>
                                          </p:spTgt>
                                        </p:tgtEl>
                                        <p:attrNameLst>
                                          <p:attrName>ppt_x</p:attrName>
                                        </p:attrNameLst>
                                      </p:cBhvr>
                                      <p:tavLst>
                                        <p:tav tm="0">
                                          <p:val>
                                            <p:strVal val="0-#ppt_w/2"/>
                                          </p:val>
                                        </p:tav>
                                        <p:tav tm="100000">
                                          <p:val>
                                            <p:strVal val="#ppt_x"/>
                                          </p:val>
                                        </p:tav>
                                      </p:tavLst>
                                    </p:anim>
                                    <p:anim calcmode="lin" valueType="num">
                                      <p:cBhvr additive="base">
                                        <p:cTn id="88" dur="1000" fill="hold"/>
                                        <p:tgtEl>
                                          <p:spTgt spid="3">
                                            <p:txEl>
                                              <p:pRg st="11" end="11"/>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91729" y="881673"/>
            <a:ext cx="8858281" cy="6309420"/>
          </a:xfrm>
          <a:prstGeom prst="rect">
            <a:avLst/>
          </a:prstGeom>
          <a:noFill/>
        </p:spPr>
        <p:txBody>
          <a:bodyPr wrap="square" rtlCol="1">
            <a:spAutoFit/>
          </a:bodyPr>
          <a:lstStyle/>
          <a:p>
            <a:pPr algn="r" rtl="1"/>
            <a:r>
              <a:rPr lang="ar-EG" sz="3200" dirty="0">
                <a:solidFill>
                  <a:srgbClr val="92D050"/>
                </a:solidFill>
              </a:rPr>
              <a:t> </a:t>
            </a:r>
            <a:r>
              <a:rPr lang="ar-EG" sz="3200" b="1" dirty="0">
                <a:solidFill>
                  <a:srgbClr val="92D050"/>
                </a:solidFill>
              </a:rPr>
              <a:t>اللقطة المقربة</a:t>
            </a:r>
            <a:r>
              <a:rPr lang="ar-EG" sz="3200" dirty="0">
                <a:solidFill>
                  <a:srgbClr val="92D050"/>
                </a:solidFill>
              </a:rPr>
              <a:t> :</a:t>
            </a:r>
          </a:p>
          <a:p>
            <a:pPr algn="r" rtl="1"/>
            <a:r>
              <a:rPr lang="ar-EG" sz="2800" dirty="0"/>
              <a:t>تستخدم </a:t>
            </a:r>
            <a:r>
              <a:rPr lang="ar-EG" sz="2800" dirty="0" err="1"/>
              <a:t>فى</a:t>
            </a:r>
            <a:r>
              <a:rPr lang="ar-EG" sz="2800" dirty="0"/>
              <a:t> إيضاح تفاصيل الموضوعات حيث توفر رؤية جيدة للموضوعات الصغيرة مع التركيز على جزء صغير من الموضوع أو الحدث بقصد إظهار تفاصيله وترك الأجزاء غير المهمة خارج مدي التركيز .</a:t>
            </a:r>
            <a:endParaRPr lang="en-US" sz="2800" dirty="0"/>
          </a:p>
          <a:p>
            <a:pPr algn="r" rtl="1"/>
            <a:r>
              <a:rPr lang="ar-EG" sz="2800" dirty="0"/>
              <a:t> </a:t>
            </a:r>
            <a:endParaRPr lang="en-US" sz="2800" dirty="0"/>
          </a:p>
          <a:p>
            <a:pPr algn="r" rtl="1"/>
            <a:r>
              <a:rPr lang="ar-EG" sz="3200" b="1" dirty="0">
                <a:solidFill>
                  <a:srgbClr val="92D050"/>
                </a:solidFill>
              </a:rPr>
              <a:t>اللقطة المتوسطة</a:t>
            </a:r>
            <a:r>
              <a:rPr lang="ar-EG" sz="3200" dirty="0">
                <a:solidFill>
                  <a:srgbClr val="92D050"/>
                </a:solidFill>
              </a:rPr>
              <a:t> : </a:t>
            </a:r>
          </a:p>
          <a:p>
            <a:pPr algn="r" rtl="1"/>
            <a:r>
              <a:rPr lang="ar-EG" sz="2800" dirty="0"/>
              <a:t>وهي تعطي قدراً متوافراً علي الموضوع وتؤكد العلاقات </a:t>
            </a:r>
            <a:r>
              <a:rPr lang="ar-EG" sz="2800" dirty="0" err="1"/>
              <a:t>فى</a:t>
            </a:r>
            <a:r>
              <a:rPr lang="ar-EG" sz="2800" dirty="0"/>
              <a:t> الحيز وتبقي كل </a:t>
            </a:r>
            <a:r>
              <a:rPr lang="ar-EG" sz="2800" dirty="0" err="1"/>
              <a:t>المسوتيات</a:t>
            </a:r>
            <a:r>
              <a:rPr lang="ar-EG" sz="2800" dirty="0"/>
              <a:t> الرأسية سواء المجال الأمامي </a:t>
            </a:r>
            <a:r>
              <a:rPr lang="ar-EG" sz="2800" dirty="0" err="1"/>
              <a:t>او</a:t>
            </a:r>
            <a:r>
              <a:rPr lang="ar-EG" sz="2800" dirty="0"/>
              <a:t> الخلفي داخل مستوي الوضوح ويكثر استخدامها في الأعمال التليفزيونية والدرامية والتعليمية .</a:t>
            </a:r>
            <a:endParaRPr lang="en-US" sz="2800" dirty="0"/>
          </a:p>
          <a:p>
            <a:pPr algn="r" rtl="1"/>
            <a:r>
              <a:rPr lang="ar-EG" sz="2800" b="1" dirty="0"/>
              <a:t> </a:t>
            </a:r>
            <a:endParaRPr lang="en-US" sz="2800" dirty="0"/>
          </a:p>
          <a:p>
            <a:pPr algn="r" rtl="1"/>
            <a:r>
              <a:rPr lang="ar-EG" sz="3200" b="1" dirty="0">
                <a:solidFill>
                  <a:srgbClr val="92D050"/>
                </a:solidFill>
              </a:rPr>
              <a:t>اللقطة البعيدة </a:t>
            </a:r>
            <a:r>
              <a:rPr lang="ar-EG" sz="3200" dirty="0">
                <a:solidFill>
                  <a:srgbClr val="92D050"/>
                </a:solidFill>
              </a:rPr>
              <a:t>: </a:t>
            </a:r>
          </a:p>
          <a:p>
            <a:pPr algn="r" rtl="1"/>
            <a:r>
              <a:rPr lang="ar-EG" sz="2800" dirty="0"/>
              <a:t>وهي تلك التي تربط المشاهد بموقع الحدث داخل بيئته مهما </a:t>
            </a:r>
            <a:r>
              <a:rPr lang="ar-EG" sz="2800" dirty="0" err="1"/>
              <a:t>أختلفت</a:t>
            </a:r>
            <a:r>
              <a:rPr lang="ar-EG" sz="2800" dirty="0"/>
              <a:t> حجمه وشكله .</a:t>
            </a:r>
            <a:endParaRPr lang="en-US" sz="2800" dirty="0"/>
          </a:p>
          <a:p>
            <a:pPr algn="r" rtl="1"/>
            <a:endParaRPr lang="ar-EG" sz="2800" dirty="0"/>
          </a:p>
        </p:txBody>
      </p:sp>
      <p:sp>
        <p:nvSpPr>
          <p:cNvPr id="3" name="مربع نص 2"/>
          <p:cNvSpPr txBox="1"/>
          <p:nvPr/>
        </p:nvSpPr>
        <p:spPr>
          <a:xfrm>
            <a:off x="1371600" y="227659"/>
            <a:ext cx="6444607" cy="646331"/>
          </a:xfrm>
          <a:prstGeom prst="rect">
            <a:avLst/>
          </a:prstGeom>
          <a:noFill/>
        </p:spPr>
        <p:txBody>
          <a:bodyPr wrap="square" rtlCol="1">
            <a:spAutoFit/>
          </a:bodyPr>
          <a:lstStyle/>
          <a:p>
            <a:r>
              <a:rPr lang="ar-EG" sz="3600" b="1" dirty="0">
                <a:solidFill>
                  <a:schemeClr val="tx2"/>
                </a:solidFill>
              </a:rPr>
              <a:t>تتلخص خصائص أحجام اللقطات في  </a:t>
            </a:r>
            <a:endParaRPr lang="en-US" sz="3600" b="1" dirty="0">
              <a:solidFill>
                <a:schemeClr val="tx2"/>
              </a:solidFill>
            </a:endParaRPr>
          </a:p>
        </p:txBody>
      </p:sp>
    </p:spTree>
    <p:extLst>
      <p:ext uri="{BB962C8B-B14F-4D97-AF65-F5344CB8AC3E}">
        <p14:creationId xmlns:p14="http://schemas.microsoft.com/office/powerpoint/2010/main" val="1810622717"/>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2000" fill="hold"/>
                                        <p:tgtEl>
                                          <p:spTgt spid="3"/>
                                        </p:tgtEl>
                                        <p:attrNameLst>
                                          <p:attrName>ppt_w</p:attrName>
                                        </p:attrNameLst>
                                      </p:cBhvr>
                                      <p:tavLst>
                                        <p:tav tm="0">
                                          <p:val>
                                            <p:strVal val="#ppt_w*2.5"/>
                                          </p:val>
                                        </p:tav>
                                        <p:tav tm="100000">
                                          <p:val>
                                            <p:strVal val="#ppt_w"/>
                                          </p:val>
                                        </p:tav>
                                      </p:tavLst>
                                    </p:anim>
                                    <p:anim calcmode="lin" valueType="num">
                                      <p:cBhvr>
                                        <p:cTn id="8" dur="2000" fill="hold"/>
                                        <p:tgtEl>
                                          <p:spTgt spid="3"/>
                                        </p:tgtEl>
                                        <p:attrNameLst>
                                          <p:attrName>ppt_h</p:attrName>
                                        </p:attrNameLst>
                                      </p:cBhvr>
                                      <p:tavLst>
                                        <p:tav tm="0">
                                          <p:val>
                                            <p:strVal val="#ppt_h*0.01"/>
                                          </p:val>
                                        </p:tav>
                                        <p:tav tm="100000">
                                          <p:val>
                                            <p:strVal val="#ppt_h"/>
                                          </p:val>
                                        </p:tav>
                                      </p:tavLst>
                                    </p:anim>
                                    <p:anim calcmode="lin" valueType="num">
                                      <p:cBhvr>
                                        <p:cTn id="9" dur="2000" fill="hold"/>
                                        <p:tgtEl>
                                          <p:spTgt spid="3"/>
                                        </p:tgtEl>
                                        <p:attrNameLst>
                                          <p:attrName>ppt_x</p:attrName>
                                        </p:attrNameLst>
                                      </p:cBhvr>
                                      <p:tavLst>
                                        <p:tav tm="0">
                                          <p:val>
                                            <p:strVal val="#ppt_x"/>
                                          </p:val>
                                        </p:tav>
                                        <p:tav tm="100000">
                                          <p:val>
                                            <p:strVal val="#ppt_x"/>
                                          </p:val>
                                        </p:tav>
                                      </p:tavLst>
                                    </p:anim>
                                    <p:anim calcmode="lin" valueType="num">
                                      <p:cBhvr>
                                        <p:cTn id="10" dur="2000" fill="hold"/>
                                        <p:tgtEl>
                                          <p:spTgt spid="3"/>
                                        </p:tgtEl>
                                        <p:attrNameLst>
                                          <p:attrName>ppt_y</p:attrName>
                                        </p:attrNameLst>
                                      </p:cBhvr>
                                      <p:tavLst>
                                        <p:tav tm="0">
                                          <p:val>
                                            <p:strVal val="#ppt_h+1"/>
                                          </p:val>
                                        </p:tav>
                                        <p:tav tm="100000">
                                          <p:val>
                                            <p:strVal val="#ppt_y"/>
                                          </p:val>
                                        </p:tav>
                                      </p:tavLst>
                                    </p:anim>
                                    <p:animEffect transition="in" filter="fade">
                                      <p:cBhvr>
                                        <p:cTn id="11" dur="20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31" presetClass="entr" presetSubtype="0" fill="hold" nodeType="clickEffect">
                                  <p:stCondLst>
                                    <p:cond delay="0"/>
                                  </p:stCondLst>
                                  <p:iterate type="lt">
                                    <p:tmPct val="5000"/>
                                  </p:iterate>
                                  <p:childTnLst>
                                    <p:set>
                                      <p:cBhvr>
                                        <p:cTn id="15" dur="1" fill="hold">
                                          <p:stCondLst>
                                            <p:cond delay="0"/>
                                          </p:stCondLst>
                                        </p:cTn>
                                        <p:tgtEl>
                                          <p:spTgt spid="2">
                                            <p:txEl>
                                              <p:pRg st="0" end="0"/>
                                            </p:txEl>
                                          </p:spTgt>
                                        </p:tgtEl>
                                        <p:attrNameLst>
                                          <p:attrName>style.visibility</p:attrName>
                                        </p:attrNameLst>
                                      </p:cBhvr>
                                      <p:to>
                                        <p:strVal val="visible"/>
                                      </p:to>
                                    </p:set>
                                    <p:anim calcmode="lin" valueType="num">
                                      <p:cBhvr>
                                        <p:cTn id="16" dur="1000" fill="hold"/>
                                        <p:tgtEl>
                                          <p:spTgt spid="2">
                                            <p:txEl>
                                              <p:pRg st="0" end="0"/>
                                            </p:txEl>
                                          </p:spTgt>
                                        </p:tgtEl>
                                        <p:attrNameLst>
                                          <p:attrName>ppt_w</p:attrName>
                                        </p:attrNameLst>
                                      </p:cBhvr>
                                      <p:tavLst>
                                        <p:tav tm="0">
                                          <p:val>
                                            <p:fltVal val="0"/>
                                          </p:val>
                                        </p:tav>
                                        <p:tav tm="100000">
                                          <p:val>
                                            <p:strVal val="#ppt_w"/>
                                          </p:val>
                                        </p:tav>
                                      </p:tavLst>
                                    </p:anim>
                                    <p:anim calcmode="lin" valueType="num">
                                      <p:cBhvr>
                                        <p:cTn id="17" dur="1000" fill="hold"/>
                                        <p:tgtEl>
                                          <p:spTgt spid="2">
                                            <p:txEl>
                                              <p:pRg st="0" end="0"/>
                                            </p:txEl>
                                          </p:spTgt>
                                        </p:tgtEl>
                                        <p:attrNameLst>
                                          <p:attrName>ppt_h</p:attrName>
                                        </p:attrNameLst>
                                      </p:cBhvr>
                                      <p:tavLst>
                                        <p:tav tm="0">
                                          <p:val>
                                            <p:fltVal val="0"/>
                                          </p:val>
                                        </p:tav>
                                        <p:tav tm="100000">
                                          <p:val>
                                            <p:strVal val="#ppt_h"/>
                                          </p:val>
                                        </p:tav>
                                      </p:tavLst>
                                    </p:anim>
                                    <p:anim calcmode="lin" valueType="num">
                                      <p:cBhvr>
                                        <p:cTn id="18" dur="1000" fill="hold"/>
                                        <p:tgtEl>
                                          <p:spTgt spid="2">
                                            <p:txEl>
                                              <p:pRg st="0" end="0"/>
                                            </p:txEl>
                                          </p:spTgt>
                                        </p:tgtEl>
                                        <p:attrNameLst>
                                          <p:attrName>style.rotation</p:attrName>
                                        </p:attrNameLst>
                                      </p:cBhvr>
                                      <p:tavLst>
                                        <p:tav tm="0">
                                          <p:val>
                                            <p:fltVal val="90"/>
                                          </p:val>
                                        </p:tav>
                                        <p:tav tm="100000">
                                          <p:val>
                                            <p:fltVal val="0"/>
                                          </p:val>
                                        </p:tav>
                                      </p:tavLst>
                                    </p:anim>
                                    <p:animEffect transition="in" filter="fade">
                                      <p:cBhvr>
                                        <p:cTn id="19" dur="1000"/>
                                        <p:tgtEl>
                                          <p:spTgt spid="2">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4" presetClass="entr" presetSubtype="0" fill="hold" nodeType="clickEffect">
                                  <p:stCondLst>
                                    <p:cond delay="0"/>
                                  </p:stCondLst>
                                  <p:childTnLst>
                                    <p:set>
                                      <p:cBhvr>
                                        <p:cTn id="23" dur="1" fill="hold">
                                          <p:stCondLst>
                                            <p:cond delay="0"/>
                                          </p:stCondLst>
                                        </p:cTn>
                                        <p:tgtEl>
                                          <p:spTgt spid="2">
                                            <p:txEl>
                                              <p:pRg st="1" end="1"/>
                                            </p:txEl>
                                          </p:spTgt>
                                        </p:tgtEl>
                                        <p:attrNameLst>
                                          <p:attrName>style.visibility</p:attrName>
                                        </p:attrNameLst>
                                      </p:cBhvr>
                                      <p:to>
                                        <p:strVal val="visible"/>
                                      </p:to>
                                    </p:set>
                                    <p:anim from="(-#ppt_w/2)" to="(#ppt_x)" calcmode="lin" valueType="num">
                                      <p:cBhvr>
                                        <p:cTn id="24" dur="600" fill="hold">
                                          <p:stCondLst>
                                            <p:cond delay="0"/>
                                          </p:stCondLst>
                                        </p:cTn>
                                        <p:tgtEl>
                                          <p:spTgt spid="2">
                                            <p:txEl>
                                              <p:pRg st="1" end="1"/>
                                            </p:txEl>
                                          </p:spTgt>
                                        </p:tgtEl>
                                        <p:attrNameLst>
                                          <p:attrName>ppt_x</p:attrName>
                                        </p:attrNameLst>
                                      </p:cBhvr>
                                    </p:anim>
                                    <p:anim from="0" to="-1.0" calcmode="lin" valueType="num">
                                      <p:cBhvr>
                                        <p:cTn id="25" dur="200" decel="50000" autoRev="1" fill="hold">
                                          <p:stCondLst>
                                            <p:cond delay="600"/>
                                          </p:stCondLst>
                                        </p:cTn>
                                        <p:tgtEl>
                                          <p:spTgt spid="2">
                                            <p:txEl>
                                              <p:pRg st="1" end="1"/>
                                            </p:txEl>
                                          </p:spTgt>
                                        </p:tgtEl>
                                        <p:attrNameLst>
                                          <p:attrName>xshear</p:attrName>
                                        </p:attrNameLst>
                                      </p:cBhvr>
                                    </p:anim>
                                    <p:animScale>
                                      <p:cBhvr>
                                        <p:cTn id="26" dur="200" decel="100000" autoRev="1" fill="hold">
                                          <p:stCondLst>
                                            <p:cond delay="600"/>
                                          </p:stCondLst>
                                        </p:cTn>
                                        <p:tgtEl>
                                          <p:spTgt spid="2">
                                            <p:txEl>
                                              <p:pRg st="1" end="1"/>
                                            </p:txEl>
                                          </p:spTgt>
                                        </p:tgtEl>
                                      </p:cBhvr>
                                      <p:from x="100000" y="100000"/>
                                      <p:to x="80000" y="100000"/>
                                    </p:animScale>
                                    <p:anim by="(#ppt_h/3+#ppt_w*0.1)" calcmode="lin" valueType="num">
                                      <p:cBhvr additive="sum">
                                        <p:cTn id="27" dur="200" decel="100000" autoRev="1" fill="hold">
                                          <p:stCondLst>
                                            <p:cond delay="600"/>
                                          </p:stCondLst>
                                        </p:cTn>
                                        <p:tgtEl>
                                          <p:spTgt spid="2">
                                            <p:txEl>
                                              <p:pRg st="1" end="1"/>
                                            </p:txEl>
                                          </p:spTgt>
                                        </p:tgtEl>
                                        <p:attrNameLst>
                                          <p:attrName>ppt_x</p:attrName>
                                        </p:attrNameLst>
                                      </p:cBhvr>
                                    </p:anim>
                                  </p:childTnLst>
                                </p:cTn>
                              </p:par>
                            </p:childTnLst>
                          </p:cTn>
                        </p:par>
                      </p:childTnLst>
                    </p:cTn>
                  </p:par>
                  <p:par>
                    <p:cTn id="28" fill="hold">
                      <p:stCondLst>
                        <p:cond delay="indefinite"/>
                      </p:stCondLst>
                      <p:childTnLst>
                        <p:par>
                          <p:cTn id="29" fill="hold">
                            <p:stCondLst>
                              <p:cond delay="0"/>
                            </p:stCondLst>
                            <p:childTnLst>
                              <p:par>
                                <p:cTn id="30" presetID="31" presetClass="entr" presetSubtype="0" fill="hold" nodeType="clickEffect">
                                  <p:stCondLst>
                                    <p:cond delay="0"/>
                                  </p:stCondLst>
                                  <p:iterate type="lt">
                                    <p:tmPct val="5000"/>
                                  </p:iterate>
                                  <p:childTnLst>
                                    <p:set>
                                      <p:cBhvr>
                                        <p:cTn id="31" dur="1" fill="hold">
                                          <p:stCondLst>
                                            <p:cond delay="0"/>
                                          </p:stCondLst>
                                        </p:cTn>
                                        <p:tgtEl>
                                          <p:spTgt spid="2">
                                            <p:txEl>
                                              <p:pRg st="3" end="3"/>
                                            </p:txEl>
                                          </p:spTgt>
                                        </p:tgtEl>
                                        <p:attrNameLst>
                                          <p:attrName>style.visibility</p:attrName>
                                        </p:attrNameLst>
                                      </p:cBhvr>
                                      <p:to>
                                        <p:strVal val="visible"/>
                                      </p:to>
                                    </p:set>
                                    <p:anim calcmode="lin" valueType="num">
                                      <p:cBhvr>
                                        <p:cTn id="32" dur="1000" fill="hold"/>
                                        <p:tgtEl>
                                          <p:spTgt spid="2">
                                            <p:txEl>
                                              <p:pRg st="3" end="3"/>
                                            </p:txEl>
                                          </p:spTgt>
                                        </p:tgtEl>
                                        <p:attrNameLst>
                                          <p:attrName>ppt_w</p:attrName>
                                        </p:attrNameLst>
                                      </p:cBhvr>
                                      <p:tavLst>
                                        <p:tav tm="0">
                                          <p:val>
                                            <p:fltVal val="0"/>
                                          </p:val>
                                        </p:tav>
                                        <p:tav tm="100000">
                                          <p:val>
                                            <p:strVal val="#ppt_w"/>
                                          </p:val>
                                        </p:tav>
                                      </p:tavLst>
                                    </p:anim>
                                    <p:anim calcmode="lin" valueType="num">
                                      <p:cBhvr>
                                        <p:cTn id="33" dur="1000" fill="hold"/>
                                        <p:tgtEl>
                                          <p:spTgt spid="2">
                                            <p:txEl>
                                              <p:pRg st="3" end="3"/>
                                            </p:txEl>
                                          </p:spTgt>
                                        </p:tgtEl>
                                        <p:attrNameLst>
                                          <p:attrName>ppt_h</p:attrName>
                                        </p:attrNameLst>
                                      </p:cBhvr>
                                      <p:tavLst>
                                        <p:tav tm="0">
                                          <p:val>
                                            <p:fltVal val="0"/>
                                          </p:val>
                                        </p:tav>
                                        <p:tav tm="100000">
                                          <p:val>
                                            <p:strVal val="#ppt_h"/>
                                          </p:val>
                                        </p:tav>
                                      </p:tavLst>
                                    </p:anim>
                                    <p:anim calcmode="lin" valueType="num">
                                      <p:cBhvr>
                                        <p:cTn id="34" dur="1000" fill="hold"/>
                                        <p:tgtEl>
                                          <p:spTgt spid="2">
                                            <p:txEl>
                                              <p:pRg st="3" end="3"/>
                                            </p:txEl>
                                          </p:spTgt>
                                        </p:tgtEl>
                                        <p:attrNameLst>
                                          <p:attrName>style.rotation</p:attrName>
                                        </p:attrNameLst>
                                      </p:cBhvr>
                                      <p:tavLst>
                                        <p:tav tm="0">
                                          <p:val>
                                            <p:fltVal val="90"/>
                                          </p:val>
                                        </p:tav>
                                        <p:tav tm="100000">
                                          <p:val>
                                            <p:fltVal val="0"/>
                                          </p:val>
                                        </p:tav>
                                      </p:tavLst>
                                    </p:anim>
                                    <p:animEffect transition="in" filter="fade">
                                      <p:cBhvr>
                                        <p:cTn id="35" dur="1000"/>
                                        <p:tgtEl>
                                          <p:spTgt spid="2">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4" presetClass="entr" presetSubtype="0" fill="hold" nodeType="clickEffect">
                                  <p:stCondLst>
                                    <p:cond delay="0"/>
                                  </p:stCondLst>
                                  <p:childTnLst>
                                    <p:set>
                                      <p:cBhvr>
                                        <p:cTn id="39" dur="1" fill="hold">
                                          <p:stCondLst>
                                            <p:cond delay="0"/>
                                          </p:stCondLst>
                                        </p:cTn>
                                        <p:tgtEl>
                                          <p:spTgt spid="2">
                                            <p:txEl>
                                              <p:pRg st="4" end="4"/>
                                            </p:txEl>
                                          </p:spTgt>
                                        </p:tgtEl>
                                        <p:attrNameLst>
                                          <p:attrName>style.visibility</p:attrName>
                                        </p:attrNameLst>
                                      </p:cBhvr>
                                      <p:to>
                                        <p:strVal val="visible"/>
                                      </p:to>
                                    </p:set>
                                    <p:anim from="(-#ppt_w/2)" to="(#ppt_x)" calcmode="lin" valueType="num">
                                      <p:cBhvr>
                                        <p:cTn id="40" dur="600" fill="hold">
                                          <p:stCondLst>
                                            <p:cond delay="0"/>
                                          </p:stCondLst>
                                        </p:cTn>
                                        <p:tgtEl>
                                          <p:spTgt spid="2">
                                            <p:txEl>
                                              <p:pRg st="4" end="4"/>
                                            </p:txEl>
                                          </p:spTgt>
                                        </p:tgtEl>
                                        <p:attrNameLst>
                                          <p:attrName>ppt_x</p:attrName>
                                        </p:attrNameLst>
                                      </p:cBhvr>
                                    </p:anim>
                                    <p:anim from="0" to="-1.0" calcmode="lin" valueType="num">
                                      <p:cBhvr>
                                        <p:cTn id="41" dur="200" decel="50000" autoRev="1" fill="hold">
                                          <p:stCondLst>
                                            <p:cond delay="600"/>
                                          </p:stCondLst>
                                        </p:cTn>
                                        <p:tgtEl>
                                          <p:spTgt spid="2">
                                            <p:txEl>
                                              <p:pRg st="4" end="4"/>
                                            </p:txEl>
                                          </p:spTgt>
                                        </p:tgtEl>
                                        <p:attrNameLst>
                                          <p:attrName>xshear</p:attrName>
                                        </p:attrNameLst>
                                      </p:cBhvr>
                                    </p:anim>
                                    <p:animScale>
                                      <p:cBhvr>
                                        <p:cTn id="42" dur="200" decel="100000" autoRev="1" fill="hold">
                                          <p:stCondLst>
                                            <p:cond delay="600"/>
                                          </p:stCondLst>
                                        </p:cTn>
                                        <p:tgtEl>
                                          <p:spTgt spid="2">
                                            <p:txEl>
                                              <p:pRg st="4" end="4"/>
                                            </p:txEl>
                                          </p:spTgt>
                                        </p:tgtEl>
                                      </p:cBhvr>
                                      <p:from x="100000" y="100000"/>
                                      <p:to x="80000" y="100000"/>
                                    </p:animScale>
                                    <p:anim by="(#ppt_h/3+#ppt_w*0.1)" calcmode="lin" valueType="num">
                                      <p:cBhvr additive="sum">
                                        <p:cTn id="43" dur="200" decel="100000" autoRev="1" fill="hold">
                                          <p:stCondLst>
                                            <p:cond delay="600"/>
                                          </p:stCondLst>
                                        </p:cTn>
                                        <p:tgtEl>
                                          <p:spTgt spid="2">
                                            <p:txEl>
                                              <p:pRg st="4" end="4"/>
                                            </p:txEl>
                                          </p:spTgt>
                                        </p:tgtEl>
                                        <p:attrNameLst>
                                          <p:attrName>ppt_x</p:attrName>
                                        </p:attrNameLst>
                                      </p:cBhvr>
                                    </p:anim>
                                  </p:childTnLst>
                                </p:cTn>
                              </p:par>
                            </p:childTnLst>
                          </p:cTn>
                        </p:par>
                      </p:childTnLst>
                    </p:cTn>
                  </p:par>
                  <p:par>
                    <p:cTn id="44" fill="hold">
                      <p:stCondLst>
                        <p:cond delay="indefinite"/>
                      </p:stCondLst>
                      <p:childTnLst>
                        <p:par>
                          <p:cTn id="45" fill="hold">
                            <p:stCondLst>
                              <p:cond delay="0"/>
                            </p:stCondLst>
                            <p:childTnLst>
                              <p:par>
                                <p:cTn id="46" presetID="31" presetClass="entr" presetSubtype="0" fill="hold" nodeType="clickEffect">
                                  <p:stCondLst>
                                    <p:cond delay="0"/>
                                  </p:stCondLst>
                                  <p:iterate type="lt">
                                    <p:tmPct val="5000"/>
                                  </p:iterate>
                                  <p:childTnLst>
                                    <p:set>
                                      <p:cBhvr>
                                        <p:cTn id="47" dur="1" fill="hold">
                                          <p:stCondLst>
                                            <p:cond delay="0"/>
                                          </p:stCondLst>
                                        </p:cTn>
                                        <p:tgtEl>
                                          <p:spTgt spid="2">
                                            <p:txEl>
                                              <p:pRg st="6" end="6"/>
                                            </p:txEl>
                                          </p:spTgt>
                                        </p:tgtEl>
                                        <p:attrNameLst>
                                          <p:attrName>style.visibility</p:attrName>
                                        </p:attrNameLst>
                                      </p:cBhvr>
                                      <p:to>
                                        <p:strVal val="visible"/>
                                      </p:to>
                                    </p:set>
                                    <p:anim calcmode="lin" valueType="num">
                                      <p:cBhvr>
                                        <p:cTn id="48" dur="1000" fill="hold"/>
                                        <p:tgtEl>
                                          <p:spTgt spid="2">
                                            <p:txEl>
                                              <p:pRg st="6" end="6"/>
                                            </p:txEl>
                                          </p:spTgt>
                                        </p:tgtEl>
                                        <p:attrNameLst>
                                          <p:attrName>ppt_w</p:attrName>
                                        </p:attrNameLst>
                                      </p:cBhvr>
                                      <p:tavLst>
                                        <p:tav tm="0">
                                          <p:val>
                                            <p:fltVal val="0"/>
                                          </p:val>
                                        </p:tav>
                                        <p:tav tm="100000">
                                          <p:val>
                                            <p:strVal val="#ppt_w"/>
                                          </p:val>
                                        </p:tav>
                                      </p:tavLst>
                                    </p:anim>
                                    <p:anim calcmode="lin" valueType="num">
                                      <p:cBhvr>
                                        <p:cTn id="49" dur="1000" fill="hold"/>
                                        <p:tgtEl>
                                          <p:spTgt spid="2">
                                            <p:txEl>
                                              <p:pRg st="6" end="6"/>
                                            </p:txEl>
                                          </p:spTgt>
                                        </p:tgtEl>
                                        <p:attrNameLst>
                                          <p:attrName>ppt_h</p:attrName>
                                        </p:attrNameLst>
                                      </p:cBhvr>
                                      <p:tavLst>
                                        <p:tav tm="0">
                                          <p:val>
                                            <p:fltVal val="0"/>
                                          </p:val>
                                        </p:tav>
                                        <p:tav tm="100000">
                                          <p:val>
                                            <p:strVal val="#ppt_h"/>
                                          </p:val>
                                        </p:tav>
                                      </p:tavLst>
                                    </p:anim>
                                    <p:anim calcmode="lin" valueType="num">
                                      <p:cBhvr>
                                        <p:cTn id="50" dur="1000" fill="hold"/>
                                        <p:tgtEl>
                                          <p:spTgt spid="2">
                                            <p:txEl>
                                              <p:pRg st="6" end="6"/>
                                            </p:txEl>
                                          </p:spTgt>
                                        </p:tgtEl>
                                        <p:attrNameLst>
                                          <p:attrName>style.rotation</p:attrName>
                                        </p:attrNameLst>
                                      </p:cBhvr>
                                      <p:tavLst>
                                        <p:tav tm="0">
                                          <p:val>
                                            <p:fltVal val="90"/>
                                          </p:val>
                                        </p:tav>
                                        <p:tav tm="100000">
                                          <p:val>
                                            <p:fltVal val="0"/>
                                          </p:val>
                                        </p:tav>
                                      </p:tavLst>
                                    </p:anim>
                                    <p:animEffect transition="in" filter="fade">
                                      <p:cBhvr>
                                        <p:cTn id="51" dur="1000"/>
                                        <p:tgtEl>
                                          <p:spTgt spid="2">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4" presetClass="entr" presetSubtype="0" fill="hold" nodeType="clickEffect">
                                  <p:stCondLst>
                                    <p:cond delay="0"/>
                                  </p:stCondLst>
                                  <p:childTnLst>
                                    <p:set>
                                      <p:cBhvr>
                                        <p:cTn id="55" dur="1" fill="hold">
                                          <p:stCondLst>
                                            <p:cond delay="0"/>
                                          </p:stCondLst>
                                        </p:cTn>
                                        <p:tgtEl>
                                          <p:spTgt spid="2">
                                            <p:txEl>
                                              <p:pRg st="7" end="7"/>
                                            </p:txEl>
                                          </p:spTgt>
                                        </p:tgtEl>
                                        <p:attrNameLst>
                                          <p:attrName>style.visibility</p:attrName>
                                        </p:attrNameLst>
                                      </p:cBhvr>
                                      <p:to>
                                        <p:strVal val="visible"/>
                                      </p:to>
                                    </p:set>
                                    <p:anim from="(-#ppt_w/2)" to="(#ppt_x)" calcmode="lin" valueType="num">
                                      <p:cBhvr>
                                        <p:cTn id="56" dur="600" fill="hold">
                                          <p:stCondLst>
                                            <p:cond delay="0"/>
                                          </p:stCondLst>
                                        </p:cTn>
                                        <p:tgtEl>
                                          <p:spTgt spid="2">
                                            <p:txEl>
                                              <p:pRg st="7" end="7"/>
                                            </p:txEl>
                                          </p:spTgt>
                                        </p:tgtEl>
                                        <p:attrNameLst>
                                          <p:attrName>ppt_x</p:attrName>
                                        </p:attrNameLst>
                                      </p:cBhvr>
                                    </p:anim>
                                    <p:anim from="0" to="-1.0" calcmode="lin" valueType="num">
                                      <p:cBhvr>
                                        <p:cTn id="57" dur="200" decel="50000" autoRev="1" fill="hold">
                                          <p:stCondLst>
                                            <p:cond delay="600"/>
                                          </p:stCondLst>
                                        </p:cTn>
                                        <p:tgtEl>
                                          <p:spTgt spid="2">
                                            <p:txEl>
                                              <p:pRg st="7" end="7"/>
                                            </p:txEl>
                                          </p:spTgt>
                                        </p:tgtEl>
                                        <p:attrNameLst>
                                          <p:attrName>xshear</p:attrName>
                                        </p:attrNameLst>
                                      </p:cBhvr>
                                    </p:anim>
                                    <p:animScale>
                                      <p:cBhvr>
                                        <p:cTn id="58" dur="200" decel="100000" autoRev="1" fill="hold">
                                          <p:stCondLst>
                                            <p:cond delay="600"/>
                                          </p:stCondLst>
                                        </p:cTn>
                                        <p:tgtEl>
                                          <p:spTgt spid="2">
                                            <p:txEl>
                                              <p:pRg st="7" end="7"/>
                                            </p:txEl>
                                          </p:spTgt>
                                        </p:tgtEl>
                                      </p:cBhvr>
                                      <p:from x="100000" y="100000"/>
                                      <p:to x="80000" y="100000"/>
                                    </p:animScale>
                                    <p:anim by="(#ppt_h/3+#ppt_w*0.1)" calcmode="lin" valueType="num">
                                      <p:cBhvr additive="sum">
                                        <p:cTn id="59" dur="200" decel="100000" autoRev="1" fill="hold">
                                          <p:stCondLst>
                                            <p:cond delay="600"/>
                                          </p:stCondLst>
                                        </p:cTn>
                                        <p:tgtEl>
                                          <p:spTgt spid="2">
                                            <p:txEl>
                                              <p:pRg st="7" end="7"/>
                                            </p:txEl>
                                          </p:spTgt>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5324168" y="143785"/>
            <a:ext cx="3176925" cy="584775"/>
          </a:xfrm>
          <a:prstGeom prst="rect">
            <a:avLst/>
          </a:prstGeom>
        </p:spPr>
        <p:style>
          <a:lnRef idx="1">
            <a:schemeClr val="accent3"/>
          </a:lnRef>
          <a:fillRef idx="2">
            <a:schemeClr val="accent3"/>
          </a:fillRef>
          <a:effectRef idx="1">
            <a:schemeClr val="accent3"/>
          </a:effectRef>
          <a:fontRef idx="minor">
            <a:schemeClr val="dk1"/>
          </a:fontRef>
        </p:style>
        <p:txBody>
          <a:bodyPr wrap="square" rtlCol="1">
            <a:spAutoFit/>
          </a:bodyPr>
          <a:lstStyle/>
          <a:p>
            <a:pPr algn="r" rtl="1"/>
            <a:r>
              <a:rPr lang="ar-EG" sz="3200" b="1" dirty="0"/>
              <a:t>ثانياً : الحركة </a:t>
            </a:r>
            <a:endParaRPr lang="en-US" sz="3200" dirty="0"/>
          </a:p>
        </p:txBody>
      </p:sp>
      <p:sp>
        <p:nvSpPr>
          <p:cNvPr id="3" name="مربع نص 2"/>
          <p:cNvSpPr txBox="1"/>
          <p:nvPr/>
        </p:nvSpPr>
        <p:spPr>
          <a:xfrm>
            <a:off x="162232" y="757229"/>
            <a:ext cx="8849033" cy="6432530"/>
          </a:xfrm>
          <a:prstGeom prst="rect">
            <a:avLst/>
          </a:prstGeom>
          <a:noFill/>
        </p:spPr>
        <p:txBody>
          <a:bodyPr wrap="square" rtlCol="1">
            <a:spAutoFit/>
          </a:bodyPr>
          <a:lstStyle/>
          <a:p>
            <a:pPr algn="r" rtl="1"/>
            <a:r>
              <a:rPr lang="ar-EG" sz="2800" b="1" dirty="0">
                <a:solidFill>
                  <a:schemeClr val="tx2"/>
                </a:solidFill>
              </a:rPr>
              <a:t>تنبع الحركة في برامج الوسائط المتعددة من ثلاث مصادر رئيسية هي :-</a:t>
            </a:r>
            <a:endParaRPr lang="en-US" sz="2800" b="1" dirty="0">
              <a:solidFill>
                <a:schemeClr val="tx2"/>
              </a:solidFill>
            </a:endParaRPr>
          </a:p>
          <a:p>
            <a:pPr lvl="0" algn="r" rtl="1"/>
            <a:r>
              <a:rPr lang="ar-EG" sz="2400" dirty="0"/>
              <a:t>1- حركة المرئيات </a:t>
            </a:r>
            <a:endParaRPr lang="en-US" sz="2400" dirty="0"/>
          </a:p>
          <a:p>
            <a:pPr lvl="0" algn="r" rtl="1"/>
            <a:r>
              <a:rPr lang="ar-EG" sz="2400" dirty="0"/>
              <a:t>2- حركة الكاميرا</a:t>
            </a:r>
            <a:endParaRPr lang="en-US" sz="2400" dirty="0"/>
          </a:p>
          <a:p>
            <a:pPr lvl="0" algn="r" rtl="1"/>
            <a:r>
              <a:rPr lang="ar-EG" sz="2400" dirty="0"/>
              <a:t>3- الحركة النابعة من توالى اللقطات </a:t>
            </a:r>
            <a:endParaRPr lang="en-US" sz="2000" dirty="0"/>
          </a:p>
          <a:p>
            <a:pPr algn="r" rtl="1"/>
            <a:r>
              <a:rPr lang="ar-EG" sz="2800" b="1" u="sng" dirty="0">
                <a:solidFill>
                  <a:schemeClr val="tx2"/>
                </a:solidFill>
              </a:rPr>
              <a:t>حركة المرئيات</a:t>
            </a:r>
            <a:r>
              <a:rPr lang="ar-EG" sz="2800" u="sng" dirty="0">
                <a:solidFill>
                  <a:schemeClr val="tx2"/>
                </a:solidFill>
              </a:rPr>
              <a:t> : </a:t>
            </a:r>
          </a:p>
          <a:p>
            <a:pPr algn="r" rtl="1"/>
            <a:r>
              <a:rPr lang="ar-EG" sz="2400" dirty="0"/>
              <a:t>الصورة المتحركة بطبيعتها تحتم وجود كادر وهو الذي يحدد مساحة الشاشة , وهو يبدو كإطار يحصر المرئيات لهذا يجب أن تكون حركة المرئيات محصورة فى هذا الإطار أو الحيز . </a:t>
            </a:r>
            <a:endParaRPr lang="en-US" sz="2000" dirty="0"/>
          </a:p>
          <a:p>
            <a:pPr algn="r" rtl="1"/>
            <a:r>
              <a:rPr lang="ar-EG" sz="2800" b="1" u="sng" dirty="0">
                <a:solidFill>
                  <a:schemeClr val="tx2"/>
                </a:solidFill>
              </a:rPr>
              <a:t>حركة الكاميرا :</a:t>
            </a:r>
            <a:r>
              <a:rPr lang="ar-EG" sz="2800" dirty="0">
                <a:solidFill>
                  <a:srgbClr val="92D050"/>
                </a:solidFill>
              </a:rPr>
              <a:t> </a:t>
            </a:r>
          </a:p>
          <a:p>
            <a:pPr algn="r" rtl="1"/>
            <a:r>
              <a:rPr lang="ar-EG" sz="2400" dirty="0"/>
              <a:t>فهناك نوعان من الحركات بالنسبه للكاميرا هما : حركة الكاميرا وهر ثابته على الحامل , وحركة تنتقل فيها الكاميرا من مكانها .</a:t>
            </a:r>
            <a:endParaRPr lang="en-US" sz="2400" dirty="0"/>
          </a:p>
          <a:p>
            <a:pPr algn="r" rtl="1"/>
            <a:r>
              <a:rPr lang="ar-EG" sz="2800" b="1" u="sng" dirty="0">
                <a:solidFill>
                  <a:schemeClr val="tx2"/>
                </a:solidFill>
              </a:rPr>
              <a:t>الكاميرا وهي </a:t>
            </a:r>
            <a:r>
              <a:rPr lang="ar-EG" sz="2800" b="1" u="sng" dirty="0" err="1">
                <a:solidFill>
                  <a:schemeClr val="tx2"/>
                </a:solidFill>
              </a:rPr>
              <a:t>ثابته</a:t>
            </a:r>
            <a:r>
              <a:rPr lang="ar-EG" sz="2800" b="1" u="sng" dirty="0">
                <a:solidFill>
                  <a:schemeClr val="tx2"/>
                </a:solidFill>
              </a:rPr>
              <a:t> على الحامل : </a:t>
            </a:r>
          </a:p>
          <a:p>
            <a:pPr algn="r" rtl="1"/>
            <a:r>
              <a:rPr lang="ar-EG" sz="2400" dirty="0"/>
              <a:t>ونعنى هنا بحركة الكاميرا أي حركة رأس الكاميرا </a:t>
            </a:r>
            <a:r>
              <a:rPr lang="en-US" sz="2400" dirty="0"/>
              <a:t>Moving the camera head</a:t>
            </a:r>
            <a:r>
              <a:rPr lang="ar-EG" sz="2400" dirty="0"/>
              <a:t> ونقصد بذلك حركة الكاميرا فوق محورها بينما </a:t>
            </a:r>
            <a:r>
              <a:rPr lang="ar-EG" sz="2400" dirty="0" err="1"/>
              <a:t>هى</a:t>
            </a:r>
            <a:r>
              <a:rPr lang="ar-EG" sz="2400" dirty="0"/>
              <a:t> ثابتة </a:t>
            </a:r>
            <a:r>
              <a:rPr lang="ar-EG" sz="2400" dirty="0" err="1"/>
              <a:t>فى</a:t>
            </a:r>
            <a:r>
              <a:rPr lang="ar-EG" sz="2400" dirty="0"/>
              <a:t> مكانها تماما أي دون تحريك الحامل بأي حال من الأحوال للتقدم إلى الأمام أو للخلف أو السير </a:t>
            </a:r>
            <a:r>
              <a:rPr lang="ar-EG" sz="2400" dirty="0" err="1"/>
              <a:t>بها</a:t>
            </a:r>
            <a:r>
              <a:rPr lang="ar-EG" sz="2400" dirty="0"/>
              <a:t> لليمين أو لليسار </a:t>
            </a:r>
            <a:r>
              <a:rPr lang="ar-EG" sz="2400" dirty="0" err="1"/>
              <a:t>أثناؤ</a:t>
            </a:r>
            <a:r>
              <a:rPr lang="ar-EG" sz="2400" dirty="0"/>
              <a:t> التصوير . </a:t>
            </a:r>
          </a:p>
        </p:txBody>
      </p:sp>
    </p:spTree>
    <p:extLst>
      <p:ext uri="{BB962C8B-B14F-4D97-AF65-F5344CB8AC3E}">
        <p14:creationId xmlns:p14="http://schemas.microsoft.com/office/powerpoint/2010/main" val="2798881531"/>
      </p:ext>
    </p:extLst>
  </p:cSld>
  <p:clrMapOvr>
    <a:masterClrMapping/>
  </p:clrMapOvr>
  <p:transition spd="slow">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8" presetClass="entr" presetSubtype="0" accel="5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2"/>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2"/>
                                        </p:tgtEl>
                                        <p:attrNameLst>
                                          <p:attrName>ppt_y</p:attrName>
                                        </p:attrNameLst>
                                      </p:cBhvr>
                                      <p:tavLst>
                                        <p:tav tm="0">
                                          <p:val>
                                            <p:strVal val="#ppt_y"/>
                                          </p:val>
                                        </p:tav>
                                        <p:tav tm="100000">
                                          <p:val>
                                            <p:strVal val="#ppt_y"/>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7" presetClass="entr" presetSubtype="0" fill="hold" nodeType="clickEffect">
                                  <p:stCondLst>
                                    <p:cond delay="0"/>
                                  </p:stCondLst>
                                  <p:iterate type="lt">
                                    <p:tmPct val="50000"/>
                                  </p:iterate>
                                  <p:childTnLst>
                                    <p:set>
                                      <p:cBhvr>
                                        <p:cTn id="14" dur="1" fill="hold">
                                          <p:stCondLst>
                                            <p:cond delay="0"/>
                                          </p:stCondLst>
                                        </p:cTn>
                                        <p:tgtEl>
                                          <p:spTgt spid="3">
                                            <p:txEl>
                                              <p:pRg st="0" end="0"/>
                                            </p:txEl>
                                          </p:spTgt>
                                        </p:tgtEl>
                                        <p:attrNameLst>
                                          <p:attrName>style.visibility</p:attrName>
                                        </p:attrNameLst>
                                      </p:cBhvr>
                                      <p:to>
                                        <p:strVal val="visible"/>
                                      </p:to>
                                    </p:set>
                                    <p:anim calcmode="discrete" valueType="clr">
                                      <p:cBhvr override="childStyle">
                                        <p:cTn id="15" dur="500"/>
                                        <p:tgtEl>
                                          <p:spTgt spid="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6" dur="500"/>
                                        <p:tgtEl>
                                          <p:spTgt spid="3">
                                            <p:txEl>
                                              <p:pRg st="0" end="0"/>
                                            </p:txEl>
                                          </p:spTgt>
                                        </p:tgtEl>
                                        <p:attrNameLst>
                                          <p:attrName>fillcolor</p:attrName>
                                        </p:attrNameLst>
                                      </p:cBhvr>
                                      <p:tavLst>
                                        <p:tav tm="0">
                                          <p:val>
                                            <p:clrVal>
                                              <a:schemeClr val="accent2"/>
                                            </p:clrVal>
                                          </p:val>
                                        </p:tav>
                                        <p:tav tm="50000">
                                          <p:val>
                                            <p:clrVal>
                                              <a:schemeClr val="hlink"/>
                                            </p:clrVal>
                                          </p:val>
                                        </p:tav>
                                      </p:tavLst>
                                    </p:anim>
                                    <p:set>
                                      <p:cBhvr>
                                        <p:cTn id="17" dur="500"/>
                                        <p:tgtEl>
                                          <p:spTgt spid="3">
                                            <p:txEl>
                                              <p:pRg st="0" end="0"/>
                                            </p:txEl>
                                          </p:spTgt>
                                        </p:tgtEl>
                                        <p:attrNameLst>
                                          <p:attrName>fill.type</p:attrName>
                                        </p:attrNameLst>
                                      </p:cBhvr>
                                      <p:to>
                                        <p:strVal val="solid"/>
                                      </p:to>
                                    </p:set>
                                  </p:childTnLst>
                                </p:cTn>
                              </p:par>
                            </p:childTnLst>
                          </p:cTn>
                        </p:par>
                      </p:childTnLst>
                    </p:cTn>
                  </p:par>
                  <p:par>
                    <p:cTn id="18" fill="hold">
                      <p:stCondLst>
                        <p:cond delay="indefinite"/>
                      </p:stCondLst>
                      <p:childTnLst>
                        <p:par>
                          <p:cTn id="19" fill="hold">
                            <p:stCondLst>
                              <p:cond delay="0"/>
                            </p:stCondLst>
                            <p:childTnLst>
                              <p:par>
                                <p:cTn id="20" presetID="47"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1000"/>
                                        <p:tgtEl>
                                          <p:spTgt spid="3">
                                            <p:txEl>
                                              <p:pRg st="1" end="1"/>
                                            </p:txEl>
                                          </p:spTgt>
                                        </p:tgtEl>
                                      </p:cBhvr>
                                    </p:animEffect>
                                    <p:anim calcmode="lin" valueType="num">
                                      <p:cBhvr>
                                        <p:cTn id="2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7" presetClass="entr" presetSubtype="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fade">
                                      <p:cBhvr>
                                        <p:cTn id="29" dur="1000"/>
                                        <p:tgtEl>
                                          <p:spTgt spid="3">
                                            <p:txEl>
                                              <p:pRg st="2" end="2"/>
                                            </p:txEl>
                                          </p:spTgt>
                                        </p:tgtEl>
                                      </p:cBhvr>
                                    </p:animEffect>
                                    <p:anim calcmode="lin" valueType="num">
                                      <p:cBhvr>
                                        <p:cTn id="3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7" presetClass="entr" presetSubtype="0" fill="hold"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fade">
                                      <p:cBhvr>
                                        <p:cTn id="36" dur="1000"/>
                                        <p:tgtEl>
                                          <p:spTgt spid="3">
                                            <p:txEl>
                                              <p:pRg st="3" end="3"/>
                                            </p:txEl>
                                          </p:spTgt>
                                        </p:tgtEl>
                                      </p:cBhvr>
                                    </p:animEffect>
                                    <p:anim calcmode="lin" valueType="num">
                                      <p:cBhvr>
                                        <p:cTn id="3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nodeType="clickEffect">
                                  <p:stCondLst>
                                    <p:cond delay="0"/>
                                  </p:stCondLst>
                                  <p:iterate type="lt">
                                    <p:tmPct val="5000"/>
                                  </p:iterate>
                                  <p:childTnLst>
                                    <p:set>
                                      <p:cBhvr>
                                        <p:cTn id="42" dur="1" fill="hold">
                                          <p:stCondLst>
                                            <p:cond delay="0"/>
                                          </p:stCondLst>
                                        </p:cTn>
                                        <p:tgtEl>
                                          <p:spTgt spid="3">
                                            <p:txEl>
                                              <p:pRg st="4" end="4"/>
                                            </p:txEl>
                                          </p:spTgt>
                                        </p:tgtEl>
                                        <p:attrNameLst>
                                          <p:attrName>style.visibility</p:attrName>
                                        </p:attrNameLst>
                                      </p:cBhvr>
                                      <p:to>
                                        <p:strVal val="visible"/>
                                      </p:to>
                                    </p:set>
                                    <p:anim calcmode="lin" valueType="num">
                                      <p:cBhvr>
                                        <p:cTn id="43"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4"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45"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46" dur="1000"/>
                                        <p:tgtEl>
                                          <p:spTgt spid="3">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4" fill="hold" nodeType="click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animEffect transition="in" filter="slide(fromBottom)">
                                      <p:cBhvr>
                                        <p:cTn id="51" dur="1000"/>
                                        <p:tgtEl>
                                          <p:spTgt spid="3">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1" presetClass="entr" presetSubtype="0" fill="hold" nodeType="clickEffect">
                                  <p:stCondLst>
                                    <p:cond delay="0"/>
                                  </p:stCondLst>
                                  <p:iterate type="lt">
                                    <p:tmPct val="5000"/>
                                  </p:iterate>
                                  <p:childTnLst>
                                    <p:set>
                                      <p:cBhvr>
                                        <p:cTn id="55" dur="1" fill="hold">
                                          <p:stCondLst>
                                            <p:cond delay="0"/>
                                          </p:stCondLst>
                                        </p:cTn>
                                        <p:tgtEl>
                                          <p:spTgt spid="3">
                                            <p:txEl>
                                              <p:pRg st="6" end="6"/>
                                            </p:txEl>
                                          </p:spTgt>
                                        </p:tgtEl>
                                        <p:attrNameLst>
                                          <p:attrName>style.visibility</p:attrName>
                                        </p:attrNameLst>
                                      </p:cBhvr>
                                      <p:to>
                                        <p:strVal val="visible"/>
                                      </p:to>
                                    </p:set>
                                    <p:anim calcmode="lin" valueType="num">
                                      <p:cBhvr>
                                        <p:cTn id="56" dur="1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57" dur="1000" fill="hold"/>
                                        <p:tgtEl>
                                          <p:spTgt spid="3">
                                            <p:txEl>
                                              <p:pRg st="6" end="6"/>
                                            </p:txEl>
                                          </p:spTgt>
                                        </p:tgtEl>
                                        <p:attrNameLst>
                                          <p:attrName>ppt_h</p:attrName>
                                        </p:attrNameLst>
                                      </p:cBhvr>
                                      <p:tavLst>
                                        <p:tav tm="0">
                                          <p:val>
                                            <p:fltVal val="0"/>
                                          </p:val>
                                        </p:tav>
                                        <p:tav tm="100000">
                                          <p:val>
                                            <p:strVal val="#ppt_h"/>
                                          </p:val>
                                        </p:tav>
                                      </p:tavLst>
                                    </p:anim>
                                    <p:anim calcmode="lin" valueType="num">
                                      <p:cBhvr>
                                        <p:cTn id="58" dur="1000" fill="hold"/>
                                        <p:tgtEl>
                                          <p:spTgt spid="3">
                                            <p:txEl>
                                              <p:pRg st="6" end="6"/>
                                            </p:txEl>
                                          </p:spTgt>
                                        </p:tgtEl>
                                        <p:attrNameLst>
                                          <p:attrName>style.rotation</p:attrName>
                                        </p:attrNameLst>
                                      </p:cBhvr>
                                      <p:tavLst>
                                        <p:tav tm="0">
                                          <p:val>
                                            <p:fltVal val="90"/>
                                          </p:val>
                                        </p:tav>
                                        <p:tav tm="100000">
                                          <p:val>
                                            <p:fltVal val="0"/>
                                          </p:val>
                                        </p:tav>
                                      </p:tavLst>
                                    </p:anim>
                                    <p:animEffect transition="in" filter="fade">
                                      <p:cBhvr>
                                        <p:cTn id="59" dur="1000"/>
                                        <p:tgtEl>
                                          <p:spTgt spid="3">
                                            <p:txEl>
                                              <p:pRg st="6" end="6"/>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2" presetClass="entr" presetSubtype="8" fill="hold" nodeType="clickEffect">
                                  <p:stCondLst>
                                    <p:cond delay="0"/>
                                  </p:stCondLst>
                                  <p:childTnLst>
                                    <p:set>
                                      <p:cBhvr>
                                        <p:cTn id="63" dur="1" fill="hold">
                                          <p:stCondLst>
                                            <p:cond delay="0"/>
                                          </p:stCondLst>
                                        </p:cTn>
                                        <p:tgtEl>
                                          <p:spTgt spid="3">
                                            <p:txEl>
                                              <p:pRg st="7" end="7"/>
                                            </p:txEl>
                                          </p:spTgt>
                                        </p:tgtEl>
                                        <p:attrNameLst>
                                          <p:attrName>style.visibility</p:attrName>
                                        </p:attrNameLst>
                                      </p:cBhvr>
                                      <p:to>
                                        <p:strVal val="visible"/>
                                      </p:to>
                                    </p:set>
                                    <p:animEffect transition="in" filter="slide(fromLeft)">
                                      <p:cBhvr>
                                        <p:cTn id="64" dur="1000"/>
                                        <p:tgtEl>
                                          <p:spTgt spid="3">
                                            <p:txEl>
                                              <p:pRg st="7" end="7"/>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1" presetClass="entr" presetSubtype="0" fill="hold" nodeType="clickEffect">
                                  <p:stCondLst>
                                    <p:cond delay="0"/>
                                  </p:stCondLst>
                                  <p:iterate type="lt">
                                    <p:tmPct val="5000"/>
                                  </p:iterate>
                                  <p:childTnLst>
                                    <p:set>
                                      <p:cBhvr>
                                        <p:cTn id="68" dur="1" fill="hold">
                                          <p:stCondLst>
                                            <p:cond delay="0"/>
                                          </p:stCondLst>
                                        </p:cTn>
                                        <p:tgtEl>
                                          <p:spTgt spid="3">
                                            <p:txEl>
                                              <p:pRg st="8" end="8"/>
                                            </p:txEl>
                                          </p:spTgt>
                                        </p:tgtEl>
                                        <p:attrNameLst>
                                          <p:attrName>style.visibility</p:attrName>
                                        </p:attrNameLst>
                                      </p:cBhvr>
                                      <p:to>
                                        <p:strVal val="visible"/>
                                      </p:to>
                                    </p:set>
                                    <p:anim calcmode="lin" valueType="num">
                                      <p:cBhvr>
                                        <p:cTn id="69" dur="1000" fill="hold"/>
                                        <p:tgtEl>
                                          <p:spTgt spid="3">
                                            <p:txEl>
                                              <p:pRg st="8" end="8"/>
                                            </p:txEl>
                                          </p:spTgt>
                                        </p:tgtEl>
                                        <p:attrNameLst>
                                          <p:attrName>ppt_w</p:attrName>
                                        </p:attrNameLst>
                                      </p:cBhvr>
                                      <p:tavLst>
                                        <p:tav tm="0">
                                          <p:val>
                                            <p:fltVal val="0"/>
                                          </p:val>
                                        </p:tav>
                                        <p:tav tm="100000">
                                          <p:val>
                                            <p:strVal val="#ppt_w"/>
                                          </p:val>
                                        </p:tav>
                                      </p:tavLst>
                                    </p:anim>
                                    <p:anim calcmode="lin" valueType="num">
                                      <p:cBhvr>
                                        <p:cTn id="70" dur="1000" fill="hold"/>
                                        <p:tgtEl>
                                          <p:spTgt spid="3">
                                            <p:txEl>
                                              <p:pRg st="8" end="8"/>
                                            </p:txEl>
                                          </p:spTgt>
                                        </p:tgtEl>
                                        <p:attrNameLst>
                                          <p:attrName>ppt_h</p:attrName>
                                        </p:attrNameLst>
                                      </p:cBhvr>
                                      <p:tavLst>
                                        <p:tav tm="0">
                                          <p:val>
                                            <p:fltVal val="0"/>
                                          </p:val>
                                        </p:tav>
                                        <p:tav tm="100000">
                                          <p:val>
                                            <p:strVal val="#ppt_h"/>
                                          </p:val>
                                        </p:tav>
                                      </p:tavLst>
                                    </p:anim>
                                    <p:anim calcmode="lin" valueType="num">
                                      <p:cBhvr>
                                        <p:cTn id="71" dur="1000" fill="hold"/>
                                        <p:tgtEl>
                                          <p:spTgt spid="3">
                                            <p:txEl>
                                              <p:pRg st="8" end="8"/>
                                            </p:txEl>
                                          </p:spTgt>
                                        </p:tgtEl>
                                        <p:attrNameLst>
                                          <p:attrName>style.rotation</p:attrName>
                                        </p:attrNameLst>
                                      </p:cBhvr>
                                      <p:tavLst>
                                        <p:tav tm="0">
                                          <p:val>
                                            <p:fltVal val="90"/>
                                          </p:val>
                                        </p:tav>
                                        <p:tav tm="100000">
                                          <p:val>
                                            <p:fltVal val="0"/>
                                          </p:val>
                                        </p:tav>
                                      </p:tavLst>
                                    </p:anim>
                                    <p:animEffect transition="in" filter="fade">
                                      <p:cBhvr>
                                        <p:cTn id="72" dur="1000"/>
                                        <p:tgtEl>
                                          <p:spTgt spid="3">
                                            <p:txEl>
                                              <p:pRg st="8" end="8"/>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2" presetClass="entr" presetSubtype="1" fill="hold" nodeType="clickEffect">
                                  <p:stCondLst>
                                    <p:cond delay="0"/>
                                  </p:stCondLst>
                                  <p:childTnLst>
                                    <p:set>
                                      <p:cBhvr>
                                        <p:cTn id="76" dur="1" fill="hold">
                                          <p:stCondLst>
                                            <p:cond delay="0"/>
                                          </p:stCondLst>
                                        </p:cTn>
                                        <p:tgtEl>
                                          <p:spTgt spid="3">
                                            <p:txEl>
                                              <p:pRg st="9" end="9"/>
                                            </p:txEl>
                                          </p:spTgt>
                                        </p:tgtEl>
                                        <p:attrNameLst>
                                          <p:attrName>style.visibility</p:attrName>
                                        </p:attrNameLst>
                                      </p:cBhvr>
                                      <p:to>
                                        <p:strVal val="visible"/>
                                      </p:to>
                                    </p:set>
                                    <p:animEffect transition="in" filter="slide(fromTop)">
                                      <p:cBhvr>
                                        <p:cTn id="7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73740" y="194938"/>
            <a:ext cx="8937523" cy="4278094"/>
          </a:xfrm>
          <a:prstGeom prst="rect">
            <a:avLst/>
          </a:prstGeom>
          <a:noFill/>
        </p:spPr>
        <p:txBody>
          <a:bodyPr wrap="square" rtlCol="1">
            <a:spAutoFit/>
          </a:bodyPr>
          <a:lstStyle/>
          <a:p>
            <a:pPr algn="r" rtl="1"/>
            <a:r>
              <a:rPr lang="ar-EG" sz="4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وهذا النوع له صورتين هما :</a:t>
            </a:r>
            <a:endParaRPr lang="en-US" sz="2000" dirty="0"/>
          </a:p>
          <a:p>
            <a:pPr algn="r" rtl="1"/>
            <a:r>
              <a:rPr lang="ar-EG" sz="3200" b="1" u="sng" dirty="0">
                <a:solidFill>
                  <a:schemeClr val="tx2"/>
                </a:solidFill>
              </a:rPr>
              <a:t>أ / الحركة الأفقية </a:t>
            </a:r>
            <a:r>
              <a:rPr lang="en-US" sz="3200" b="1" u="sng" dirty="0">
                <a:solidFill>
                  <a:schemeClr val="tx2"/>
                </a:solidFill>
              </a:rPr>
              <a:t>Pan movement </a:t>
            </a:r>
            <a:endParaRPr lang="ar-EG" sz="3200" b="1" u="sng" dirty="0">
              <a:solidFill>
                <a:schemeClr val="tx2"/>
              </a:solidFill>
            </a:endParaRPr>
          </a:p>
          <a:p>
            <a:pPr algn="r" rtl="1"/>
            <a:r>
              <a:rPr lang="ar-EG" sz="2000" b="1" dirty="0"/>
              <a:t>وهى حركة الكاميرا حول محورها إلى اليمين </a:t>
            </a:r>
            <a:r>
              <a:rPr lang="en-US" sz="2000" b="1" dirty="0"/>
              <a:t>Pan right</a:t>
            </a:r>
            <a:r>
              <a:rPr lang="ar-EG" sz="2000" b="1" dirty="0"/>
              <a:t> , أو لليسار </a:t>
            </a:r>
            <a:r>
              <a:rPr lang="en-US" sz="2000" b="1" dirty="0"/>
              <a:t>Pan left</a:t>
            </a:r>
            <a:r>
              <a:rPr lang="ar-EG" sz="2000" b="1" dirty="0"/>
              <a:t> , وتستخدم هذه الحركة الأفقية " الاستعراضية " </a:t>
            </a:r>
            <a:r>
              <a:rPr lang="ar-EG" sz="2000" b="1" dirty="0" err="1"/>
              <a:t>فى</a:t>
            </a:r>
            <a:r>
              <a:rPr lang="ar-EG" sz="2000" b="1" dirty="0"/>
              <a:t> عدد من </a:t>
            </a:r>
            <a:r>
              <a:rPr lang="ar-EG" sz="2000" b="1" dirty="0" err="1"/>
              <a:t>الاغراض</a:t>
            </a:r>
            <a:r>
              <a:rPr lang="ar-EG" sz="2000" b="1" dirty="0"/>
              <a:t> ومنها , وصف المكان حيث يمكن استعراضه عبر مساحة عرضية لاكتشافه والتعرف عليه , وقد تكون الحركة بطيئة </a:t>
            </a:r>
            <a:r>
              <a:rPr lang="ar-EG" sz="2000" b="1" dirty="0" err="1"/>
              <a:t>او</a:t>
            </a:r>
            <a:r>
              <a:rPr lang="ar-EG" sz="2000" b="1" dirty="0"/>
              <a:t> متوسطة السرعة </a:t>
            </a:r>
            <a:r>
              <a:rPr lang="ar-EG" sz="2000" b="1" dirty="0" err="1"/>
              <a:t>او</a:t>
            </a:r>
            <a:r>
              <a:rPr lang="ar-EG" sz="2000" b="1" dirty="0"/>
              <a:t> سريعة جدا , والحركة البطيئة تنتج لنا رؤية ما يظهر </a:t>
            </a:r>
            <a:r>
              <a:rPr lang="ar-EG" sz="2000" b="1" dirty="0" err="1"/>
              <a:t>فى</a:t>
            </a:r>
            <a:r>
              <a:rPr lang="ar-EG" sz="2000" b="1" dirty="0"/>
              <a:t> الكادر بطريقة مربحة للعين مع قدرة على الاستيعاب وذلك بخلاف الحركة المتوسطة السرعة </a:t>
            </a:r>
            <a:r>
              <a:rPr lang="ar-EG" sz="2000" b="1" dirty="0" err="1"/>
              <a:t>التى</a:t>
            </a:r>
            <a:r>
              <a:rPr lang="ar-EG" sz="2000" b="1" dirty="0"/>
              <a:t> غالبا ما ينتج عنها بعض الاهتزازات </a:t>
            </a:r>
            <a:r>
              <a:rPr lang="ar-EG" sz="2000" b="1" dirty="0" err="1"/>
              <a:t>التى</a:t>
            </a:r>
            <a:r>
              <a:rPr lang="ar-EG" sz="2000" b="1" dirty="0"/>
              <a:t> لا تسير الاستيعاب , </a:t>
            </a:r>
            <a:r>
              <a:rPr lang="ar-EG" sz="2000" b="1" dirty="0" err="1"/>
              <a:t>اما</a:t>
            </a:r>
            <a:r>
              <a:rPr lang="ar-EG" sz="2000" b="1" dirty="0"/>
              <a:t> الحركة السريعة جدا " الخاطفة " </a:t>
            </a:r>
            <a:r>
              <a:rPr lang="ar-EG" sz="2000" b="1" dirty="0" err="1"/>
              <a:t>فهى</a:t>
            </a:r>
            <a:r>
              <a:rPr lang="ar-EG" sz="2000" b="1" dirty="0"/>
              <a:t> تنقلنا من موضوع </a:t>
            </a:r>
            <a:r>
              <a:rPr lang="ar-EG" sz="2000" b="1" dirty="0" err="1"/>
              <a:t>لاخر</a:t>
            </a:r>
            <a:r>
              <a:rPr lang="ar-EG" sz="2000" b="1" dirty="0"/>
              <a:t> بسرعة كبيرة مع تأكيد العلاقة </a:t>
            </a:r>
            <a:r>
              <a:rPr lang="ar-EG" sz="2000" b="1" dirty="0" err="1"/>
              <a:t>فى</a:t>
            </a:r>
            <a:r>
              <a:rPr lang="ar-EG" sz="2000" b="1" dirty="0"/>
              <a:t> الحيز بصرف النظر عما </a:t>
            </a:r>
            <a:r>
              <a:rPr lang="ar-EG" sz="2000" b="1" dirty="0" err="1"/>
              <a:t>بينهاما</a:t>
            </a:r>
            <a:r>
              <a:rPr lang="ar-EG" sz="2000" b="1" dirty="0"/>
              <a:t> من تفاصيل .</a:t>
            </a:r>
            <a:endParaRPr lang="en-US" sz="2000" b="1" dirty="0"/>
          </a:p>
          <a:p>
            <a:pPr algn="r" rtl="1"/>
            <a:r>
              <a:rPr lang="ar-EG" sz="2000" b="1" dirty="0"/>
              <a:t>وهناك الحركة الأفقية المتابعة </a:t>
            </a:r>
            <a:r>
              <a:rPr lang="en-US" sz="2000" b="1" dirty="0"/>
              <a:t>The following pan</a:t>
            </a:r>
            <a:r>
              <a:rPr lang="ar-EG" sz="2000" b="1" dirty="0"/>
              <a:t> وهي حركة مستمرة للكاميرا لتتبع حدث متحرك , وتتحرك الكاميرا بسهولة ويسر حتى يحتفظ بالوضع النسبي للشخص المتحرك </a:t>
            </a:r>
            <a:r>
              <a:rPr lang="ar-EG" sz="2000" b="1" dirty="0" err="1"/>
              <a:t>فى</a:t>
            </a:r>
            <a:r>
              <a:rPr lang="ar-EG" sz="2000" b="1" dirty="0"/>
              <a:t> عدسة الكاميرا ( مثل غزال يركض أو أسد يطارد فريسة ) .</a:t>
            </a:r>
            <a:endParaRPr lang="en-US" sz="2000" b="1" dirty="0"/>
          </a:p>
        </p:txBody>
      </p:sp>
      <p:sp>
        <p:nvSpPr>
          <p:cNvPr id="5" name="مربع نص 4"/>
          <p:cNvSpPr txBox="1"/>
          <p:nvPr/>
        </p:nvSpPr>
        <p:spPr>
          <a:xfrm>
            <a:off x="447949" y="4419919"/>
            <a:ext cx="8501122" cy="2123658"/>
          </a:xfrm>
          <a:prstGeom prst="rect">
            <a:avLst/>
          </a:prstGeom>
          <a:noFill/>
        </p:spPr>
        <p:txBody>
          <a:bodyPr wrap="square" rtlCol="1">
            <a:spAutoFit/>
          </a:bodyPr>
          <a:lstStyle/>
          <a:p>
            <a:pPr algn="r" rtl="1"/>
            <a:r>
              <a:rPr lang="ar-EG" sz="3200" b="1" u="sng" dirty="0">
                <a:solidFill>
                  <a:schemeClr val="tx2"/>
                </a:solidFill>
              </a:rPr>
              <a:t>ب / الحركة الرأسية </a:t>
            </a:r>
            <a:r>
              <a:rPr lang="en-US" sz="3200" b="1" u="sng" dirty="0">
                <a:solidFill>
                  <a:schemeClr val="tx2"/>
                </a:solidFill>
              </a:rPr>
              <a:t>Tilt movement</a:t>
            </a:r>
          </a:p>
          <a:p>
            <a:pPr algn="r" rtl="1"/>
            <a:r>
              <a:rPr lang="ar-EG" sz="2000" b="1" dirty="0">
                <a:solidFill>
                  <a:schemeClr val="accent4"/>
                </a:solidFill>
              </a:rPr>
              <a:t>وهي حركة الكاميرا حول محورها </a:t>
            </a:r>
            <a:r>
              <a:rPr lang="ar-EG" sz="2000" b="1" dirty="0" err="1">
                <a:solidFill>
                  <a:schemeClr val="accent4"/>
                </a:solidFill>
              </a:rPr>
              <a:t>الى</a:t>
            </a:r>
            <a:r>
              <a:rPr lang="ar-EG" sz="2000" b="1" dirty="0">
                <a:solidFill>
                  <a:schemeClr val="accent4"/>
                </a:solidFill>
              </a:rPr>
              <a:t> </a:t>
            </a:r>
            <a:r>
              <a:rPr lang="ar-EG" sz="2000" b="1" dirty="0" err="1">
                <a:solidFill>
                  <a:schemeClr val="accent4"/>
                </a:solidFill>
              </a:rPr>
              <a:t>اعلى</a:t>
            </a:r>
            <a:r>
              <a:rPr lang="ar-EG" sz="2000" b="1" dirty="0">
                <a:solidFill>
                  <a:schemeClr val="accent4"/>
                </a:solidFill>
              </a:rPr>
              <a:t>  </a:t>
            </a:r>
            <a:r>
              <a:rPr lang="en-US" sz="2000" b="1" dirty="0">
                <a:solidFill>
                  <a:schemeClr val="accent4"/>
                </a:solidFill>
              </a:rPr>
              <a:t>Tilt up</a:t>
            </a:r>
            <a:r>
              <a:rPr lang="ar-EG" sz="2000" b="1" dirty="0">
                <a:solidFill>
                  <a:schemeClr val="accent4"/>
                </a:solidFill>
              </a:rPr>
              <a:t> ا والى </a:t>
            </a:r>
            <a:r>
              <a:rPr lang="ar-EG" sz="2000" b="1" dirty="0" err="1">
                <a:solidFill>
                  <a:schemeClr val="accent4"/>
                </a:solidFill>
              </a:rPr>
              <a:t>اسفل</a:t>
            </a:r>
            <a:r>
              <a:rPr lang="ar-EG" sz="2000" b="1" dirty="0">
                <a:solidFill>
                  <a:schemeClr val="accent4"/>
                </a:solidFill>
              </a:rPr>
              <a:t> </a:t>
            </a:r>
            <a:r>
              <a:rPr lang="en-US" sz="2000" b="1" dirty="0">
                <a:solidFill>
                  <a:schemeClr val="accent4"/>
                </a:solidFill>
              </a:rPr>
              <a:t>tilt down</a:t>
            </a:r>
            <a:r>
              <a:rPr lang="ar-EG" sz="2000" b="1" dirty="0">
                <a:solidFill>
                  <a:schemeClr val="accent4"/>
                </a:solidFill>
              </a:rPr>
              <a:t> وتتفق الحركة الرأسية مع الحركة الأفقية من ناحية السرعة والبطء , ويمكن استخدام هذه الحركة </a:t>
            </a:r>
            <a:r>
              <a:rPr lang="ar-EG" sz="2000" b="1" dirty="0" err="1">
                <a:solidFill>
                  <a:schemeClr val="accent4"/>
                </a:solidFill>
              </a:rPr>
              <a:t>فى</a:t>
            </a:r>
            <a:r>
              <a:rPr lang="ar-EG" sz="2000" b="1" dirty="0">
                <a:solidFill>
                  <a:schemeClr val="accent4"/>
                </a:solidFill>
              </a:rPr>
              <a:t> الربط بين موضوعين </a:t>
            </a:r>
            <a:r>
              <a:rPr lang="ar-EG" sz="2000" b="1" dirty="0" err="1">
                <a:solidFill>
                  <a:schemeClr val="accent4"/>
                </a:solidFill>
              </a:rPr>
              <a:t>او</a:t>
            </a:r>
            <a:r>
              <a:rPr lang="ar-EG" sz="2000" b="1" dirty="0">
                <a:solidFill>
                  <a:schemeClr val="accent4"/>
                </a:solidFill>
              </a:rPr>
              <a:t> مكانين , كما تستخدم لتعميق </a:t>
            </a:r>
            <a:r>
              <a:rPr lang="ar-EG" sz="2000" b="1" dirty="0" err="1">
                <a:solidFill>
                  <a:schemeClr val="accent4"/>
                </a:solidFill>
              </a:rPr>
              <a:t>الاحساس</a:t>
            </a:r>
            <a:r>
              <a:rPr lang="ar-EG" sz="2000" b="1" dirty="0">
                <a:solidFill>
                  <a:schemeClr val="accent4"/>
                </a:solidFill>
              </a:rPr>
              <a:t> بالارتفاع </a:t>
            </a:r>
            <a:r>
              <a:rPr lang="ar-EG" sz="2000" b="1" dirty="0" err="1">
                <a:solidFill>
                  <a:schemeClr val="accent4"/>
                </a:solidFill>
              </a:rPr>
              <a:t>او</a:t>
            </a:r>
            <a:r>
              <a:rPr lang="ar-EG" sz="2000" b="1" dirty="0">
                <a:solidFill>
                  <a:schemeClr val="accent4"/>
                </a:solidFill>
              </a:rPr>
              <a:t> العمق , وتولد الحركة الراسية </a:t>
            </a:r>
            <a:r>
              <a:rPr lang="ar-EG" sz="2000" b="1" dirty="0" err="1">
                <a:solidFill>
                  <a:schemeClr val="accent4"/>
                </a:solidFill>
              </a:rPr>
              <a:t>لاعلى</a:t>
            </a:r>
            <a:r>
              <a:rPr lang="ar-EG" sz="2000" b="1" dirty="0">
                <a:solidFill>
                  <a:schemeClr val="accent4"/>
                </a:solidFill>
              </a:rPr>
              <a:t> اهتماما متزايدا لدى المشاهد وتجعله </a:t>
            </a:r>
            <a:r>
              <a:rPr lang="ar-EG" sz="2000" b="1" dirty="0" err="1">
                <a:solidFill>
                  <a:schemeClr val="accent4"/>
                </a:solidFill>
              </a:rPr>
              <a:t>فى</a:t>
            </a:r>
            <a:r>
              <a:rPr lang="ar-EG" sz="2000" b="1" dirty="0">
                <a:solidFill>
                  <a:schemeClr val="accent4"/>
                </a:solidFill>
              </a:rPr>
              <a:t> حالة ترقب , أما الحركة الراسية </a:t>
            </a:r>
            <a:r>
              <a:rPr lang="ar-EG" sz="2000" b="1" dirty="0" err="1">
                <a:solidFill>
                  <a:schemeClr val="accent4"/>
                </a:solidFill>
              </a:rPr>
              <a:t>لاسفل</a:t>
            </a:r>
            <a:r>
              <a:rPr lang="ar-EG" sz="2000" b="1" dirty="0">
                <a:solidFill>
                  <a:schemeClr val="accent4"/>
                </a:solidFill>
              </a:rPr>
              <a:t> </a:t>
            </a:r>
            <a:r>
              <a:rPr lang="ar-EG" sz="2000" b="1" dirty="0" err="1">
                <a:solidFill>
                  <a:schemeClr val="accent4"/>
                </a:solidFill>
              </a:rPr>
              <a:t>فانها</a:t>
            </a:r>
            <a:r>
              <a:rPr lang="ar-EG" sz="2000" b="1" dirty="0">
                <a:solidFill>
                  <a:schemeClr val="accent4"/>
                </a:solidFill>
              </a:rPr>
              <a:t> </a:t>
            </a:r>
            <a:r>
              <a:rPr lang="ar-EG" sz="2000" b="1" dirty="0" err="1">
                <a:solidFill>
                  <a:schemeClr val="accent4"/>
                </a:solidFill>
              </a:rPr>
              <a:t>تودى</a:t>
            </a:r>
            <a:r>
              <a:rPr lang="ar-EG" sz="2000" b="1" dirty="0">
                <a:solidFill>
                  <a:schemeClr val="accent4"/>
                </a:solidFill>
              </a:rPr>
              <a:t> للعكس تماما.</a:t>
            </a:r>
            <a:endParaRPr lang="en-US" sz="2000" b="1" dirty="0">
              <a:solidFill>
                <a:schemeClr val="accent4"/>
              </a:solidFill>
            </a:endParaRPr>
          </a:p>
          <a:p>
            <a:pPr algn="r" rtl="1"/>
            <a:endParaRPr lang="ar-EG" sz="2000" b="1" dirty="0"/>
          </a:p>
        </p:txBody>
      </p:sp>
    </p:spTree>
    <p:extLst>
      <p:ext uri="{BB962C8B-B14F-4D97-AF65-F5344CB8AC3E}">
        <p14:creationId xmlns:p14="http://schemas.microsoft.com/office/powerpoint/2010/main" val="571048283"/>
      </p:ext>
    </p:extLst>
  </p:cSld>
  <p:clrMapOvr>
    <a:masterClrMapping/>
  </p:clrMapOvr>
  <p:transition spd="slow">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nodeType="clickEffect">
                                  <p:stCondLst>
                                    <p:cond delay="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 by="(-#ppt_w*2)" calcmode="lin" valueType="num">
                                      <p:cBhvr rctx="PPT">
                                        <p:cTn id="7" dur="500" autoRev="1" fill="hold">
                                          <p:stCondLst>
                                            <p:cond delay="0"/>
                                          </p:stCondLst>
                                        </p:cTn>
                                        <p:tgtEl>
                                          <p:spTgt spid="2">
                                            <p:txEl>
                                              <p:pRg st="0" end="0"/>
                                            </p:txEl>
                                          </p:spTgt>
                                        </p:tgtEl>
                                        <p:attrNameLst>
                                          <p:attrName>ppt_w</p:attrName>
                                        </p:attrNameLst>
                                      </p:cBhvr>
                                    </p:anim>
                                    <p:anim by="(#ppt_w*0.50)" calcmode="lin" valueType="num">
                                      <p:cBhvr>
                                        <p:cTn id="8" dur="500" decel="50000" autoRev="1" fill="hold">
                                          <p:stCondLst>
                                            <p:cond delay="0"/>
                                          </p:stCondLst>
                                        </p:cTn>
                                        <p:tgtEl>
                                          <p:spTgt spid="2">
                                            <p:txEl>
                                              <p:pRg st="0" end="0"/>
                                            </p:txEl>
                                          </p:spTgt>
                                        </p:tgtEl>
                                        <p:attrNameLst>
                                          <p:attrName>ppt_x</p:attrName>
                                        </p:attrNameLst>
                                      </p:cBhvr>
                                    </p:anim>
                                    <p:anim from="(-#ppt_h/2)" to="(#ppt_y)" calcmode="lin" valueType="num">
                                      <p:cBhvr>
                                        <p:cTn id="9" dur="1000" fill="hold">
                                          <p:stCondLst>
                                            <p:cond delay="0"/>
                                          </p:stCondLst>
                                        </p:cTn>
                                        <p:tgtEl>
                                          <p:spTgt spid="2">
                                            <p:txEl>
                                              <p:pRg st="0" end="0"/>
                                            </p:txEl>
                                          </p:spTgt>
                                        </p:tgtEl>
                                        <p:attrNameLst>
                                          <p:attrName>ppt_y</p:attrName>
                                        </p:attrNameLst>
                                      </p:cBhvr>
                                    </p:anim>
                                    <p:animRot by="21600000">
                                      <p:cBhvr>
                                        <p:cTn id="10" dur="1000" fill="hold">
                                          <p:stCondLst>
                                            <p:cond delay="0"/>
                                          </p:stCondLst>
                                        </p:cTn>
                                        <p:tgtEl>
                                          <p:spTgt spid="2">
                                            <p:txEl>
                                              <p:pRg st="0" end="0"/>
                                            </p:txEl>
                                          </p:spTgt>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43"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fade">
                                      <p:cBhvr>
                                        <p:cTn id="15" dur="100"/>
                                        <p:tgtEl>
                                          <p:spTgt spid="2">
                                            <p:txEl>
                                              <p:pRg st="1" end="1"/>
                                            </p:txEl>
                                          </p:spTgt>
                                        </p:tgtEl>
                                      </p:cBhvr>
                                    </p:animEffect>
                                    <p:anim calcmode="lin" valueType="num">
                                      <p:cBhvr>
                                        <p:cTn id="16" dur="4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7" dur="400" fill="hold"/>
                                        <p:tgtEl>
                                          <p:spTgt spid="2">
                                            <p:txEl>
                                              <p:pRg st="1" end="1"/>
                                            </p:txEl>
                                          </p:spTgt>
                                        </p:tgtEl>
                                        <p:attrNameLst>
                                          <p:attrName>ppt_y</p:attrName>
                                        </p:attrNameLst>
                                      </p:cBhvr>
                                      <p:tavLst>
                                        <p:tav tm="0">
                                          <p:val>
                                            <p:strVal val="#ppt_y+0.31"/>
                                          </p:val>
                                        </p:tav>
                                        <p:tav tm="100000">
                                          <p:val>
                                            <p:strVal val="#ppt_y+0.31"/>
                                          </p:val>
                                        </p:tav>
                                      </p:tavLst>
                                    </p:anim>
                                    <p:anim calcmode="lin" valueType="num">
                                      <p:cBhvr>
                                        <p:cTn id="18" dur="600" decel="50000" fill="hold">
                                          <p:stCondLst>
                                            <p:cond delay="400"/>
                                          </p:stCondLst>
                                        </p:cTn>
                                        <p:tgtEl>
                                          <p:spTgt spid="2">
                                            <p:txEl>
                                              <p:pRg st="1" end="1"/>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9" dur="600" decel="50000" fill="hold">
                                          <p:stCondLst>
                                            <p:cond delay="400"/>
                                          </p:stCondLst>
                                        </p:cTn>
                                        <p:tgtEl>
                                          <p:spTgt spid="2">
                                            <p:txEl>
                                              <p:pRg st="1" end="1"/>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8" presetClass="entr" presetSubtype="16" fill="hold" nodeType="clickEffect">
                                  <p:stCondLst>
                                    <p:cond delay="0"/>
                                  </p:stCondLst>
                                  <p:childTnLst>
                                    <p:set>
                                      <p:cBhvr>
                                        <p:cTn id="23" dur="1" fill="hold">
                                          <p:stCondLst>
                                            <p:cond delay="0"/>
                                          </p:stCondLst>
                                        </p:cTn>
                                        <p:tgtEl>
                                          <p:spTgt spid="2">
                                            <p:txEl>
                                              <p:pRg st="2" end="2"/>
                                            </p:txEl>
                                          </p:spTgt>
                                        </p:tgtEl>
                                        <p:attrNameLst>
                                          <p:attrName>style.visibility</p:attrName>
                                        </p:attrNameLst>
                                      </p:cBhvr>
                                      <p:to>
                                        <p:strVal val="visible"/>
                                      </p:to>
                                    </p:set>
                                    <p:animEffect transition="in" filter="diamond(in)">
                                      <p:cBhvr>
                                        <p:cTn id="24" dur="2000"/>
                                        <p:tgtEl>
                                          <p:spTgt spid="2">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8" presetClass="entr" presetSubtype="16" fill="hold" nodeType="click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animEffect transition="in" filter="diamond(in)">
                                      <p:cBhvr>
                                        <p:cTn id="29" dur="2000"/>
                                        <p:tgtEl>
                                          <p:spTgt spid="2">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3" presetClass="entr" presetSubtype="0" fill="hold" nodeType="clickEffect">
                                  <p:stCondLst>
                                    <p:cond delay="0"/>
                                  </p:stCondLst>
                                  <p:childTnLst>
                                    <p:set>
                                      <p:cBhvr>
                                        <p:cTn id="33" dur="1" fill="hold">
                                          <p:stCondLst>
                                            <p:cond delay="0"/>
                                          </p:stCondLst>
                                        </p:cTn>
                                        <p:tgtEl>
                                          <p:spTgt spid="5">
                                            <p:txEl>
                                              <p:pRg st="0" end="0"/>
                                            </p:txEl>
                                          </p:spTgt>
                                        </p:tgtEl>
                                        <p:attrNameLst>
                                          <p:attrName>style.visibility</p:attrName>
                                        </p:attrNameLst>
                                      </p:cBhvr>
                                      <p:to>
                                        <p:strVal val="visible"/>
                                      </p:to>
                                    </p:set>
                                    <p:animEffect transition="in" filter="fade">
                                      <p:cBhvr>
                                        <p:cTn id="34" dur="100"/>
                                        <p:tgtEl>
                                          <p:spTgt spid="5">
                                            <p:txEl>
                                              <p:pRg st="0" end="0"/>
                                            </p:txEl>
                                          </p:spTgt>
                                        </p:tgtEl>
                                      </p:cBhvr>
                                    </p:animEffect>
                                    <p:anim calcmode="lin" valueType="num">
                                      <p:cBhvr>
                                        <p:cTn id="35" dur="4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36" dur="400" fill="hold"/>
                                        <p:tgtEl>
                                          <p:spTgt spid="5">
                                            <p:txEl>
                                              <p:pRg st="0" end="0"/>
                                            </p:txEl>
                                          </p:spTgt>
                                        </p:tgtEl>
                                        <p:attrNameLst>
                                          <p:attrName>ppt_y</p:attrName>
                                        </p:attrNameLst>
                                      </p:cBhvr>
                                      <p:tavLst>
                                        <p:tav tm="0">
                                          <p:val>
                                            <p:strVal val="#ppt_y+0.31"/>
                                          </p:val>
                                        </p:tav>
                                        <p:tav tm="100000">
                                          <p:val>
                                            <p:strVal val="#ppt_y+0.31"/>
                                          </p:val>
                                        </p:tav>
                                      </p:tavLst>
                                    </p:anim>
                                    <p:anim calcmode="lin" valueType="num">
                                      <p:cBhvr>
                                        <p:cTn id="37" dur="600" decel="50000" fill="hold">
                                          <p:stCondLst>
                                            <p:cond delay="400"/>
                                          </p:stCondLst>
                                        </p:cTn>
                                        <p:tgtEl>
                                          <p:spTgt spid="5">
                                            <p:txEl>
                                              <p:pRg st="0" end="0"/>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8" dur="600" decel="50000" fill="hold">
                                          <p:stCondLst>
                                            <p:cond delay="400"/>
                                          </p:stCondLst>
                                        </p:cTn>
                                        <p:tgtEl>
                                          <p:spTgt spid="5">
                                            <p:txEl>
                                              <p:pRg st="0" end="0"/>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8" presetClass="entr" presetSubtype="16" fill="hold" nodeType="clickEffect">
                                  <p:stCondLst>
                                    <p:cond delay="0"/>
                                  </p:stCondLst>
                                  <p:childTnLst>
                                    <p:set>
                                      <p:cBhvr>
                                        <p:cTn id="42" dur="1" fill="hold">
                                          <p:stCondLst>
                                            <p:cond delay="0"/>
                                          </p:stCondLst>
                                        </p:cTn>
                                        <p:tgtEl>
                                          <p:spTgt spid="5">
                                            <p:txEl>
                                              <p:pRg st="1" end="1"/>
                                            </p:txEl>
                                          </p:spTgt>
                                        </p:tgtEl>
                                        <p:attrNameLst>
                                          <p:attrName>style.visibility</p:attrName>
                                        </p:attrNameLst>
                                      </p:cBhvr>
                                      <p:to>
                                        <p:strVal val="visible"/>
                                      </p:to>
                                    </p:set>
                                    <p:animEffect transition="in" filter="diamond(in)">
                                      <p:cBhvr>
                                        <p:cTn id="43"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0" y="1074934"/>
            <a:ext cx="9036496" cy="4893647"/>
          </a:xfrm>
          <a:prstGeom prst="rect">
            <a:avLst/>
          </a:prstGeom>
          <a:noFill/>
        </p:spPr>
        <p:txBody>
          <a:bodyPr wrap="square" rtlCol="1">
            <a:spAutoFit/>
          </a:bodyPr>
          <a:lstStyle/>
          <a:p>
            <a:pPr algn="r" rtl="1"/>
            <a:r>
              <a:rPr lang="ar-EG" sz="2800" b="1" u="sng" dirty="0">
                <a:solidFill>
                  <a:schemeClr val="tx2"/>
                </a:solidFill>
              </a:rPr>
              <a:t>1 – الحركة </a:t>
            </a:r>
            <a:r>
              <a:rPr lang="ar-EG" sz="2800" b="1" u="sng" dirty="0" err="1">
                <a:solidFill>
                  <a:schemeClr val="tx2"/>
                </a:solidFill>
              </a:rPr>
              <a:t>الى</a:t>
            </a:r>
            <a:r>
              <a:rPr lang="ar-EG" sz="2800" b="1" u="sng" dirty="0">
                <a:solidFill>
                  <a:schemeClr val="tx2"/>
                </a:solidFill>
              </a:rPr>
              <a:t> </a:t>
            </a:r>
            <a:r>
              <a:rPr lang="ar-EG" sz="2800" b="1" u="sng" dirty="0" err="1">
                <a:solidFill>
                  <a:schemeClr val="tx2"/>
                </a:solidFill>
              </a:rPr>
              <a:t>الامام</a:t>
            </a:r>
            <a:r>
              <a:rPr lang="ar-EG" sz="2800" b="1" u="sng" dirty="0">
                <a:solidFill>
                  <a:schemeClr val="tx2"/>
                </a:solidFill>
              </a:rPr>
              <a:t> والى الخلف باستخدام عربة </a:t>
            </a:r>
            <a:r>
              <a:rPr lang="ar-EG" sz="2800" b="1" u="sng" dirty="0" err="1">
                <a:solidFill>
                  <a:schemeClr val="tx2"/>
                </a:solidFill>
              </a:rPr>
              <a:t>ألدوللى</a:t>
            </a:r>
            <a:r>
              <a:rPr lang="ar-EG" sz="2800" b="1" u="sng" dirty="0">
                <a:solidFill>
                  <a:schemeClr val="tx2"/>
                </a:solidFill>
              </a:rPr>
              <a:t> </a:t>
            </a:r>
            <a:r>
              <a:rPr lang="en-US" sz="2800" b="1" u="sng" dirty="0">
                <a:solidFill>
                  <a:schemeClr val="tx2"/>
                </a:solidFill>
              </a:rPr>
              <a:t>dolly out – doll n </a:t>
            </a:r>
          </a:p>
          <a:p>
            <a:pPr algn="r" rtl="1"/>
            <a:r>
              <a:rPr lang="ar-EG" sz="2000" b="1" dirty="0"/>
              <a:t>الحركة الى الامام وهى حركة الكاميرا تدريجيا فى اتجاه المنظور اثناء تصوريه بحث تقل المسافه بينهما شئ فشيئا ويتحول حجم المنظور من اللقطة العامة الى اللقطة المتوسطة الى اللقطة القريبة دون قطع او توقف وهى من الحركات المؤثرة لانها تنتج لقطات تطابق الواقع فتؤاكد الاحساس بالدخول الى المكان وتوجه النظر الى مركز الاهتمام فى كما يمكن الافادة منها واستخدامها فى الكشف عن اعماق الشخصية والتعرف على انفعالاتها ( وذلك عندما تتحرك الكاميرا مقتربة الى الوجه ) .</a:t>
            </a:r>
            <a:endParaRPr lang="en-US" sz="2000" b="1" dirty="0"/>
          </a:p>
          <a:p>
            <a:pPr algn="r" rtl="1"/>
            <a:r>
              <a:rPr lang="ar-EG" sz="2800" b="1" u="sng" dirty="0">
                <a:solidFill>
                  <a:schemeClr val="tx2"/>
                </a:solidFill>
              </a:rPr>
              <a:t>2 – حركة الكاميرا والحامل معا </a:t>
            </a:r>
            <a:r>
              <a:rPr lang="ar-EG" sz="2800" b="1" u="sng" dirty="0" err="1">
                <a:solidFill>
                  <a:schemeClr val="tx2"/>
                </a:solidFill>
              </a:rPr>
              <a:t>فى</a:t>
            </a:r>
            <a:r>
              <a:rPr lang="ar-EG" sz="2800" b="1" u="sng" dirty="0">
                <a:solidFill>
                  <a:schemeClr val="tx2"/>
                </a:solidFill>
              </a:rPr>
              <a:t> شكل مستقيم على قضبان </a:t>
            </a:r>
            <a:r>
              <a:rPr lang="en-US" sz="2800" b="1" u="sng" dirty="0">
                <a:solidFill>
                  <a:schemeClr val="tx2"/>
                </a:solidFill>
              </a:rPr>
              <a:t>Trucking </a:t>
            </a:r>
          </a:p>
          <a:p>
            <a:pPr algn="r" rtl="1"/>
            <a:r>
              <a:rPr lang="ar-EG" sz="2000" b="1" dirty="0"/>
              <a:t>وتعنى حركة الكاميرا والحامل معا على قضبان او مسارات او بشكل مستقيم وتستخدم هذه الحركة المتصلة على المساعدة فى تركيز الاهتمام على موضوع ما وعمل تتابع المناسب لربط الكل بالجزء او الجزء بالكل وتساعد هذه الحركة فى البرامج التعليمية على استكمال عملية التذكر للموضوع المصور.</a:t>
            </a:r>
          </a:p>
          <a:p>
            <a:r>
              <a:rPr lang="ar-EG" sz="2800" b="1" u="sng" dirty="0">
                <a:solidFill>
                  <a:schemeClr val="tx2"/>
                </a:solidFill>
              </a:rPr>
              <a:t>3 -  الحركة المتأرجحة </a:t>
            </a:r>
            <a:endParaRPr lang="en-US" sz="2800" b="1" u="sng" dirty="0">
              <a:solidFill>
                <a:schemeClr val="tx2"/>
              </a:solidFill>
            </a:endParaRPr>
          </a:p>
          <a:p>
            <a:pPr algn="r" rtl="1"/>
            <a:r>
              <a:rPr lang="ar-EG" sz="2000" b="1" dirty="0"/>
              <a:t>وهى حركة </a:t>
            </a:r>
            <a:r>
              <a:rPr lang="ar-EG" sz="2000" b="1" dirty="0" err="1"/>
              <a:t>تهتز</a:t>
            </a:r>
            <a:r>
              <a:rPr lang="ar-EG" sz="2000" b="1" dirty="0"/>
              <a:t> فيها الكاميرا ويمكن </a:t>
            </a:r>
            <a:r>
              <a:rPr lang="ar-EG" sz="2000" b="1" dirty="0" err="1"/>
              <a:t>ان</a:t>
            </a:r>
            <a:r>
              <a:rPr lang="ar-EG" sz="2000" b="1" dirty="0"/>
              <a:t> يتم ذلك بوضع الكاميرا فوق </a:t>
            </a:r>
            <a:r>
              <a:rPr lang="ar-EG" sz="2000" b="1" dirty="0" err="1"/>
              <a:t>ارجوحة</a:t>
            </a:r>
            <a:r>
              <a:rPr lang="ar-EG" sz="2000" b="1" dirty="0"/>
              <a:t> وذلك لتصور لقطات معينة تعبر عن حالات خاصة مثل الرعب </a:t>
            </a:r>
            <a:r>
              <a:rPr lang="ar-EG" sz="2000" b="1" dirty="0" err="1"/>
              <a:t>او</a:t>
            </a:r>
            <a:r>
              <a:rPr lang="ar-EG" sz="2000" b="1" dirty="0"/>
              <a:t> </a:t>
            </a:r>
            <a:r>
              <a:rPr lang="ar-EG" sz="2000" b="1" dirty="0" err="1"/>
              <a:t>الاحساس</a:t>
            </a:r>
            <a:r>
              <a:rPr lang="ar-EG" sz="2000" b="1" dirty="0"/>
              <a:t> بالضياع </a:t>
            </a:r>
            <a:r>
              <a:rPr lang="ar-EG" sz="2000" b="1" dirty="0" err="1"/>
              <a:t>او</a:t>
            </a:r>
            <a:r>
              <a:rPr lang="ar-EG" sz="2000" b="1" dirty="0"/>
              <a:t> الاضطراب والحيرة </a:t>
            </a:r>
            <a:r>
              <a:rPr lang="ar-EG" sz="2000" b="1" dirty="0" err="1"/>
              <a:t>او</a:t>
            </a:r>
            <a:r>
              <a:rPr lang="ar-EG" sz="2000" b="1" dirty="0"/>
              <a:t> القلق على الاختلال </a:t>
            </a:r>
            <a:r>
              <a:rPr lang="ar-EG" sz="2000" b="1" dirty="0" err="1"/>
              <a:t>العقلى</a:t>
            </a:r>
            <a:r>
              <a:rPr lang="ar-EG" sz="2000" b="1" dirty="0"/>
              <a:t> .</a:t>
            </a:r>
          </a:p>
        </p:txBody>
      </p:sp>
      <p:sp>
        <p:nvSpPr>
          <p:cNvPr id="3" name="مربع نص 2"/>
          <p:cNvSpPr txBox="1"/>
          <p:nvPr/>
        </p:nvSpPr>
        <p:spPr>
          <a:xfrm>
            <a:off x="1033065" y="428603"/>
            <a:ext cx="7743234" cy="646331"/>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wrap="square" rtlCol="1">
            <a:spAutoFit/>
          </a:bodyPr>
          <a:lstStyle/>
          <a:p>
            <a:pPr algn="r" rtl="1"/>
            <a:r>
              <a:rPr lang="ar-EG" sz="3600" b="1" dirty="0">
                <a:solidFill>
                  <a:schemeClr val="tx2"/>
                </a:solidFill>
              </a:rPr>
              <a:t>حركة تتنقل فيها الكاميرا والحامل معها : </a:t>
            </a:r>
          </a:p>
        </p:txBody>
      </p:sp>
    </p:spTree>
    <p:extLst>
      <p:ext uri="{BB962C8B-B14F-4D97-AF65-F5344CB8AC3E}">
        <p14:creationId xmlns:p14="http://schemas.microsoft.com/office/powerpoint/2010/main" val="1811822371"/>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40" presetClass="entr" presetSubtype="0" fill="hold" nodeType="clickEffect">
                                  <p:stCondLst>
                                    <p:cond delay="0"/>
                                  </p:stCondLst>
                                  <p:iterate type="lt">
                                    <p:tmPct val="10000"/>
                                  </p:iterate>
                                  <p:childTnLst>
                                    <p:set>
                                      <p:cBhvr>
                                        <p:cTn id="14" dur="1" fill="hold">
                                          <p:stCondLst>
                                            <p:cond delay="0"/>
                                          </p:stCondLst>
                                        </p:cTn>
                                        <p:tgtEl>
                                          <p:spTgt spid="2">
                                            <p:txEl>
                                              <p:pRg st="0" end="0"/>
                                            </p:txEl>
                                          </p:spTgt>
                                        </p:tgtEl>
                                        <p:attrNameLst>
                                          <p:attrName>style.visibility</p:attrName>
                                        </p:attrNameLst>
                                      </p:cBhvr>
                                      <p:to>
                                        <p:strVal val="visible"/>
                                      </p:to>
                                    </p:set>
                                    <p:animEffect transition="in" filter="fade">
                                      <p:cBhvr>
                                        <p:cTn id="15" dur="1000"/>
                                        <p:tgtEl>
                                          <p:spTgt spid="2">
                                            <p:txEl>
                                              <p:pRg st="0" end="0"/>
                                            </p:txEl>
                                          </p:spTgt>
                                        </p:tgtEl>
                                      </p:cBhvr>
                                    </p:animEffect>
                                    <p:anim calcmode="lin" valueType="num">
                                      <p:cBhvr>
                                        <p:cTn id="16" dur="1000" fill="hold"/>
                                        <p:tgtEl>
                                          <p:spTgt spid="2">
                                            <p:txEl>
                                              <p:pRg st="0" end="0"/>
                                            </p:txEl>
                                          </p:spTgt>
                                        </p:tgtEl>
                                        <p:attrNameLst>
                                          <p:attrName>ppt_x</p:attrName>
                                        </p:attrNameLst>
                                      </p:cBhvr>
                                      <p:tavLst>
                                        <p:tav tm="0">
                                          <p:val>
                                            <p:strVal val="#ppt_x-.1"/>
                                          </p:val>
                                        </p:tav>
                                        <p:tav tm="100000">
                                          <p:val>
                                            <p:strVal val="#ppt_x"/>
                                          </p:val>
                                        </p:tav>
                                      </p:tavLst>
                                    </p:anim>
                                    <p:anim calcmode="lin" valueType="num">
                                      <p:cBhvr>
                                        <p:cTn id="17" dur="10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8" presetClass="entr" presetSubtype="9" fill="hold" nodeType="clickEffect">
                                  <p:stCondLst>
                                    <p:cond delay="0"/>
                                  </p:stCondLst>
                                  <p:childTnLst>
                                    <p:set>
                                      <p:cBhvr>
                                        <p:cTn id="21" dur="1" fill="hold">
                                          <p:stCondLst>
                                            <p:cond delay="0"/>
                                          </p:stCondLst>
                                        </p:cTn>
                                        <p:tgtEl>
                                          <p:spTgt spid="2">
                                            <p:txEl>
                                              <p:pRg st="1" end="1"/>
                                            </p:txEl>
                                          </p:spTgt>
                                        </p:tgtEl>
                                        <p:attrNameLst>
                                          <p:attrName>style.visibility</p:attrName>
                                        </p:attrNameLst>
                                      </p:cBhvr>
                                      <p:to>
                                        <p:strVal val="visible"/>
                                      </p:to>
                                    </p:set>
                                    <p:animEffect transition="in" filter="strips(upLeft)">
                                      <p:cBhvr>
                                        <p:cTn id="22" dur="1000"/>
                                        <p:tgtEl>
                                          <p:spTgt spid="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0" presetClass="entr" presetSubtype="0" fill="hold" nodeType="clickEffect">
                                  <p:stCondLst>
                                    <p:cond delay="0"/>
                                  </p:stCondLst>
                                  <p:iterate type="lt">
                                    <p:tmPct val="10000"/>
                                  </p:iterate>
                                  <p:childTnLst>
                                    <p:set>
                                      <p:cBhvr>
                                        <p:cTn id="26" dur="1" fill="hold">
                                          <p:stCondLst>
                                            <p:cond delay="0"/>
                                          </p:stCondLst>
                                        </p:cTn>
                                        <p:tgtEl>
                                          <p:spTgt spid="2">
                                            <p:txEl>
                                              <p:pRg st="2" end="2"/>
                                            </p:txEl>
                                          </p:spTgt>
                                        </p:tgtEl>
                                        <p:attrNameLst>
                                          <p:attrName>style.visibility</p:attrName>
                                        </p:attrNameLst>
                                      </p:cBhvr>
                                      <p:to>
                                        <p:strVal val="visible"/>
                                      </p:to>
                                    </p:set>
                                    <p:animEffect transition="in" filter="fade">
                                      <p:cBhvr>
                                        <p:cTn id="27" dur="1000"/>
                                        <p:tgtEl>
                                          <p:spTgt spid="2">
                                            <p:txEl>
                                              <p:pRg st="2" end="2"/>
                                            </p:txEl>
                                          </p:spTgt>
                                        </p:tgtEl>
                                      </p:cBhvr>
                                    </p:animEffect>
                                    <p:anim calcmode="lin" valueType="num">
                                      <p:cBhvr>
                                        <p:cTn id="28" dur="1000" fill="hold"/>
                                        <p:tgtEl>
                                          <p:spTgt spid="2">
                                            <p:txEl>
                                              <p:pRg st="2" end="2"/>
                                            </p:txEl>
                                          </p:spTgt>
                                        </p:tgtEl>
                                        <p:attrNameLst>
                                          <p:attrName>ppt_x</p:attrName>
                                        </p:attrNameLst>
                                      </p:cBhvr>
                                      <p:tavLst>
                                        <p:tav tm="0">
                                          <p:val>
                                            <p:strVal val="#ppt_x-.1"/>
                                          </p:val>
                                        </p:tav>
                                        <p:tav tm="100000">
                                          <p:val>
                                            <p:strVal val="#ppt_x"/>
                                          </p:val>
                                        </p:tav>
                                      </p:tavLst>
                                    </p:anim>
                                    <p:anim calcmode="lin" valueType="num">
                                      <p:cBhvr>
                                        <p:cTn id="29" dur="10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8" presetClass="entr" presetSubtype="12" fill="hold" nodeType="clickEffect">
                                  <p:stCondLst>
                                    <p:cond delay="0"/>
                                  </p:stCondLst>
                                  <p:childTnLst>
                                    <p:set>
                                      <p:cBhvr>
                                        <p:cTn id="33" dur="1" fill="hold">
                                          <p:stCondLst>
                                            <p:cond delay="0"/>
                                          </p:stCondLst>
                                        </p:cTn>
                                        <p:tgtEl>
                                          <p:spTgt spid="2">
                                            <p:txEl>
                                              <p:pRg st="3" end="3"/>
                                            </p:txEl>
                                          </p:spTgt>
                                        </p:tgtEl>
                                        <p:attrNameLst>
                                          <p:attrName>style.visibility</p:attrName>
                                        </p:attrNameLst>
                                      </p:cBhvr>
                                      <p:to>
                                        <p:strVal val="visible"/>
                                      </p:to>
                                    </p:set>
                                    <p:animEffect transition="in" filter="strips(downLeft)">
                                      <p:cBhvr>
                                        <p:cTn id="34" dur="1000"/>
                                        <p:tgtEl>
                                          <p:spTgt spid="2">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0" presetClass="entr" presetSubtype="0" fill="hold" nodeType="clickEffect">
                                  <p:stCondLst>
                                    <p:cond delay="0"/>
                                  </p:stCondLst>
                                  <p:iterate type="lt">
                                    <p:tmPct val="10000"/>
                                  </p:iterate>
                                  <p:childTnLst>
                                    <p:set>
                                      <p:cBhvr>
                                        <p:cTn id="38" dur="1" fill="hold">
                                          <p:stCondLst>
                                            <p:cond delay="0"/>
                                          </p:stCondLst>
                                        </p:cTn>
                                        <p:tgtEl>
                                          <p:spTgt spid="2">
                                            <p:txEl>
                                              <p:pRg st="4" end="4"/>
                                            </p:txEl>
                                          </p:spTgt>
                                        </p:tgtEl>
                                        <p:attrNameLst>
                                          <p:attrName>style.visibility</p:attrName>
                                        </p:attrNameLst>
                                      </p:cBhvr>
                                      <p:to>
                                        <p:strVal val="visible"/>
                                      </p:to>
                                    </p:set>
                                    <p:animEffect transition="in" filter="fade">
                                      <p:cBhvr>
                                        <p:cTn id="39" dur="1000"/>
                                        <p:tgtEl>
                                          <p:spTgt spid="2">
                                            <p:txEl>
                                              <p:pRg st="4" end="4"/>
                                            </p:txEl>
                                          </p:spTgt>
                                        </p:tgtEl>
                                      </p:cBhvr>
                                    </p:animEffect>
                                    <p:anim calcmode="lin" valueType="num">
                                      <p:cBhvr>
                                        <p:cTn id="40" dur="1000" fill="hold"/>
                                        <p:tgtEl>
                                          <p:spTgt spid="2">
                                            <p:txEl>
                                              <p:pRg st="4" end="4"/>
                                            </p:txEl>
                                          </p:spTgt>
                                        </p:tgtEl>
                                        <p:attrNameLst>
                                          <p:attrName>ppt_x</p:attrName>
                                        </p:attrNameLst>
                                      </p:cBhvr>
                                      <p:tavLst>
                                        <p:tav tm="0">
                                          <p:val>
                                            <p:strVal val="#ppt_x-.1"/>
                                          </p:val>
                                        </p:tav>
                                        <p:tav tm="100000">
                                          <p:val>
                                            <p:strVal val="#ppt_x"/>
                                          </p:val>
                                        </p:tav>
                                      </p:tavLst>
                                    </p:anim>
                                    <p:anim calcmode="lin" valueType="num">
                                      <p:cBhvr>
                                        <p:cTn id="41" dur="1000" fill="hold"/>
                                        <p:tgtEl>
                                          <p:spTgt spid="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8" presetClass="entr" presetSubtype="9" fill="hold" nodeType="clickEffect">
                                  <p:stCondLst>
                                    <p:cond delay="0"/>
                                  </p:stCondLst>
                                  <p:childTnLst>
                                    <p:set>
                                      <p:cBhvr>
                                        <p:cTn id="45" dur="1" fill="hold">
                                          <p:stCondLst>
                                            <p:cond delay="0"/>
                                          </p:stCondLst>
                                        </p:cTn>
                                        <p:tgtEl>
                                          <p:spTgt spid="2">
                                            <p:txEl>
                                              <p:pRg st="5" end="5"/>
                                            </p:txEl>
                                          </p:spTgt>
                                        </p:tgtEl>
                                        <p:attrNameLst>
                                          <p:attrName>style.visibility</p:attrName>
                                        </p:attrNameLst>
                                      </p:cBhvr>
                                      <p:to>
                                        <p:strVal val="visible"/>
                                      </p:to>
                                    </p:set>
                                    <p:animEffect transition="in" filter="strips(upLeft)">
                                      <p:cBhvr>
                                        <p:cTn id="46" dur="10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17988" y="785794"/>
            <a:ext cx="8740294" cy="5632311"/>
          </a:xfrm>
          <a:prstGeom prst="rect">
            <a:avLst/>
          </a:prstGeom>
          <a:noFill/>
        </p:spPr>
        <p:txBody>
          <a:bodyPr wrap="square" rtlCol="1">
            <a:spAutoFit/>
          </a:bodyPr>
          <a:lstStyle/>
          <a:p>
            <a:r>
              <a:rPr lang="ar-EG" sz="2800" b="1" u="sng" dirty="0">
                <a:solidFill>
                  <a:schemeClr val="tx2"/>
                </a:solidFill>
              </a:rPr>
              <a:t>4 – حركة الكاميرا والحامل معا </a:t>
            </a:r>
            <a:r>
              <a:rPr lang="ar-EG" sz="2800" b="1" u="sng" dirty="0" err="1">
                <a:solidFill>
                  <a:schemeClr val="tx2"/>
                </a:solidFill>
              </a:rPr>
              <a:t>لاعلى</a:t>
            </a:r>
            <a:r>
              <a:rPr lang="ar-EG" sz="2800" b="1" u="sng" dirty="0">
                <a:solidFill>
                  <a:schemeClr val="tx2"/>
                </a:solidFill>
              </a:rPr>
              <a:t> </a:t>
            </a:r>
            <a:r>
              <a:rPr lang="ar-EG" sz="2800" b="1" u="sng" dirty="0" err="1">
                <a:solidFill>
                  <a:schemeClr val="tx2"/>
                </a:solidFill>
              </a:rPr>
              <a:t>او</a:t>
            </a:r>
            <a:r>
              <a:rPr lang="ar-EG" sz="2800" b="1" u="sng" dirty="0">
                <a:solidFill>
                  <a:schemeClr val="tx2"/>
                </a:solidFill>
              </a:rPr>
              <a:t> </a:t>
            </a:r>
            <a:r>
              <a:rPr lang="ar-EG" sz="2800" b="1" u="sng" dirty="0" err="1">
                <a:solidFill>
                  <a:schemeClr val="tx2"/>
                </a:solidFill>
              </a:rPr>
              <a:t>لاسفل</a:t>
            </a:r>
            <a:r>
              <a:rPr lang="ar-EG" sz="2800" b="1" u="sng" dirty="0">
                <a:solidFill>
                  <a:schemeClr val="tx2"/>
                </a:solidFill>
              </a:rPr>
              <a:t> على حامل من النوع </a:t>
            </a:r>
            <a:r>
              <a:rPr lang="ar-EG" sz="2800" b="1" u="sng" dirty="0" err="1">
                <a:solidFill>
                  <a:schemeClr val="tx2"/>
                </a:solidFill>
              </a:rPr>
              <a:t>بديستل</a:t>
            </a:r>
            <a:r>
              <a:rPr lang="ar-EG" sz="2800" b="1" u="sng" dirty="0">
                <a:solidFill>
                  <a:schemeClr val="tx2"/>
                </a:solidFill>
              </a:rPr>
              <a:t> </a:t>
            </a:r>
            <a:r>
              <a:rPr lang="en-US" sz="2800" b="1" u="sng" dirty="0">
                <a:solidFill>
                  <a:schemeClr val="tx2"/>
                </a:solidFill>
              </a:rPr>
              <a:t>pedestal up – pedestal down</a:t>
            </a:r>
          </a:p>
          <a:p>
            <a:pPr algn="r" rtl="1"/>
            <a:endParaRPr lang="en-US" sz="2000" dirty="0"/>
          </a:p>
          <a:p>
            <a:pPr algn="r" rtl="1"/>
            <a:r>
              <a:rPr lang="ar-EG" sz="2400" dirty="0"/>
              <a:t>وتعنى حركة حامل الكاميرا </a:t>
            </a:r>
            <a:r>
              <a:rPr lang="ar-EG" sz="2400" dirty="0" err="1"/>
              <a:t>الى</a:t>
            </a:r>
            <a:r>
              <a:rPr lang="ar-EG" sz="2400" dirty="0"/>
              <a:t> </a:t>
            </a:r>
            <a:r>
              <a:rPr lang="ar-EG" sz="2400" dirty="0" err="1"/>
              <a:t>الاعلى</a:t>
            </a:r>
            <a:r>
              <a:rPr lang="ar-EG" sz="2400" dirty="0"/>
              <a:t> </a:t>
            </a:r>
            <a:r>
              <a:rPr lang="ar-EG" sz="2400" dirty="0" err="1"/>
              <a:t>او</a:t>
            </a:r>
            <a:r>
              <a:rPr lang="ar-EG" sz="2400" dirty="0"/>
              <a:t> </a:t>
            </a:r>
            <a:r>
              <a:rPr lang="ar-EG" sz="2400" dirty="0" err="1"/>
              <a:t>الاسفل</a:t>
            </a:r>
            <a:r>
              <a:rPr lang="ar-EG" sz="2400" dirty="0"/>
              <a:t> بالكاميرا بحيث تتناسب اللقطة ومستوى النظر للكاميرا وهذه الحركة </a:t>
            </a:r>
            <a:r>
              <a:rPr lang="ar-EG" sz="2400" dirty="0" err="1"/>
              <a:t>فى</a:t>
            </a:r>
            <a:r>
              <a:rPr lang="ar-EG" sz="2400" dirty="0"/>
              <a:t> الغالب تتم </a:t>
            </a:r>
            <a:r>
              <a:rPr lang="ar-EG" sz="2400" dirty="0" err="1"/>
              <a:t>فى</a:t>
            </a:r>
            <a:r>
              <a:rPr lang="ar-EG" sz="2400" dirty="0"/>
              <a:t> بداية التصوير حيث يحدد المخرج مستوى النظر للقطة </a:t>
            </a:r>
            <a:r>
              <a:rPr lang="ar-EG" sz="2400" dirty="0" err="1"/>
              <a:t>بنائا</a:t>
            </a:r>
            <a:r>
              <a:rPr lang="ar-EG" sz="2400" dirty="0"/>
              <a:t> على الموضوع والهدف منها .</a:t>
            </a:r>
          </a:p>
          <a:p>
            <a:pPr algn="r" rtl="1"/>
            <a:endParaRPr lang="en-US" sz="2000" dirty="0"/>
          </a:p>
          <a:p>
            <a:r>
              <a:rPr lang="ar-EG" sz="2800" b="1" u="sng" dirty="0">
                <a:solidFill>
                  <a:schemeClr val="tx2"/>
                </a:solidFill>
              </a:rPr>
              <a:t>5 – حركة الكاميرا والحامل معا حول الموضوع المصور على شكل قوس </a:t>
            </a:r>
            <a:r>
              <a:rPr lang="en-US" sz="2800" b="1" u="sng" dirty="0">
                <a:solidFill>
                  <a:schemeClr val="tx2"/>
                </a:solidFill>
              </a:rPr>
              <a:t>Arc</a:t>
            </a:r>
            <a:endParaRPr lang="ar-EG" sz="2800" b="1" u="sng" dirty="0">
              <a:solidFill>
                <a:schemeClr val="tx2"/>
              </a:solidFill>
            </a:endParaRPr>
          </a:p>
          <a:p>
            <a:pPr algn="r" rtl="1"/>
            <a:endParaRPr lang="en-US" sz="2000" dirty="0"/>
          </a:p>
          <a:p>
            <a:pPr algn="r" rtl="1"/>
            <a:r>
              <a:rPr lang="ar-EG" sz="2400" dirty="0"/>
              <a:t>وفيها يتم تحريك الكاميرا الفيديو والحامل معا باستعراض الموضوع المصور من </a:t>
            </a:r>
            <a:r>
              <a:rPr lang="ar-EG" sz="2400" dirty="0" err="1"/>
              <a:t>مختلم</a:t>
            </a:r>
            <a:r>
              <a:rPr lang="ar-EG" sz="2400" dirty="0"/>
              <a:t> زواياه وذلك بالدوران حوله بشكل </a:t>
            </a:r>
            <a:r>
              <a:rPr lang="ar-EG" sz="2400" dirty="0" err="1"/>
              <a:t>دائرى</a:t>
            </a:r>
            <a:r>
              <a:rPr lang="ar-EG" sz="2400" dirty="0"/>
              <a:t> </a:t>
            </a:r>
            <a:r>
              <a:rPr lang="ar-EG" sz="2400" dirty="0" err="1"/>
              <a:t>او</a:t>
            </a:r>
            <a:r>
              <a:rPr lang="ar-EG" sz="2400" dirty="0"/>
              <a:t> نصف </a:t>
            </a:r>
            <a:r>
              <a:rPr lang="ar-EG" sz="2400" dirty="0" err="1"/>
              <a:t>دائرى</a:t>
            </a:r>
            <a:r>
              <a:rPr lang="ar-EG" sz="2400" dirty="0"/>
              <a:t> ويتطلب </a:t>
            </a:r>
            <a:r>
              <a:rPr lang="ar-EG" sz="2400" dirty="0" err="1"/>
              <a:t>فى</a:t>
            </a:r>
            <a:r>
              <a:rPr lang="ar-EG" sz="2400" dirty="0"/>
              <a:t> هذه الحالة </a:t>
            </a:r>
            <a:r>
              <a:rPr lang="ar-EG" sz="2400" dirty="0" err="1"/>
              <a:t>ان</a:t>
            </a:r>
            <a:r>
              <a:rPr lang="ar-EG" sz="2400" dirty="0"/>
              <a:t> تكون الكاميرا </a:t>
            </a:r>
            <a:r>
              <a:rPr lang="ar-EG" sz="2400" dirty="0" err="1"/>
              <a:t>محموله</a:t>
            </a:r>
            <a:r>
              <a:rPr lang="ar-EG" sz="2400" dirty="0"/>
              <a:t> على حامل يتحرك بعجلات على سطح مستوى حتى لا يحدث اهتزاز </a:t>
            </a:r>
            <a:r>
              <a:rPr lang="ar-EG" sz="2400" dirty="0" err="1"/>
              <a:t>بالصوره</a:t>
            </a:r>
            <a:r>
              <a:rPr lang="ar-EG" sz="2400" dirty="0"/>
              <a:t> وتستخدم غالبا </a:t>
            </a:r>
            <a:r>
              <a:rPr lang="ar-EG" sz="2400" dirty="0" err="1"/>
              <a:t>لابراز</a:t>
            </a:r>
            <a:r>
              <a:rPr lang="ar-EG" sz="2400" dirty="0"/>
              <a:t> عناصر الديكور </a:t>
            </a:r>
            <a:r>
              <a:rPr lang="ar-EG" sz="2400" dirty="0" err="1"/>
              <a:t>والاعضائه</a:t>
            </a:r>
            <a:r>
              <a:rPr lang="ar-EG" sz="2400" dirty="0"/>
              <a:t> .</a:t>
            </a:r>
            <a:endParaRPr lang="en-US" sz="2400" dirty="0"/>
          </a:p>
          <a:p>
            <a:pPr algn="r" rtl="1"/>
            <a:endParaRPr lang="ar-EG" sz="2000" dirty="0"/>
          </a:p>
        </p:txBody>
      </p:sp>
    </p:spTree>
    <p:extLst>
      <p:ext uri="{BB962C8B-B14F-4D97-AF65-F5344CB8AC3E}">
        <p14:creationId xmlns:p14="http://schemas.microsoft.com/office/powerpoint/2010/main" val="1790155211"/>
      </p:ext>
    </p:extLst>
  </p:cSld>
  <p:clrMapOvr>
    <a:masterClrMapping/>
  </p:clrMapOvr>
  <p:transition spd="slow">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nodeType="clickEffect">
                                  <p:stCondLst>
                                    <p:cond delay="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1"/>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strips(downLeft)">
                                      <p:cBhvr>
                                        <p:cTn id="14" dur="1000"/>
                                        <p:tgtEl>
                                          <p:spTgt spid="2">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0" presetClass="entr" presetSubtype="0" fill="hold" nodeType="clickEffect">
                                  <p:stCondLst>
                                    <p:cond delay="0"/>
                                  </p:stCondLst>
                                  <p:iterate type="lt">
                                    <p:tmPct val="10000"/>
                                  </p:iterate>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1000"/>
                                        <p:tgtEl>
                                          <p:spTgt spid="2">
                                            <p:txEl>
                                              <p:pRg st="4" end="4"/>
                                            </p:txEl>
                                          </p:spTgt>
                                        </p:tgtEl>
                                      </p:cBhvr>
                                    </p:animEffect>
                                    <p:anim calcmode="lin" valueType="num">
                                      <p:cBhvr>
                                        <p:cTn id="20" dur="1000" fill="hold"/>
                                        <p:tgtEl>
                                          <p:spTgt spid="2">
                                            <p:txEl>
                                              <p:pRg st="4" end="4"/>
                                            </p:txEl>
                                          </p:spTgt>
                                        </p:tgtEl>
                                        <p:attrNameLst>
                                          <p:attrName>ppt_x</p:attrName>
                                        </p:attrNameLst>
                                      </p:cBhvr>
                                      <p:tavLst>
                                        <p:tav tm="0">
                                          <p:val>
                                            <p:strVal val="#ppt_x-.1"/>
                                          </p:val>
                                        </p:tav>
                                        <p:tav tm="100000">
                                          <p:val>
                                            <p:strVal val="#ppt_x"/>
                                          </p:val>
                                        </p:tav>
                                      </p:tavLst>
                                    </p:anim>
                                    <p:anim calcmode="lin" valueType="num">
                                      <p:cBhvr>
                                        <p:cTn id="21" dur="1000" fill="hold"/>
                                        <p:tgtEl>
                                          <p:spTgt spid="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8" presetClass="entr" presetSubtype="9" fill="hold" nodeType="clickEffect">
                                  <p:stCondLst>
                                    <p:cond delay="0"/>
                                  </p:stCondLst>
                                  <p:childTnLst>
                                    <p:set>
                                      <p:cBhvr>
                                        <p:cTn id="25" dur="1" fill="hold">
                                          <p:stCondLst>
                                            <p:cond delay="0"/>
                                          </p:stCondLst>
                                        </p:cTn>
                                        <p:tgtEl>
                                          <p:spTgt spid="2">
                                            <p:txEl>
                                              <p:pRg st="6" end="6"/>
                                            </p:txEl>
                                          </p:spTgt>
                                        </p:tgtEl>
                                        <p:attrNameLst>
                                          <p:attrName>style.visibility</p:attrName>
                                        </p:attrNameLst>
                                      </p:cBhvr>
                                      <p:to>
                                        <p:strVal val="visible"/>
                                      </p:to>
                                    </p:set>
                                    <p:animEffect transition="in" filter="strips(upLeft)">
                                      <p:cBhvr>
                                        <p:cTn id="26" dur="10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32736" y="1278950"/>
            <a:ext cx="8834284" cy="3970318"/>
          </a:xfrm>
          <a:prstGeom prst="rect">
            <a:avLst/>
          </a:prstGeom>
          <a:noFill/>
        </p:spPr>
        <p:txBody>
          <a:bodyPr wrap="square" rtlCol="1">
            <a:spAutoFit/>
          </a:bodyPr>
          <a:lstStyle/>
          <a:p>
            <a:pPr algn="r" rtl="1"/>
            <a:r>
              <a:rPr lang="ar-EG" sz="3200" b="1" dirty="0">
                <a:solidFill>
                  <a:schemeClr val="tx2"/>
                </a:solidFill>
              </a:rPr>
              <a:t>الحركة باستخدام العدسة </a:t>
            </a:r>
            <a:r>
              <a:rPr lang="en-US" sz="3200" b="1" dirty="0">
                <a:solidFill>
                  <a:schemeClr val="tx2"/>
                </a:solidFill>
              </a:rPr>
              <a:t>Zoom</a:t>
            </a:r>
            <a:endParaRPr lang="ar-EG" sz="3200" b="1" dirty="0">
              <a:solidFill>
                <a:schemeClr val="tx2"/>
              </a:solidFill>
            </a:endParaRPr>
          </a:p>
          <a:p>
            <a:pPr algn="r" rtl="1"/>
            <a:endParaRPr lang="en-US" sz="2400" dirty="0"/>
          </a:p>
          <a:p>
            <a:pPr algn="r" rtl="1"/>
            <a:r>
              <a:rPr lang="ar-EG" sz="2800" dirty="0"/>
              <a:t>وفي هذه اللقطة لا تتحرك </a:t>
            </a:r>
            <a:r>
              <a:rPr lang="ar-EG" sz="2800" dirty="0" err="1"/>
              <a:t>الكاكميرا</a:t>
            </a:r>
            <a:r>
              <a:rPr lang="ar-EG" sz="2800" dirty="0"/>
              <a:t> على </a:t>
            </a:r>
            <a:r>
              <a:rPr lang="ar-EG" sz="2800" dirty="0" err="1"/>
              <a:t>الاطلاق</a:t>
            </a:r>
            <a:r>
              <a:rPr lang="ar-EG" sz="2800" dirty="0"/>
              <a:t> وان كانت الصورة الناتجة تشبه تماما حركة الكاميرا </a:t>
            </a:r>
            <a:r>
              <a:rPr lang="ar-EG" sz="2800" dirty="0" err="1"/>
              <a:t>الى</a:t>
            </a:r>
            <a:r>
              <a:rPr lang="ar-EG" sz="2800" dirty="0"/>
              <a:t> </a:t>
            </a:r>
            <a:r>
              <a:rPr lang="ar-EG" sz="2800" dirty="0" err="1"/>
              <a:t>الامام</a:t>
            </a:r>
            <a:r>
              <a:rPr lang="ar-EG" sz="2800" dirty="0"/>
              <a:t> </a:t>
            </a:r>
            <a:r>
              <a:rPr lang="ar-EG" sz="2800" dirty="0" err="1"/>
              <a:t>او</a:t>
            </a:r>
            <a:r>
              <a:rPr lang="ar-EG" sz="2800" dirty="0"/>
              <a:t> الخلف ( </a:t>
            </a:r>
            <a:r>
              <a:rPr lang="ar-EG" sz="2800" dirty="0" err="1"/>
              <a:t>حركتى</a:t>
            </a:r>
            <a:r>
              <a:rPr lang="ar-EG" sz="2800" dirty="0"/>
              <a:t> الاقتراب </a:t>
            </a:r>
            <a:r>
              <a:rPr lang="ar-EG" sz="2800" dirty="0" err="1"/>
              <a:t>او</a:t>
            </a:r>
            <a:r>
              <a:rPr lang="ar-EG" sz="2800" dirty="0"/>
              <a:t> الابتعاد ) وتتم هذه اللقطة بواسطة عدسة </a:t>
            </a:r>
            <a:r>
              <a:rPr lang="en-US" sz="2800" dirty="0"/>
              <a:t>zoom</a:t>
            </a:r>
            <a:r>
              <a:rPr lang="ar-EG" sz="2800" dirty="0"/>
              <a:t> وهى عدسة تسمح بتعدد البعد </a:t>
            </a:r>
            <a:r>
              <a:rPr lang="ar-EG" sz="2800" dirty="0" err="1"/>
              <a:t>البؤرى</a:t>
            </a:r>
            <a:r>
              <a:rPr lang="ar-EG" sz="2800" dirty="0"/>
              <a:t> بسرعة </a:t>
            </a:r>
            <a:r>
              <a:rPr lang="ar-EG" sz="2800" dirty="0" err="1"/>
              <a:t>اثناء</a:t>
            </a:r>
            <a:r>
              <a:rPr lang="ar-EG" sz="2800" dirty="0"/>
              <a:t> التصوير دون توقف </a:t>
            </a:r>
            <a:r>
              <a:rPr lang="ar-EG" sz="2800" dirty="0" err="1"/>
              <a:t>او</a:t>
            </a:r>
            <a:r>
              <a:rPr lang="ar-EG" sz="2800" dirty="0"/>
              <a:t> قطع </a:t>
            </a:r>
            <a:r>
              <a:rPr lang="ar-EG" sz="2800" dirty="0" err="1"/>
              <a:t>ففى</a:t>
            </a:r>
            <a:r>
              <a:rPr lang="ar-EG" sz="2800" dirty="0"/>
              <a:t> حالة الاقتراب </a:t>
            </a:r>
            <a:r>
              <a:rPr lang="en-US" sz="2800" dirty="0"/>
              <a:t>zoom in </a:t>
            </a:r>
            <a:r>
              <a:rPr lang="ar-EG" sz="2800" dirty="0"/>
              <a:t> يتغير حال المنظور من العام </a:t>
            </a:r>
            <a:r>
              <a:rPr lang="ar-EG" sz="2800" dirty="0" err="1"/>
              <a:t>الى</a:t>
            </a:r>
            <a:r>
              <a:rPr lang="ar-EG" sz="2800" dirty="0"/>
              <a:t> المتوسط فالكبير </a:t>
            </a:r>
            <a:r>
              <a:rPr lang="ar-EG" sz="2800" dirty="0" err="1"/>
              <a:t>اما</a:t>
            </a:r>
            <a:r>
              <a:rPr lang="ar-EG" sz="2800" dirty="0"/>
              <a:t> </a:t>
            </a:r>
            <a:r>
              <a:rPr lang="ar-EG" sz="2800" dirty="0" err="1"/>
              <a:t>فى</a:t>
            </a:r>
            <a:r>
              <a:rPr lang="ar-EG" sz="2800" dirty="0"/>
              <a:t> حالة الابتعاد </a:t>
            </a:r>
            <a:r>
              <a:rPr lang="en-US" sz="2800" dirty="0"/>
              <a:t>zoom out </a:t>
            </a:r>
            <a:r>
              <a:rPr lang="ar-EG" sz="2800" dirty="0"/>
              <a:t> فان حجم المنظور العام يتغير من الكبير </a:t>
            </a:r>
            <a:r>
              <a:rPr lang="ar-EG" sz="2800" dirty="0" err="1"/>
              <a:t>الى</a:t>
            </a:r>
            <a:r>
              <a:rPr lang="ar-EG" sz="2800" dirty="0"/>
              <a:t> المتوسط فالعام ويتم ذلك بتغير البعد </a:t>
            </a:r>
            <a:r>
              <a:rPr lang="ar-EG" sz="2800" dirty="0" err="1"/>
              <a:t>البؤرى</a:t>
            </a:r>
            <a:r>
              <a:rPr lang="ar-EG" sz="2800" dirty="0"/>
              <a:t> للعدسة </a:t>
            </a:r>
            <a:r>
              <a:rPr lang="ar-EG" sz="2800" dirty="0" err="1"/>
              <a:t>اثناء</a:t>
            </a:r>
            <a:r>
              <a:rPr lang="ar-EG" sz="2800" dirty="0"/>
              <a:t> التصوير بدون توقف </a:t>
            </a:r>
            <a:r>
              <a:rPr lang="ar-EG" sz="2800" dirty="0" err="1"/>
              <a:t>او</a:t>
            </a:r>
            <a:r>
              <a:rPr lang="ar-EG" sz="2800" dirty="0"/>
              <a:t> قطع .</a:t>
            </a:r>
            <a:endParaRPr lang="en-US" sz="2800" dirty="0"/>
          </a:p>
        </p:txBody>
      </p:sp>
    </p:spTree>
    <p:extLst>
      <p:ext uri="{BB962C8B-B14F-4D97-AF65-F5344CB8AC3E}">
        <p14:creationId xmlns:p14="http://schemas.microsoft.com/office/powerpoint/2010/main" val="1425222442"/>
      </p:ext>
    </p:extLst>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nodeType="clickEffect">
                                  <p:stCondLst>
                                    <p:cond delay="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 by="(-#ppt_w*2)" calcmode="lin" valueType="num">
                                      <p:cBhvr rctx="PPT">
                                        <p:cTn id="7" dur="500" autoRev="1" fill="hold">
                                          <p:stCondLst>
                                            <p:cond delay="0"/>
                                          </p:stCondLst>
                                        </p:cTn>
                                        <p:tgtEl>
                                          <p:spTgt spid="2">
                                            <p:txEl>
                                              <p:pRg st="0" end="0"/>
                                            </p:txEl>
                                          </p:spTgt>
                                        </p:tgtEl>
                                        <p:attrNameLst>
                                          <p:attrName>ppt_w</p:attrName>
                                        </p:attrNameLst>
                                      </p:cBhvr>
                                    </p:anim>
                                    <p:anim by="(#ppt_w*0.50)" calcmode="lin" valueType="num">
                                      <p:cBhvr>
                                        <p:cTn id="8" dur="500" decel="50000" autoRev="1" fill="hold">
                                          <p:stCondLst>
                                            <p:cond delay="0"/>
                                          </p:stCondLst>
                                        </p:cTn>
                                        <p:tgtEl>
                                          <p:spTgt spid="2">
                                            <p:txEl>
                                              <p:pRg st="0" end="0"/>
                                            </p:txEl>
                                          </p:spTgt>
                                        </p:tgtEl>
                                        <p:attrNameLst>
                                          <p:attrName>ppt_x</p:attrName>
                                        </p:attrNameLst>
                                      </p:cBhvr>
                                    </p:anim>
                                    <p:anim from="(-#ppt_h/2)" to="(#ppt_y)" calcmode="lin" valueType="num">
                                      <p:cBhvr>
                                        <p:cTn id="9" dur="1000" fill="hold">
                                          <p:stCondLst>
                                            <p:cond delay="0"/>
                                          </p:stCondLst>
                                        </p:cTn>
                                        <p:tgtEl>
                                          <p:spTgt spid="2">
                                            <p:txEl>
                                              <p:pRg st="0" end="0"/>
                                            </p:txEl>
                                          </p:spTgt>
                                        </p:tgtEl>
                                        <p:attrNameLst>
                                          <p:attrName>ppt_y</p:attrName>
                                        </p:attrNameLst>
                                      </p:cBhvr>
                                    </p:anim>
                                    <p:animRot by="21600000">
                                      <p:cBhvr>
                                        <p:cTn id="10" dur="1000" fill="hold">
                                          <p:stCondLst>
                                            <p:cond delay="0"/>
                                          </p:stCondLst>
                                        </p:cTn>
                                        <p:tgtEl>
                                          <p:spTgt spid="2">
                                            <p:txEl>
                                              <p:pRg st="0" end="0"/>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4807974" y="217525"/>
            <a:ext cx="3835995" cy="584775"/>
          </a:xfrm>
          <a:prstGeom prst="rect">
            <a:avLst/>
          </a:prstGeom>
        </p:spPr>
        <p:style>
          <a:lnRef idx="1">
            <a:schemeClr val="accent3"/>
          </a:lnRef>
          <a:fillRef idx="2">
            <a:schemeClr val="accent3"/>
          </a:fillRef>
          <a:effectRef idx="1">
            <a:schemeClr val="accent3"/>
          </a:effectRef>
          <a:fontRef idx="minor">
            <a:schemeClr val="dk1"/>
          </a:fontRef>
        </p:style>
        <p:txBody>
          <a:bodyPr wrap="square" rtlCol="1">
            <a:spAutoFit/>
          </a:bodyPr>
          <a:lstStyle/>
          <a:p>
            <a:pPr algn="r" rtl="1"/>
            <a:r>
              <a:rPr lang="ar-EG" sz="3200" b="1" dirty="0"/>
              <a:t>ثالثا : </a:t>
            </a:r>
            <a:r>
              <a:rPr lang="ar-EG" sz="3200" b="1" dirty="0" err="1"/>
              <a:t>اساليب</a:t>
            </a:r>
            <a:r>
              <a:rPr lang="ar-EG" sz="3200" b="1" dirty="0"/>
              <a:t> الانتقال </a:t>
            </a:r>
            <a:endParaRPr lang="en-US" sz="3200" b="1" dirty="0"/>
          </a:p>
        </p:txBody>
      </p:sp>
      <p:sp>
        <p:nvSpPr>
          <p:cNvPr id="3" name="مربع نص 2"/>
          <p:cNvSpPr txBox="1"/>
          <p:nvPr/>
        </p:nvSpPr>
        <p:spPr>
          <a:xfrm>
            <a:off x="73741" y="1002890"/>
            <a:ext cx="8996520" cy="6186309"/>
          </a:xfrm>
          <a:prstGeom prst="rect">
            <a:avLst/>
          </a:prstGeom>
          <a:noFill/>
        </p:spPr>
        <p:txBody>
          <a:bodyPr wrap="square" rtlCol="1">
            <a:spAutoFit/>
          </a:bodyPr>
          <a:lstStyle/>
          <a:p>
            <a:pPr algn="r" rtl="1"/>
            <a:r>
              <a:rPr lang="ar-EG" sz="3200" b="1" dirty="0">
                <a:solidFill>
                  <a:schemeClr val="tx2"/>
                </a:solidFill>
              </a:rPr>
              <a:t>1 – المزج </a:t>
            </a:r>
            <a:r>
              <a:rPr lang="en-US" sz="3200" b="1" dirty="0">
                <a:solidFill>
                  <a:schemeClr val="tx2"/>
                </a:solidFill>
              </a:rPr>
              <a:t>Dissolve </a:t>
            </a:r>
            <a:endParaRPr lang="en-US" sz="2000" b="1" dirty="0">
              <a:solidFill>
                <a:schemeClr val="tx2"/>
              </a:solidFill>
            </a:endParaRPr>
          </a:p>
          <a:p>
            <a:pPr algn="r" rtl="1"/>
            <a:r>
              <a:rPr lang="ar-EG" sz="2400" b="1" dirty="0"/>
              <a:t>هو اختفاء تدريجى للقطة على الكاميرا الاولى وظهور تدريجى للقطة على الكاميرا الثانية ولكن فى نفس الوقت ولنتيجة هى تداخل تدريجى للقطة الاولى فى اللقطة الثانية اى ان اللقطة الاولى تختفى بالتدريج ويحل محلها وبالتدريج ايضا اللقطة الثانية .</a:t>
            </a:r>
            <a:endParaRPr lang="en-US" sz="2000" b="1" dirty="0"/>
          </a:p>
          <a:p>
            <a:pPr algn="r" rtl="1"/>
            <a:r>
              <a:rPr lang="ar-EG" sz="3200" b="1" dirty="0">
                <a:solidFill>
                  <a:schemeClr val="tx2"/>
                </a:solidFill>
              </a:rPr>
              <a:t>2 – المسح </a:t>
            </a:r>
            <a:r>
              <a:rPr lang="en-US" sz="3200" b="1" dirty="0">
                <a:solidFill>
                  <a:schemeClr val="tx2"/>
                </a:solidFill>
              </a:rPr>
              <a:t>Wipe </a:t>
            </a:r>
          </a:p>
          <a:p>
            <a:pPr algn="r" rtl="1"/>
            <a:r>
              <a:rPr lang="ar-EG" sz="2400" b="1" dirty="0"/>
              <a:t>يعتبر </a:t>
            </a:r>
            <a:r>
              <a:rPr lang="ar-EG" sz="2400" b="1" dirty="0" err="1"/>
              <a:t>اكثر</a:t>
            </a:r>
            <a:r>
              <a:rPr lang="ar-EG" sz="2400" b="1" dirty="0"/>
              <a:t> وسائل الانتقال </a:t>
            </a:r>
            <a:r>
              <a:rPr lang="ar-EG" sz="2400" b="1" dirty="0" err="1"/>
              <a:t>التى</a:t>
            </a:r>
            <a:r>
              <a:rPr lang="ar-EG" sz="2400" b="1" dirty="0"/>
              <a:t> يلاحظه المتفرج بمجرد رؤيتها </a:t>
            </a:r>
            <a:r>
              <a:rPr lang="ar-EG" sz="2400" b="1" dirty="0" err="1"/>
              <a:t>لانها</a:t>
            </a:r>
            <a:r>
              <a:rPr lang="ar-EG" sz="2400" b="1" dirty="0"/>
              <a:t> وسيلة </a:t>
            </a:r>
            <a:r>
              <a:rPr lang="ar-EG" sz="2400" b="1" dirty="0" err="1"/>
              <a:t>مسطنعه</a:t>
            </a:r>
            <a:r>
              <a:rPr lang="ar-EG" sz="2400" b="1" dirty="0"/>
              <a:t> ولان </a:t>
            </a:r>
            <a:r>
              <a:rPr lang="ar-EG" sz="2400" b="1" dirty="0" err="1"/>
              <a:t>اشكلها</a:t>
            </a:r>
            <a:r>
              <a:rPr lang="ar-EG" sz="2400" b="1" dirty="0"/>
              <a:t> </a:t>
            </a:r>
            <a:r>
              <a:rPr lang="ar-EG" sz="2400" b="1" dirty="0" err="1"/>
              <a:t>مختلفه</a:t>
            </a:r>
            <a:r>
              <a:rPr lang="ar-EG" sz="2400" b="1" dirty="0"/>
              <a:t> بشكل واضح لذلك </a:t>
            </a:r>
            <a:r>
              <a:rPr lang="ar-EG" sz="2400" b="1" dirty="0" err="1"/>
              <a:t>اضيف</a:t>
            </a:r>
            <a:r>
              <a:rPr lang="ar-EG" sz="2400" b="1" dirty="0"/>
              <a:t> </a:t>
            </a:r>
            <a:r>
              <a:rPr lang="ar-EG" sz="2400" b="1" dirty="0" err="1"/>
              <a:t>الى</a:t>
            </a:r>
            <a:r>
              <a:rPr lang="ar-EG" sz="2400" b="1" dirty="0"/>
              <a:t> جهاز المازج </a:t>
            </a:r>
            <a:r>
              <a:rPr lang="ar-EG" sz="2400" b="1" dirty="0" err="1"/>
              <a:t>الالكترونى</a:t>
            </a:r>
            <a:r>
              <a:rPr lang="ar-EG" sz="2400" b="1" dirty="0"/>
              <a:t> عدة </a:t>
            </a:r>
            <a:r>
              <a:rPr lang="ar-EG" sz="2400" b="1" dirty="0" err="1"/>
              <a:t>اشكال</a:t>
            </a:r>
            <a:r>
              <a:rPr lang="ar-EG" sz="2400" b="1" dirty="0"/>
              <a:t> للمسح تختلف من جهاز </a:t>
            </a:r>
            <a:r>
              <a:rPr lang="ar-EG" sz="2400" b="1" dirty="0" err="1"/>
              <a:t>لاخر</a:t>
            </a:r>
            <a:r>
              <a:rPr lang="ar-EG" sz="2400" b="1" dirty="0"/>
              <a:t> فالمسح يعنى دخول صوره تمسح </a:t>
            </a:r>
            <a:r>
              <a:rPr lang="ar-EG" sz="2400" b="1" dirty="0" err="1"/>
              <a:t>الصوره</a:t>
            </a:r>
            <a:r>
              <a:rPr lang="ar-EG" sz="2400" b="1" dirty="0"/>
              <a:t> </a:t>
            </a:r>
            <a:r>
              <a:rPr lang="ar-EG" sz="2400" b="1" dirty="0" err="1"/>
              <a:t>الموجوده</a:t>
            </a:r>
            <a:r>
              <a:rPr lang="ar-EG" sz="2400" b="1" dirty="0"/>
              <a:t> وتحل محلها وهو وسيلة انتقال </a:t>
            </a:r>
            <a:r>
              <a:rPr lang="ar-EG" sz="2400" b="1" dirty="0" err="1"/>
              <a:t>مهمه</a:t>
            </a:r>
            <a:r>
              <a:rPr lang="ar-EG" sz="2400" b="1" dirty="0"/>
              <a:t> وخاصة عندما يكون المطلوب لفت نظر </a:t>
            </a:r>
            <a:r>
              <a:rPr lang="ar-EG" sz="2400" b="1" dirty="0" err="1"/>
              <a:t>المتلقى</a:t>
            </a:r>
            <a:r>
              <a:rPr lang="ar-EG" sz="2400" b="1" dirty="0"/>
              <a:t> ويستخدم المسح بدرجة كبيره </a:t>
            </a:r>
            <a:r>
              <a:rPr lang="ar-EG" sz="2400" b="1" dirty="0" err="1"/>
              <a:t>فى</a:t>
            </a:r>
            <a:r>
              <a:rPr lang="ar-EG" sz="2400" b="1" dirty="0"/>
              <a:t> التلفزيون حيث يساعد </a:t>
            </a:r>
            <a:r>
              <a:rPr lang="ar-EG" sz="2400" b="1" dirty="0" err="1"/>
              <a:t>فى</a:t>
            </a:r>
            <a:r>
              <a:rPr lang="ar-EG" sz="2400" b="1" dirty="0"/>
              <a:t> تصنيف اللقطات وتلخيص القصص كما انه يستخدم </a:t>
            </a:r>
            <a:r>
              <a:rPr lang="ar-EG" sz="2400" b="1" dirty="0" err="1"/>
              <a:t>فى</a:t>
            </a:r>
            <a:r>
              <a:rPr lang="ar-EG" sz="2400" b="1" dirty="0"/>
              <a:t> الربط بين </a:t>
            </a:r>
            <a:r>
              <a:rPr lang="ar-EG" sz="2400" b="1" dirty="0" err="1"/>
              <a:t>اجزاء</a:t>
            </a:r>
            <a:r>
              <a:rPr lang="ar-EG" sz="2400" b="1" dirty="0"/>
              <a:t> </a:t>
            </a:r>
            <a:r>
              <a:rPr lang="ar-EG" sz="2400" b="1" dirty="0" err="1"/>
              <a:t>او</a:t>
            </a:r>
            <a:r>
              <a:rPr lang="ar-EG" sz="2400" b="1" dirty="0"/>
              <a:t> جوانب من الموضوع لا تتصل </a:t>
            </a:r>
            <a:r>
              <a:rPr lang="ar-EG" sz="2400" b="1" dirty="0" err="1"/>
              <a:t>ببعضها</a:t>
            </a:r>
            <a:r>
              <a:rPr lang="ar-EG" sz="2400" b="1" dirty="0"/>
              <a:t> البعض ولفت النظر بالمشهد </a:t>
            </a:r>
            <a:r>
              <a:rPr lang="ar-EG" sz="2400" b="1" dirty="0" err="1"/>
              <a:t>التالى</a:t>
            </a:r>
            <a:r>
              <a:rPr lang="ar-EG" sz="2400" b="1" dirty="0"/>
              <a:t> كما انه يستخدم عند </a:t>
            </a:r>
            <a:r>
              <a:rPr lang="ar-EG" sz="2400" b="1" dirty="0" err="1"/>
              <a:t>الحاجه</a:t>
            </a:r>
            <a:r>
              <a:rPr lang="ar-EG" sz="2400" b="1" dirty="0"/>
              <a:t> </a:t>
            </a:r>
            <a:r>
              <a:rPr lang="ar-EG" sz="2400" b="1" dirty="0" err="1"/>
              <a:t>الى</a:t>
            </a:r>
            <a:r>
              <a:rPr lang="ar-EG" sz="2400" b="1" dirty="0"/>
              <a:t> عرض جزء من البرنامج بالانتقال من التصوير </a:t>
            </a:r>
            <a:r>
              <a:rPr lang="ar-EG" sz="2400" b="1" dirty="0" err="1"/>
              <a:t>الحى</a:t>
            </a:r>
            <a:r>
              <a:rPr lang="ar-EG" sz="2400" b="1" dirty="0"/>
              <a:t> </a:t>
            </a:r>
            <a:r>
              <a:rPr lang="ar-EG" sz="2400" b="1" dirty="0" err="1"/>
              <a:t>الى</a:t>
            </a:r>
            <a:r>
              <a:rPr lang="ar-EG" sz="2400" b="1" dirty="0"/>
              <a:t> جزء تم تصويره مسبقاً حتى يستطيع المشاهد </a:t>
            </a:r>
            <a:r>
              <a:rPr lang="ar-EG" sz="2400" b="1" dirty="0" err="1"/>
              <a:t>ان</a:t>
            </a:r>
            <a:r>
              <a:rPr lang="ar-EG" sz="2400" b="1" dirty="0"/>
              <a:t> يفرق بين المشاهد </a:t>
            </a:r>
            <a:r>
              <a:rPr lang="ar-EG" sz="2400" b="1" dirty="0" err="1"/>
              <a:t>الحيه</a:t>
            </a:r>
            <a:r>
              <a:rPr lang="ar-EG" sz="2400" b="1" dirty="0"/>
              <a:t> والمشاهد </a:t>
            </a:r>
            <a:r>
              <a:rPr lang="ar-EG" sz="2400" b="1" dirty="0" err="1"/>
              <a:t>المعاده</a:t>
            </a:r>
            <a:r>
              <a:rPr lang="ar-EG" sz="2400" b="1" dirty="0"/>
              <a:t> ومن المهم جدا استخدامه </a:t>
            </a:r>
            <a:r>
              <a:rPr lang="ar-EG" sz="2400" b="1" dirty="0" err="1"/>
              <a:t>فى</a:t>
            </a:r>
            <a:r>
              <a:rPr lang="ar-EG" sz="2400" b="1" dirty="0"/>
              <a:t> </a:t>
            </a:r>
            <a:r>
              <a:rPr lang="ar-EG" sz="2400" b="1" dirty="0" err="1"/>
              <a:t>انتاج</a:t>
            </a:r>
            <a:r>
              <a:rPr lang="ar-EG" sz="2400" b="1" dirty="0"/>
              <a:t> البرامج التعليمية ويبين الشكل </a:t>
            </a:r>
            <a:r>
              <a:rPr lang="ar-EG" sz="2400" b="1" dirty="0" err="1"/>
              <a:t>التالى</a:t>
            </a:r>
            <a:r>
              <a:rPr lang="ar-EG" sz="2400" b="1" dirty="0"/>
              <a:t> بعض </a:t>
            </a:r>
            <a:r>
              <a:rPr lang="ar-EG" sz="2400" b="1" dirty="0" err="1"/>
              <a:t>اشكال</a:t>
            </a:r>
            <a:r>
              <a:rPr lang="ar-EG" sz="2400" b="1" dirty="0"/>
              <a:t> المسح المختلفة </a:t>
            </a:r>
            <a:endParaRPr lang="en-US" sz="2400" b="1" dirty="0"/>
          </a:p>
          <a:p>
            <a:pPr algn="r" rtl="1"/>
            <a:endParaRPr lang="ar-EG" sz="2000" dirty="0"/>
          </a:p>
        </p:txBody>
      </p:sp>
    </p:spTree>
    <p:extLst>
      <p:ext uri="{BB962C8B-B14F-4D97-AF65-F5344CB8AC3E}">
        <p14:creationId xmlns:p14="http://schemas.microsoft.com/office/powerpoint/2010/main" val="2139581424"/>
      </p:ext>
    </p:extLst>
  </p:cSld>
  <p:clrMapOvr>
    <a:masterClrMapping/>
  </p:clrMapOvr>
  <p:transition spd="slow">
    <p:pull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8" presetClass="entr" presetSubtype="0" accel="5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2"/>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2"/>
                                        </p:tgtEl>
                                        <p:attrNameLst>
                                          <p:attrName>ppt_y</p:attrName>
                                        </p:attrNameLst>
                                      </p:cBhvr>
                                      <p:tavLst>
                                        <p:tav tm="0">
                                          <p:val>
                                            <p:strVal val="#ppt_y"/>
                                          </p:val>
                                        </p:tav>
                                        <p:tav tm="100000">
                                          <p:val>
                                            <p:strVal val="#ppt_y"/>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8" presetClass="entr" presetSubtype="0" accel="50000" fill="hold" nodeType="clickEffect">
                                  <p:stCondLst>
                                    <p:cond delay="0"/>
                                  </p:stCondLst>
                                  <p:iterate type="lt">
                                    <p:tmPct val="50000"/>
                                  </p:iterate>
                                  <p:childTnLst>
                                    <p:set>
                                      <p:cBhvr>
                                        <p:cTn id="14" dur="1" fill="hold">
                                          <p:stCondLst>
                                            <p:cond delay="0"/>
                                          </p:stCondLst>
                                        </p:cTn>
                                        <p:tgtEl>
                                          <p:spTgt spid="3">
                                            <p:txEl>
                                              <p:pRg st="0" end="0"/>
                                            </p:txEl>
                                          </p:spTgt>
                                        </p:tgtEl>
                                        <p:attrNameLst>
                                          <p:attrName>style.visibility</p:attrName>
                                        </p:attrNameLst>
                                      </p:cBhvr>
                                      <p:to>
                                        <p:strVal val="visible"/>
                                      </p:to>
                                    </p:set>
                                    <p:set>
                                      <p:cBhvr>
                                        <p:cTn id="15" dur="455" fill="hold">
                                          <p:stCondLst>
                                            <p:cond delay="0"/>
                                          </p:stCondLst>
                                        </p:cTn>
                                        <p:tgtEl>
                                          <p:spTgt spid="3">
                                            <p:txEl>
                                              <p:pRg st="0" end="0"/>
                                            </p:txEl>
                                          </p:spTgt>
                                        </p:tgtEl>
                                        <p:attrNameLst>
                                          <p:attrName>style.rotation</p:attrName>
                                        </p:attrNameLst>
                                      </p:cBhvr>
                                      <p:to>
                                        <p:strVal val="-45.0"/>
                                      </p:to>
                                    </p:set>
                                    <p:anim calcmode="lin" valueType="num">
                                      <p:cBhvr>
                                        <p:cTn id="16" dur="455" fill="hold">
                                          <p:stCondLst>
                                            <p:cond delay="455"/>
                                          </p:stCondLst>
                                        </p:cTn>
                                        <p:tgtEl>
                                          <p:spTgt spid="3">
                                            <p:txEl>
                                              <p:pRg st="0" end="0"/>
                                            </p:txEl>
                                          </p:spTgt>
                                        </p:tgtEl>
                                        <p:attrNameLst>
                                          <p:attrName>style.rotation</p:attrName>
                                        </p:attrNameLst>
                                      </p:cBhvr>
                                      <p:tavLst>
                                        <p:tav tm="0">
                                          <p:val>
                                            <p:fltVal val="-45"/>
                                          </p:val>
                                        </p:tav>
                                        <p:tav tm="69900">
                                          <p:val>
                                            <p:fltVal val="45"/>
                                          </p:val>
                                        </p:tav>
                                        <p:tav tm="100000">
                                          <p:val>
                                            <p:fltVal val="0"/>
                                          </p:val>
                                        </p:tav>
                                      </p:tavLst>
                                    </p:anim>
                                    <p:anim calcmode="lin" valueType="num">
                                      <p:cBhvr>
                                        <p:cTn id="17" dur="455" fill="hold">
                                          <p:stCondLst>
                                            <p:cond delay="0"/>
                                          </p:stCondLst>
                                        </p:cTn>
                                        <p:tgtEl>
                                          <p:spTgt spid="3">
                                            <p:txEl>
                                              <p:pRg st="0" end="0"/>
                                            </p:txEl>
                                          </p:spTgt>
                                        </p:tgtEl>
                                        <p:attrNameLst>
                                          <p:attrName>ppt_y</p:attrName>
                                        </p:attrNameLst>
                                      </p:cBhvr>
                                      <p:tavLst>
                                        <p:tav tm="0">
                                          <p:val>
                                            <p:strVal val="#ppt_y-1"/>
                                          </p:val>
                                        </p:tav>
                                        <p:tav tm="100000">
                                          <p:val>
                                            <p:strVal val="#ppt_y-(0.354*#ppt_w-0.172*#ppt_h)"/>
                                          </p:val>
                                        </p:tav>
                                      </p:tavLst>
                                    </p:anim>
                                    <p:anim calcmode="lin" valueType="num">
                                      <p:cBhvr>
                                        <p:cTn id="18" dur="156" decel="50000" autoRev="1" fill="hold">
                                          <p:stCondLst>
                                            <p:cond delay="455"/>
                                          </p:stCondLst>
                                        </p:cTn>
                                        <p:tgtEl>
                                          <p:spTgt spid="3">
                                            <p:txEl>
                                              <p:pRg st="0" end="0"/>
                                            </p:txEl>
                                          </p:spTgt>
                                        </p:tgtEl>
                                        <p:attrNameLst>
                                          <p:attrName>ppt_y</p:attrName>
                                        </p:attrNameLst>
                                      </p:cBhvr>
                                      <p:tavLst>
                                        <p:tav tm="0">
                                          <p:val>
                                            <p:strVal val="#ppt_y-(0.354*#ppt_w-0.172*#ppt_h)"/>
                                          </p:val>
                                        </p:tav>
                                        <p:tav tm="100000">
                                          <p:val>
                                            <p:strVal val="#ppt_y-(0.354*#ppt_w-0.172*#ppt_h)-#ppt_h/2"/>
                                          </p:val>
                                        </p:tav>
                                      </p:tavLst>
                                    </p:anim>
                                    <p:anim calcmode="lin" valueType="num">
                                      <p:cBhvr>
                                        <p:cTn id="19" dur="136" fill="hold">
                                          <p:stCondLst>
                                            <p:cond delay="864"/>
                                          </p:stCondLst>
                                        </p:cTn>
                                        <p:tgtEl>
                                          <p:spTgt spid="3">
                                            <p:txEl>
                                              <p:pRg st="0" end="0"/>
                                            </p:txEl>
                                          </p:spTgt>
                                        </p:tgtEl>
                                        <p:attrNameLst>
                                          <p:attrName>ppt_y</p:attrName>
                                        </p:attrNameLst>
                                      </p:cBhvr>
                                      <p:tavLst>
                                        <p:tav tm="0">
                                          <p:val>
                                            <p:strVal val="#ppt_y-(0.354*#ppt_w-0.172*#ppt_h)"/>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8" presetClass="entr" presetSubtype="16" fill="hold"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diamond(in)">
                                      <p:cBhvr>
                                        <p:cTn id="24" dur="2000"/>
                                        <p:tgtEl>
                                          <p:spTgt spid="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8" presetClass="entr" presetSubtype="0" accel="50000" fill="hold" nodeType="clickEffect">
                                  <p:stCondLst>
                                    <p:cond delay="0"/>
                                  </p:stCondLst>
                                  <p:iterate type="lt">
                                    <p:tmPct val="50000"/>
                                  </p:iterate>
                                  <p:childTnLst>
                                    <p:set>
                                      <p:cBhvr>
                                        <p:cTn id="28" dur="1" fill="hold">
                                          <p:stCondLst>
                                            <p:cond delay="0"/>
                                          </p:stCondLst>
                                        </p:cTn>
                                        <p:tgtEl>
                                          <p:spTgt spid="3">
                                            <p:txEl>
                                              <p:pRg st="2" end="2"/>
                                            </p:txEl>
                                          </p:spTgt>
                                        </p:tgtEl>
                                        <p:attrNameLst>
                                          <p:attrName>style.visibility</p:attrName>
                                        </p:attrNameLst>
                                      </p:cBhvr>
                                      <p:to>
                                        <p:strVal val="visible"/>
                                      </p:to>
                                    </p:set>
                                    <p:set>
                                      <p:cBhvr>
                                        <p:cTn id="29" dur="455" fill="hold">
                                          <p:stCondLst>
                                            <p:cond delay="0"/>
                                          </p:stCondLst>
                                        </p:cTn>
                                        <p:tgtEl>
                                          <p:spTgt spid="3">
                                            <p:txEl>
                                              <p:pRg st="2" end="2"/>
                                            </p:txEl>
                                          </p:spTgt>
                                        </p:tgtEl>
                                        <p:attrNameLst>
                                          <p:attrName>style.rotation</p:attrName>
                                        </p:attrNameLst>
                                      </p:cBhvr>
                                      <p:to>
                                        <p:strVal val="-45.0"/>
                                      </p:to>
                                    </p:set>
                                    <p:anim calcmode="lin" valueType="num">
                                      <p:cBhvr>
                                        <p:cTn id="30" dur="455" fill="hold">
                                          <p:stCondLst>
                                            <p:cond delay="455"/>
                                          </p:stCondLst>
                                        </p:cTn>
                                        <p:tgtEl>
                                          <p:spTgt spid="3">
                                            <p:txEl>
                                              <p:pRg st="2" end="2"/>
                                            </p:txEl>
                                          </p:spTgt>
                                        </p:tgtEl>
                                        <p:attrNameLst>
                                          <p:attrName>style.rotation</p:attrName>
                                        </p:attrNameLst>
                                      </p:cBhvr>
                                      <p:tavLst>
                                        <p:tav tm="0">
                                          <p:val>
                                            <p:fltVal val="-45"/>
                                          </p:val>
                                        </p:tav>
                                        <p:tav tm="69900">
                                          <p:val>
                                            <p:fltVal val="45"/>
                                          </p:val>
                                        </p:tav>
                                        <p:tav tm="100000">
                                          <p:val>
                                            <p:fltVal val="0"/>
                                          </p:val>
                                        </p:tav>
                                      </p:tavLst>
                                    </p:anim>
                                    <p:anim calcmode="lin" valueType="num">
                                      <p:cBhvr>
                                        <p:cTn id="31" dur="455" fill="hold">
                                          <p:stCondLst>
                                            <p:cond delay="0"/>
                                          </p:stCondLst>
                                        </p:cTn>
                                        <p:tgtEl>
                                          <p:spTgt spid="3">
                                            <p:txEl>
                                              <p:pRg st="2" end="2"/>
                                            </p:txEl>
                                          </p:spTgt>
                                        </p:tgtEl>
                                        <p:attrNameLst>
                                          <p:attrName>ppt_y</p:attrName>
                                        </p:attrNameLst>
                                      </p:cBhvr>
                                      <p:tavLst>
                                        <p:tav tm="0">
                                          <p:val>
                                            <p:strVal val="#ppt_y-1"/>
                                          </p:val>
                                        </p:tav>
                                        <p:tav tm="100000">
                                          <p:val>
                                            <p:strVal val="#ppt_y-(0.354*#ppt_w-0.172*#ppt_h)"/>
                                          </p:val>
                                        </p:tav>
                                      </p:tavLst>
                                    </p:anim>
                                    <p:anim calcmode="lin" valueType="num">
                                      <p:cBhvr>
                                        <p:cTn id="32" dur="156" decel="50000" autoRev="1" fill="hold">
                                          <p:stCondLst>
                                            <p:cond delay="455"/>
                                          </p:stCondLst>
                                        </p:cTn>
                                        <p:tgtEl>
                                          <p:spTgt spid="3">
                                            <p:txEl>
                                              <p:pRg st="2" end="2"/>
                                            </p:txEl>
                                          </p:spTgt>
                                        </p:tgtEl>
                                        <p:attrNameLst>
                                          <p:attrName>ppt_y</p:attrName>
                                        </p:attrNameLst>
                                      </p:cBhvr>
                                      <p:tavLst>
                                        <p:tav tm="0">
                                          <p:val>
                                            <p:strVal val="#ppt_y-(0.354*#ppt_w-0.172*#ppt_h)"/>
                                          </p:val>
                                        </p:tav>
                                        <p:tav tm="100000">
                                          <p:val>
                                            <p:strVal val="#ppt_y-(0.354*#ppt_w-0.172*#ppt_h)-#ppt_h/2"/>
                                          </p:val>
                                        </p:tav>
                                      </p:tavLst>
                                    </p:anim>
                                    <p:anim calcmode="lin" valueType="num">
                                      <p:cBhvr>
                                        <p:cTn id="33" dur="136" fill="hold">
                                          <p:stCondLst>
                                            <p:cond delay="864"/>
                                          </p:stCondLst>
                                        </p:cTn>
                                        <p:tgtEl>
                                          <p:spTgt spid="3">
                                            <p:txEl>
                                              <p:pRg st="2" end="2"/>
                                            </p:txEl>
                                          </p:spTgt>
                                        </p:tgtEl>
                                        <p:attrNameLst>
                                          <p:attrName>ppt_y</p:attrName>
                                        </p:attrNameLst>
                                      </p:cBhvr>
                                      <p:tavLst>
                                        <p:tav tm="0">
                                          <p:val>
                                            <p:strVal val="#ppt_y-(0.354*#ppt_w-0.172*#ppt_h)"/>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8" presetClass="entr" presetSubtype="16" fill="hold" nodeType="click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animEffect transition="in" filter="diamond(in)">
                                      <p:cBhvr>
                                        <p:cTn id="38"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5072066" y="157296"/>
            <a:ext cx="3714777" cy="523220"/>
          </a:xfrm>
          <a:prstGeom prst="rect">
            <a:avLst/>
          </a:prstGeom>
        </p:spPr>
        <p:style>
          <a:lnRef idx="1">
            <a:schemeClr val="accent3"/>
          </a:lnRef>
          <a:fillRef idx="2">
            <a:schemeClr val="accent3"/>
          </a:fillRef>
          <a:effectRef idx="1">
            <a:schemeClr val="accent3"/>
          </a:effectRef>
          <a:fontRef idx="minor">
            <a:schemeClr val="dk1"/>
          </a:fontRef>
        </p:style>
        <p:txBody>
          <a:bodyPr wrap="square" rtlCol="1">
            <a:spAutoFit/>
          </a:bodyPr>
          <a:lstStyle/>
          <a:p>
            <a:pPr algn="r" rtl="1"/>
            <a:r>
              <a:rPr lang="ar-EG" sz="2800" b="1" dirty="0"/>
              <a:t>رابعاً : الإضاءة </a:t>
            </a:r>
            <a:r>
              <a:rPr lang="en-US" sz="2800" b="1" dirty="0"/>
              <a:t>Lighting </a:t>
            </a:r>
            <a:endParaRPr lang="en-US" sz="2800" dirty="0"/>
          </a:p>
        </p:txBody>
      </p:sp>
      <p:sp>
        <p:nvSpPr>
          <p:cNvPr id="3" name="مربع نص 2"/>
          <p:cNvSpPr txBox="1"/>
          <p:nvPr/>
        </p:nvSpPr>
        <p:spPr>
          <a:xfrm>
            <a:off x="285720" y="693634"/>
            <a:ext cx="8710796" cy="6555641"/>
          </a:xfrm>
          <a:prstGeom prst="rect">
            <a:avLst/>
          </a:prstGeom>
          <a:noFill/>
        </p:spPr>
        <p:txBody>
          <a:bodyPr wrap="square" rtlCol="1">
            <a:spAutoFit/>
          </a:bodyPr>
          <a:lstStyle/>
          <a:p>
            <a:pPr algn="r" rtl="1"/>
            <a:r>
              <a:rPr lang="ar-EG" sz="2800" b="1" dirty="0">
                <a:solidFill>
                  <a:schemeClr val="tx2"/>
                </a:solidFill>
              </a:rPr>
              <a:t>وللاضاءة داخل برنامج الوسائط المتعددة بصفة خاصة غرضين نوجزهما فيما يلى :-</a:t>
            </a:r>
            <a:endParaRPr lang="en-US" sz="2000" dirty="0"/>
          </a:p>
          <a:p>
            <a:pPr algn="r" rtl="1"/>
            <a:r>
              <a:rPr lang="ar-EG" sz="2800" b="1" dirty="0">
                <a:solidFill>
                  <a:schemeClr val="tx2"/>
                </a:solidFill>
              </a:rPr>
              <a:t>الغرض </a:t>
            </a:r>
            <a:r>
              <a:rPr lang="ar-EG" sz="2800" b="1" dirty="0" err="1">
                <a:solidFill>
                  <a:schemeClr val="tx2"/>
                </a:solidFill>
              </a:rPr>
              <a:t>التقنى</a:t>
            </a:r>
            <a:r>
              <a:rPr lang="ar-EG" sz="2800" b="1" dirty="0">
                <a:solidFill>
                  <a:schemeClr val="tx2"/>
                </a:solidFill>
              </a:rPr>
              <a:t> </a:t>
            </a:r>
            <a:r>
              <a:rPr lang="en-US" sz="2800" b="1" dirty="0">
                <a:solidFill>
                  <a:schemeClr val="tx2"/>
                </a:solidFill>
              </a:rPr>
              <a:t>Technical </a:t>
            </a:r>
            <a:r>
              <a:rPr lang="en-US" sz="2800" b="1" dirty="0" err="1">
                <a:solidFill>
                  <a:schemeClr val="tx2"/>
                </a:solidFill>
              </a:rPr>
              <a:t>Resson</a:t>
            </a:r>
            <a:endParaRPr lang="en-US" sz="2000" dirty="0">
              <a:solidFill>
                <a:schemeClr val="tx2"/>
              </a:solidFill>
            </a:endParaRPr>
          </a:p>
          <a:p>
            <a:pPr algn="r" rtl="1"/>
            <a:r>
              <a:rPr lang="ar-EG" sz="2400" dirty="0"/>
              <a:t>يعني انه لابد من انارة كافية على المنظر المراد تصويره فى البرنامج التعليمى ودرجة حرارة لونية مناسبة ونسبه ملائمه من التباين اللونى على المنظر فالغرض التقنى هو انارة ما تراه الكاميرا التليفزيونيه جيدا ولكى نحصل على صورة تعليميه مرضيه فان اقل نسبة اضاءه تكون 800 لوكس وهذا الرقم متغير بتغير صمامات الكاميرا المستخدمة او الشرائح الحساسه للضوء.</a:t>
            </a:r>
            <a:endParaRPr lang="en-US" sz="2400" dirty="0"/>
          </a:p>
          <a:p>
            <a:pPr algn="r" rtl="1"/>
            <a:r>
              <a:rPr lang="ar-EG" sz="2800" b="1" dirty="0">
                <a:solidFill>
                  <a:schemeClr val="tx2"/>
                </a:solidFill>
              </a:rPr>
              <a:t>الغرض </a:t>
            </a:r>
            <a:r>
              <a:rPr lang="ar-EG" sz="2800" b="1" dirty="0" err="1">
                <a:solidFill>
                  <a:schemeClr val="tx2"/>
                </a:solidFill>
              </a:rPr>
              <a:t>الفنى</a:t>
            </a:r>
            <a:r>
              <a:rPr lang="ar-EG" sz="2800" b="1" dirty="0">
                <a:solidFill>
                  <a:schemeClr val="tx2"/>
                </a:solidFill>
              </a:rPr>
              <a:t> </a:t>
            </a:r>
            <a:r>
              <a:rPr lang="en-US" sz="2800" b="1" dirty="0">
                <a:solidFill>
                  <a:schemeClr val="tx2"/>
                </a:solidFill>
              </a:rPr>
              <a:t>Artistic Reason </a:t>
            </a:r>
            <a:endParaRPr lang="en-US" sz="2000" dirty="0">
              <a:solidFill>
                <a:schemeClr val="tx2"/>
              </a:solidFill>
            </a:endParaRPr>
          </a:p>
          <a:p>
            <a:pPr algn="r" rtl="1"/>
            <a:r>
              <a:rPr lang="ar-EG" sz="2400" dirty="0"/>
              <a:t>والهدف منه </a:t>
            </a:r>
            <a:r>
              <a:rPr lang="ar-EG" sz="2400" dirty="0" err="1"/>
              <a:t>اظهار</a:t>
            </a:r>
            <a:r>
              <a:rPr lang="ar-EG" sz="2400" dirty="0"/>
              <a:t> البعد الثالث </a:t>
            </a:r>
            <a:r>
              <a:rPr lang="ar-EG" sz="2400" dirty="0" err="1"/>
              <a:t>او</a:t>
            </a:r>
            <a:r>
              <a:rPr lang="ar-EG" sz="2400" dirty="0"/>
              <a:t> العمق بالمنظر وتظهر مثلا استدارة </a:t>
            </a:r>
            <a:r>
              <a:rPr lang="ar-EG" sz="2400" dirty="0" err="1"/>
              <a:t>الاشياء</a:t>
            </a:r>
            <a:r>
              <a:rPr lang="ar-EG" sz="2400" dirty="0"/>
              <a:t> وشكلها المجسم ذو </a:t>
            </a:r>
            <a:r>
              <a:rPr lang="ar-EG" sz="2400" dirty="0" err="1"/>
              <a:t>الابعاد</a:t>
            </a:r>
            <a:r>
              <a:rPr lang="ar-EG" sz="2400" dirty="0"/>
              <a:t> </a:t>
            </a:r>
            <a:r>
              <a:rPr lang="ar-EG" sz="2400" dirty="0" err="1"/>
              <a:t>الثلاثه</a:t>
            </a:r>
            <a:r>
              <a:rPr lang="ar-EG" sz="2400" dirty="0"/>
              <a:t> </a:t>
            </a:r>
            <a:r>
              <a:rPr lang="ar-EG" sz="2400" dirty="0" err="1"/>
              <a:t>الى</a:t>
            </a:r>
            <a:r>
              <a:rPr lang="ar-EG" sz="2400" dirty="0"/>
              <a:t> جانب خلق </a:t>
            </a:r>
            <a:r>
              <a:rPr lang="ar-EG" sz="2400" dirty="0" err="1"/>
              <a:t>الاحساس</a:t>
            </a:r>
            <a:r>
              <a:rPr lang="ar-EG" sz="2400" dirty="0"/>
              <a:t> </a:t>
            </a:r>
            <a:r>
              <a:rPr lang="ar-EG" sz="2400" dirty="0" err="1"/>
              <a:t>بالوقتوالزمن</a:t>
            </a:r>
            <a:r>
              <a:rPr lang="ar-EG" sz="2400" dirty="0"/>
              <a:t> </a:t>
            </a:r>
            <a:r>
              <a:rPr lang="ar-EG" sz="2400" dirty="0" err="1"/>
              <a:t>الذى</a:t>
            </a:r>
            <a:r>
              <a:rPr lang="ar-EG" sz="2400" dirty="0"/>
              <a:t> تجرى فيه </a:t>
            </a:r>
            <a:r>
              <a:rPr lang="ar-EG" sz="2400" dirty="0" err="1"/>
              <a:t>الاحداث</a:t>
            </a:r>
            <a:r>
              <a:rPr lang="ar-EG" sz="2400" dirty="0"/>
              <a:t> تدعيم </a:t>
            </a:r>
            <a:r>
              <a:rPr lang="ar-EG" sz="2400" dirty="0" err="1"/>
              <a:t>الحقيقه</a:t>
            </a:r>
            <a:r>
              <a:rPr lang="ar-EG" sz="2400" dirty="0"/>
              <a:t> مثل ضوء الشمس </a:t>
            </a:r>
            <a:r>
              <a:rPr lang="ar-EG" sz="2400" dirty="0" err="1"/>
              <a:t>او</a:t>
            </a:r>
            <a:r>
              <a:rPr lang="ar-EG" sz="2400" dirty="0"/>
              <a:t> القمر </a:t>
            </a:r>
            <a:r>
              <a:rPr lang="ar-EG" sz="2400" dirty="0" err="1"/>
              <a:t>او</a:t>
            </a:r>
            <a:r>
              <a:rPr lang="ar-EG" sz="2400" dirty="0"/>
              <a:t> اللهب </a:t>
            </a:r>
            <a:r>
              <a:rPr lang="ar-EG" sz="2400" dirty="0" err="1"/>
              <a:t>او</a:t>
            </a:r>
            <a:r>
              <a:rPr lang="ar-EG" sz="2400" dirty="0"/>
              <a:t> </a:t>
            </a:r>
            <a:r>
              <a:rPr lang="ar-EG" sz="2400" dirty="0" err="1"/>
              <a:t>اى</a:t>
            </a:r>
            <a:r>
              <a:rPr lang="ar-EG" sz="2400" dirty="0"/>
              <a:t> مؤثرات </a:t>
            </a:r>
            <a:r>
              <a:rPr lang="ar-EG" sz="2400" dirty="0" err="1"/>
              <a:t>ضوئيه</a:t>
            </a:r>
            <a:r>
              <a:rPr lang="ar-EG" sz="2400" dirty="0"/>
              <a:t> ممكنه وتدعيم </a:t>
            </a:r>
            <a:r>
              <a:rPr lang="ar-EG" sz="2400" dirty="0" err="1"/>
              <a:t>الاحساس</a:t>
            </a:r>
            <a:r>
              <a:rPr lang="ar-EG" sz="2400" dirty="0"/>
              <a:t> </a:t>
            </a:r>
            <a:r>
              <a:rPr lang="ar-EG" sz="2400" dirty="0" err="1"/>
              <a:t>بالمسافه</a:t>
            </a:r>
            <a:r>
              <a:rPr lang="ar-EG" sz="2400" dirty="0"/>
              <a:t> والحيز والفراغ ووحدة التكوين والتركيب </a:t>
            </a:r>
            <a:r>
              <a:rPr lang="ar-EG" sz="2400" dirty="0" err="1"/>
              <a:t>فى</a:t>
            </a:r>
            <a:r>
              <a:rPr lang="ar-EG" sz="2400" dirty="0"/>
              <a:t> المنظر </a:t>
            </a:r>
            <a:r>
              <a:rPr lang="ar-EG" sz="2400" dirty="0" err="1"/>
              <a:t>بالاضافه</a:t>
            </a:r>
            <a:r>
              <a:rPr lang="ar-EG" sz="2400" dirty="0"/>
              <a:t> </a:t>
            </a:r>
            <a:r>
              <a:rPr lang="ar-EG" sz="2400" dirty="0" err="1"/>
              <a:t>الى</a:t>
            </a:r>
            <a:r>
              <a:rPr lang="ar-EG" sz="2400" dirty="0"/>
              <a:t> تجسيد </a:t>
            </a:r>
            <a:r>
              <a:rPr lang="ar-EG" sz="2400" dirty="0" err="1"/>
              <a:t>الاحساس</a:t>
            </a:r>
            <a:r>
              <a:rPr lang="ar-EG" sz="2400" dirty="0"/>
              <a:t> وخلق حالات مزاجيه خاصة مثل خلق </a:t>
            </a:r>
            <a:r>
              <a:rPr lang="ar-EG" sz="2400" dirty="0" err="1"/>
              <a:t>الاحساس</a:t>
            </a:r>
            <a:r>
              <a:rPr lang="ar-EG" sz="2400" dirty="0"/>
              <a:t> بالمرح </a:t>
            </a:r>
            <a:r>
              <a:rPr lang="ar-EG" sz="2400" dirty="0" err="1"/>
              <a:t>او</a:t>
            </a:r>
            <a:r>
              <a:rPr lang="ar-EG" sz="2400" dirty="0"/>
              <a:t> </a:t>
            </a:r>
            <a:r>
              <a:rPr lang="ar-EG" sz="2400" dirty="0" err="1"/>
              <a:t>الكأبه</a:t>
            </a:r>
            <a:r>
              <a:rPr lang="ar-EG" sz="2400" dirty="0"/>
              <a:t> </a:t>
            </a:r>
            <a:r>
              <a:rPr lang="ar-EG" sz="2400" dirty="0" err="1"/>
              <a:t>او</a:t>
            </a:r>
            <a:r>
              <a:rPr lang="ar-EG" sz="2400" dirty="0"/>
              <a:t> الحزن </a:t>
            </a:r>
            <a:r>
              <a:rPr lang="ar-EG" sz="2400" dirty="0" err="1"/>
              <a:t>واظهار</a:t>
            </a:r>
            <a:r>
              <a:rPr lang="ar-EG" sz="2400" dirty="0"/>
              <a:t> جوانب معينه من المنظر </a:t>
            </a:r>
            <a:r>
              <a:rPr lang="ar-EG" sz="2400" dirty="0" err="1"/>
              <a:t>وابرازها</a:t>
            </a:r>
            <a:r>
              <a:rPr lang="ar-EG" sz="2400" dirty="0"/>
              <a:t> </a:t>
            </a:r>
            <a:r>
              <a:rPr lang="ar-EG" sz="2400" dirty="0" err="1"/>
              <a:t>والتاكيد</a:t>
            </a:r>
            <a:r>
              <a:rPr lang="ar-EG" sz="2400" dirty="0"/>
              <a:t> على وجودها </a:t>
            </a:r>
            <a:r>
              <a:rPr lang="ar-EG" sz="2400" dirty="0" err="1"/>
              <a:t>واهميتها</a:t>
            </a:r>
            <a:r>
              <a:rPr lang="ar-EG" sz="2400" dirty="0"/>
              <a:t> </a:t>
            </a:r>
            <a:r>
              <a:rPr lang="ar-EG" sz="2400" dirty="0" err="1"/>
              <a:t>او</a:t>
            </a:r>
            <a:r>
              <a:rPr lang="ar-EG" sz="2400" dirty="0"/>
              <a:t> </a:t>
            </a:r>
            <a:r>
              <a:rPr lang="ar-EG" sz="2400" dirty="0" err="1"/>
              <a:t>اخفائها</a:t>
            </a:r>
            <a:r>
              <a:rPr lang="ar-EG" sz="2400" dirty="0"/>
              <a:t> والتقليل من </a:t>
            </a:r>
            <a:r>
              <a:rPr lang="ar-EG" sz="2400" dirty="0" err="1"/>
              <a:t>اهميتها</a:t>
            </a:r>
            <a:r>
              <a:rPr lang="ar-EG" sz="2400" dirty="0"/>
              <a:t> وعدم </a:t>
            </a:r>
            <a:r>
              <a:rPr lang="ar-EG" sz="2400" dirty="0" err="1"/>
              <a:t>الاحساس</a:t>
            </a:r>
            <a:r>
              <a:rPr lang="ar-EG" sz="2400" dirty="0"/>
              <a:t> بوجودها . </a:t>
            </a:r>
            <a:endParaRPr lang="en-US" sz="2400" dirty="0"/>
          </a:p>
          <a:p>
            <a:pPr algn="r" rtl="1"/>
            <a:endParaRPr lang="ar-EG" sz="2000" dirty="0"/>
          </a:p>
        </p:txBody>
      </p:sp>
    </p:spTree>
    <p:extLst>
      <p:ext uri="{BB962C8B-B14F-4D97-AF65-F5344CB8AC3E}">
        <p14:creationId xmlns:p14="http://schemas.microsoft.com/office/powerpoint/2010/main" val="1255450515"/>
      </p:ext>
    </p:extLst>
  </p:cSld>
  <p:clrMapOvr>
    <a:masterClrMapping/>
  </p:clrMapOvr>
  <p:transition spd="slow">
    <p:cover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8" presetClass="entr" presetSubtype="0" accel="5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2"/>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2"/>
                                        </p:tgtEl>
                                        <p:attrNameLst>
                                          <p:attrName>ppt_y</p:attrName>
                                        </p:attrNameLst>
                                      </p:cBhvr>
                                      <p:tavLst>
                                        <p:tav tm="0">
                                          <p:val>
                                            <p:strVal val="#ppt_y"/>
                                          </p:val>
                                        </p:tav>
                                        <p:tav tm="100000">
                                          <p:val>
                                            <p:strVal val="#ppt_y"/>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7" presetClass="entr" presetSubtype="0" fill="hold" nodeType="clickEffect">
                                  <p:stCondLst>
                                    <p:cond delay="0"/>
                                  </p:stCondLst>
                                  <p:iterate type="lt">
                                    <p:tmPct val="50000"/>
                                  </p:iterate>
                                  <p:childTnLst>
                                    <p:set>
                                      <p:cBhvr>
                                        <p:cTn id="14" dur="1" fill="hold">
                                          <p:stCondLst>
                                            <p:cond delay="0"/>
                                          </p:stCondLst>
                                        </p:cTn>
                                        <p:tgtEl>
                                          <p:spTgt spid="3">
                                            <p:txEl>
                                              <p:pRg st="0" end="0"/>
                                            </p:txEl>
                                          </p:spTgt>
                                        </p:tgtEl>
                                        <p:attrNameLst>
                                          <p:attrName>style.visibility</p:attrName>
                                        </p:attrNameLst>
                                      </p:cBhvr>
                                      <p:to>
                                        <p:strVal val="visible"/>
                                      </p:to>
                                    </p:set>
                                    <p:anim calcmode="discrete" valueType="clr">
                                      <p:cBhvr override="childStyle">
                                        <p:cTn id="15" dur="80"/>
                                        <p:tgtEl>
                                          <p:spTgt spid="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6" dur="80"/>
                                        <p:tgtEl>
                                          <p:spTgt spid="3">
                                            <p:txEl>
                                              <p:pRg st="0" end="0"/>
                                            </p:txEl>
                                          </p:spTgt>
                                        </p:tgtEl>
                                        <p:attrNameLst>
                                          <p:attrName>fillcolor</p:attrName>
                                        </p:attrNameLst>
                                      </p:cBhvr>
                                      <p:tavLst>
                                        <p:tav tm="0">
                                          <p:val>
                                            <p:clrVal>
                                              <a:schemeClr val="accent2"/>
                                            </p:clrVal>
                                          </p:val>
                                        </p:tav>
                                        <p:tav tm="50000">
                                          <p:val>
                                            <p:clrVal>
                                              <a:schemeClr val="hlink"/>
                                            </p:clrVal>
                                          </p:val>
                                        </p:tav>
                                      </p:tavLst>
                                    </p:anim>
                                    <p:set>
                                      <p:cBhvr>
                                        <p:cTn id="17" dur="80"/>
                                        <p:tgtEl>
                                          <p:spTgt spid="3">
                                            <p:txEl>
                                              <p:pRg st="0" end="0"/>
                                            </p:txEl>
                                          </p:spTgt>
                                        </p:tgtEl>
                                        <p:attrNameLst>
                                          <p:attrName>fill.type</p:attrName>
                                        </p:attrNameLst>
                                      </p:cBhvr>
                                      <p:to>
                                        <p:strVal val="solid"/>
                                      </p:to>
                                    </p:set>
                                  </p:childTnLst>
                                </p:cTn>
                              </p:par>
                            </p:childTnLst>
                          </p:cTn>
                        </p:par>
                      </p:childTnLst>
                    </p:cTn>
                  </p:par>
                  <p:par>
                    <p:cTn id="18" fill="hold">
                      <p:stCondLst>
                        <p:cond delay="indefinite"/>
                      </p:stCondLst>
                      <p:childTnLst>
                        <p:par>
                          <p:cTn id="19" fill="hold">
                            <p:stCondLst>
                              <p:cond delay="0"/>
                            </p:stCondLst>
                            <p:childTnLst>
                              <p:par>
                                <p:cTn id="20" presetID="41" presetClass="entr" presetSubtype="0" fill="hold" nodeType="clickEffect">
                                  <p:stCondLst>
                                    <p:cond delay="0"/>
                                  </p:stCondLst>
                                  <p:iterate type="lt">
                                    <p:tmPct val="10000"/>
                                  </p:iterate>
                                  <p:childTnLst>
                                    <p:set>
                                      <p:cBhvr>
                                        <p:cTn id="21" dur="1" fill="hold">
                                          <p:stCondLst>
                                            <p:cond delay="0"/>
                                          </p:stCondLst>
                                        </p:cTn>
                                        <p:tgtEl>
                                          <p:spTgt spid="3">
                                            <p:txEl>
                                              <p:pRg st="1" end="1"/>
                                            </p:txEl>
                                          </p:spTgt>
                                        </p:tgtEl>
                                        <p:attrNameLst>
                                          <p:attrName>style.visibility</p:attrName>
                                        </p:attrNameLst>
                                      </p:cBhvr>
                                      <p:to>
                                        <p:strVal val="visible"/>
                                      </p:to>
                                    </p:set>
                                    <p:anim calcmode="lin" valueType="num">
                                      <p:cBhvr>
                                        <p:cTn id="22" dur="500" fill="hold"/>
                                        <p:tgtEl>
                                          <p:spTgt spid="3">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23" dur="500" fill="hold"/>
                                        <p:tgtEl>
                                          <p:spTgt spid="3">
                                            <p:txEl>
                                              <p:pRg st="1" end="1"/>
                                            </p:txEl>
                                          </p:spTgt>
                                        </p:tgtEl>
                                        <p:attrNameLst>
                                          <p:attrName>ppt_y</p:attrName>
                                        </p:attrNameLst>
                                      </p:cBhvr>
                                      <p:tavLst>
                                        <p:tav tm="0">
                                          <p:val>
                                            <p:strVal val="#ppt_y"/>
                                          </p:val>
                                        </p:tav>
                                        <p:tav tm="100000">
                                          <p:val>
                                            <p:strVal val="#ppt_y"/>
                                          </p:val>
                                        </p:tav>
                                      </p:tavLst>
                                    </p:anim>
                                    <p:anim calcmode="lin" valueType="num">
                                      <p:cBhvr>
                                        <p:cTn id="24" dur="500" fill="hold"/>
                                        <p:tgtEl>
                                          <p:spTgt spid="3">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5" dur="500" fill="hold"/>
                                        <p:tgtEl>
                                          <p:spTgt spid="3">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6" dur="500" tmFilter="0,0; .5, 1; 1, 1"/>
                                        <p:tgtEl>
                                          <p:spTgt spid="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8" presetClass="entr" presetSubtype="16"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diamond(in)">
                                      <p:cBhvr>
                                        <p:cTn id="31" dur="2000"/>
                                        <p:tgtEl>
                                          <p:spTgt spid="3">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41" presetClass="entr" presetSubtype="0" fill="hold" nodeType="clickEffect">
                                  <p:stCondLst>
                                    <p:cond delay="0"/>
                                  </p:stCondLst>
                                  <p:iterate type="lt">
                                    <p:tmPct val="10000"/>
                                  </p:iterate>
                                  <p:childTnLst>
                                    <p:set>
                                      <p:cBhvr>
                                        <p:cTn id="35" dur="1" fill="hold">
                                          <p:stCondLst>
                                            <p:cond delay="0"/>
                                          </p:stCondLst>
                                        </p:cTn>
                                        <p:tgtEl>
                                          <p:spTgt spid="3">
                                            <p:txEl>
                                              <p:pRg st="3" end="3"/>
                                            </p:txEl>
                                          </p:spTgt>
                                        </p:tgtEl>
                                        <p:attrNameLst>
                                          <p:attrName>style.visibility</p:attrName>
                                        </p:attrNameLst>
                                      </p:cBhvr>
                                      <p:to>
                                        <p:strVal val="visible"/>
                                      </p:to>
                                    </p:set>
                                    <p:anim calcmode="lin" valueType="num">
                                      <p:cBhvr>
                                        <p:cTn id="36" dur="500" fill="hold"/>
                                        <p:tgtEl>
                                          <p:spTgt spid="3">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3">
                                            <p:txEl>
                                              <p:pRg st="3" end="3"/>
                                            </p:txEl>
                                          </p:spTgt>
                                        </p:tgtEl>
                                        <p:attrNameLst>
                                          <p:attrName>ppt_y</p:attrName>
                                        </p:attrNameLst>
                                      </p:cBhvr>
                                      <p:tavLst>
                                        <p:tav tm="0">
                                          <p:val>
                                            <p:strVal val="#ppt_y"/>
                                          </p:val>
                                        </p:tav>
                                        <p:tav tm="100000">
                                          <p:val>
                                            <p:strVal val="#ppt_y"/>
                                          </p:val>
                                        </p:tav>
                                      </p:tavLst>
                                    </p:anim>
                                    <p:anim calcmode="lin" valueType="num">
                                      <p:cBhvr>
                                        <p:cTn id="38" dur="500" fill="hold"/>
                                        <p:tgtEl>
                                          <p:spTgt spid="3">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3">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3">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8" presetClass="entr" presetSubtype="16" fill="hold" nodeType="click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animEffect transition="in" filter="diamond(in)">
                                      <p:cBhvr>
                                        <p:cTn id="45"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5574890" y="150691"/>
            <a:ext cx="3497690" cy="584775"/>
          </a:xfrm>
          <a:prstGeom prst="rect">
            <a:avLst/>
          </a:prstGeom>
        </p:spPr>
        <p:style>
          <a:lnRef idx="2">
            <a:schemeClr val="accent6"/>
          </a:lnRef>
          <a:fillRef idx="1">
            <a:schemeClr val="lt1"/>
          </a:fillRef>
          <a:effectRef idx="0">
            <a:schemeClr val="accent6"/>
          </a:effectRef>
          <a:fontRef idx="minor">
            <a:schemeClr val="dk1"/>
          </a:fontRef>
        </p:style>
        <p:txBody>
          <a:bodyPr wrap="square" rtlCol="1">
            <a:spAutoFit/>
          </a:bodyPr>
          <a:lstStyle/>
          <a:p>
            <a:pPr algn="r" rtl="1"/>
            <a:r>
              <a:rPr lang="ar-EG" sz="3200" b="1" dirty="0" err="1"/>
              <a:t>اسس</a:t>
            </a:r>
            <a:r>
              <a:rPr lang="ar-EG" sz="3200" b="1" dirty="0"/>
              <a:t> توصيف </a:t>
            </a:r>
            <a:r>
              <a:rPr lang="ar-EG" sz="3200" b="1" dirty="0" err="1"/>
              <a:t>الاضاءه</a:t>
            </a:r>
            <a:r>
              <a:rPr lang="ar-EG" sz="3200" b="1" dirty="0"/>
              <a:t> </a:t>
            </a:r>
            <a:endParaRPr lang="en-US" sz="3200" dirty="0"/>
          </a:p>
        </p:txBody>
      </p:sp>
      <p:sp>
        <p:nvSpPr>
          <p:cNvPr id="3" name="مربع نص 2"/>
          <p:cNvSpPr txBox="1"/>
          <p:nvPr/>
        </p:nvSpPr>
        <p:spPr>
          <a:xfrm>
            <a:off x="0" y="705150"/>
            <a:ext cx="9072580" cy="6494085"/>
          </a:xfrm>
          <a:prstGeom prst="rect">
            <a:avLst/>
          </a:prstGeom>
          <a:noFill/>
        </p:spPr>
        <p:txBody>
          <a:bodyPr wrap="square" rtlCol="1">
            <a:spAutoFit/>
          </a:bodyPr>
          <a:lstStyle/>
          <a:p>
            <a:pPr algn="r" rtl="1"/>
            <a:r>
              <a:rPr lang="ar-EG" sz="2800" b="1" dirty="0">
                <a:solidFill>
                  <a:schemeClr val="tx2"/>
                </a:solidFill>
              </a:rPr>
              <a:t>1 – نوع </a:t>
            </a:r>
            <a:r>
              <a:rPr lang="ar-EG" sz="2800" b="1" dirty="0" err="1">
                <a:solidFill>
                  <a:schemeClr val="tx2"/>
                </a:solidFill>
              </a:rPr>
              <a:t>الاضاءة</a:t>
            </a:r>
            <a:r>
              <a:rPr lang="ar-EG" sz="2800" b="1" dirty="0">
                <a:solidFill>
                  <a:schemeClr val="tx2"/>
                </a:solidFill>
              </a:rPr>
              <a:t> </a:t>
            </a:r>
            <a:r>
              <a:rPr lang="ar-EG" sz="2800" b="1" dirty="0" err="1">
                <a:solidFill>
                  <a:schemeClr val="tx2"/>
                </a:solidFill>
              </a:rPr>
              <a:t>او</a:t>
            </a:r>
            <a:r>
              <a:rPr lang="ar-EG" sz="2800" b="1" dirty="0">
                <a:solidFill>
                  <a:schemeClr val="tx2"/>
                </a:solidFill>
              </a:rPr>
              <a:t> خاصيتها </a:t>
            </a:r>
            <a:r>
              <a:rPr lang="en-US" sz="2800" b="1" dirty="0">
                <a:solidFill>
                  <a:schemeClr val="tx2"/>
                </a:solidFill>
              </a:rPr>
              <a:t>Light Quality</a:t>
            </a:r>
            <a:endParaRPr lang="en-US" sz="2000" dirty="0">
              <a:solidFill>
                <a:schemeClr val="tx2"/>
              </a:solidFill>
            </a:endParaRPr>
          </a:p>
          <a:p>
            <a:pPr algn="r" rtl="1"/>
            <a:r>
              <a:rPr lang="ar-EG" sz="2400" b="1" dirty="0"/>
              <a:t>تعرف </a:t>
            </a:r>
            <a:r>
              <a:rPr lang="ar-EG" sz="2400" b="1" dirty="0" err="1"/>
              <a:t>بانها</a:t>
            </a:r>
            <a:r>
              <a:rPr lang="ar-EG" sz="2400" b="1" dirty="0"/>
              <a:t> </a:t>
            </a:r>
            <a:r>
              <a:rPr lang="ar-EG" sz="2400" b="1" dirty="0" err="1"/>
              <a:t>اضاءه</a:t>
            </a:r>
            <a:r>
              <a:rPr lang="ar-EG" sz="2400" b="1" dirty="0"/>
              <a:t> </a:t>
            </a:r>
            <a:r>
              <a:rPr lang="ar-EG" sz="2400" b="1" dirty="0" err="1"/>
              <a:t>ساطعه</a:t>
            </a:r>
            <a:r>
              <a:rPr lang="ar-EG" sz="2400" b="1" dirty="0"/>
              <a:t> </a:t>
            </a:r>
            <a:r>
              <a:rPr lang="ar-EG" sz="2400" b="1" dirty="0" err="1"/>
              <a:t>حاده</a:t>
            </a:r>
            <a:r>
              <a:rPr lang="ar-EG" sz="2400" b="1" dirty="0"/>
              <a:t> </a:t>
            </a:r>
            <a:r>
              <a:rPr lang="en-US" sz="2400" b="1" dirty="0"/>
              <a:t>Lighting hard</a:t>
            </a:r>
            <a:r>
              <a:rPr lang="ar-EG" sz="2400" b="1" dirty="0"/>
              <a:t> </a:t>
            </a:r>
            <a:r>
              <a:rPr lang="ar-EG" sz="2400" b="1" dirty="0" err="1"/>
              <a:t>او</a:t>
            </a:r>
            <a:r>
              <a:rPr lang="ar-EG" sz="2400" b="1" dirty="0"/>
              <a:t> </a:t>
            </a:r>
            <a:r>
              <a:rPr lang="ar-EG" sz="2400" b="1" dirty="0" err="1"/>
              <a:t>هادئه</a:t>
            </a:r>
            <a:r>
              <a:rPr lang="ar-EG" sz="2400" b="1" dirty="0"/>
              <a:t> </a:t>
            </a:r>
            <a:r>
              <a:rPr lang="ar-EG" sz="2400" b="1" dirty="0" err="1"/>
              <a:t>ناعمه</a:t>
            </a:r>
            <a:r>
              <a:rPr lang="ar-EG" sz="2400" b="1" dirty="0"/>
              <a:t> </a:t>
            </a:r>
            <a:r>
              <a:rPr lang="en-US" sz="2400" b="1" dirty="0"/>
              <a:t>Soft Lighting</a:t>
            </a:r>
            <a:r>
              <a:rPr lang="ar-EG" sz="2400" b="1" dirty="0"/>
              <a:t>وهو توصيف يشير </a:t>
            </a:r>
            <a:r>
              <a:rPr lang="ar-EG" sz="2400" b="1" dirty="0" err="1"/>
              <a:t>الى</a:t>
            </a:r>
            <a:r>
              <a:rPr lang="ar-EG" sz="2400" b="1" dirty="0"/>
              <a:t> كيفية توزيع </a:t>
            </a:r>
            <a:r>
              <a:rPr lang="ar-EG" sz="2400" b="1" dirty="0" err="1"/>
              <a:t>الاضاءه</a:t>
            </a:r>
            <a:r>
              <a:rPr lang="ar-EG" sz="2400" b="1" dirty="0"/>
              <a:t> </a:t>
            </a:r>
            <a:r>
              <a:rPr lang="en-US" sz="2400" b="1" dirty="0"/>
              <a:t>Dispersion</a:t>
            </a:r>
            <a:r>
              <a:rPr lang="ar-EG" sz="2400" b="1" dirty="0"/>
              <a:t> بالطريقة التى تحقق تركيزها وسطوعها او تحقق نوعمتها وهدؤها</a:t>
            </a:r>
            <a:endParaRPr lang="en-US" sz="2400" b="1" dirty="0"/>
          </a:p>
          <a:p>
            <a:pPr algn="r" rtl="1"/>
            <a:r>
              <a:rPr lang="ar-EG" sz="2800" b="1" dirty="0">
                <a:solidFill>
                  <a:schemeClr val="tx2"/>
                </a:solidFill>
              </a:rPr>
              <a:t>2 – شدة </a:t>
            </a:r>
            <a:r>
              <a:rPr lang="ar-EG" sz="2800" b="1" dirty="0" err="1">
                <a:solidFill>
                  <a:schemeClr val="tx2"/>
                </a:solidFill>
              </a:rPr>
              <a:t>الاضاءه</a:t>
            </a:r>
            <a:r>
              <a:rPr lang="ar-EG" sz="2800" b="1" dirty="0">
                <a:solidFill>
                  <a:schemeClr val="tx2"/>
                </a:solidFill>
              </a:rPr>
              <a:t> </a:t>
            </a:r>
            <a:r>
              <a:rPr lang="en-US" sz="2800" b="1" dirty="0">
                <a:solidFill>
                  <a:schemeClr val="tx2"/>
                </a:solidFill>
              </a:rPr>
              <a:t>Light Intensity</a:t>
            </a:r>
            <a:endParaRPr lang="en-US" sz="2000" dirty="0">
              <a:solidFill>
                <a:schemeClr val="tx2"/>
              </a:solidFill>
            </a:endParaRPr>
          </a:p>
          <a:p>
            <a:pPr algn="r" rtl="1"/>
            <a:r>
              <a:rPr lang="ar-EG" sz="2400" b="1" dirty="0"/>
              <a:t>المقصود بها كمية الاضاءة اللازمة لتصوير الموضوع ويتوقف منسوب شدة الاضاءة على حساسية الفيلم على فتحة العدسة المستخدمة ( الرقم البؤرى الدال على فتحة العدسة ) ولذا فأنه كلما زادت الاضاءة كلما زادت البعد البؤرى لان الضوء عندما يكون قوياً يصبح من الضرورى تضيق فتحة العدسة مما يعطى عمقاً بؤرياً اكبر اما عندما تقل كمية الضوء فيصبح من المحتم ان نستخدم فتحة اكبر للعدسة ومن ثم يقل العمق البؤرى ويتم اللجوء الى ذلك فى حالات معينة وخاصة عند الحاجة الى التقليل من اهمية عناصر الخلفية وعند الرغبة فى اظهارها واضحة حادة بنفس درجة وضوح العناصر الاماميه </a:t>
            </a:r>
            <a:endParaRPr lang="en-US" sz="2400" b="1" dirty="0"/>
          </a:p>
          <a:p>
            <a:pPr algn="r" rtl="1"/>
            <a:r>
              <a:rPr lang="ar-EG" sz="2800" b="1" dirty="0">
                <a:solidFill>
                  <a:schemeClr val="tx2"/>
                </a:solidFill>
              </a:rPr>
              <a:t>3 – اتجاه </a:t>
            </a:r>
            <a:r>
              <a:rPr lang="ar-EG" sz="2800" b="1" dirty="0" err="1">
                <a:solidFill>
                  <a:schemeClr val="tx2"/>
                </a:solidFill>
              </a:rPr>
              <a:t>الاضاءة</a:t>
            </a:r>
            <a:r>
              <a:rPr lang="ar-EG" sz="2800" b="1" dirty="0">
                <a:solidFill>
                  <a:schemeClr val="tx2"/>
                </a:solidFill>
              </a:rPr>
              <a:t> </a:t>
            </a:r>
            <a:r>
              <a:rPr lang="en-US" sz="2800" b="1" dirty="0">
                <a:solidFill>
                  <a:schemeClr val="tx2"/>
                </a:solidFill>
              </a:rPr>
              <a:t>Direction of the light</a:t>
            </a:r>
            <a:endParaRPr lang="en-US" sz="2000" dirty="0">
              <a:solidFill>
                <a:schemeClr val="tx2"/>
              </a:solidFill>
            </a:endParaRPr>
          </a:p>
          <a:p>
            <a:pPr algn="r" rtl="1"/>
            <a:r>
              <a:rPr lang="ar-EG" sz="2400" b="1" dirty="0"/>
              <a:t>المقصود باتجاه </a:t>
            </a:r>
            <a:r>
              <a:rPr lang="ar-EG" sz="2400" b="1" dirty="0" err="1"/>
              <a:t>الاضاءة</a:t>
            </a:r>
            <a:r>
              <a:rPr lang="ar-EG" sz="2400" b="1" dirty="0"/>
              <a:t> هو : مصدر الضوء بالنسبة لموضوع الكاميرا فقد تكون </a:t>
            </a:r>
            <a:r>
              <a:rPr lang="ar-EG" sz="2400" b="1" dirty="0" err="1"/>
              <a:t>الاضاءة</a:t>
            </a:r>
            <a:r>
              <a:rPr lang="ar-EG" sz="2400" b="1" dirty="0"/>
              <a:t> خلفية " </a:t>
            </a:r>
            <a:r>
              <a:rPr lang="en-US" sz="2400" b="1" dirty="0"/>
              <a:t>Back Lighting</a:t>
            </a:r>
            <a:r>
              <a:rPr lang="ar-EG" sz="2400" b="1" dirty="0"/>
              <a:t> " وان تكون </a:t>
            </a:r>
            <a:r>
              <a:rPr lang="ar-EG" sz="2400" b="1" dirty="0" err="1"/>
              <a:t>امامية</a:t>
            </a:r>
            <a:r>
              <a:rPr lang="ar-EG" sz="2400" b="1" dirty="0"/>
              <a:t> " </a:t>
            </a:r>
            <a:r>
              <a:rPr lang="en-US" sz="2400" b="1" dirty="0"/>
              <a:t>Lighting Front</a:t>
            </a:r>
            <a:r>
              <a:rPr lang="ar-EG" sz="2400" b="1" dirty="0"/>
              <a:t> " وقد تكون جانبية " </a:t>
            </a:r>
            <a:r>
              <a:rPr lang="en-US" sz="2400" b="1" dirty="0"/>
              <a:t>Side Lighting</a:t>
            </a:r>
            <a:r>
              <a:rPr lang="ar-EG" sz="2400" b="1" dirty="0"/>
              <a:t> " </a:t>
            </a:r>
            <a:r>
              <a:rPr lang="ar-EG" sz="2400" b="1" dirty="0" err="1"/>
              <a:t>او</a:t>
            </a:r>
            <a:r>
              <a:rPr lang="ar-EG" sz="2400" b="1" dirty="0"/>
              <a:t> </a:t>
            </a:r>
            <a:r>
              <a:rPr lang="ar-EG" sz="2400" b="1" dirty="0" err="1"/>
              <a:t>اضاءة</a:t>
            </a:r>
            <a:r>
              <a:rPr lang="ar-EG" sz="2400" b="1" dirty="0"/>
              <a:t> للحافة " </a:t>
            </a:r>
            <a:r>
              <a:rPr lang="en-US" sz="2400" b="1" dirty="0"/>
              <a:t>Edge Lighting</a:t>
            </a:r>
            <a:r>
              <a:rPr lang="ar-EG" sz="2400" b="1" dirty="0"/>
              <a:t> " </a:t>
            </a:r>
            <a:endParaRPr lang="en-US" sz="2400" b="1" dirty="0"/>
          </a:p>
          <a:p>
            <a:pPr algn="r" rtl="1"/>
            <a:endParaRPr lang="ar-EG" sz="2000" dirty="0"/>
          </a:p>
        </p:txBody>
      </p:sp>
    </p:spTree>
    <p:extLst>
      <p:ext uri="{BB962C8B-B14F-4D97-AF65-F5344CB8AC3E}">
        <p14:creationId xmlns:p14="http://schemas.microsoft.com/office/powerpoint/2010/main" val="2534067728"/>
      </p:ext>
    </p:extLst>
  </p:cSld>
  <p:clrMapOvr>
    <a:masterClrMapping/>
  </p:clrMapOvr>
  <p:transition spd="slow">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iterate type="lt">
                                    <p:tmPct val="0"/>
                                  </p:iterate>
                                  <p:childTnLst>
                                    <p:set>
                                      <p:cBhvr>
                                        <p:cTn id="6" dur="1" fill="hold">
                                          <p:stCondLst>
                                            <p:cond delay="0"/>
                                          </p:stCondLst>
                                        </p:cTn>
                                        <p:tgtEl>
                                          <p:spTgt spid="2"/>
                                        </p:tgtEl>
                                        <p:attrNameLst>
                                          <p:attrName>style.visibility</p:attrName>
                                        </p:attrNameLst>
                                      </p:cBhvr>
                                      <p:to>
                                        <p:strVal val="visible"/>
                                      </p:to>
                                    </p:set>
                                    <p:animEffect transition="in" filter="fade">
                                      <p:cBhvr>
                                        <p:cTn id="7" dur="800" decel="100000"/>
                                        <p:tgtEl>
                                          <p:spTgt spid="2"/>
                                        </p:tgtEl>
                                      </p:cBhvr>
                                    </p:animEffect>
                                    <p:anim calcmode="lin" valueType="num">
                                      <p:cBhvr>
                                        <p:cTn id="8" dur="800" decel="100000" fill="hold"/>
                                        <p:tgtEl>
                                          <p:spTgt spid="2"/>
                                        </p:tgtEl>
                                        <p:attrNameLst>
                                          <p:attrName>style.rotation</p:attrName>
                                        </p:attrNameLst>
                                      </p:cBhvr>
                                      <p:tavLst>
                                        <p:tav tm="0">
                                          <p:val>
                                            <p:fltVal val="-90"/>
                                          </p:val>
                                        </p:tav>
                                        <p:tav tm="100000">
                                          <p:val>
                                            <p:fltVal val="0"/>
                                          </p:val>
                                        </p:tav>
                                      </p:tavLst>
                                    </p:anim>
                                    <p:anim calcmode="lin" valueType="num">
                                      <p:cBhvr>
                                        <p:cTn id="9" dur="800" decel="100000" fill="hold"/>
                                        <p:tgtEl>
                                          <p:spTgt spid="2"/>
                                        </p:tgtEl>
                                        <p:attrNameLst>
                                          <p:attrName>ppt_x</p:attrName>
                                        </p:attrNameLst>
                                      </p:cBhvr>
                                      <p:tavLst>
                                        <p:tav tm="0">
                                          <p:val>
                                            <p:strVal val="#ppt_x+0.4"/>
                                          </p:val>
                                        </p:tav>
                                        <p:tav tm="100000">
                                          <p:val>
                                            <p:strVal val="#ppt_x-0.05"/>
                                          </p:val>
                                        </p:tav>
                                      </p:tavLst>
                                    </p:anim>
                                    <p:anim calcmode="lin" valueType="num">
                                      <p:cBhvr>
                                        <p:cTn id="10" dur="800" decel="100000" fill="hold"/>
                                        <p:tgtEl>
                                          <p:spTgt spid="2"/>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2"/>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2"/>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34" presetClass="emph" presetSubtype="0" fill="hold" grpId="1" nodeType="afterEffect">
                                  <p:stCondLst>
                                    <p:cond delay="0"/>
                                  </p:stCondLst>
                                  <p:iterate type="lt">
                                    <p:tmPct val="10000"/>
                                  </p:iterate>
                                  <p:childTnLst>
                                    <p:animMotion origin="layout" path="M 0.0 0.0 L 0.0 -0.07213" pathEditMode="relative" ptsTypes="">
                                      <p:cBhvr>
                                        <p:cTn id="15" dur="250" accel="50000" decel="50000" autoRev="1" fill="hold">
                                          <p:stCondLst>
                                            <p:cond delay="0"/>
                                          </p:stCondLst>
                                        </p:cTn>
                                        <p:tgtEl>
                                          <p:spTgt spid="2"/>
                                        </p:tgtEl>
                                        <p:attrNameLst>
                                          <p:attrName>ppt_x</p:attrName>
                                          <p:attrName>ppt_y</p:attrName>
                                        </p:attrNameLst>
                                      </p:cBhvr>
                                    </p:animMotion>
                                    <p:animRot by="1500000">
                                      <p:cBhvr>
                                        <p:cTn id="16" dur="125" fill="hold">
                                          <p:stCondLst>
                                            <p:cond delay="0"/>
                                          </p:stCondLst>
                                        </p:cTn>
                                        <p:tgtEl>
                                          <p:spTgt spid="2"/>
                                        </p:tgtEl>
                                        <p:attrNameLst>
                                          <p:attrName>r</p:attrName>
                                        </p:attrNameLst>
                                      </p:cBhvr>
                                    </p:animRot>
                                    <p:animRot by="-1500000">
                                      <p:cBhvr>
                                        <p:cTn id="17" dur="125" fill="hold">
                                          <p:stCondLst>
                                            <p:cond delay="125"/>
                                          </p:stCondLst>
                                        </p:cTn>
                                        <p:tgtEl>
                                          <p:spTgt spid="2"/>
                                        </p:tgtEl>
                                        <p:attrNameLst>
                                          <p:attrName>r</p:attrName>
                                        </p:attrNameLst>
                                      </p:cBhvr>
                                    </p:animRot>
                                    <p:animRot by="-1500000">
                                      <p:cBhvr>
                                        <p:cTn id="18" dur="125" fill="hold">
                                          <p:stCondLst>
                                            <p:cond delay="250"/>
                                          </p:stCondLst>
                                        </p:cTn>
                                        <p:tgtEl>
                                          <p:spTgt spid="2"/>
                                        </p:tgtEl>
                                        <p:attrNameLst>
                                          <p:attrName>r</p:attrName>
                                        </p:attrNameLst>
                                      </p:cBhvr>
                                    </p:animRot>
                                    <p:animRot by="1500000">
                                      <p:cBhvr>
                                        <p:cTn id="19" dur="125" fill="hold">
                                          <p:stCondLst>
                                            <p:cond delay="375"/>
                                          </p:stCondLst>
                                        </p:cTn>
                                        <p:tgtEl>
                                          <p:spTgt spid="2"/>
                                        </p:tgtEl>
                                        <p:attrNameLst>
                                          <p:attrName>r</p:attrName>
                                        </p:attrNameLst>
                                      </p:cBhvr>
                                    </p:animRot>
                                  </p:childTnLst>
                                </p:cTn>
                              </p:par>
                            </p:childTnLst>
                          </p:cTn>
                        </p:par>
                      </p:childTnLst>
                    </p:cTn>
                  </p:par>
                  <p:par>
                    <p:cTn id="20" fill="hold">
                      <p:stCondLst>
                        <p:cond delay="indefinite"/>
                      </p:stCondLst>
                      <p:childTnLst>
                        <p:par>
                          <p:cTn id="21" fill="hold">
                            <p:stCondLst>
                              <p:cond delay="0"/>
                            </p:stCondLst>
                            <p:childTnLst>
                              <p:par>
                                <p:cTn id="22" presetID="41" presetClass="entr" presetSubtype="0" fill="hold" nodeType="clickEffect">
                                  <p:stCondLst>
                                    <p:cond delay="0"/>
                                  </p:stCondLst>
                                  <p:iterate type="lt">
                                    <p:tmPct val="10000"/>
                                  </p:iterate>
                                  <p:childTnLst>
                                    <p:set>
                                      <p:cBhvr>
                                        <p:cTn id="23" dur="1" fill="hold">
                                          <p:stCondLst>
                                            <p:cond delay="0"/>
                                          </p:stCondLst>
                                        </p:cTn>
                                        <p:tgtEl>
                                          <p:spTgt spid="3">
                                            <p:txEl>
                                              <p:pRg st="0" end="0"/>
                                            </p:txEl>
                                          </p:spTgt>
                                        </p:tgtEl>
                                        <p:attrNameLst>
                                          <p:attrName>style.visibility</p:attrName>
                                        </p:attrNameLst>
                                      </p:cBhvr>
                                      <p:to>
                                        <p:strVal val="visible"/>
                                      </p:to>
                                    </p:set>
                                    <p:anim calcmode="lin" valueType="num">
                                      <p:cBhvr>
                                        <p:cTn id="24" dur="500" fill="hold"/>
                                        <p:tgtEl>
                                          <p:spTgt spid="3">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25" dur="500" fill="hold"/>
                                        <p:tgtEl>
                                          <p:spTgt spid="3">
                                            <p:txEl>
                                              <p:pRg st="0" end="0"/>
                                            </p:txEl>
                                          </p:spTgt>
                                        </p:tgtEl>
                                        <p:attrNameLst>
                                          <p:attrName>ppt_y</p:attrName>
                                        </p:attrNameLst>
                                      </p:cBhvr>
                                      <p:tavLst>
                                        <p:tav tm="0">
                                          <p:val>
                                            <p:strVal val="#ppt_y"/>
                                          </p:val>
                                        </p:tav>
                                        <p:tav tm="100000">
                                          <p:val>
                                            <p:strVal val="#ppt_y"/>
                                          </p:val>
                                        </p:tav>
                                      </p:tavLst>
                                    </p:anim>
                                    <p:anim calcmode="lin" valueType="num">
                                      <p:cBhvr>
                                        <p:cTn id="26" dur="500" fill="hold"/>
                                        <p:tgtEl>
                                          <p:spTgt spid="3">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7" dur="500" fill="hold"/>
                                        <p:tgtEl>
                                          <p:spTgt spid="3">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8" dur="500" tmFilter="0,0; .5, 1; 1, 1"/>
                                        <p:tgtEl>
                                          <p:spTgt spid="3">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8" presetClass="entr" presetSubtype="16" fill="hold" nodeType="clickEffect">
                                  <p:stCondLst>
                                    <p:cond delay="0"/>
                                  </p:stCondLst>
                                  <p:childTnLst>
                                    <p:set>
                                      <p:cBhvr>
                                        <p:cTn id="32" dur="1" fill="hold">
                                          <p:stCondLst>
                                            <p:cond delay="0"/>
                                          </p:stCondLst>
                                        </p:cTn>
                                        <p:tgtEl>
                                          <p:spTgt spid="3">
                                            <p:txEl>
                                              <p:pRg st="1" end="1"/>
                                            </p:txEl>
                                          </p:spTgt>
                                        </p:tgtEl>
                                        <p:attrNameLst>
                                          <p:attrName>style.visibility</p:attrName>
                                        </p:attrNameLst>
                                      </p:cBhvr>
                                      <p:to>
                                        <p:strVal val="visible"/>
                                      </p:to>
                                    </p:set>
                                    <p:animEffect transition="in" filter="diamond(in)">
                                      <p:cBhvr>
                                        <p:cTn id="33" dur="2000"/>
                                        <p:tgtEl>
                                          <p:spTgt spid="3">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41" presetClass="entr" presetSubtype="0" fill="hold" nodeType="clickEffect">
                                  <p:stCondLst>
                                    <p:cond delay="0"/>
                                  </p:stCondLst>
                                  <p:iterate type="lt">
                                    <p:tmPct val="10000"/>
                                  </p:iterate>
                                  <p:childTnLst>
                                    <p:set>
                                      <p:cBhvr>
                                        <p:cTn id="37" dur="1" fill="hold">
                                          <p:stCondLst>
                                            <p:cond delay="0"/>
                                          </p:stCondLst>
                                        </p:cTn>
                                        <p:tgtEl>
                                          <p:spTgt spid="3">
                                            <p:txEl>
                                              <p:pRg st="2" end="2"/>
                                            </p:txEl>
                                          </p:spTgt>
                                        </p:tgtEl>
                                        <p:attrNameLst>
                                          <p:attrName>style.visibility</p:attrName>
                                        </p:attrNameLst>
                                      </p:cBhvr>
                                      <p:to>
                                        <p:strVal val="visible"/>
                                      </p:to>
                                    </p:set>
                                    <p:anim calcmode="lin" valueType="num">
                                      <p:cBhvr>
                                        <p:cTn id="38" dur="500" fill="hold"/>
                                        <p:tgtEl>
                                          <p:spTgt spid="3">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39" dur="500" fill="hold"/>
                                        <p:tgtEl>
                                          <p:spTgt spid="3">
                                            <p:txEl>
                                              <p:pRg st="2" end="2"/>
                                            </p:txEl>
                                          </p:spTgt>
                                        </p:tgtEl>
                                        <p:attrNameLst>
                                          <p:attrName>ppt_y</p:attrName>
                                        </p:attrNameLst>
                                      </p:cBhvr>
                                      <p:tavLst>
                                        <p:tav tm="0">
                                          <p:val>
                                            <p:strVal val="#ppt_y"/>
                                          </p:val>
                                        </p:tav>
                                        <p:tav tm="100000">
                                          <p:val>
                                            <p:strVal val="#ppt_y"/>
                                          </p:val>
                                        </p:tav>
                                      </p:tavLst>
                                    </p:anim>
                                    <p:anim calcmode="lin" valueType="num">
                                      <p:cBhvr>
                                        <p:cTn id="40" dur="500" fill="hold"/>
                                        <p:tgtEl>
                                          <p:spTgt spid="3">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1" dur="500" fill="hold"/>
                                        <p:tgtEl>
                                          <p:spTgt spid="3">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2" dur="500" tmFilter="0,0; .5, 1; 1, 1"/>
                                        <p:tgtEl>
                                          <p:spTgt spid="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8" presetClass="entr" presetSubtype="16" fill="hold"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Effect transition="in" filter="diamond(in)">
                                      <p:cBhvr>
                                        <p:cTn id="47" dur="2000"/>
                                        <p:tgtEl>
                                          <p:spTgt spid="3">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1" presetClass="entr" presetSubtype="0" fill="hold" nodeType="clickEffect">
                                  <p:stCondLst>
                                    <p:cond delay="0"/>
                                  </p:stCondLst>
                                  <p:iterate type="lt">
                                    <p:tmPct val="10000"/>
                                  </p:iterate>
                                  <p:childTnLst>
                                    <p:set>
                                      <p:cBhvr>
                                        <p:cTn id="51" dur="1" fill="hold">
                                          <p:stCondLst>
                                            <p:cond delay="0"/>
                                          </p:stCondLst>
                                        </p:cTn>
                                        <p:tgtEl>
                                          <p:spTgt spid="3">
                                            <p:txEl>
                                              <p:pRg st="4" end="4"/>
                                            </p:txEl>
                                          </p:spTgt>
                                        </p:tgtEl>
                                        <p:attrNameLst>
                                          <p:attrName>style.visibility</p:attrName>
                                        </p:attrNameLst>
                                      </p:cBhvr>
                                      <p:to>
                                        <p:strVal val="visible"/>
                                      </p:to>
                                    </p:set>
                                    <p:anim calcmode="lin" valueType="num">
                                      <p:cBhvr>
                                        <p:cTn id="52" dur="500" fill="hold"/>
                                        <p:tgtEl>
                                          <p:spTgt spid="3">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53" dur="500" fill="hold"/>
                                        <p:tgtEl>
                                          <p:spTgt spid="3">
                                            <p:txEl>
                                              <p:pRg st="4" end="4"/>
                                            </p:txEl>
                                          </p:spTgt>
                                        </p:tgtEl>
                                        <p:attrNameLst>
                                          <p:attrName>ppt_y</p:attrName>
                                        </p:attrNameLst>
                                      </p:cBhvr>
                                      <p:tavLst>
                                        <p:tav tm="0">
                                          <p:val>
                                            <p:strVal val="#ppt_y"/>
                                          </p:val>
                                        </p:tav>
                                        <p:tav tm="100000">
                                          <p:val>
                                            <p:strVal val="#ppt_y"/>
                                          </p:val>
                                        </p:tav>
                                      </p:tavLst>
                                    </p:anim>
                                    <p:anim calcmode="lin" valueType="num">
                                      <p:cBhvr>
                                        <p:cTn id="54" dur="500" fill="hold"/>
                                        <p:tgtEl>
                                          <p:spTgt spid="3">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5" dur="500" fill="hold"/>
                                        <p:tgtEl>
                                          <p:spTgt spid="3">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6" dur="500" tmFilter="0,0; .5, 1; 1, 1"/>
                                        <p:tgtEl>
                                          <p:spTgt spid="3">
                                            <p:txEl>
                                              <p:pRg st="4" end="4"/>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8" presetClass="entr" presetSubtype="16" fill="hold" nodeType="clickEffect">
                                  <p:stCondLst>
                                    <p:cond delay="0"/>
                                  </p:stCondLst>
                                  <p:childTnLst>
                                    <p:set>
                                      <p:cBhvr>
                                        <p:cTn id="60" dur="1" fill="hold">
                                          <p:stCondLst>
                                            <p:cond delay="0"/>
                                          </p:stCondLst>
                                        </p:cTn>
                                        <p:tgtEl>
                                          <p:spTgt spid="3">
                                            <p:txEl>
                                              <p:pRg st="5" end="5"/>
                                            </p:txEl>
                                          </p:spTgt>
                                        </p:tgtEl>
                                        <p:attrNameLst>
                                          <p:attrName>style.visibility</p:attrName>
                                        </p:attrNameLst>
                                      </p:cBhvr>
                                      <p:to>
                                        <p:strVal val="visible"/>
                                      </p:to>
                                    </p:set>
                                    <p:animEffect transition="in" filter="diamond(in)">
                                      <p:cBhvr>
                                        <p:cTn id="61"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285852" y="87082"/>
            <a:ext cx="7500991"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1">
            <a:spAutoFit/>
          </a:bodyPr>
          <a:lstStyle/>
          <a:p>
            <a:pPr algn="ctr"/>
            <a:r>
              <a:rPr lang="ar-EG" sz="2800" b="1" dirty="0"/>
              <a:t>الأساليب المستخدمة </a:t>
            </a:r>
            <a:r>
              <a:rPr lang="ar-EG" sz="2800" b="1" dirty="0" err="1"/>
              <a:t>فى</a:t>
            </a:r>
            <a:r>
              <a:rPr lang="ar-EG" sz="2800" b="1" dirty="0"/>
              <a:t> توزيع الإضاءة </a:t>
            </a:r>
            <a:r>
              <a:rPr lang="ar-EG" sz="2800" b="1" dirty="0" err="1"/>
              <a:t>فى</a:t>
            </a:r>
            <a:r>
              <a:rPr lang="ar-EG" sz="2800" b="1" dirty="0"/>
              <a:t> البرامج الوسائط </a:t>
            </a:r>
            <a:endParaRPr lang="en-US" sz="2800" dirty="0"/>
          </a:p>
        </p:txBody>
      </p:sp>
      <p:sp>
        <p:nvSpPr>
          <p:cNvPr id="3" name="مربع نص 2"/>
          <p:cNvSpPr txBox="1"/>
          <p:nvPr/>
        </p:nvSpPr>
        <p:spPr>
          <a:xfrm>
            <a:off x="357159" y="766917"/>
            <a:ext cx="8654106" cy="6001643"/>
          </a:xfrm>
          <a:prstGeom prst="rect">
            <a:avLst/>
          </a:prstGeom>
          <a:noFill/>
        </p:spPr>
        <p:txBody>
          <a:bodyPr wrap="square" rtlCol="1">
            <a:spAutoFit/>
          </a:bodyPr>
          <a:lstStyle/>
          <a:p>
            <a:pPr algn="r" rtl="1"/>
            <a:r>
              <a:rPr lang="ar-EG" sz="3200" b="1" dirty="0">
                <a:solidFill>
                  <a:schemeClr val="tx2"/>
                </a:solidFill>
              </a:rPr>
              <a:t>1 – الضوء </a:t>
            </a:r>
            <a:r>
              <a:rPr lang="ar-EG" sz="3200" b="1" dirty="0" err="1">
                <a:solidFill>
                  <a:schemeClr val="tx2"/>
                </a:solidFill>
              </a:rPr>
              <a:t>الاساسى</a:t>
            </a:r>
            <a:r>
              <a:rPr lang="ar-EG" sz="3200" b="1" dirty="0">
                <a:solidFill>
                  <a:schemeClr val="tx2"/>
                </a:solidFill>
              </a:rPr>
              <a:t> </a:t>
            </a:r>
            <a:r>
              <a:rPr lang="ar-EG" sz="3200" b="1" dirty="0" err="1">
                <a:solidFill>
                  <a:schemeClr val="tx2"/>
                </a:solidFill>
              </a:rPr>
              <a:t>او</a:t>
            </a:r>
            <a:r>
              <a:rPr lang="ar-EG" sz="3200" b="1" dirty="0">
                <a:solidFill>
                  <a:schemeClr val="tx2"/>
                </a:solidFill>
              </a:rPr>
              <a:t> </a:t>
            </a:r>
            <a:r>
              <a:rPr lang="ar-EG" sz="3200" b="1" dirty="0" err="1">
                <a:solidFill>
                  <a:schemeClr val="tx2"/>
                </a:solidFill>
              </a:rPr>
              <a:t>الاضاءة</a:t>
            </a:r>
            <a:r>
              <a:rPr lang="ar-EG" sz="3200" b="1" dirty="0">
                <a:solidFill>
                  <a:schemeClr val="tx2"/>
                </a:solidFill>
              </a:rPr>
              <a:t> الرئيسية </a:t>
            </a:r>
            <a:r>
              <a:rPr lang="en-US" sz="3200" b="1" dirty="0">
                <a:solidFill>
                  <a:schemeClr val="tx2"/>
                </a:solidFill>
              </a:rPr>
              <a:t>Key Light</a:t>
            </a:r>
            <a:endParaRPr lang="en-US" sz="2400" dirty="0">
              <a:solidFill>
                <a:schemeClr val="tx2"/>
              </a:solidFill>
            </a:endParaRPr>
          </a:p>
          <a:p>
            <a:pPr algn="r" rtl="1"/>
            <a:r>
              <a:rPr lang="ar-EG" sz="2400" dirty="0"/>
              <a:t>وهو مصدر ضوء </a:t>
            </a:r>
            <a:r>
              <a:rPr lang="ar-EG" sz="2400" dirty="0" err="1"/>
              <a:t>أساسى</a:t>
            </a:r>
            <a:r>
              <a:rPr lang="ar-EG" sz="2400" dirty="0"/>
              <a:t> يوضح اتجاه </a:t>
            </a:r>
            <a:r>
              <a:rPr lang="ar-EG" sz="2400" dirty="0" err="1"/>
              <a:t>الاضاءة</a:t>
            </a:r>
            <a:r>
              <a:rPr lang="ar-EG" sz="2400" dirty="0"/>
              <a:t> الساقطة على الموضوع </a:t>
            </a:r>
            <a:r>
              <a:rPr lang="ar-EG" sz="2400" dirty="0" err="1"/>
              <a:t>او</a:t>
            </a:r>
            <a:r>
              <a:rPr lang="ar-EG" sz="2400" dirty="0"/>
              <a:t> الشخص ويقوم هذا الضوء بالدلالة على اتجاه </a:t>
            </a:r>
            <a:r>
              <a:rPr lang="ar-EG" sz="2400" dirty="0" err="1"/>
              <a:t>الاضاءة</a:t>
            </a:r>
            <a:r>
              <a:rPr lang="ar-EG" sz="2400" dirty="0"/>
              <a:t> </a:t>
            </a:r>
            <a:r>
              <a:rPr lang="ar-EG" sz="2400" dirty="0" err="1"/>
              <a:t>الذى</a:t>
            </a:r>
            <a:r>
              <a:rPr lang="ar-EG" sz="2400" dirty="0"/>
              <a:t> يرغب مخرج البرامج التعليمية </a:t>
            </a:r>
            <a:r>
              <a:rPr lang="ar-EG" sz="2400" dirty="0" err="1"/>
              <a:t>ان</a:t>
            </a:r>
            <a:r>
              <a:rPr lang="ar-EG" sz="2400" dirty="0"/>
              <a:t> يوحى </a:t>
            </a:r>
            <a:r>
              <a:rPr lang="ar-EG" sz="2400" dirty="0" err="1"/>
              <a:t>بها</a:t>
            </a:r>
            <a:r>
              <a:rPr lang="ar-EG" sz="2400" dirty="0"/>
              <a:t> </a:t>
            </a:r>
            <a:r>
              <a:rPr lang="ar-EG" sz="2400" dirty="0" err="1"/>
              <a:t>للمتلقى</a:t>
            </a:r>
            <a:r>
              <a:rPr lang="ar-EG" sz="2400" dirty="0"/>
              <a:t> كما يوضح تقدير طبقة </a:t>
            </a:r>
            <a:r>
              <a:rPr lang="ar-EG" sz="2400" dirty="0" err="1"/>
              <a:t>الاضاءة</a:t>
            </a:r>
            <a:r>
              <a:rPr lang="ar-EG" sz="2400" dirty="0"/>
              <a:t> سواء </a:t>
            </a:r>
            <a:r>
              <a:rPr lang="ar-EG" sz="2400" dirty="0" err="1"/>
              <a:t>الاضاءة</a:t>
            </a:r>
            <a:r>
              <a:rPr lang="ar-EG" sz="2400" dirty="0"/>
              <a:t> المنخفضة " </a:t>
            </a:r>
            <a:r>
              <a:rPr lang="en-US" sz="2400" dirty="0"/>
              <a:t>Low Key</a:t>
            </a:r>
            <a:r>
              <a:rPr lang="ar-EG" sz="2400" dirty="0"/>
              <a:t> " </a:t>
            </a:r>
            <a:r>
              <a:rPr lang="ar-EG" sz="2400" dirty="0" err="1"/>
              <a:t>او</a:t>
            </a:r>
            <a:r>
              <a:rPr lang="ar-EG" sz="2400" dirty="0"/>
              <a:t> </a:t>
            </a:r>
            <a:r>
              <a:rPr lang="ar-EG" sz="2400" dirty="0" err="1"/>
              <a:t>الاضاءة</a:t>
            </a:r>
            <a:r>
              <a:rPr lang="ar-EG" sz="2400" dirty="0"/>
              <a:t> العالية " </a:t>
            </a:r>
            <a:r>
              <a:rPr lang="en-US" sz="2400" dirty="0"/>
              <a:t>High Key</a:t>
            </a:r>
            <a:r>
              <a:rPr lang="ar-EG" sz="2400" dirty="0"/>
              <a:t> " ومن اهم الوظائف الرئيسية للضوء الاساسى هو التحكم فى الشكل الخاص بالموضوع المراد تصويره اى خلق الظلال الرئيسية وابراز شكل الاشياء وتجسيد التكزين الاساسى للمنظور فى ابعاده الثلاثه . </a:t>
            </a:r>
            <a:endParaRPr lang="en-US" sz="2400" dirty="0"/>
          </a:p>
          <a:p>
            <a:pPr algn="r" rtl="1"/>
            <a:r>
              <a:rPr lang="ar-EG" sz="3200" b="1" dirty="0">
                <a:solidFill>
                  <a:schemeClr val="tx2"/>
                </a:solidFill>
              </a:rPr>
              <a:t>2 – </a:t>
            </a:r>
            <a:r>
              <a:rPr lang="ar-EG" sz="3200" b="1" dirty="0" err="1">
                <a:solidFill>
                  <a:schemeClr val="tx2"/>
                </a:solidFill>
              </a:rPr>
              <a:t>الاضاءة</a:t>
            </a:r>
            <a:r>
              <a:rPr lang="ar-EG" sz="3200" b="1" dirty="0">
                <a:solidFill>
                  <a:schemeClr val="tx2"/>
                </a:solidFill>
              </a:rPr>
              <a:t> الخلفية </a:t>
            </a:r>
            <a:r>
              <a:rPr lang="en-US" sz="3200" b="1" dirty="0">
                <a:solidFill>
                  <a:schemeClr val="tx2"/>
                </a:solidFill>
              </a:rPr>
              <a:t>Back Light </a:t>
            </a:r>
            <a:endParaRPr lang="en-US" sz="2400" dirty="0">
              <a:solidFill>
                <a:schemeClr val="tx2"/>
              </a:solidFill>
            </a:endParaRPr>
          </a:p>
          <a:p>
            <a:pPr algn="r" rtl="1"/>
            <a:r>
              <a:rPr lang="ar-EG" sz="2400" dirty="0"/>
              <a:t>اضاءة مباشرة تأتى اساسا من خلف الموضوع وذلك باظهار تأثيرات ضوئيه عل الحواف الخارجيه للموضوع المصور ويجب استخدام مصادر اضاءة مركزه توجه الى خلف الموضوع اى فى اتجاه مواجه للكاميرا لذا فانها فى حالة تصوير الاشخاص توجه صوب راس الشخص وكتفيه .</a:t>
            </a:r>
            <a:endParaRPr lang="en-US" sz="2400" dirty="0"/>
          </a:p>
          <a:p>
            <a:pPr algn="r" rtl="1"/>
            <a:r>
              <a:rPr lang="ar-EG" sz="3200" b="1" dirty="0">
                <a:solidFill>
                  <a:schemeClr val="tx2"/>
                </a:solidFill>
              </a:rPr>
              <a:t>3 – </a:t>
            </a:r>
            <a:r>
              <a:rPr lang="ar-EG" sz="3200" b="1" dirty="0" err="1">
                <a:solidFill>
                  <a:schemeClr val="tx2"/>
                </a:solidFill>
              </a:rPr>
              <a:t>الاضاءة</a:t>
            </a:r>
            <a:r>
              <a:rPr lang="ar-EG" sz="3200" b="1" dirty="0">
                <a:solidFill>
                  <a:schemeClr val="tx2"/>
                </a:solidFill>
              </a:rPr>
              <a:t> </a:t>
            </a:r>
            <a:r>
              <a:rPr lang="ar-EG" sz="3200" b="1" dirty="0" err="1">
                <a:solidFill>
                  <a:schemeClr val="tx2"/>
                </a:solidFill>
              </a:rPr>
              <a:t>الجانبيه</a:t>
            </a:r>
            <a:r>
              <a:rPr lang="ar-EG" sz="3200" b="1" dirty="0">
                <a:solidFill>
                  <a:schemeClr val="tx2"/>
                </a:solidFill>
              </a:rPr>
              <a:t> </a:t>
            </a:r>
            <a:r>
              <a:rPr lang="en-US" sz="3200" b="1" dirty="0">
                <a:solidFill>
                  <a:schemeClr val="tx2"/>
                </a:solidFill>
              </a:rPr>
              <a:t>Side Light</a:t>
            </a:r>
            <a:endParaRPr lang="en-US" sz="2400" dirty="0">
              <a:solidFill>
                <a:schemeClr val="tx2"/>
              </a:solidFill>
            </a:endParaRPr>
          </a:p>
          <a:p>
            <a:pPr algn="r" rtl="1"/>
            <a:r>
              <a:rPr lang="ar-EG" sz="2400" dirty="0"/>
              <a:t>هو الضوء التوجيهي </a:t>
            </a:r>
            <a:r>
              <a:rPr lang="ar-EG" sz="2400" dirty="0" err="1"/>
              <a:t>او</a:t>
            </a:r>
            <a:r>
              <a:rPr lang="ar-EG" sz="2400" dirty="0"/>
              <a:t> الموجه </a:t>
            </a:r>
            <a:r>
              <a:rPr lang="ar-EG" sz="2400" dirty="0" err="1"/>
              <a:t>الذى</a:t>
            </a:r>
            <a:r>
              <a:rPr lang="ar-EG" sz="2400" dirty="0"/>
              <a:t> يضئ الجانب </a:t>
            </a:r>
            <a:r>
              <a:rPr lang="ar-EG" sz="2400" dirty="0" err="1"/>
              <a:t>الامامى</a:t>
            </a:r>
            <a:r>
              <a:rPr lang="ar-EG" sz="2400" dirty="0"/>
              <a:t> للهدف </a:t>
            </a:r>
            <a:r>
              <a:rPr lang="ar-EG" sz="2400" dirty="0" err="1"/>
              <a:t>الذى</a:t>
            </a:r>
            <a:r>
              <a:rPr lang="ar-EG" sz="2400" dirty="0"/>
              <a:t> يكون عادة </a:t>
            </a:r>
            <a:r>
              <a:rPr lang="ar-EG" sz="2400" dirty="0" err="1"/>
              <a:t>فى</a:t>
            </a:r>
            <a:r>
              <a:rPr lang="ar-EG" sz="2400" dirty="0"/>
              <a:t> مواجهة الضوء </a:t>
            </a:r>
            <a:r>
              <a:rPr lang="ar-EG" sz="2400" dirty="0" err="1"/>
              <a:t>الرئيسى</a:t>
            </a:r>
            <a:r>
              <a:rPr lang="ar-EG" sz="2400" dirty="0"/>
              <a:t>.</a:t>
            </a:r>
            <a:endParaRPr lang="en-US" sz="2400" dirty="0"/>
          </a:p>
        </p:txBody>
      </p:sp>
    </p:spTree>
    <p:extLst>
      <p:ext uri="{BB962C8B-B14F-4D97-AF65-F5344CB8AC3E}">
        <p14:creationId xmlns:p14="http://schemas.microsoft.com/office/powerpoint/2010/main" val="3792049594"/>
      </p:ext>
    </p:extLst>
  </p:cSld>
  <p:clrMapOvr>
    <a:masterClrMapping/>
  </p:clrMapOvr>
  <p:transition spd="slow">
    <p:cover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4)">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ox(in)">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ox(in)">
                                      <p:cBhvr>
                                        <p:cTn id="27" dur="1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heckerboard(across)">
                                      <p:cBhvr>
                                        <p:cTn id="32" dur="1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ox(in)">
                                      <p:cBhvr>
                                        <p:cTn id="37"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0" y="146090"/>
            <a:ext cx="8996516" cy="6124754"/>
          </a:xfrm>
          <a:prstGeom prst="rect">
            <a:avLst/>
          </a:prstGeom>
          <a:noFill/>
        </p:spPr>
        <p:txBody>
          <a:bodyPr wrap="square" rtlCol="1">
            <a:spAutoFit/>
          </a:bodyPr>
          <a:lstStyle/>
          <a:p>
            <a:pPr algn="r" rtl="1"/>
            <a:r>
              <a:rPr lang="ar-EG" sz="3200" b="1" dirty="0">
                <a:solidFill>
                  <a:schemeClr val="tx2"/>
                </a:solidFill>
              </a:rPr>
              <a:t>4 – </a:t>
            </a:r>
            <a:r>
              <a:rPr lang="ar-EG" sz="3200" b="1" dirty="0" err="1">
                <a:solidFill>
                  <a:schemeClr val="tx2"/>
                </a:solidFill>
              </a:rPr>
              <a:t>الاضاءة</a:t>
            </a:r>
            <a:r>
              <a:rPr lang="ar-EG" sz="3200" b="1" dirty="0">
                <a:solidFill>
                  <a:schemeClr val="tx2"/>
                </a:solidFill>
              </a:rPr>
              <a:t> </a:t>
            </a:r>
            <a:r>
              <a:rPr lang="ar-EG" sz="3200" b="1" dirty="0" err="1">
                <a:solidFill>
                  <a:schemeClr val="tx2"/>
                </a:solidFill>
              </a:rPr>
              <a:t>المرتده</a:t>
            </a:r>
            <a:r>
              <a:rPr lang="ar-EG" sz="3200" b="1" dirty="0">
                <a:solidFill>
                  <a:schemeClr val="tx2"/>
                </a:solidFill>
              </a:rPr>
              <a:t> </a:t>
            </a:r>
            <a:r>
              <a:rPr lang="en-US" sz="3200" b="1" dirty="0">
                <a:solidFill>
                  <a:schemeClr val="tx2"/>
                </a:solidFill>
              </a:rPr>
              <a:t>Kicker Light</a:t>
            </a:r>
            <a:endParaRPr lang="en-US" sz="2400" dirty="0">
              <a:solidFill>
                <a:schemeClr val="tx2"/>
              </a:solidFill>
            </a:endParaRPr>
          </a:p>
          <a:p>
            <a:pPr algn="r" rtl="1"/>
            <a:r>
              <a:rPr lang="ar-EG" sz="2400" dirty="0"/>
              <a:t>هى اضاءة موجهه من الخلف ناحية جانب من جوانب الجسم المراد تصويره وعادة يكون بزاويه منخفضه .</a:t>
            </a:r>
            <a:endParaRPr lang="en-US" sz="2400" dirty="0"/>
          </a:p>
          <a:p>
            <a:pPr algn="r" rtl="1"/>
            <a:r>
              <a:rPr lang="ar-EG" sz="3200" b="1" dirty="0">
                <a:solidFill>
                  <a:schemeClr val="tx2"/>
                </a:solidFill>
              </a:rPr>
              <a:t>5 – </a:t>
            </a:r>
            <a:r>
              <a:rPr lang="ar-EG" sz="3200" b="1" dirty="0" err="1">
                <a:solidFill>
                  <a:schemeClr val="tx2"/>
                </a:solidFill>
              </a:rPr>
              <a:t>اضاءة</a:t>
            </a:r>
            <a:r>
              <a:rPr lang="ar-EG" sz="3200" b="1" dirty="0">
                <a:solidFill>
                  <a:schemeClr val="tx2"/>
                </a:solidFill>
              </a:rPr>
              <a:t> الكاميرا </a:t>
            </a:r>
            <a:r>
              <a:rPr lang="en-US" sz="3200" b="1" dirty="0">
                <a:solidFill>
                  <a:schemeClr val="tx2"/>
                </a:solidFill>
              </a:rPr>
              <a:t>Camera Light</a:t>
            </a:r>
          </a:p>
          <a:p>
            <a:pPr algn="r" rtl="1"/>
            <a:r>
              <a:rPr lang="ar-EG" sz="2400" dirty="0"/>
              <a:t>هو كشاف صغير يركب على الكاميرا التليفزيونيه وجدير بالملاحظه ان الاضاءه الامامية تستخدم لمزيد من التغطيه مثل وميض العينين او كمصدر اضاءة رأسى.</a:t>
            </a:r>
            <a:endParaRPr lang="en-US" sz="2400" dirty="0"/>
          </a:p>
          <a:p>
            <a:pPr algn="r" rtl="1"/>
            <a:r>
              <a:rPr lang="ar-EG" sz="3200" b="1" dirty="0">
                <a:solidFill>
                  <a:schemeClr val="tx2"/>
                </a:solidFill>
              </a:rPr>
              <a:t>6 – </a:t>
            </a:r>
            <a:r>
              <a:rPr lang="ar-EG" sz="3200" b="1" dirty="0" err="1">
                <a:solidFill>
                  <a:schemeClr val="tx2"/>
                </a:solidFill>
              </a:rPr>
              <a:t>الاضاءة</a:t>
            </a:r>
            <a:r>
              <a:rPr lang="ar-EG" sz="3200" b="1" dirty="0">
                <a:solidFill>
                  <a:schemeClr val="tx2"/>
                </a:solidFill>
              </a:rPr>
              <a:t> </a:t>
            </a:r>
            <a:r>
              <a:rPr lang="ar-EG" sz="3200" b="1" dirty="0" err="1">
                <a:solidFill>
                  <a:schemeClr val="tx2"/>
                </a:solidFill>
              </a:rPr>
              <a:t>التأثيريه</a:t>
            </a:r>
            <a:r>
              <a:rPr lang="ar-EG" sz="3200" b="1" dirty="0">
                <a:solidFill>
                  <a:schemeClr val="tx2"/>
                </a:solidFill>
              </a:rPr>
              <a:t> </a:t>
            </a:r>
            <a:r>
              <a:rPr lang="en-US" sz="3200" b="1" dirty="0">
                <a:solidFill>
                  <a:schemeClr val="tx2"/>
                </a:solidFill>
              </a:rPr>
              <a:t>Effects Lighting</a:t>
            </a:r>
          </a:p>
          <a:p>
            <a:pPr algn="r" rtl="1"/>
            <a:r>
              <a:rPr lang="ar-EG" sz="2400" dirty="0"/>
              <a:t>وهى الاضاءة التى تستخدم للحصول على تأثير معين مثل اضاءة من موقد او فحم او حريق او سقوط ظلال اشجار من نافذة او اشعة شمس او غيرها ويجب الاحتراس عند استخدام هذا النوع من الاضاءة حيث يمكن الحصول على تأثيرات عكسيه .</a:t>
            </a:r>
          </a:p>
          <a:p>
            <a:pPr algn="r" rtl="1"/>
            <a:r>
              <a:rPr lang="ar-EG" sz="3200" b="1" dirty="0">
                <a:solidFill>
                  <a:schemeClr val="tx2"/>
                </a:solidFill>
              </a:rPr>
              <a:t>7 – </a:t>
            </a:r>
            <a:r>
              <a:rPr lang="ar-EG" sz="3200" b="1" dirty="0" err="1">
                <a:solidFill>
                  <a:schemeClr val="tx2"/>
                </a:solidFill>
              </a:rPr>
              <a:t>اضاءة</a:t>
            </a:r>
            <a:r>
              <a:rPr lang="ar-EG" sz="3200" b="1" dirty="0">
                <a:solidFill>
                  <a:schemeClr val="tx2"/>
                </a:solidFill>
              </a:rPr>
              <a:t> </a:t>
            </a:r>
            <a:r>
              <a:rPr lang="ar-EG" sz="3200" b="1" dirty="0" err="1">
                <a:solidFill>
                  <a:schemeClr val="tx2"/>
                </a:solidFill>
              </a:rPr>
              <a:t>الكاميو</a:t>
            </a:r>
            <a:r>
              <a:rPr lang="ar-EG" sz="3200" b="1" dirty="0">
                <a:solidFill>
                  <a:schemeClr val="tx2"/>
                </a:solidFill>
              </a:rPr>
              <a:t> </a:t>
            </a:r>
            <a:r>
              <a:rPr lang="en-US" sz="3200" b="1" dirty="0">
                <a:solidFill>
                  <a:schemeClr val="tx2"/>
                </a:solidFill>
              </a:rPr>
              <a:t>Cameo Lighting</a:t>
            </a:r>
          </a:p>
          <a:p>
            <a:pPr algn="r" rtl="1"/>
            <a:r>
              <a:rPr lang="ar-EG" sz="2400" dirty="0"/>
              <a:t>وهى عبارة عن </a:t>
            </a:r>
            <a:r>
              <a:rPr lang="ar-EG" sz="2400" dirty="0" err="1"/>
              <a:t>اضاءة</a:t>
            </a:r>
            <a:r>
              <a:rPr lang="ar-EG" sz="2400" dirty="0"/>
              <a:t> الممثلين </a:t>
            </a:r>
            <a:r>
              <a:rPr lang="ar-EG" sz="2400" dirty="0" err="1"/>
              <a:t>فى</a:t>
            </a:r>
            <a:r>
              <a:rPr lang="ar-EG" sz="2400" dirty="0"/>
              <a:t> </a:t>
            </a:r>
            <a:r>
              <a:rPr lang="ar-EG" sz="2400" dirty="0" err="1"/>
              <a:t>المقدمه</a:t>
            </a:r>
            <a:r>
              <a:rPr lang="ar-EG" sz="2400" dirty="0"/>
              <a:t> ويتم التصوير </a:t>
            </a:r>
            <a:r>
              <a:rPr lang="ar-EG" sz="2400" dirty="0" err="1"/>
              <a:t>فى</a:t>
            </a:r>
            <a:r>
              <a:rPr lang="ar-EG" sz="2400" dirty="0"/>
              <a:t> مقابل خلفية </a:t>
            </a:r>
            <a:r>
              <a:rPr lang="ar-EG" sz="2400" dirty="0" err="1"/>
              <a:t>مظلمه</a:t>
            </a:r>
            <a:r>
              <a:rPr lang="ar-EG" sz="2400" dirty="0"/>
              <a:t> من وجهة نظر جمالية فان </a:t>
            </a:r>
            <a:r>
              <a:rPr lang="ar-EG" sz="2400" dirty="0" err="1"/>
              <a:t>اضاءة</a:t>
            </a:r>
            <a:r>
              <a:rPr lang="ar-EG" sz="2400" dirty="0"/>
              <a:t> </a:t>
            </a:r>
            <a:r>
              <a:rPr lang="ar-EG" sz="2400" dirty="0" err="1"/>
              <a:t>الكاميو</a:t>
            </a:r>
            <a:r>
              <a:rPr lang="ar-EG" sz="2400" dirty="0"/>
              <a:t> على </a:t>
            </a:r>
            <a:r>
              <a:rPr lang="ar-EG" sz="2400" dirty="0" err="1"/>
              <a:t>اية</a:t>
            </a:r>
            <a:r>
              <a:rPr lang="ar-EG" sz="2400" dirty="0"/>
              <a:t> حال </a:t>
            </a:r>
            <a:r>
              <a:rPr lang="ar-EG" sz="2400" dirty="0" err="1"/>
              <a:t>اضاءة</a:t>
            </a:r>
            <a:r>
              <a:rPr lang="ar-EG" sz="2400" dirty="0"/>
              <a:t> معبرة للغاية وهى </a:t>
            </a:r>
            <a:r>
              <a:rPr lang="ar-EG" sz="2400" dirty="0" err="1"/>
              <a:t>احدى</a:t>
            </a:r>
            <a:r>
              <a:rPr lang="ar-EG" sz="2400" dirty="0"/>
              <a:t> فنيات </a:t>
            </a:r>
            <a:r>
              <a:rPr lang="ar-EG" sz="2400" dirty="0" err="1"/>
              <a:t>الاضاءة</a:t>
            </a:r>
            <a:r>
              <a:rPr lang="ar-EG" sz="2400" dirty="0"/>
              <a:t> </a:t>
            </a:r>
            <a:r>
              <a:rPr lang="ar-EG" sz="2400" dirty="0" err="1"/>
              <a:t>الدراميه</a:t>
            </a:r>
            <a:r>
              <a:rPr lang="ar-EG" sz="2400" dirty="0"/>
              <a:t> .</a:t>
            </a:r>
            <a:endParaRPr lang="en-US" sz="2400" dirty="0"/>
          </a:p>
          <a:p>
            <a:pPr algn="r" rtl="1"/>
            <a:endParaRPr lang="ar-EG" sz="2400" dirty="0"/>
          </a:p>
        </p:txBody>
      </p:sp>
    </p:spTree>
    <p:extLst>
      <p:ext uri="{BB962C8B-B14F-4D97-AF65-F5344CB8AC3E}">
        <p14:creationId xmlns:p14="http://schemas.microsoft.com/office/powerpoint/2010/main" val="3145843467"/>
      </p:ext>
    </p:extLst>
  </p:cSld>
  <p:clrMapOvr>
    <a:masterClrMapping/>
  </p:clrMapOvr>
  <p:transition spd="slow">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heckerboard(across)">
                                      <p:cBhvr>
                                        <p:cTn id="7" dur="1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ox(in)">
                                      <p:cBhvr>
                                        <p:cTn id="12" dur="1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checkerboard(across)">
                                      <p:cBhvr>
                                        <p:cTn id="17" dur="10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ox(in)">
                                      <p:cBhvr>
                                        <p:cTn id="22" dur="10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checkerboard(across)">
                                      <p:cBhvr>
                                        <p:cTn id="27" dur="10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ox(in)">
                                      <p:cBhvr>
                                        <p:cTn id="32" dur="10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checkerboard(across)">
                                      <p:cBhvr>
                                        <p:cTn id="37" dur="10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ox(in)">
                                      <p:cBhvr>
                                        <p:cTn id="42" dur="10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88488" y="714356"/>
            <a:ext cx="9144000" cy="5262979"/>
          </a:xfrm>
          <a:prstGeom prst="rect">
            <a:avLst/>
          </a:prstGeom>
          <a:noFill/>
        </p:spPr>
        <p:txBody>
          <a:bodyPr wrap="square" rtlCol="1">
            <a:spAutoFit/>
          </a:bodyPr>
          <a:lstStyle/>
          <a:p>
            <a:pPr algn="r" rtl="1"/>
            <a:r>
              <a:rPr lang="ar-EG" sz="3200" dirty="0">
                <a:solidFill>
                  <a:schemeClr val="tx2"/>
                </a:solidFill>
              </a:rPr>
              <a:t>8 –</a:t>
            </a:r>
            <a:r>
              <a:rPr lang="ar-EG" sz="3200" b="1" dirty="0" err="1">
                <a:solidFill>
                  <a:schemeClr val="tx2"/>
                </a:solidFill>
              </a:rPr>
              <a:t>اضاءة</a:t>
            </a:r>
            <a:r>
              <a:rPr lang="ar-EG" sz="3200" b="1" dirty="0">
                <a:solidFill>
                  <a:schemeClr val="tx2"/>
                </a:solidFill>
              </a:rPr>
              <a:t> </a:t>
            </a:r>
            <a:r>
              <a:rPr lang="ar-EG" sz="3200" b="1" dirty="0" err="1">
                <a:solidFill>
                  <a:schemeClr val="tx2"/>
                </a:solidFill>
              </a:rPr>
              <a:t>الليمبوا</a:t>
            </a:r>
            <a:r>
              <a:rPr lang="ar-EG" sz="3200" b="1" dirty="0">
                <a:solidFill>
                  <a:schemeClr val="tx2"/>
                </a:solidFill>
              </a:rPr>
              <a:t> </a:t>
            </a:r>
            <a:r>
              <a:rPr lang="en-US" sz="3200" b="1" dirty="0">
                <a:solidFill>
                  <a:schemeClr val="tx2"/>
                </a:solidFill>
              </a:rPr>
              <a:t>Limbo Lighting</a:t>
            </a:r>
            <a:endParaRPr lang="en-US" sz="2400" dirty="0">
              <a:solidFill>
                <a:schemeClr val="tx2"/>
              </a:solidFill>
            </a:endParaRPr>
          </a:p>
          <a:p>
            <a:pPr algn="r" rtl="1"/>
            <a:r>
              <a:rPr lang="ar-EG" sz="2800" dirty="0"/>
              <a:t>وهى تشبه بشكل كبير </a:t>
            </a:r>
            <a:r>
              <a:rPr lang="ar-EG" sz="2800" dirty="0" err="1"/>
              <a:t>اضاءة</a:t>
            </a:r>
            <a:r>
              <a:rPr lang="ar-EG" sz="2800" dirty="0"/>
              <a:t> </a:t>
            </a:r>
            <a:r>
              <a:rPr lang="ar-EG" sz="2800" dirty="0" err="1"/>
              <a:t>الكاميو</a:t>
            </a:r>
            <a:r>
              <a:rPr lang="ar-EG" sz="2800" dirty="0"/>
              <a:t> باستثناء </a:t>
            </a:r>
            <a:r>
              <a:rPr lang="ar-EG" sz="2800" dirty="0" err="1"/>
              <a:t>ان</a:t>
            </a:r>
            <a:r>
              <a:rPr lang="ar-EG" sz="2800" dirty="0"/>
              <a:t> </a:t>
            </a:r>
            <a:r>
              <a:rPr lang="ar-EG" sz="2800" dirty="0" err="1"/>
              <a:t>لاضاءة</a:t>
            </a:r>
            <a:r>
              <a:rPr lang="ar-EG" sz="2800" dirty="0"/>
              <a:t> </a:t>
            </a:r>
            <a:r>
              <a:rPr lang="ar-EG" sz="2800" dirty="0" err="1"/>
              <a:t>الليمبوا</a:t>
            </a:r>
            <a:r>
              <a:rPr lang="ar-EG" sz="2800" dirty="0"/>
              <a:t> خلفيه </a:t>
            </a:r>
            <a:r>
              <a:rPr lang="ar-EG" sz="2800" dirty="0" err="1"/>
              <a:t>مضاءه</a:t>
            </a:r>
            <a:r>
              <a:rPr lang="ar-EG" sz="2800" dirty="0"/>
              <a:t> </a:t>
            </a:r>
            <a:endParaRPr lang="en-US" sz="2800" dirty="0"/>
          </a:p>
          <a:p>
            <a:pPr algn="r" rtl="1"/>
            <a:r>
              <a:rPr lang="ar-EG" sz="2400" dirty="0"/>
              <a:t> </a:t>
            </a:r>
            <a:endParaRPr lang="en-US" sz="2400" dirty="0"/>
          </a:p>
          <a:p>
            <a:pPr algn="r" rtl="1"/>
            <a:r>
              <a:rPr lang="ar-EG" sz="3200" b="1" dirty="0">
                <a:solidFill>
                  <a:schemeClr val="tx2"/>
                </a:solidFill>
              </a:rPr>
              <a:t>9 – </a:t>
            </a:r>
            <a:r>
              <a:rPr lang="ar-EG" sz="3200" b="1" dirty="0" err="1">
                <a:solidFill>
                  <a:schemeClr val="tx2"/>
                </a:solidFill>
              </a:rPr>
              <a:t>اضاءة</a:t>
            </a:r>
            <a:r>
              <a:rPr lang="ar-EG" sz="3200" b="1" dirty="0">
                <a:solidFill>
                  <a:schemeClr val="tx2"/>
                </a:solidFill>
              </a:rPr>
              <a:t> الخلفية </a:t>
            </a:r>
            <a:r>
              <a:rPr lang="ar-EG" sz="3200" b="1" dirty="0" err="1">
                <a:solidFill>
                  <a:schemeClr val="tx2"/>
                </a:solidFill>
              </a:rPr>
              <a:t>الملونه</a:t>
            </a:r>
            <a:r>
              <a:rPr lang="ar-EG" sz="3200" b="1" dirty="0">
                <a:solidFill>
                  <a:schemeClr val="tx2"/>
                </a:solidFill>
              </a:rPr>
              <a:t> </a:t>
            </a:r>
            <a:r>
              <a:rPr lang="en-US" sz="3200" b="1" dirty="0" err="1">
                <a:solidFill>
                  <a:schemeClr val="tx2"/>
                </a:solidFill>
              </a:rPr>
              <a:t>Coloer</a:t>
            </a:r>
            <a:r>
              <a:rPr lang="en-US" sz="3200" b="1" dirty="0">
                <a:solidFill>
                  <a:schemeClr val="tx2"/>
                </a:solidFill>
              </a:rPr>
              <a:t> Background Lighting</a:t>
            </a:r>
            <a:endParaRPr lang="en-US" sz="2400" dirty="0">
              <a:solidFill>
                <a:schemeClr val="tx2"/>
              </a:solidFill>
            </a:endParaRPr>
          </a:p>
          <a:p>
            <a:pPr algn="r" rtl="1"/>
            <a:r>
              <a:rPr lang="ar-EG" sz="2800" dirty="0" err="1"/>
              <a:t>فى</a:t>
            </a:r>
            <a:r>
              <a:rPr lang="ar-EG" sz="2800" dirty="0"/>
              <a:t> </a:t>
            </a:r>
            <a:r>
              <a:rPr lang="ar-EG" sz="2800" dirty="0" err="1"/>
              <a:t>اضاءة</a:t>
            </a:r>
            <a:r>
              <a:rPr lang="ar-EG" sz="2800" dirty="0"/>
              <a:t> التليفزيون الملون نجد </a:t>
            </a:r>
            <a:r>
              <a:rPr lang="ar-EG" sz="2800" dirty="0" err="1"/>
              <a:t>ان</a:t>
            </a:r>
            <a:r>
              <a:rPr lang="ar-EG" sz="2800" dirty="0"/>
              <a:t> المرشحات </a:t>
            </a:r>
            <a:r>
              <a:rPr lang="ar-EG" sz="2800" dirty="0" err="1"/>
              <a:t>الجيلاتنيه</a:t>
            </a:r>
            <a:r>
              <a:rPr lang="ar-EG" sz="2800" dirty="0"/>
              <a:t> تستخدم </a:t>
            </a:r>
            <a:r>
              <a:rPr lang="ar-EG" sz="2800" dirty="0" err="1"/>
              <a:t>لاضاءة</a:t>
            </a:r>
            <a:r>
              <a:rPr lang="ar-EG" sz="2800" dirty="0"/>
              <a:t> خلفية </a:t>
            </a:r>
            <a:r>
              <a:rPr lang="ar-EG" sz="2800" dirty="0" err="1"/>
              <a:t>الشاشه</a:t>
            </a:r>
            <a:r>
              <a:rPr lang="ar-EG" sz="2800" dirty="0"/>
              <a:t> </a:t>
            </a:r>
            <a:r>
              <a:rPr lang="ar-EG" sz="2800" dirty="0" err="1"/>
              <a:t>الملونه</a:t>
            </a:r>
            <a:r>
              <a:rPr lang="ar-EG" sz="2800" dirty="0"/>
              <a:t> ونذكر </a:t>
            </a:r>
            <a:r>
              <a:rPr lang="ar-EG" sz="2800" dirty="0" err="1"/>
              <a:t>ان</a:t>
            </a:r>
            <a:r>
              <a:rPr lang="ar-EG" sz="2800" dirty="0"/>
              <a:t> </a:t>
            </a:r>
            <a:r>
              <a:rPr lang="ar-EG" sz="2800" dirty="0" err="1"/>
              <a:t>الجيلاتينيات</a:t>
            </a:r>
            <a:r>
              <a:rPr lang="ar-EG" sz="2800" dirty="0"/>
              <a:t> </a:t>
            </a:r>
            <a:r>
              <a:rPr lang="ar-EG" sz="2800" dirty="0" err="1"/>
              <a:t>الملونه</a:t>
            </a:r>
            <a:r>
              <a:rPr lang="ar-EG" sz="2800" dirty="0"/>
              <a:t> لا تستخدم على </a:t>
            </a:r>
            <a:r>
              <a:rPr lang="ar-EG" sz="2800" dirty="0" err="1"/>
              <a:t>الاطلاق</a:t>
            </a:r>
            <a:r>
              <a:rPr lang="ar-EG" sz="2800" dirty="0"/>
              <a:t> </a:t>
            </a:r>
            <a:r>
              <a:rPr lang="ar-EG" sz="2800" dirty="0" err="1"/>
              <a:t>فى</a:t>
            </a:r>
            <a:r>
              <a:rPr lang="ar-EG" sz="2800" dirty="0"/>
              <a:t> </a:t>
            </a:r>
            <a:r>
              <a:rPr lang="ar-EG" sz="2800" dirty="0" err="1"/>
              <a:t>اضاءة</a:t>
            </a:r>
            <a:r>
              <a:rPr lang="ar-EG" sz="2800" dirty="0"/>
              <a:t> مناطق التمثيل </a:t>
            </a:r>
            <a:endParaRPr lang="en-US" sz="2800" dirty="0"/>
          </a:p>
          <a:p>
            <a:pPr algn="r" rtl="1"/>
            <a:r>
              <a:rPr lang="ar-EG" sz="2400" dirty="0"/>
              <a:t> </a:t>
            </a:r>
            <a:endParaRPr lang="en-US" sz="2400" dirty="0"/>
          </a:p>
          <a:p>
            <a:pPr algn="r" rtl="1"/>
            <a:r>
              <a:rPr lang="ar-EG" sz="3200" b="1" dirty="0">
                <a:solidFill>
                  <a:schemeClr val="tx2"/>
                </a:solidFill>
              </a:rPr>
              <a:t>10 – ضوء القاعدة </a:t>
            </a:r>
            <a:r>
              <a:rPr lang="en-US" sz="3200" b="1" dirty="0">
                <a:solidFill>
                  <a:schemeClr val="tx2"/>
                </a:solidFill>
              </a:rPr>
              <a:t>Base Light </a:t>
            </a:r>
            <a:endParaRPr lang="en-US" sz="2400" dirty="0">
              <a:solidFill>
                <a:schemeClr val="tx2"/>
              </a:solidFill>
            </a:endParaRPr>
          </a:p>
          <a:p>
            <a:pPr algn="r" rtl="1"/>
            <a:r>
              <a:rPr lang="ar-EG" sz="2800" dirty="0"/>
              <a:t>وهو ضوء منتشر يغطى </a:t>
            </a:r>
            <a:r>
              <a:rPr lang="ar-EG" sz="2800" dirty="0" err="1"/>
              <a:t>الاضاءه</a:t>
            </a:r>
            <a:r>
              <a:rPr lang="ar-EG" sz="2800" dirty="0"/>
              <a:t> </a:t>
            </a:r>
            <a:r>
              <a:rPr lang="ar-EG" sz="2800" dirty="0" err="1"/>
              <a:t>فى</a:t>
            </a:r>
            <a:r>
              <a:rPr lang="ar-EG" sz="2800" dirty="0"/>
              <a:t> </a:t>
            </a:r>
            <a:r>
              <a:rPr lang="ar-EG" sz="2800" dirty="0" err="1"/>
              <a:t>الاستوديو</a:t>
            </a:r>
            <a:r>
              <a:rPr lang="ar-EG" sz="2800" dirty="0"/>
              <a:t> وتكون كمية الضوء </a:t>
            </a:r>
            <a:r>
              <a:rPr lang="ar-EG" sz="2800" dirty="0" err="1"/>
              <a:t>الاساسى</a:t>
            </a:r>
            <a:r>
              <a:rPr lang="ar-EG" sz="2800" dirty="0"/>
              <a:t> </a:t>
            </a:r>
            <a:r>
              <a:rPr lang="ar-EG" sz="2800" dirty="0" err="1"/>
              <a:t>ضروره</a:t>
            </a:r>
            <a:r>
              <a:rPr lang="ar-EG" sz="2800" dirty="0"/>
              <a:t> </a:t>
            </a:r>
            <a:r>
              <a:rPr lang="ar-EG" sz="2800" dirty="0" err="1"/>
              <a:t>امنية</a:t>
            </a:r>
            <a:r>
              <a:rPr lang="ar-EG" sz="2800" dirty="0"/>
              <a:t> </a:t>
            </a:r>
            <a:r>
              <a:rPr lang="ar-EG" sz="2800" dirty="0" err="1"/>
              <a:t>فى</a:t>
            </a:r>
            <a:r>
              <a:rPr lang="ar-EG" sz="2800" dirty="0"/>
              <a:t> </a:t>
            </a:r>
            <a:r>
              <a:rPr lang="ar-EG" sz="2800" dirty="0" err="1"/>
              <a:t>الصوره</a:t>
            </a:r>
            <a:r>
              <a:rPr lang="ar-EG" sz="2800" dirty="0"/>
              <a:t> </a:t>
            </a:r>
            <a:r>
              <a:rPr lang="ar-EG" sz="2800" dirty="0" err="1"/>
              <a:t>التليفزيونيه</a:t>
            </a:r>
            <a:r>
              <a:rPr lang="ar-EG" sz="2800" dirty="0"/>
              <a:t> </a:t>
            </a:r>
            <a:endParaRPr lang="en-US" sz="2800" dirty="0"/>
          </a:p>
          <a:p>
            <a:pPr algn="r" rtl="1"/>
            <a:endParaRPr lang="ar-EG" sz="2400" dirty="0"/>
          </a:p>
        </p:txBody>
      </p:sp>
    </p:spTree>
    <p:extLst>
      <p:ext uri="{BB962C8B-B14F-4D97-AF65-F5344CB8AC3E}">
        <p14:creationId xmlns:p14="http://schemas.microsoft.com/office/powerpoint/2010/main" val="505681327"/>
      </p:ext>
    </p:extLst>
  </p:cSld>
  <p:clrMapOvr>
    <a:masterClrMapping/>
  </p:clrMapOvr>
  <p:transition spd="slow">
    <p:cover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heckerboard(across)">
                                      <p:cBhvr>
                                        <p:cTn id="7" dur="1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ox(in)">
                                      <p:cBhvr>
                                        <p:cTn id="12" dur="1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checkerboard(across)">
                                      <p:cBhvr>
                                        <p:cTn id="17" dur="10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ox(in)">
                                      <p:cBhvr>
                                        <p:cTn id="22" dur="10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checkerboard(across)">
                                      <p:cBhvr>
                                        <p:cTn id="27" dur="1000"/>
                                        <p:tgtEl>
                                          <p:spTgt spid="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box(in)">
                                      <p:cBhvr>
                                        <p:cTn id="32" dur="10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4572000" y="207385"/>
            <a:ext cx="4071967" cy="584775"/>
          </a:xfrm>
          <a:prstGeom prst="rect">
            <a:avLst/>
          </a:prstGeom>
        </p:spPr>
        <p:style>
          <a:lnRef idx="1">
            <a:schemeClr val="accent3"/>
          </a:lnRef>
          <a:fillRef idx="2">
            <a:schemeClr val="accent3"/>
          </a:fillRef>
          <a:effectRef idx="1">
            <a:schemeClr val="accent3"/>
          </a:effectRef>
          <a:fontRef idx="minor">
            <a:schemeClr val="dk1"/>
          </a:fontRef>
        </p:style>
        <p:txBody>
          <a:bodyPr wrap="square" rtlCol="1">
            <a:spAutoFit/>
          </a:bodyPr>
          <a:lstStyle/>
          <a:p>
            <a:pPr algn="ctr"/>
            <a:r>
              <a:rPr lang="ar-EG" sz="3200" b="1" dirty="0"/>
              <a:t>خامساً : زوايا التصوير </a:t>
            </a:r>
            <a:endParaRPr lang="en-US" sz="3200" dirty="0"/>
          </a:p>
        </p:txBody>
      </p:sp>
      <p:sp>
        <p:nvSpPr>
          <p:cNvPr id="3" name="مربع نص 2"/>
          <p:cNvSpPr txBox="1"/>
          <p:nvPr/>
        </p:nvSpPr>
        <p:spPr>
          <a:xfrm>
            <a:off x="88492" y="678432"/>
            <a:ext cx="8996515" cy="6370975"/>
          </a:xfrm>
          <a:prstGeom prst="rect">
            <a:avLst/>
          </a:prstGeom>
          <a:noFill/>
        </p:spPr>
        <p:txBody>
          <a:bodyPr wrap="square" rtlCol="1">
            <a:spAutoFit/>
          </a:bodyPr>
          <a:lstStyle/>
          <a:p>
            <a:pPr algn="r" rtl="1"/>
            <a:r>
              <a:rPr lang="ar-EG" sz="3200" b="1" dirty="0">
                <a:solidFill>
                  <a:schemeClr val="tx2"/>
                </a:solidFill>
              </a:rPr>
              <a:t>1 – لقطة مستوى النظر رؤية العين </a:t>
            </a:r>
            <a:r>
              <a:rPr lang="en-US" sz="3200" b="1" dirty="0">
                <a:solidFill>
                  <a:schemeClr val="tx2"/>
                </a:solidFill>
              </a:rPr>
              <a:t>Eye – Level Shot</a:t>
            </a:r>
            <a:endParaRPr lang="en-US" sz="2400" dirty="0">
              <a:solidFill>
                <a:schemeClr val="tx2"/>
              </a:solidFill>
            </a:endParaRPr>
          </a:p>
          <a:p>
            <a:pPr algn="r" rtl="1"/>
            <a:r>
              <a:rPr lang="ar-EG" sz="2400" dirty="0"/>
              <a:t>توضع الكاميرا فى مستوى منسوب عين الشخص البالغ وهى لقطة تمثل وجهة النظر العاديه فى رؤية الاشخاص فى المنظر ولذلك فهى لقطة ذات تأثير درامى محدود ولكنها تمثل الرؤية الموضوعيه </a:t>
            </a:r>
            <a:endParaRPr lang="en-US" sz="2400" dirty="0"/>
          </a:p>
          <a:p>
            <a:pPr algn="r" rtl="1"/>
            <a:r>
              <a:rPr lang="ar-EG" sz="3200" b="1" dirty="0">
                <a:solidFill>
                  <a:schemeClr val="tx2"/>
                </a:solidFill>
              </a:rPr>
              <a:t>2 – لقطة </a:t>
            </a:r>
            <a:r>
              <a:rPr lang="ar-EG" sz="3200" b="1" dirty="0" err="1">
                <a:solidFill>
                  <a:schemeClr val="tx2"/>
                </a:solidFill>
              </a:rPr>
              <a:t>الزاويه</a:t>
            </a:r>
            <a:r>
              <a:rPr lang="ar-EG" sz="3200" b="1" dirty="0">
                <a:solidFill>
                  <a:schemeClr val="tx2"/>
                </a:solidFill>
              </a:rPr>
              <a:t> </a:t>
            </a:r>
            <a:r>
              <a:rPr lang="ar-EG" sz="3200" b="1" dirty="0" err="1">
                <a:solidFill>
                  <a:schemeClr val="tx2"/>
                </a:solidFill>
              </a:rPr>
              <a:t>المرتفعه</a:t>
            </a:r>
            <a:r>
              <a:rPr lang="ar-EG" sz="3200" b="1" dirty="0">
                <a:solidFill>
                  <a:schemeClr val="tx2"/>
                </a:solidFill>
              </a:rPr>
              <a:t> </a:t>
            </a:r>
            <a:r>
              <a:rPr lang="en-US" sz="3200" b="1" dirty="0">
                <a:solidFill>
                  <a:schemeClr val="tx2"/>
                </a:solidFill>
              </a:rPr>
              <a:t>High - Angle Shot</a:t>
            </a:r>
            <a:endParaRPr lang="en-US" sz="2400" dirty="0">
              <a:solidFill>
                <a:schemeClr val="tx2"/>
              </a:solidFill>
            </a:endParaRPr>
          </a:p>
          <a:p>
            <a:pPr algn="r" rtl="1"/>
            <a:r>
              <a:rPr lang="ar-EG" sz="2400" dirty="0"/>
              <a:t>يكون وضع الكاميرا الى اسفل وفوق الشئ المراد تصويره حتى تظهر كل العلاقات بين كل اجزاء المشهد كما تفيد فى التعرف على جغرافية المكان كما تظهر الشئ المصور صغيراً او تافها او عديم القيمه كما تمكن من اخذ لقطات طويله افضل او على الاقل تجعل اللقطات اكثر تشويقا كما تفيد الزاويه المرتفعه فى التعرف على الموضوع المصور من اعلى خاصة اذا كان هناك فى مستواه الافقى </a:t>
            </a:r>
          </a:p>
          <a:p>
            <a:pPr algn="r" rtl="1"/>
            <a:r>
              <a:rPr lang="ar-EG" sz="3200" b="1" dirty="0">
                <a:solidFill>
                  <a:schemeClr val="tx2"/>
                </a:solidFill>
              </a:rPr>
              <a:t>3 – لقطة </a:t>
            </a:r>
            <a:r>
              <a:rPr lang="ar-EG" sz="3200" b="1" dirty="0" err="1">
                <a:solidFill>
                  <a:schemeClr val="tx2"/>
                </a:solidFill>
              </a:rPr>
              <a:t>الزاويا</a:t>
            </a:r>
            <a:r>
              <a:rPr lang="ar-EG" sz="3200" b="1" dirty="0">
                <a:solidFill>
                  <a:schemeClr val="tx2"/>
                </a:solidFill>
              </a:rPr>
              <a:t> المنخفضة </a:t>
            </a:r>
            <a:r>
              <a:rPr lang="en-US" sz="3200" b="1" dirty="0">
                <a:solidFill>
                  <a:schemeClr val="tx2"/>
                </a:solidFill>
              </a:rPr>
              <a:t>Low – Angle Shot</a:t>
            </a:r>
            <a:endParaRPr lang="en-US" sz="2400" dirty="0">
              <a:solidFill>
                <a:schemeClr val="tx2"/>
              </a:solidFill>
            </a:endParaRPr>
          </a:p>
          <a:p>
            <a:pPr algn="r" rtl="1"/>
            <a:r>
              <a:rPr lang="ar-EG" sz="2400" dirty="0"/>
              <a:t>يكون وضع الكاميرا </a:t>
            </a:r>
            <a:r>
              <a:rPr lang="ar-EG" sz="2400" dirty="0" err="1"/>
              <a:t>اسفل</a:t>
            </a:r>
            <a:r>
              <a:rPr lang="ar-EG" sz="2400" dirty="0"/>
              <a:t> النقطة </a:t>
            </a:r>
            <a:r>
              <a:rPr lang="ar-EG" sz="2400" dirty="0" err="1"/>
              <a:t>الهامه</a:t>
            </a:r>
            <a:r>
              <a:rPr lang="ar-EG" sz="2400" dirty="0"/>
              <a:t> ثم توجه </a:t>
            </a:r>
            <a:r>
              <a:rPr lang="ar-EG" sz="2400" dirty="0" err="1"/>
              <a:t>لاعلى</a:t>
            </a:r>
            <a:r>
              <a:rPr lang="ar-EG" sz="2400" dirty="0"/>
              <a:t> لترى الموضوع وتستخدم عادة </a:t>
            </a:r>
            <a:r>
              <a:rPr lang="ar-EG" sz="2400" dirty="0" err="1"/>
              <a:t>فى</a:t>
            </a:r>
            <a:r>
              <a:rPr lang="ar-EG" sz="2400" dirty="0"/>
              <a:t> التعبير عن </a:t>
            </a:r>
            <a:r>
              <a:rPr lang="ar-EG" sz="2400" dirty="0" err="1"/>
              <a:t>الاثارة</a:t>
            </a:r>
            <a:r>
              <a:rPr lang="ar-EG" sz="2400" dirty="0"/>
              <a:t> وهى تبالغ </a:t>
            </a:r>
            <a:r>
              <a:rPr lang="ar-EG" sz="2400" dirty="0" err="1"/>
              <a:t>فى</a:t>
            </a:r>
            <a:r>
              <a:rPr lang="ar-EG" sz="2400" dirty="0"/>
              <a:t> تصوير حجم المنظور وسرعة الحركة وبهذه </a:t>
            </a:r>
            <a:r>
              <a:rPr lang="ar-EG" sz="2400" dirty="0" err="1"/>
              <a:t>الزاويه</a:t>
            </a:r>
            <a:r>
              <a:rPr lang="ar-EG" sz="2400" dirty="0"/>
              <a:t> يمكن تفادى </a:t>
            </a:r>
            <a:r>
              <a:rPr lang="ar-EG" sz="2400" dirty="0" err="1"/>
              <a:t>الافق</a:t>
            </a:r>
            <a:r>
              <a:rPr lang="ar-EG" sz="2400" dirty="0"/>
              <a:t> والمستوى </a:t>
            </a:r>
            <a:r>
              <a:rPr lang="ar-EG" sz="2400" dirty="0" err="1"/>
              <a:t>الخلفى</a:t>
            </a:r>
            <a:r>
              <a:rPr lang="ar-EG" sz="2400" dirty="0"/>
              <a:t> حيث تعمل على فصل </a:t>
            </a:r>
            <a:r>
              <a:rPr lang="ar-EG" sz="2400" dirty="0" err="1"/>
              <a:t>الشئ</a:t>
            </a:r>
            <a:r>
              <a:rPr lang="ar-EG" sz="2400" dirty="0"/>
              <a:t> المراد تصويره عن بقية خلفية المشهد </a:t>
            </a:r>
            <a:r>
              <a:rPr lang="ar-EG" sz="2400" dirty="0" err="1"/>
              <a:t>والمبالغه</a:t>
            </a:r>
            <a:r>
              <a:rPr lang="ar-EG" sz="2400" dirty="0"/>
              <a:t> </a:t>
            </a:r>
            <a:r>
              <a:rPr lang="ar-EG" sz="2400" dirty="0" err="1"/>
              <a:t>فى</a:t>
            </a:r>
            <a:r>
              <a:rPr lang="ar-EG" sz="2400" dirty="0"/>
              <a:t> منظور </a:t>
            </a:r>
            <a:r>
              <a:rPr lang="ar-EG" sz="2400" dirty="0" err="1"/>
              <a:t>المبانى</a:t>
            </a:r>
            <a:r>
              <a:rPr lang="ar-EG" sz="2400" dirty="0"/>
              <a:t> ذات الارتفاعات الكبرى كما تزيد </a:t>
            </a:r>
            <a:r>
              <a:rPr lang="ar-EG" sz="2400" dirty="0" err="1"/>
              <a:t>اهمية</a:t>
            </a:r>
            <a:r>
              <a:rPr lang="ar-EG" sz="2400" dirty="0"/>
              <a:t> الموضوع </a:t>
            </a:r>
            <a:endParaRPr lang="en-US" sz="2400" dirty="0"/>
          </a:p>
          <a:p>
            <a:pPr algn="r" rtl="1"/>
            <a:endParaRPr lang="ar-EG" sz="2400" dirty="0"/>
          </a:p>
        </p:txBody>
      </p:sp>
    </p:spTree>
    <p:extLst>
      <p:ext uri="{BB962C8B-B14F-4D97-AF65-F5344CB8AC3E}">
        <p14:creationId xmlns:p14="http://schemas.microsoft.com/office/powerpoint/2010/main" val="1048909234"/>
      </p:ext>
    </p:extLst>
  </p:cSld>
  <p:clrMapOvr>
    <a:masterClrMapping/>
  </p:clrMapOvr>
  <p:transition spd="slow">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8" presetClass="entr" presetSubtype="0" accel="5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2"/>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2"/>
                                        </p:tgtEl>
                                        <p:attrNameLst>
                                          <p:attrName>ppt_y</p:attrName>
                                        </p:attrNameLst>
                                      </p:cBhvr>
                                      <p:tavLst>
                                        <p:tav tm="0">
                                          <p:val>
                                            <p:strVal val="#ppt_y"/>
                                          </p:val>
                                        </p:tav>
                                        <p:tav tm="100000">
                                          <p:val>
                                            <p:strVal val="#ppt_y"/>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9" presetClass="entr" presetSubtype="0" accel="10000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6" dur="1000" fill="hold"/>
                                        <p:tgtEl>
                                          <p:spTgt spid="3">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7" dur="1000" fill="hold"/>
                                        <p:tgtEl>
                                          <p:spTgt spid="3">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8"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circle(in)">
                                      <p:cBhvr>
                                        <p:cTn id="23" dur="2000"/>
                                        <p:tgtEl>
                                          <p:spTgt spid="3">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9" presetClass="entr" presetSubtype="0" accel="10000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 calcmode="lin" valueType="num">
                                      <p:cBhvr>
                                        <p:cTn id="28" dur="1000" fill="hold"/>
                                        <p:tgtEl>
                                          <p:spTgt spid="3">
                                            <p:txEl>
                                              <p:pRg st="2" end="2"/>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29" dur="1000" fill="hold"/>
                                        <p:tgtEl>
                                          <p:spTgt spid="3">
                                            <p:txEl>
                                              <p:pRg st="2" end="2"/>
                                            </p:txEl>
                                          </p:spTgt>
                                        </p:tgtEl>
                                        <p:attrNameLst>
                                          <p:attrName>ppt_w</p:attrName>
                                        </p:attrNameLst>
                                      </p:cBhvr>
                                      <p:tavLst>
                                        <p:tav tm="0">
                                          <p:val>
                                            <p:strVal val="#ppt_w+.3"/>
                                          </p:val>
                                        </p:tav>
                                        <p:tav tm="50000">
                                          <p:val>
                                            <p:strVal val="#ppt_w+.3"/>
                                          </p:val>
                                        </p:tav>
                                        <p:tav tm="100000">
                                          <p:val>
                                            <p:strVal val="#ppt_w"/>
                                          </p:val>
                                        </p:tav>
                                      </p:tavLst>
                                    </p:anim>
                                    <p:anim calcmode="lin" valueType="num">
                                      <p:cBhvr>
                                        <p:cTn id="30" dur="1000" fill="hold"/>
                                        <p:tgtEl>
                                          <p:spTgt spid="3">
                                            <p:txEl>
                                              <p:pRg st="2" end="2"/>
                                            </p:txEl>
                                          </p:spTgt>
                                        </p:tgtEl>
                                        <p:attrNameLst>
                                          <p:attrName>ppt_x</p:attrName>
                                        </p:attrNameLst>
                                      </p:cBhvr>
                                      <p:tavLst>
                                        <p:tav tm="0">
                                          <p:val>
                                            <p:strVal val="#ppt_x-.3"/>
                                          </p:val>
                                        </p:tav>
                                        <p:tav tm="50000">
                                          <p:val>
                                            <p:strVal val="#ppt_x"/>
                                          </p:val>
                                        </p:tav>
                                        <p:tav tm="100000">
                                          <p:val>
                                            <p:strVal val="#ppt_x"/>
                                          </p:val>
                                        </p:tav>
                                      </p:tavLst>
                                    </p:anim>
                                    <p:anim calcmode="lin" valueType="num">
                                      <p:cBhvr>
                                        <p:cTn id="31" dur="1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circle(in)">
                                      <p:cBhvr>
                                        <p:cTn id="36" dur="2000"/>
                                        <p:tgtEl>
                                          <p:spTgt spid="3">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9" presetClass="entr" presetSubtype="0" accel="100000" fill="hold"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 calcmode="lin" valueType="num">
                                      <p:cBhvr>
                                        <p:cTn id="41" dur="1000" fill="hold"/>
                                        <p:tgtEl>
                                          <p:spTgt spid="3">
                                            <p:txEl>
                                              <p:pRg st="4" end="4"/>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42" dur="1000" fill="hold"/>
                                        <p:tgtEl>
                                          <p:spTgt spid="3">
                                            <p:txEl>
                                              <p:pRg st="4" end="4"/>
                                            </p:txEl>
                                          </p:spTgt>
                                        </p:tgtEl>
                                        <p:attrNameLst>
                                          <p:attrName>ppt_w</p:attrName>
                                        </p:attrNameLst>
                                      </p:cBhvr>
                                      <p:tavLst>
                                        <p:tav tm="0">
                                          <p:val>
                                            <p:strVal val="#ppt_w+.3"/>
                                          </p:val>
                                        </p:tav>
                                        <p:tav tm="50000">
                                          <p:val>
                                            <p:strVal val="#ppt_w+.3"/>
                                          </p:val>
                                        </p:tav>
                                        <p:tav tm="100000">
                                          <p:val>
                                            <p:strVal val="#ppt_w"/>
                                          </p:val>
                                        </p:tav>
                                      </p:tavLst>
                                    </p:anim>
                                    <p:anim calcmode="lin" valueType="num">
                                      <p:cBhvr>
                                        <p:cTn id="43" dur="1000" fill="hold"/>
                                        <p:tgtEl>
                                          <p:spTgt spid="3">
                                            <p:txEl>
                                              <p:pRg st="4" end="4"/>
                                            </p:txEl>
                                          </p:spTgt>
                                        </p:tgtEl>
                                        <p:attrNameLst>
                                          <p:attrName>ppt_x</p:attrName>
                                        </p:attrNameLst>
                                      </p:cBhvr>
                                      <p:tavLst>
                                        <p:tav tm="0">
                                          <p:val>
                                            <p:strVal val="#ppt_x-.3"/>
                                          </p:val>
                                        </p:tav>
                                        <p:tav tm="5000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6" presetClass="entr" presetSubtype="16"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circle(in)">
                                      <p:cBhvr>
                                        <p:cTn id="49"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17987" y="857234"/>
            <a:ext cx="8908026" cy="5693866"/>
          </a:xfrm>
          <a:prstGeom prst="rect">
            <a:avLst/>
          </a:prstGeom>
          <a:noFill/>
        </p:spPr>
        <p:txBody>
          <a:bodyPr wrap="square" rtlCol="1">
            <a:spAutoFit/>
          </a:bodyPr>
          <a:lstStyle/>
          <a:p>
            <a:pPr algn="r" rtl="1"/>
            <a:r>
              <a:rPr lang="ar-SA" sz="3200" b="1" dirty="0">
                <a:solidFill>
                  <a:schemeClr val="tx2"/>
                </a:solidFill>
              </a:rPr>
              <a:t>4 – اللقطة الرأسية </a:t>
            </a:r>
            <a:endParaRPr lang="en-US" sz="2800" dirty="0"/>
          </a:p>
          <a:p>
            <a:pPr algn="r" rtl="1"/>
            <a:r>
              <a:rPr lang="ar-SA" sz="2800" dirty="0"/>
              <a:t>وهى اللقطة </a:t>
            </a:r>
            <a:r>
              <a:rPr lang="ar-SA" sz="2800" dirty="0" err="1"/>
              <a:t>التى</a:t>
            </a:r>
            <a:r>
              <a:rPr lang="ar-SA" sz="2800" dirty="0"/>
              <a:t> تحصل عليها عندما تكون الكاميرا عالية فوق الموضوع مباشرة </a:t>
            </a:r>
            <a:r>
              <a:rPr lang="ar-SA" sz="2800" dirty="0" err="1"/>
              <a:t>او</a:t>
            </a:r>
            <a:r>
              <a:rPr lang="ar-SA" sz="2800" dirty="0"/>
              <a:t> باستخدام مرآه وتعد هذه اللقطة </a:t>
            </a:r>
            <a:r>
              <a:rPr lang="ar-SA" sz="2800" dirty="0" err="1"/>
              <a:t>هى</a:t>
            </a:r>
            <a:r>
              <a:rPr lang="ar-SA" sz="2800" dirty="0"/>
              <a:t> </a:t>
            </a:r>
            <a:r>
              <a:rPr lang="ar-SA" sz="2800" dirty="0" err="1"/>
              <a:t>اكثر</a:t>
            </a:r>
            <a:r>
              <a:rPr lang="ar-SA" sz="2800" dirty="0"/>
              <a:t> اللقطات تعبيرا عن وصف المناظر ذات الامتداد المسطح </a:t>
            </a:r>
            <a:r>
              <a:rPr lang="ar-SA" sz="2800" dirty="0" err="1"/>
              <a:t>او</a:t>
            </a:r>
            <a:r>
              <a:rPr lang="ar-SA" sz="2800" dirty="0"/>
              <a:t> توضيح المسقط </a:t>
            </a:r>
            <a:r>
              <a:rPr lang="ar-SA" sz="2800" dirty="0" err="1"/>
              <a:t>الافقى</a:t>
            </a:r>
            <a:r>
              <a:rPr lang="ar-SA" sz="2800" dirty="0"/>
              <a:t> الموضوع </a:t>
            </a:r>
            <a:r>
              <a:rPr lang="ar-SA" sz="2800" dirty="0" err="1"/>
              <a:t>باظهار</a:t>
            </a:r>
            <a:r>
              <a:rPr lang="ar-SA" sz="2800" dirty="0"/>
              <a:t> بعض تفاصيله </a:t>
            </a:r>
            <a:endParaRPr lang="en-US" sz="2800" dirty="0"/>
          </a:p>
          <a:p>
            <a:pPr algn="r" rtl="1"/>
            <a:r>
              <a:rPr lang="ar-SA" sz="2400" dirty="0"/>
              <a:t> </a:t>
            </a:r>
            <a:endParaRPr lang="en-US" sz="2400" dirty="0"/>
          </a:p>
          <a:p>
            <a:pPr algn="r" rtl="1"/>
            <a:r>
              <a:rPr lang="ar-SA" sz="3200" b="1" dirty="0">
                <a:solidFill>
                  <a:schemeClr val="tx2"/>
                </a:solidFill>
              </a:rPr>
              <a:t>5 – اللقطة المائله </a:t>
            </a:r>
            <a:endParaRPr lang="en-US" sz="2800" dirty="0"/>
          </a:p>
          <a:p>
            <a:pPr algn="r" rtl="1"/>
            <a:r>
              <a:rPr lang="ar-SA" sz="2800" dirty="0"/>
              <a:t>وتعرف </a:t>
            </a:r>
            <a:r>
              <a:rPr lang="ar-SA" sz="2800" dirty="0" err="1"/>
              <a:t>احيانا</a:t>
            </a:r>
            <a:r>
              <a:rPr lang="ar-SA" sz="2800" dirty="0"/>
              <a:t> باللقطة </a:t>
            </a:r>
            <a:r>
              <a:rPr lang="ar-SA" sz="2800" dirty="0" err="1"/>
              <a:t>المنحرفه</a:t>
            </a:r>
            <a:r>
              <a:rPr lang="ar-SA" sz="2800" dirty="0"/>
              <a:t> ويكون وضع الكاميرا فيها مائلاً مع توجيهها </a:t>
            </a:r>
            <a:r>
              <a:rPr lang="ar-SA" sz="2800" dirty="0" err="1"/>
              <a:t>الى</a:t>
            </a:r>
            <a:r>
              <a:rPr lang="ar-SA" sz="2800" dirty="0"/>
              <a:t> </a:t>
            </a:r>
            <a:r>
              <a:rPr lang="ar-SA" sz="2800" dirty="0" err="1"/>
              <a:t>اعلى</a:t>
            </a:r>
            <a:r>
              <a:rPr lang="ar-SA" sz="2800" dirty="0"/>
              <a:t> </a:t>
            </a:r>
            <a:r>
              <a:rPr lang="ar-SA" sz="2800" dirty="0" err="1"/>
              <a:t>او</a:t>
            </a:r>
            <a:r>
              <a:rPr lang="ar-SA" sz="2800" dirty="0"/>
              <a:t> </a:t>
            </a:r>
            <a:r>
              <a:rPr lang="ar-SA" sz="2800" dirty="0" err="1"/>
              <a:t>الى</a:t>
            </a:r>
            <a:r>
              <a:rPr lang="ar-SA" sz="2800" dirty="0"/>
              <a:t> </a:t>
            </a:r>
            <a:r>
              <a:rPr lang="ar-SA" sz="2800" dirty="0" err="1"/>
              <a:t>اسفل</a:t>
            </a:r>
            <a:r>
              <a:rPr lang="ar-SA" sz="2800" dirty="0"/>
              <a:t> ويتم ذلك عن طريق خفض احد </a:t>
            </a:r>
            <a:r>
              <a:rPr lang="ar-SA" sz="2800" dirty="0" err="1"/>
              <a:t>ارجل</a:t>
            </a:r>
            <a:r>
              <a:rPr lang="ar-SA" sz="2800" dirty="0"/>
              <a:t> الحامل </a:t>
            </a:r>
            <a:r>
              <a:rPr lang="ar-SA" sz="2800" dirty="0" err="1"/>
              <a:t>الثلاثى</a:t>
            </a:r>
            <a:r>
              <a:rPr lang="ar-SA" sz="2800" dirty="0"/>
              <a:t> للكاميرا </a:t>
            </a:r>
            <a:r>
              <a:rPr lang="ar-SA" sz="2800" dirty="0" err="1"/>
              <a:t>او</a:t>
            </a:r>
            <a:r>
              <a:rPr lang="ar-SA" sz="2800" dirty="0"/>
              <a:t> بوضع منشور خاص </a:t>
            </a:r>
            <a:r>
              <a:rPr lang="ar-SA" sz="2800" dirty="0" err="1"/>
              <a:t>امام</a:t>
            </a:r>
            <a:r>
              <a:rPr lang="ar-SA" sz="2800" dirty="0"/>
              <a:t> العدسة </a:t>
            </a:r>
            <a:r>
              <a:rPr lang="ar-SA" sz="2800" dirty="0" err="1"/>
              <a:t>و</a:t>
            </a:r>
            <a:r>
              <a:rPr lang="ar-EG" sz="2800" dirty="0"/>
              <a:t>نظرا </a:t>
            </a:r>
            <a:r>
              <a:rPr lang="ar-EG" sz="2800" dirty="0" err="1"/>
              <a:t>لانها</a:t>
            </a:r>
            <a:r>
              <a:rPr lang="ar-EG" sz="2800" dirty="0"/>
              <a:t> لقطة تلفت الانتباه لغرابتها </a:t>
            </a:r>
            <a:r>
              <a:rPr lang="ar-EG" sz="2800" dirty="0" err="1"/>
              <a:t>فانها</a:t>
            </a:r>
            <a:r>
              <a:rPr lang="ar-EG" sz="2800" dirty="0"/>
              <a:t> تستخدم </a:t>
            </a:r>
            <a:r>
              <a:rPr lang="ar-EG" sz="2800" dirty="0" err="1"/>
              <a:t>فى</a:t>
            </a:r>
            <a:r>
              <a:rPr lang="ar-EG" sz="2800" dirty="0"/>
              <a:t> حالات قليله وخاصة عند </a:t>
            </a:r>
            <a:r>
              <a:rPr lang="ar-EG" sz="2800" dirty="0" err="1"/>
              <a:t>الرغبه</a:t>
            </a:r>
            <a:r>
              <a:rPr lang="ar-EG" sz="2800" dirty="0"/>
              <a:t> </a:t>
            </a:r>
            <a:r>
              <a:rPr lang="ar-EG" sz="2800" dirty="0" err="1"/>
              <a:t>فى</a:t>
            </a:r>
            <a:r>
              <a:rPr lang="ar-EG" sz="2800" dirty="0"/>
              <a:t> التعبير عن الحالات </a:t>
            </a:r>
            <a:r>
              <a:rPr lang="ar-EG" sz="2800" dirty="0" err="1"/>
              <a:t>الذهنيه</a:t>
            </a:r>
            <a:r>
              <a:rPr lang="ar-EG" sz="2800" dirty="0"/>
              <a:t> </a:t>
            </a:r>
            <a:r>
              <a:rPr lang="ar-EG" sz="2800" dirty="0" err="1"/>
              <a:t>المفاجئه</a:t>
            </a:r>
            <a:r>
              <a:rPr lang="ar-EG" sz="2800" dirty="0"/>
              <a:t> ( شخص يعانى من </a:t>
            </a:r>
            <a:r>
              <a:rPr lang="ar-EG" sz="2800" dirty="0" err="1"/>
              <a:t>تاثير</a:t>
            </a:r>
            <a:r>
              <a:rPr lang="ar-EG" sz="2800" dirty="0"/>
              <a:t> المخدر )  </a:t>
            </a:r>
            <a:endParaRPr lang="en-US" sz="2800" dirty="0"/>
          </a:p>
          <a:p>
            <a:pPr algn="r" rtl="1"/>
            <a:endParaRPr lang="ar-EG" sz="2400" dirty="0"/>
          </a:p>
        </p:txBody>
      </p:sp>
    </p:spTree>
    <p:extLst>
      <p:ext uri="{BB962C8B-B14F-4D97-AF65-F5344CB8AC3E}">
        <p14:creationId xmlns:p14="http://schemas.microsoft.com/office/powerpoint/2010/main" val="2121130095"/>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1000" fill="hold"/>
                                        <p:tgtEl>
                                          <p:spTgt spid="2">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1000" fill="hold"/>
                                        <p:tgtEl>
                                          <p:spTgt spid="2">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10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circle(in)">
                                      <p:cBhvr>
                                        <p:cTn id="15" dur="2000"/>
                                        <p:tgtEl>
                                          <p:spTgt spid="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9" presetClass="entr" presetSubtype="0" accel="100000" fill="hold"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 calcmode="lin" valueType="num">
                                      <p:cBhvr>
                                        <p:cTn id="20" dur="1000" fill="hold"/>
                                        <p:tgtEl>
                                          <p:spTgt spid="2">
                                            <p:txEl>
                                              <p:pRg st="3" end="3"/>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21" dur="1000" fill="hold"/>
                                        <p:tgtEl>
                                          <p:spTgt spid="2">
                                            <p:txEl>
                                              <p:pRg st="3" end="3"/>
                                            </p:txEl>
                                          </p:spTgt>
                                        </p:tgtEl>
                                        <p:attrNameLst>
                                          <p:attrName>ppt_w</p:attrName>
                                        </p:attrNameLst>
                                      </p:cBhvr>
                                      <p:tavLst>
                                        <p:tav tm="0">
                                          <p:val>
                                            <p:strVal val="#ppt_w+.3"/>
                                          </p:val>
                                        </p:tav>
                                        <p:tav tm="50000">
                                          <p:val>
                                            <p:strVal val="#ppt_w+.3"/>
                                          </p:val>
                                        </p:tav>
                                        <p:tav tm="100000">
                                          <p:val>
                                            <p:strVal val="#ppt_w"/>
                                          </p:val>
                                        </p:tav>
                                      </p:tavLst>
                                    </p:anim>
                                    <p:anim calcmode="lin" valueType="num">
                                      <p:cBhvr>
                                        <p:cTn id="22" dur="1000" fill="hold"/>
                                        <p:tgtEl>
                                          <p:spTgt spid="2">
                                            <p:txEl>
                                              <p:pRg st="3" end="3"/>
                                            </p:txEl>
                                          </p:spTgt>
                                        </p:tgtEl>
                                        <p:attrNameLst>
                                          <p:attrName>ppt_x</p:attrName>
                                        </p:attrNameLst>
                                      </p:cBhvr>
                                      <p:tavLst>
                                        <p:tav tm="0">
                                          <p:val>
                                            <p:strVal val="#ppt_x-.3"/>
                                          </p:val>
                                        </p:tav>
                                        <p:tav tm="50000">
                                          <p:val>
                                            <p:strVal val="#ppt_x"/>
                                          </p:val>
                                        </p:tav>
                                        <p:tav tm="100000">
                                          <p:val>
                                            <p:strVal val="#ppt_x"/>
                                          </p:val>
                                        </p:tav>
                                      </p:tavLst>
                                    </p:anim>
                                    <p:anim calcmode="lin" valueType="num">
                                      <p:cBhvr>
                                        <p:cTn id="23" dur="1000" fill="hold"/>
                                        <p:tgtEl>
                                          <p:spTgt spid="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circle(in)">
                                      <p:cBhvr>
                                        <p:cTn id="28" dur="20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2214419" y="178269"/>
            <a:ext cx="5214977" cy="523220"/>
          </a:xfrm>
          <a:prstGeom prst="rect">
            <a:avLst/>
          </a:prstGeom>
        </p:spPr>
        <p:style>
          <a:lnRef idx="1">
            <a:schemeClr val="accent4"/>
          </a:lnRef>
          <a:fillRef idx="3">
            <a:schemeClr val="accent4"/>
          </a:fillRef>
          <a:effectRef idx="2">
            <a:schemeClr val="accent4"/>
          </a:effectRef>
          <a:fontRef idx="minor">
            <a:schemeClr val="lt1"/>
          </a:fontRef>
        </p:style>
        <p:txBody>
          <a:bodyPr wrap="square" rtlCol="1">
            <a:spAutoFit/>
          </a:bodyPr>
          <a:lstStyle/>
          <a:p>
            <a:pPr algn="ctr"/>
            <a:r>
              <a:rPr lang="ar-EG" sz="2800" b="1" dirty="0"/>
              <a:t>سادساً : الرسوم المتحركة</a:t>
            </a:r>
            <a:r>
              <a:rPr lang="en-US" sz="2800" b="1" dirty="0"/>
              <a:t>Animations </a:t>
            </a:r>
            <a:endParaRPr lang="en-US" sz="2800" dirty="0"/>
          </a:p>
        </p:txBody>
      </p:sp>
      <p:sp>
        <p:nvSpPr>
          <p:cNvPr id="3" name="مربع نص 2"/>
          <p:cNvSpPr txBox="1"/>
          <p:nvPr/>
        </p:nvSpPr>
        <p:spPr>
          <a:xfrm>
            <a:off x="422537" y="857292"/>
            <a:ext cx="8358247" cy="1015663"/>
          </a:xfrm>
          <a:prstGeom prst="rect">
            <a:avLst/>
          </a:prstGeom>
          <a:noFill/>
        </p:spPr>
        <p:txBody>
          <a:bodyPr wrap="square" rtlCol="1">
            <a:spAutoFit/>
          </a:bodyPr>
          <a:lstStyle/>
          <a:p>
            <a:r>
              <a:rPr lang="ar-EG" sz="2000" b="1" dirty="0"/>
              <a:t>ابتدعها الفنان </a:t>
            </a:r>
            <a:r>
              <a:rPr lang="ar-EG" sz="2000" b="1" dirty="0" err="1"/>
              <a:t>الامريكى</a:t>
            </a:r>
            <a:r>
              <a:rPr lang="ar-EG" sz="2000" b="1" dirty="0"/>
              <a:t> " والت </a:t>
            </a:r>
            <a:r>
              <a:rPr lang="ar-EG" sz="2000" b="1" dirty="0" err="1"/>
              <a:t>ديزنى</a:t>
            </a:r>
            <a:r>
              <a:rPr lang="ar-EG" sz="2000" b="1" dirty="0"/>
              <a:t> " </a:t>
            </a:r>
            <a:r>
              <a:rPr lang="en-US" sz="2000" b="1" dirty="0" err="1"/>
              <a:t>W.Disney</a:t>
            </a:r>
            <a:r>
              <a:rPr lang="ar-EG" sz="2000" b="1" dirty="0"/>
              <a:t> " وذلك باستخدام سلسلة من الرسوم </a:t>
            </a:r>
            <a:r>
              <a:rPr lang="ar-EG" sz="2000" b="1" dirty="0" err="1"/>
              <a:t>المتتاليه</a:t>
            </a:r>
            <a:r>
              <a:rPr lang="ar-EG" sz="2000" b="1" dirty="0"/>
              <a:t> </a:t>
            </a:r>
            <a:r>
              <a:rPr lang="ar-EG" sz="2000" b="1" dirty="0" err="1"/>
              <a:t>التى</a:t>
            </a:r>
            <a:r>
              <a:rPr lang="ar-EG" sz="2000" b="1" dirty="0"/>
              <a:t> ترسم على </a:t>
            </a:r>
            <a:r>
              <a:rPr lang="ar-EG" sz="2000" b="1" dirty="0" err="1"/>
              <a:t>اوراق</a:t>
            </a:r>
            <a:r>
              <a:rPr lang="ar-EG" sz="2000" b="1" dirty="0"/>
              <a:t> وتنقل </a:t>
            </a:r>
            <a:r>
              <a:rPr lang="ar-EG" sz="2000" b="1" dirty="0" err="1"/>
              <a:t>الى</a:t>
            </a:r>
            <a:r>
              <a:rPr lang="ar-EG" sz="2000" b="1" dirty="0"/>
              <a:t> صور </a:t>
            </a:r>
            <a:r>
              <a:rPr lang="ar-EG" sz="2000" b="1" dirty="0" err="1"/>
              <a:t>سنمائيه</a:t>
            </a:r>
            <a:r>
              <a:rPr lang="ar-EG" sz="2000" b="1" dirty="0"/>
              <a:t> بحيث تعرض هذه </a:t>
            </a:r>
            <a:r>
              <a:rPr lang="ar-EG" sz="2000" b="1" dirty="0" err="1"/>
              <a:t>الصوره</a:t>
            </a:r>
            <a:r>
              <a:rPr lang="ar-EG" sz="2000" b="1" dirty="0"/>
              <a:t> على </a:t>
            </a:r>
            <a:r>
              <a:rPr lang="ar-EG" sz="2000" b="1" dirty="0" err="1"/>
              <a:t>الاطارات</a:t>
            </a:r>
            <a:r>
              <a:rPr lang="ar-EG" sz="2000" b="1" dirty="0"/>
              <a:t> بسرعة 24 لقطة </a:t>
            </a:r>
            <a:r>
              <a:rPr lang="ar-EG" sz="2000" b="1" dirty="0" err="1"/>
              <a:t>فى</a:t>
            </a:r>
            <a:r>
              <a:rPr lang="ar-EG" sz="2000" b="1" dirty="0"/>
              <a:t> </a:t>
            </a:r>
            <a:r>
              <a:rPr lang="ar-EG" sz="2000" b="1" dirty="0" err="1"/>
              <a:t>الثانيه</a:t>
            </a:r>
            <a:r>
              <a:rPr lang="ar-EG" sz="2000" b="1" dirty="0"/>
              <a:t> الواحدة فتبدو الصور كما لو كانت متحركة </a:t>
            </a:r>
            <a:endParaRPr lang="en-US" sz="2000" b="1" dirty="0"/>
          </a:p>
        </p:txBody>
      </p:sp>
      <p:sp>
        <p:nvSpPr>
          <p:cNvPr id="4" name="مربع نص 3"/>
          <p:cNvSpPr txBox="1"/>
          <p:nvPr/>
        </p:nvSpPr>
        <p:spPr>
          <a:xfrm>
            <a:off x="6000760" y="2028758"/>
            <a:ext cx="2786083" cy="461665"/>
          </a:xfrm>
          <a:prstGeom prst="rect">
            <a:avLst/>
          </a:prstGeom>
        </p:spPr>
        <p:style>
          <a:lnRef idx="2">
            <a:schemeClr val="accent4"/>
          </a:lnRef>
          <a:fillRef idx="1">
            <a:schemeClr val="lt1"/>
          </a:fillRef>
          <a:effectRef idx="0">
            <a:schemeClr val="accent4"/>
          </a:effectRef>
          <a:fontRef idx="minor">
            <a:schemeClr val="dk1"/>
          </a:fontRef>
        </p:style>
        <p:txBody>
          <a:bodyPr wrap="square" rtlCol="1">
            <a:spAutoFit/>
          </a:bodyPr>
          <a:lstStyle/>
          <a:p>
            <a:pPr algn="ctr"/>
            <a:r>
              <a:rPr lang="ar-EG" sz="2400" b="1" dirty="0"/>
              <a:t>أنواع الرسوم المتحركة </a:t>
            </a:r>
            <a:endParaRPr lang="en-US" sz="2400" dirty="0"/>
          </a:p>
        </p:txBody>
      </p:sp>
      <p:sp>
        <p:nvSpPr>
          <p:cNvPr id="5" name="مربع نص 4"/>
          <p:cNvSpPr txBox="1"/>
          <p:nvPr/>
        </p:nvSpPr>
        <p:spPr>
          <a:xfrm>
            <a:off x="107505" y="2420888"/>
            <a:ext cx="8750776" cy="5139869"/>
          </a:xfrm>
          <a:prstGeom prst="rect">
            <a:avLst/>
          </a:prstGeom>
          <a:noFill/>
        </p:spPr>
        <p:txBody>
          <a:bodyPr wrap="square" rtlCol="1">
            <a:spAutoFit/>
          </a:bodyPr>
          <a:lstStyle/>
          <a:p>
            <a:pPr lvl="0"/>
            <a:r>
              <a:rPr lang="ar-EG" sz="2400" b="1" u="sng" dirty="0">
                <a:solidFill>
                  <a:schemeClr val="tx2"/>
                </a:solidFill>
              </a:rPr>
              <a:t>1- الرسوم المتحركة ثنائية الابعاد </a:t>
            </a:r>
            <a:endParaRPr lang="en-US" sz="2000" u="sng" dirty="0">
              <a:solidFill>
                <a:schemeClr val="tx2"/>
              </a:solidFill>
            </a:endParaRPr>
          </a:p>
          <a:p>
            <a:r>
              <a:rPr lang="ar-EG" sz="2400" dirty="0"/>
              <a:t>وفيها يتم وضع العنصر عند نقطة معينه يحسب الكمبيوتر احداثيتها وتكون نقطة البداية ثم يتم وضعها فى نقطة اخرى بعد ذلك لتصبح نقطة النهاية ويحسب الكمبيوتر احداثيتاه ايضا ومن ثم يحسب الكمبيوتر احداثيات جميع النقط على المسار الخطى ما بين النقطتين اللتين تم تحديدهما كنقطة بداية ونهاية وعند اذ يبدا الكمبيوتر فى وضع العنصر عند كل نقطة من نقط المسار الذى حدده بعد مسح العنصر من النقطة السابقة وبالتالى يبدو العنصر كما لو كان من نقطة الى نقطة اخرى ومع استخدام سرعات معينه للعرض يبدو العنصر متحركاً انسيابيا من نقطة البداية حتى نقطة النهاية .</a:t>
            </a:r>
            <a:endParaRPr lang="en-US" sz="2400" dirty="0"/>
          </a:p>
          <a:p>
            <a:pPr lvl="0"/>
            <a:r>
              <a:rPr lang="ar-EG" sz="2400" b="1" u="sng" dirty="0">
                <a:solidFill>
                  <a:schemeClr val="tx2"/>
                </a:solidFill>
              </a:rPr>
              <a:t>2- الرسوم المتحركة ثلاثية الابعاد </a:t>
            </a:r>
            <a:endParaRPr lang="en-US" sz="2000" u="sng" dirty="0">
              <a:solidFill>
                <a:schemeClr val="tx2"/>
              </a:solidFill>
            </a:endParaRPr>
          </a:p>
          <a:p>
            <a:pPr lvl="0">
              <a:buFont typeface="Arial" pitchFamily="34" charset="0"/>
              <a:buChar char="•"/>
            </a:pPr>
            <a:r>
              <a:rPr lang="ar-EG" sz="2400" dirty="0" err="1"/>
              <a:t>انشاء</a:t>
            </a:r>
            <a:r>
              <a:rPr lang="ar-EG" sz="2400" dirty="0"/>
              <a:t> المسقط </a:t>
            </a:r>
            <a:r>
              <a:rPr lang="ar-EG" sz="2400" dirty="0" err="1"/>
              <a:t>الرأسى</a:t>
            </a:r>
            <a:r>
              <a:rPr lang="ar-EG" sz="2400" dirty="0"/>
              <a:t> </a:t>
            </a:r>
            <a:endParaRPr lang="en-US" sz="2400" dirty="0"/>
          </a:p>
          <a:p>
            <a:pPr lvl="0">
              <a:buFont typeface="Arial" pitchFamily="34" charset="0"/>
              <a:buChar char="•"/>
            </a:pPr>
            <a:r>
              <a:rPr lang="ar-EG" sz="2400" dirty="0" err="1"/>
              <a:t>انشاء</a:t>
            </a:r>
            <a:r>
              <a:rPr lang="ar-EG" sz="2400" dirty="0"/>
              <a:t> المسقط </a:t>
            </a:r>
            <a:r>
              <a:rPr lang="ar-EG" sz="2400" dirty="0" err="1"/>
              <a:t>الجانبى</a:t>
            </a:r>
            <a:endParaRPr lang="en-US" sz="2400" dirty="0"/>
          </a:p>
          <a:p>
            <a:pPr lvl="0">
              <a:buFont typeface="Arial" pitchFamily="34" charset="0"/>
              <a:buChar char="•"/>
            </a:pPr>
            <a:r>
              <a:rPr lang="ar-EG" sz="2400" dirty="0" err="1"/>
              <a:t>انشاء</a:t>
            </a:r>
            <a:r>
              <a:rPr lang="ar-EG" sz="2400" dirty="0"/>
              <a:t> المسقط </a:t>
            </a:r>
            <a:r>
              <a:rPr lang="ar-EG" sz="2400" dirty="0" err="1"/>
              <a:t>الافقى</a:t>
            </a:r>
            <a:endParaRPr lang="ar-EG" sz="2400" dirty="0"/>
          </a:p>
          <a:p>
            <a:pPr lvl="0"/>
            <a:endParaRPr lang="en-US" sz="2000" dirty="0"/>
          </a:p>
          <a:p>
            <a:endParaRPr lang="ar-EG" sz="2000" dirty="0"/>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4" presetClass="entr" presetSubtype="0" accel="10000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p:cTn id="25" dur="1000" fill="hold"/>
                                        <p:tgtEl>
                                          <p:spTgt spid="3">
                                            <p:txEl>
                                              <p:pRg st="0" end="0"/>
                                            </p:txEl>
                                          </p:spTgt>
                                        </p:tgtEl>
                                        <p:attrNameLst>
                                          <p:attrName>ppt_w</p:attrName>
                                        </p:attrNameLst>
                                      </p:cBhvr>
                                      <p:tavLst>
                                        <p:tav tm="0">
                                          <p:val>
                                            <p:strVal val="#ppt_w*0.05"/>
                                          </p:val>
                                        </p:tav>
                                        <p:tav tm="100000">
                                          <p:val>
                                            <p:strVal val="#ppt_w"/>
                                          </p:val>
                                        </p:tav>
                                      </p:tavLst>
                                    </p:anim>
                                    <p:anim calcmode="lin" valueType="num">
                                      <p:cBhvr>
                                        <p:cTn id="26" dur="1000" fill="hold"/>
                                        <p:tgtEl>
                                          <p:spTgt spid="3">
                                            <p:txEl>
                                              <p:pRg st="0" end="0"/>
                                            </p:txEl>
                                          </p:spTgt>
                                        </p:tgtEl>
                                        <p:attrNameLst>
                                          <p:attrName>ppt_h</p:attrName>
                                        </p:attrNameLst>
                                      </p:cBhvr>
                                      <p:tavLst>
                                        <p:tav tm="0">
                                          <p:val>
                                            <p:strVal val="#ppt_h"/>
                                          </p:val>
                                        </p:tav>
                                        <p:tav tm="100000">
                                          <p:val>
                                            <p:strVal val="#ppt_h"/>
                                          </p:val>
                                        </p:tav>
                                      </p:tavLst>
                                    </p:anim>
                                    <p:anim calcmode="lin" valueType="num">
                                      <p:cBhvr>
                                        <p:cTn id="2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28" dur="1000" fill="hold"/>
                                        <p:tgtEl>
                                          <p:spTgt spid="3">
                                            <p:txEl>
                                              <p:pRg st="0" end="0"/>
                                            </p:txEl>
                                          </p:spTgt>
                                        </p:tgtEl>
                                        <p:attrNameLst>
                                          <p:attrName>ppt_y</p:attrName>
                                        </p:attrNameLst>
                                      </p:cBhvr>
                                      <p:tavLst>
                                        <p:tav tm="0">
                                          <p:val>
                                            <p:strVal val="#ppt_y"/>
                                          </p:val>
                                        </p:tav>
                                        <p:tav tm="100000">
                                          <p:val>
                                            <p:strVal val="#ppt_y"/>
                                          </p:val>
                                        </p:tav>
                                      </p:tavLst>
                                    </p:anim>
                                    <p:animEffect transition="in" filter="fade">
                                      <p:cBhvr>
                                        <p:cTn id="29" dur="1000"/>
                                        <p:tgtEl>
                                          <p:spTgt spid="3">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5" presetClass="entr" presetSubtype="0"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p:cTn id="34"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35"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36"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37" dur="1000" fill="hold"/>
                                        <p:tgtEl>
                                          <p:spTgt spid="4"/>
                                        </p:tgtEl>
                                        <p:attrNameLst>
                                          <p:attrName>ppt_h</p:attrName>
                                        </p:attrNameLst>
                                      </p:cBhvr>
                                      <p:tavLst>
                                        <p:tav tm="0">
                                          <p:val>
                                            <p:strVal val="#ppt_h"/>
                                          </p:val>
                                        </p:tav>
                                        <p:tav tm="100000">
                                          <p:val>
                                            <p:strVal val="#ppt_h"/>
                                          </p:val>
                                        </p:tav>
                                      </p:tavLst>
                                    </p:anim>
                                    <p:anim calcmode="lin" valueType="num">
                                      <p:cBhvr>
                                        <p:cTn id="38"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39"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40"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41" dur="1000" decel="50000">
                                          <p:stCondLst>
                                            <p:cond delay="0"/>
                                          </p:stCondLst>
                                        </p:cTn>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52" presetClass="entr" presetSubtype="0" fill="hold" nodeType="clickEffect">
                                  <p:stCondLst>
                                    <p:cond delay="0"/>
                                  </p:stCondLst>
                                  <p:childTnLst>
                                    <p:set>
                                      <p:cBhvr>
                                        <p:cTn id="45" dur="1" fill="hold">
                                          <p:stCondLst>
                                            <p:cond delay="0"/>
                                          </p:stCondLst>
                                        </p:cTn>
                                        <p:tgtEl>
                                          <p:spTgt spid="5">
                                            <p:txEl>
                                              <p:pRg st="0" end="0"/>
                                            </p:txEl>
                                          </p:spTgt>
                                        </p:tgtEl>
                                        <p:attrNameLst>
                                          <p:attrName>style.visibility</p:attrName>
                                        </p:attrNameLst>
                                      </p:cBhvr>
                                      <p:to>
                                        <p:strVal val="visible"/>
                                      </p:to>
                                    </p:set>
                                    <p:animScale>
                                      <p:cBhvr>
                                        <p:cTn id="46" dur="1000" decel="50000" fill="hold">
                                          <p:stCondLst>
                                            <p:cond delay="0"/>
                                          </p:stCondLst>
                                        </p:cTn>
                                        <p:tgtEl>
                                          <p:spTgt spid="5">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7" dur="1000" decel="50000" fill="hold">
                                          <p:stCondLst>
                                            <p:cond delay="0"/>
                                          </p:stCondLst>
                                        </p:cTn>
                                        <p:tgtEl>
                                          <p:spTgt spid="5">
                                            <p:txEl>
                                              <p:pRg st="0" end="0"/>
                                            </p:txEl>
                                          </p:spTgt>
                                        </p:tgtEl>
                                        <p:attrNameLst>
                                          <p:attrName>ppt_x</p:attrName>
                                          <p:attrName>ppt_y</p:attrName>
                                        </p:attrNameLst>
                                      </p:cBhvr>
                                    </p:animMotion>
                                    <p:animEffect transition="in" filter="fade">
                                      <p:cBhvr>
                                        <p:cTn id="48" dur="1000"/>
                                        <p:tgtEl>
                                          <p:spTgt spid="5">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0" presetClass="entr" presetSubtype="0" fill="hold" nodeType="clickEffect">
                                  <p:stCondLst>
                                    <p:cond delay="0"/>
                                  </p:stCondLst>
                                  <p:childTnLst>
                                    <p:set>
                                      <p:cBhvr>
                                        <p:cTn id="52" dur="1" fill="hold">
                                          <p:stCondLst>
                                            <p:cond delay="0"/>
                                          </p:stCondLst>
                                        </p:cTn>
                                        <p:tgtEl>
                                          <p:spTgt spid="5">
                                            <p:txEl>
                                              <p:pRg st="1" end="1"/>
                                            </p:txEl>
                                          </p:spTgt>
                                        </p:tgtEl>
                                        <p:attrNameLst>
                                          <p:attrName>style.visibility</p:attrName>
                                        </p:attrNameLst>
                                      </p:cBhvr>
                                      <p:to>
                                        <p:strVal val="visible"/>
                                      </p:to>
                                    </p:set>
                                    <p:animEffect transition="in" filter="wedge">
                                      <p:cBhvr>
                                        <p:cTn id="53" dur="2000"/>
                                        <p:tgtEl>
                                          <p:spTgt spid="5">
                                            <p:txEl>
                                              <p:pRg st="1" end="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52" presetClass="entr" presetSubtype="0" fill="hold" nodeType="clickEffect">
                                  <p:stCondLst>
                                    <p:cond delay="0"/>
                                  </p:stCondLst>
                                  <p:childTnLst>
                                    <p:set>
                                      <p:cBhvr>
                                        <p:cTn id="57" dur="1" fill="hold">
                                          <p:stCondLst>
                                            <p:cond delay="0"/>
                                          </p:stCondLst>
                                        </p:cTn>
                                        <p:tgtEl>
                                          <p:spTgt spid="5">
                                            <p:txEl>
                                              <p:pRg st="2" end="2"/>
                                            </p:txEl>
                                          </p:spTgt>
                                        </p:tgtEl>
                                        <p:attrNameLst>
                                          <p:attrName>style.visibility</p:attrName>
                                        </p:attrNameLst>
                                      </p:cBhvr>
                                      <p:to>
                                        <p:strVal val="visible"/>
                                      </p:to>
                                    </p:set>
                                    <p:animScale>
                                      <p:cBhvr>
                                        <p:cTn id="58" dur="1000" decel="50000" fill="hold">
                                          <p:stCondLst>
                                            <p:cond delay="0"/>
                                          </p:stCondLst>
                                        </p:cTn>
                                        <p:tgtEl>
                                          <p:spTgt spid="5">
                                            <p:txEl>
                                              <p:pRg st="2" end="2"/>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9" dur="1000" decel="50000" fill="hold">
                                          <p:stCondLst>
                                            <p:cond delay="0"/>
                                          </p:stCondLst>
                                        </p:cTn>
                                        <p:tgtEl>
                                          <p:spTgt spid="5">
                                            <p:txEl>
                                              <p:pRg st="2" end="2"/>
                                            </p:txEl>
                                          </p:spTgt>
                                        </p:tgtEl>
                                        <p:attrNameLst>
                                          <p:attrName>ppt_x</p:attrName>
                                          <p:attrName>ppt_y</p:attrName>
                                        </p:attrNameLst>
                                      </p:cBhvr>
                                    </p:animMotion>
                                    <p:animEffect transition="in" filter="fade">
                                      <p:cBhvr>
                                        <p:cTn id="60" dur="1000"/>
                                        <p:tgtEl>
                                          <p:spTgt spid="5">
                                            <p:txEl>
                                              <p:pRg st="2" end="2"/>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47" presetClass="entr" presetSubtype="0" fill="hold" nodeType="clickEffect">
                                  <p:stCondLst>
                                    <p:cond delay="0"/>
                                  </p:stCondLst>
                                  <p:childTnLst>
                                    <p:set>
                                      <p:cBhvr>
                                        <p:cTn id="64" dur="1" fill="hold">
                                          <p:stCondLst>
                                            <p:cond delay="0"/>
                                          </p:stCondLst>
                                        </p:cTn>
                                        <p:tgtEl>
                                          <p:spTgt spid="5">
                                            <p:txEl>
                                              <p:pRg st="3" end="3"/>
                                            </p:txEl>
                                          </p:spTgt>
                                        </p:tgtEl>
                                        <p:attrNameLst>
                                          <p:attrName>style.visibility</p:attrName>
                                        </p:attrNameLst>
                                      </p:cBhvr>
                                      <p:to>
                                        <p:strVal val="visible"/>
                                      </p:to>
                                    </p:set>
                                    <p:animEffect transition="in" filter="fade">
                                      <p:cBhvr>
                                        <p:cTn id="65" dur="1000"/>
                                        <p:tgtEl>
                                          <p:spTgt spid="5">
                                            <p:txEl>
                                              <p:pRg st="3" end="3"/>
                                            </p:txEl>
                                          </p:spTgt>
                                        </p:tgtEl>
                                      </p:cBhvr>
                                    </p:animEffect>
                                    <p:anim calcmode="lin" valueType="num">
                                      <p:cBhvr>
                                        <p:cTn id="66"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67"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7" presetClass="entr" presetSubtype="0" fill="hold" nodeType="clickEffect">
                                  <p:stCondLst>
                                    <p:cond delay="0"/>
                                  </p:stCondLst>
                                  <p:childTnLst>
                                    <p:set>
                                      <p:cBhvr>
                                        <p:cTn id="71" dur="1" fill="hold">
                                          <p:stCondLst>
                                            <p:cond delay="0"/>
                                          </p:stCondLst>
                                        </p:cTn>
                                        <p:tgtEl>
                                          <p:spTgt spid="5">
                                            <p:txEl>
                                              <p:pRg st="4" end="4"/>
                                            </p:txEl>
                                          </p:spTgt>
                                        </p:tgtEl>
                                        <p:attrNameLst>
                                          <p:attrName>style.visibility</p:attrName>
                                        </p:attrNameLst>
                                      </p:cBhvr>
                                      <p:to>
                                        <p:strVal val="visible"/>
                                      </p:to>
                                    </p:set>
                                    <p:animEffect transition="in" filter="fade">
                                      <p:cBhvr>
                                        <p:cTn id="72" dur="1000"/>
                                        <p:tgtEl>
                                          <p:spTgt spid="5">
                                            <p:txEl>
                                              <p:pRg st="4" end="4"/>
                                            </p:txEl>
                                          </p:spTgt>
                                        </p:tgtEl>
                                      </p:cBhvr>
                                    </p:animEffect>
                                    <p:anim calcmode="lin" valueType="num">
                                      <p:cBhvr>
                                        <p:cTn id="7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7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7" presetClass="entr" presetSubtype="0" fill="hold" nodeType="clickEffect">
                                  <p:stCondLst>
                                    <p:cond delay="0"/>
                                  </p:stCondLst>
                                  <p:childTnLst>
                                    <p:set>
                                      <p:cBhvr>
                                        <p:cTn id="78" dur="1" fill="hold">
                                          <p:stCondLst>
                                            <p:cond delay="0"/>
                                          </p:stCondLst>
                                        </p:cTn>
                                        <p:tgtEl>
                                          <p:spTgt spid="5">
                                            <p:txEl>
                                              <p:pRg st="5" end="5"/>
                                            </p:txEl>
                                          </p:spTgt>
                                        </p:tgtEl>
                                        <p:attrNameLst>
                                          <p:attrName>style.visibility</p:attrName>
                                        </p:attrNameLst>
                                      </p:cBhvr>
                                      <p:to>
                                        <p:strVal val="visible"/>
                                      </p:to>
                                    </p:set>
                                    <p:animEffect transition="in" filter="fade">
                                      <p:cBhvr>
                                        <p:cTn id="79" dur="1000"/>
                                        <p:tgtEl>
                                          <p:spTgt spid="5">
                                            <p:txEl>
                                              <p:pRg st="5" end="5"/>
                                            </p:txEl>
                                          </p:spTgt>
                                        </p:tgtEl>
                                      </p:cBhvr>
                                    </p:animEffect>
                                    <p:anim calcmode="lin" valueType="num">
                                      <p:cBhvr>
                                        <p:cTn id="80"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81"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462796" y="1124744"/>
            <a:ext cx="8429684" cy="2308324"/>
          </a:xfrm>
          <a:prstGeom prst="rect">
            <a:avLst/>
          </a:prstGeom>
          <a:noFill/>
        </p:spPr>
        <p:txBody>
          <a:bodyPr wrap="square" rtlCol="1">
            <a:spAutoFit/>
          </a:bodyPr>
          <a:lstStyle/>
          <a:p>
            <a:pPr lvl="0"/>
            <a:r>
              <a:rPr lang="ar-EG" sz="2400" b="1" dirty="0"/>
              <a:t>- تستخدم </a:t>
            </a:r>
            <a:r>
              <a:rPr lang="ar-EG" sz="2400" b="1" dirty="0" err="1"/>
              <a:t>فى</a:t>
            </a:r>
            <a:r>
              <a:rPr lang="ar-EG" sz="2400" b="1" dirty="0"/>
              <a:t> خدمه مجالات </a:t>
            </a:r>
            <a:r>
              <a:rPr lang="ar-EG" sz="2400" b="1" dirty="0" err="1"/>
              <a:t>متنوعه</a:t>
            </a:r>
            <a:r>
              <a:rPr lang="ar-EG" sz="2400" b="1" dirty="0"/>
              <a:t> منها عروض </a:t>
            </a:r>
            <a:r>
              <a:rPr lang="ar-EG" sz="2400" b="1" dirty="0" err="1"/>
              <a:t>المحاكاه</a:t>
            </a:r>
            <a:r>
              <a:rPr lang="ar-EG" sz="2400" b="1" dirty="0"/>
              <a:t> وانظمه الواقع </a:t>
            </a:r>
            <a:r>
              <a:rPr lang="ar-EG" sz="2400" b="1" dirty="0" err="1"/>
              <a:t>الوهمى</a:t>
            </a:r>
            <a:r>
              <a:rPr lang="ar-EG" sz="2400" b="1" dirty="0"/>
              <a:t> .</a:t>
            </a:r>
            <a:endParaRPr lang="en-US" sz="2400" b="1" dirty="0"/>
          </a:p>
          <a:p>
            <a:pPr lvl="0"/>
            <a:r>
              <a:rPr lang="ar-EG" sz="2400" b="1" dirty="0"/>
              <a:t>- مساعده </a:t>
            </a:r>
            <a:r>
              <a:rPr lang="ar-EG" sz="2400" b="1" dirty="0" err="1"/>
              <a:t>المتعلين</a:t>
            </a:r>
            <a:r>
              <a:rPr lang="ar-EG" sz="2400" b="1" dirty="0"/>
              <a:t> على التعلم حول بعض </a:t>
            </a:r>
            <a:r>
              <a:rPr lang="ar-EG" sz="2400" b="1" dirty="0" err="1"/>
              <a:t>الاشياء</a:t>
            </a:r>
            <a:r>
              <a:rPr lang="ar-EG" sz="2400" b="1" dirty="0"/>
              <a:t> </a:t>
            </a:r>
            <a:r>
              <a:rPr lang="ar-EG" sz="2400" b="1" dirty="0" err="1"/>
              <a:t>المعقده</a:t>
            </a:r>
            <a:r>
              <a:rPr lang="ar-EG" sz="2400" b="1" dirty="0"/>
              <a:t> </a:t>
            </a:r>
            <a:r>
              <a:rPr lang="ar-EG" sz="2400" b="1" dirty="0" err="1"/>
              <a:t>او</a:t>
            </a:r>
            <a:r>
              <a:rPr lang="ar-EG" sz="2400" b="1" dirty="0"/>
              <a:t> </a:t>
            </a:r>
            <a:r>
              <a:rPr lang="ar-EG" sz="2400" b="1" dirty="0" err="1"/>
              <a:t>التى</a:t>
            </a:r>
            <a:r>
              <a:rPr lang="ar-EG" sz="2400" b="1" dirty="0"/>
              <a:t> يصعد تكرراها </a:t>
            </a:r>
            <a:r>
              <a:rPr lang="ar-EG" sz="2400" b="1" dirty="0" err="1"/>
              <a:t>او</a:t>
            </a:r>
            <a:r>
              <a:rPr lang="ar-EG" sz="2400" b="1" dirty="0"/>
              <a:t> </a:t>
            </a:r>
            <a:r>
              <a:rPr lang="ar-EG" sz="2400" b="1" dirty="0" err="1"/>
              <a:t>اجرائها</a:t>
            </a:r>
            <a:r>
              <a:rPr lang="ar-EG" sz="2400" b="1" dirty="0"/>
              <a:t> </a:t>
            </a:r>
            <a:r>
              <a:rPr lang="ar-EG" sz="2400" b="1" dirty="0" err="1"/>
              <a:t>فى</a:t>
            </a:r>
            <a:r>
              <a:rPr lang="ar-EG" sz="2400" b="1" dirty="0"/>
              <a:t> الواقع مثل </a:t>
            </a:r>
            <a:r>
              <a:rPr lang="ar-EG" sz="2400" b="1" dirty="0" err="1"/>
              <a:t>محاكاه</a:t>
            </a:r>
            <a:r>
              <a:rPr lang="ar-EG" sz="2400" b="1" dirty="0"/>
              <a:t> التجارب </a:t>
            </a:r>
            <a:r>
              <a:rPr lang="ar-EG" sz="2400" b="1" dirty="0" err="1"/>
              <a:t>النوويه</a:t>
            </a:r>
            <a:r>
              <a:rPr lang="ar-EG" sz="2400" b="1" dirty="0"/>
              <a:t> </a:t>
            </a:r>
            <a:r>
              <a:rPr lang="ar-EG" sz="2400" b="1" dirty="0" err="1"/>
              <a:t>او</a:t>
            </a:r>
            <a:r>
              <a:rPr lang="ar-EG" sz="2400" b="1" dirty="0"/>
              <a:t> حركه الالكترونيات حول </a:t>
            </a:r>
            <a:r>
              <a:rPr lang="ar-EG" sz="2400" b="1" dirty="0" err="1"/>
              <a:t>الذره</a:t>
            </a:r>
            <a:r>
              <a:rPr lang="ar-EG" sz="2400" b="1" dirty="0"/>
              <a:t> .</a:t>
            </a:r>
            <a:endParaRPr lang="en-US" sz="2400" b="1" dirty="0"/>
          </a:p>
          <a:p>
            <a:pPr lvl="0"/>
            <a:r>
              <a:rPr lang="ar-EG" sz="2400" b="1" dirty="0"/>
              <a:t>- </a:t>
            </a:r>
            <a:r>
              <a:rPr lang="ar-EG" sz="2400" b="1" dirty="0" err="1"/>
              <a:t>زياده</a:t>
            </a:r>
            <a:r>
              <a:rPr lang="ar-EG" sz="2400" b="1" dirty="0"/>
              <a:t> فاعليه العرض </a:t>
            </a:r>
            <a:r>
              <a:rPr lang="ar-EG" sz="2400" b="1" dirty="0" err="1"/>
              <a:t>واثاره</a:t>
            </a:r>
            <a:r>
              <a:rPr lang="ar-EG" sz="2400" b="1" dirty="0"/>
              <a:t> المستخدم وجذبه نحو محتوى العرض .</a:t>
            </a:r>
            <a:endParaRPr lang="en-US" sz="2400" b="1" dirty="0"/>
          </a:p>
          <a:p>
            <a:pPr lvl="0"/>
            <a:r>
              <a:rPr lang="ar-EG" sz="2400" b="1" dirty="0"/>
              <a:t>- </a:t>
            </a:r>
            <a:r>
              <a:rPr lang="ar-EG" sz="2400" b="1" dirty="0" err="1"/>
              <a:t>اطفاء</a:t>
            </a:r>
            <a:r>
              <a:rPr lang="ar-EG" sz="2400" b="1" dirty="0"/>
              <a:t> الطابع </a:t>
            </a:r>
            <a:r>
              <a:rPr lang="ar-EG" sz="2400" b="1" dirty="0" err="1"/>
              <a:t>الحيوى</a:t>
            </a:r>
            <a:r>
              <a:rPr lang="ar-EG" sz="2400" b="1" dirty="0"/>
              <a:t> على العرض وجعله نابضا </a:t>
            </a:r>
            <a:r>
              <a:rPr lang="ar-EG" sz="2400" b="1" dirty="0" err="1"/>
              <a:t>بالحيويه</a:t>
            </a:r>
            <a:r>
              <a:rPr lang="ar-EG" sz="2400" b="1" dirty="0"/>
              <a:t> .</a:t>
            </a:r>
            <a:endParaRPr lang="en-US" sz="2400" b="1" dirty="0"/>
          </a:p>
          <a:p>
            <a:endParaRPr lang="ar-EG" sz="2400" b="1" dirty="0"/>
          </a:p>
        </p:txBody>
      </p:sp>
      <p:sp>
        <p:nvSpPr>
          <p:cNvPr id="3" name="مربع نص 2"/>
          <p:cNvSpPr txBox="1"/>
          <p:nvPr/>
        </p:nvSpPr>
        <p:spPr>
          <a:xfrm>
            <a:off x="2699792" y="332656"/>
            <a:ext cx="6087053" cy="523220"/>
          </a:xfrm>
          <a:prstGeom prst="rect">
            <a:avLst/>
          </a:prstGeom>
        </p:spPr>
        <p:style>
          <a:lnRef idx="2">
            <a:schemeClr val="accent4"/>
          </a:lnRef>
          <a:fillRef idx="1">
            <a:schemeClr val="lt1"/>
          </a:fillRef>
          <a:effectRef idx="0">
            <a:schemeClr val="accent4"/>
          </a:effectRef>
          <a:fontRef idx="minor">
            <a:schemeClr val="dk1"/>
          </a:fontRef>
        </p:style>
        <p:txBody>
          <a:bodyPr wrap="square" rtlCol="1">
            <a:spAutoFit/>
          </a:bodyPr>
          <a:lstStyle/>
          <a:p>
            <a:pPr algn="ctr"/>
            <a:r>
              <a:rPr lang="ar-EG" sz="2800" b="1" dirty="0"/>
              <a:t>ف</a:t>
            </a:r>
            <a:r>
              <a:rPr lang="ar-SA" sz="2800" b="1" dirty="0"/>
              <a:t>وائ</a:t>
            </a:r>
            <a:r>
              <a:rPr lang="ar-EG" sz="2800" b="1" dirty="0"/>
              <a:t>د الرسوم المتحركه فى برامج الواسائط المتعددة</a:t>
            </a:r>
            <a:endParaRPr lang="en-US" sz="2800" dirty="0"/>
          </a:p>
        </p:txBody>
      </p:sp>
      <p:sp>
        <p:nvSpPr>
          <p:cNvPr id="4" name="مربع نص 3"/>
          <p:cNvSpPr txBox="1"/>
          <p:nvPr/>
        </p:nvSpPr>
        <p:spPr>
          <a:xfrm>
            <a:off x="5004048" y="3500438"/>
            <a:ext cx="3639919" cy="523220"/>
          </a:xfrm>
          <a:prstGeom prst="rect">
            <a:avLst/>
          </a:prstGeom>
        </p:spPr>
        <p:style>
          <a:lnRef idx="2">
            <a:schemeClr val="accent4"/>
          </a:lnRef>
          <a:fillRef idx="1">
            <a:schemeClr val="lt1"/>
          </a:fillRef>
          <a:effectRef idx="0">
            <a:schemeClr val="accent4"/>
          </a:effectRef>
          <a:fontRef idx="minor">
            <a:schemeClr val="dk1"/>
          </a:fontRef>
        </p:style>
        <p:txBody>
          <a:bodyPr wrap="square" rtlCol="1">
            <a:spAutoFit/>
          </a:bodyPr>
          <a:lstStyle/>
          <a:p>
            <a:r>
              <a:rPr lang="ar-EG" sz="2800" b="1" dirty="0"/>
              <a:t>كيفيه </a:t>
            </a:r>
            <a:r>
              <a:rPr lang="ar-EG" sz="2800" b="1" dirty="0" err="1"/>
              <a:t>انتاج</a:t>
            </a:r>
            <a:r>
              <a:rPr lang="ar-EG" sz="2800" b="1" dirty="0"/>
              <a:t> الرسوم المتحركة</a:t>
            </a:r>
            <a:endParaRPr lang="en-US" sz="2800" dirty="0"/>
          </a:p>
        </p:txBody>
      </p:sp>
      <p:sp>
        <p:nvSpPr>
          <p:cNvPr id="5" name="مربع نص 4"/>
          <p:cNvSpPr txBox="1"/>
          <p:nvPr/>
        </p:nvSpPr>
        <p:spPr>
          <a:xfrm>
            <a:off x="251520" y="4365104"/>
            <a:ext cx="8535325" cy="2308324"/>
          </a:xfrm>
          <a:prstGeom prst="rect">
            <a:avLst/>
          </a:prstGeom>
          <a:noFill/>
        </p:spPr>
        <p:txBody>
          <a:bodyPr wrap="square" rtlCol="1">
            <a:spAutoFit/>
          </a:bodyPr>
          <a:lstStyle/>
          <a:p>
            <a:r>
              <a:rPr lang="ar-EG" sz="2400" b="1" dirty="0" err="1"/>
              <a:t>بالامكان</a:t>
            </a:r>
            <a:r>
              <a:rPr lang="ar-EG" sz="2400" b="1" dirty="0"/>
              <a:t> الحصول على نوع من الرسوم </a:t>
            </a:r>
            <a:r>
              <a:rPr lang="ar-EG" sz="2400" b="1" dirty="0" err="1"/>
              <a:t>المتحركه</a:t>
            </a:r>
            <a:r>
              <a:rPr lang="ar-EG" sz="2400" b="1" dirty="0"/>
              <a:t> بدون </a:t>
            </a:r>
            <a:r>
              <a:rPr lang="ar-EG" sz="2400" b="1" dirty="0" err="1"/>
              <a:t>الاستعانه</a:t>
            </a:r>
            <a:r>
              <a:rPr lang="ar-EG" sz="2400" b="1" dirty="0"/>
              <a:t> </a:t>
            </a:r>
            <a:r>
              <a:rPr lang="ar-EG" sz="2400" b="1" dirty="0" err="1"/>
              <a:t>باى</a:t>
            </a:r>
            <a:r>
              <a:rPr lang="ar-EG" sz="2400" b="1" dirty="0"/>
              <a:t> وسائط تقنيه عن طريق الاعتماد على وسيله </a:t>
            </a:r>
            <a:r>
              <a:rPr lang="ar-EG" sz="2400" b="1" dirty="0" err="1"/>
              <a:t>فى</a:t>
            </a:r>
            <a:r>
              <a:rPr lang="ar-EG" sz="2400" b="1" dirty="0"/>
              <a:t> </a:t>
            </a:r>
            <a:r>
              <a:rPr lang="ar-EG" sz="2400" b="1" dirty="0" err="1"/>
              <a:t>غايه</a:t>
            </a:r>
            <a:r>
              <a:rPr lang="ar-EG" sz="2400" b="1" dirty="0"/>
              <a:t> </a:t>
            </a:r>
            <a:r>
              <a:rPr lang="ar-EG" sz="2400" b="1" dirty="0" err="1"/>
              <a:t>البساطه</a:t>
            </a:r>
            <a:r>
              <a:rPr lang="ar-EG" sz="2400" b="1" dirty="0"/>
              <a:t> تعرف باسم (دفتر التصفح السريع ) هو مجموعه من الرسوم </a:t>
            </a:r>
            <a:r>
              <a:rPr lang="ar-EG" sz="2400" b="1" dirty="0" err="1"/>
              <a:t>التخطيطيه</a:t>
            </a:r>
            <a:r>
              <a:rPr lang="ar-EG" sz="2400" b="1" dirty="0"/>
              <a:t> (</a:t>
            </a:r>
            <a:r>
              <a:rPr lang="ar-EG" sz="2400" b="1" dirty="0" err="1"/>
              <a:t>الاسكتشات</a:t>
            </a:r>
            <a:r>
              <a:rPr lang="ar-EG" sz="2400" b="1" dirty="0"/>
              <a:t> ) </a:t>
            </a:r>
            <a:r>
              <a:rPr lang="ar-EG" sz="2400" b="1" dirty="0" err="1"/>
              <a:t>فى</a:t>
            </a:r>
            <a:r>
              <a:rPr lang="ar-EG" sz="2400" b="1" dirty="0"/>
              <a:t> صفحات </a:t>
            </a:r>
            <a:r>
              <a:rPr lang="ar-EG" sz="2400" b="1" dirty="0" err="1"/>
              <a:t>متتاليه</a:t>
            </a:r>
            <a:r>
              <a:rPr lang="ar-EG" sz="2400" b="1" dirty="0"/>
              <a:t> كل واحده فوق </a:t>
            </a:r>
            <a:r>
              <a:rPr lang="ar-EG" sz="2400" b="1" dirty="0" err="1"/>
              <a:t>الاخرى</a:t>
            </a:r>
            <a:r>
              <a:rPr lang="ar-EG" sz="2400" b="1" dirty="0"/>
              <a:t> </a:t>
            </a:r>
            <a:r>
              <a:rPr lang="ar-EG" sz="2400" b="1" dirty="0" err="1"/>
              <a:t>فى</a:t>
            </a:r>
            <a:r>
              <a:rPr lang="ar-EG" sz="2400" b="1" dirty="0"/>
              <a:t> تسلسل واضح </a:t>
            </a:r>
            <a:r>
              <a:rPr lang="ar-EG" sz="2400" b="1" dirty="0" err="1"/>
              <a:t>فاذا</a:t>
            </a:r>
            <a:r>
              <a:rPr lang="ar-EG" sz="2400" b="1" dirty="0"/>
              <a:t> تم تقليب هذه الصفحات </a:t>
            </a:r>
            <a:r>
              <a:rPr lang="ar-EG" sz="2400" b="1" dirty="0" err="1"/>
              <a:t>بحركه</a:t>
            </a:r>
            <a:r>
              <a:rPr lang="ar-EG" sz="2400" b="1" dirty="0"/>
              <a:t> </a:t>
            </a:r>
            <a:r>
              <a:rPr lang="ar-EG" sz="2400" b="1" dirty="0" err="1"/>
              <a:t>سريعه</a:t>
            </a:r>
            <a:r>
              <a:rPr lang="ar-EG" sz="2400" b="1" dirty="0"/>
              <a:t> خاطفه بدت الرسوم وكأنها تتحرك .</a:t>
            </a:r>
            <a:endParaRPr lang="en-US" sz="2400" b="1" dirty="0"/>
          </a:p>
          <a:p>
            <a:endParaRPr lang="ar-EG" sz="2400" b="1" dirty="0"/>
          </a:p>
        </p:txBody>
      </p:sp>
    </p:spTree>
  </p:cSld>
  <p:clrMapOvr>
    <a:masterClrMapping/>
  </p:clrMapOvr>
  <p:transition spd="slow">
    <p:whee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10" dur="1000" fill="hold"/>
                                        <p:tgtEl>
                                          <p:spTgt spid="3"/>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animEffect transition="in" filter="fade">
                                      <p:cBhvr>
                                        <p:cTn id="19" dur="1000"/>
                                        <p:tgtEl>
                                          <p:spTgt spid="2">
                                            <p:txEl>
                                              <p:pRg st="0" end="0"/>
                                            </p:txEl>
                                          </p:spTgt>
                                        </p:tgtEl>
                                      </p:cBhvr>
                                    </p:animEffect>
                                    <p:anim calcmode="lin" valueType="num">
                                      <p:cBhvr>
                                        <p:cTn id="20"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7" presetClass="entr" presetSubtype="0" fill="hold" nodeType="clickEffect">
                                  <p:stCondLst>
                                    <p:cond delay="0"/>
                                  </p:stCondLst>
                                  <p:childTnLst>
                                    <p:set>
                                      <p:cBhvr>
                                        <p:cTn id="25" dur="1" fill="hold">
                                          <p:stCondLst>
                                            <p:cond delay="0"/>
                                          </p:stCondLst>
                                        </p:cTn>
                                        <p:tgtEl>
                                          <p:spTgt spid="2">
                                            <p:txEl>
                                              <p:pRg st="1" end="1"/>
                                            </p:txEl>
                                          </p:spTgt>
                                        </p:tgtEl>
                                        <p:attrNameLst>
                                          <p:attrName>style.visibility</p:attrName>
                                        </p:attrNameLst>
                                      </p:cBhvr>
                                      <p:to>
                                        <p:strVal val="visible"/>
                                      </p:to>
                                    </p:set>
                                    <p:animEffect transition="in" filter="fade">
                                      <p:cBhvr>
                                        <p:cTn id="26" dur="1000"/>
                                        <p:tgtEl>
                                          <p:spTgt spid="2">
                                            <p:txEl>
                                              <p:pRg st="1" end="1"/>
                                            </p:txEl>
                                          </p:spTgt>
                                        </p:tgtEl>
                                      </p:cBhvr>
                                    </p:animEffect>
                                    <p:anim calcmode="lin" valueType="num">
                                      <p:cBhvr>
                                        <p:cTn id="27"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nodeType="clickEffect">
                                  <p:stCondLst>
                                    <p:cond delay="0"/>
                                  </p:stCondLst>
                                  <p:childTnLst>
                                    <p:set>
                                      <p:cBhvr>
                                        <p:cTn id="32" dur="1" fill="hold">
                                          <p:stCondLst>
                                            <p:cond delay="0"/>
                                          </p:stCondLst>
                                        </p:cTn>
                                        <p:tgtEl>
                                          <p:spTgt spid="2">
                                            <p:txEl>
                                              <p:pRg st="2" end="2"/>
                                            </p:txEl>
                                          </p:spTgt>
                                        </p:tgtEl>
                                        <p:attrNameLst>
                                          <p:attrName>style.visibility</p:attrName>
                                        </p:attrNameLst>
                                      </p:cBhvr>
                                      <p:to>
                                        <p:strVal val="visible"/>
                                      </p:to>
                                    </p:set>
                                    <p:animEffect transition="in" filter="fade">
                                      <p:cBhvr>
                                        <p:cTn id="33" dur="1000"/>
                                        <p:tgtEl>
                                          <p:spTgt spid="2">
                                            <p:txEl>
                                              <p:pRg st="2" end="2"/>
                                            </p:txEl>
                                          </p:spTgt>
                                        </p:tgtEl>
                                      </p:cBhvr>
                                    </p:animEffect>
                                    <p:anim calcmode="lin" valueType="num">
                                      <p:cBhvr>
                                        <p:cTn id="34"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7" presetClass="entr" presetSubtype="0" fill="hold" nodeType="clickEffect">
                                  <p:stCondLst>
                                    <p:cond delay="0"/>
                                  </p:stCondLst>
                                  <p:childTnLst>
                                    <p:set>
                                      <p:cBhvr>
                                        <p:cTn id="39" dur="1" fill="hold">
                                          <p:stCondLst>
                                            <p:cond delay="0"/>
                                          </p:stCondLst>
                                        </p:cTn>
                                        <p:tgtEl>
                                          <p:spTgt spid="2">
                                            <p:txEl>
                                              <p:pRg st="3" end="3"/>
                                            </p:txEl>
                                          </p:spTgt>
                                        </p:tgtEl>
                                        <p:attrNameLst>
                                          <p:attrName>style.visibility</p:attrName>
                                        </p:attrNameLst>
                                      </p:cBhvr>
                                      <p:to>
                                        <p:strVal val="visible"/>
                                      </p:to>
                                    </p:set>
                                    <p:animEffect transition="in" filter="fade">
                                      <p:cBhvr>
                                        <p:cTn id="40" dur="1000"/>
                                        <p:tgtEl>
                                          <p:spTgt spid="2">
                                            <p:txEl>
                                              <p:pRg st="3" end="3"/>
                                            </p:txEl>
                                          </p:spTgt>
                                        </p:tgtEl>
                                      </p:cBhvr>
                                    </p:animEffect>
                                    <p:anim calcmode="lin" valueType="num">
                                      <p:cBhvr>
                                        <p:cTn id="41"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42"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5" presetClass="entr" presetSubtype="0"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 calcmode="lin" valueType="num">
                                      <p:cBhvr>
                                        <p:cTn id="4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4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4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50" dur="1000" fill="hold"/>
                                        <p:tgtEl>
                                          <p:spTgt spid="4"/>
                                        </p:tgtEl>
                                        <p:attrNameLst>
                                          <p:attrName>ppt_h</p:attrName>
                                        </p:attrNameLst>
                                      </p:cBhvr>
                                      <p:tavLst>
                                        <p:tav tm="0">
                                          <p:val>
                                            <p:strVal val="#ppt_h"/>
                                          </p:val>
                                        </p:tav>
                                        <p:tav tm="100000">
                                          <p:val>
                                            <p:strVal val="#ppt_h"/>
                                          </p:val>
                                        </p:tav>
                                      </p:tavLst>
                                    </p:anim>
                                    <p:anim calcmode="lin" valueType="num">
                                      <p:cBhvr>
                                        <p:cTn id="5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5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5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54" dur="1000" decel="50000">
                                          <p:stCondLst>
                                            <p:cond delay="0"/>
                                          </p:stCondLst>
                                        </p:cTn>
                                        <p:tgtEl>
                                          <p:spTgt spid="4"/>
                                        </p:tgtEl>
                                      </p:cBhvr>
                                    </p:animEffect>
                                  </p:childTnLst>
                                </p:cTn>
                              </p:par>
                            </p:childTnLst>
                          </p:cTn>
                        </p:par>
                      </p:childTnLst>
                    </p:cTn>
                  </p:par>
                  <p:par>
                    <p:cTn id="55" fill="hold">
                      <p:stCondLst>
                        <p:cond delay="indefinite"/>
                      </p:stCondLst>
                      <p:childTnLst>
                        <p:par>
                          <p:cTn id="56" fill="hold">
                            <p:stCondLst>
                              <p:cond delay="0"/>
                            </p:stCondLst>
                            <p:childTnLst>
                              <p:par>
                                <p:cTn id="57" presetID="20" presetClass="entr" presetSubtype="0" fill="hold" nodeType="clickEffect">
                                  <p:stCondLst>
                                    <p:cond delay="0"/>
                                  </p:stCondLst>
                                  <p:childTnLst>
                                    <p:set>
                                      <p:cBhvr>
                                        <p:cTn id="58" dur="1" fill="hold">
                                          <p:stCondLst>
                                            <p:cond delay="0"/>
                                          </p:stCondLst>
                                        </p:cTn>
                                        <p:tgtEl>
                                          <p:spTgt spid="5">
                                            <p:txEl>
                                              <p:pRg st="0" end="0"/>
                                            </p:txEl>
                                          </p:spTgt>
                                        </p:tgtEl>
                                        <p:attrNameLst>
                                          <p:attrName>style.visibility</p:attrName>
                                        </p:attrNameLst>
                                      </p:cBhvr>
                                      <p:to>
                                        <p:strVal val="visible"/>
                                      </p:to>
                                    </p:set>
                                    <p:animEffect transition="in" filter="wedge">
                                      <p:cBhvr>
                                        <p:cTn id="59"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3491880" y="188640"/>
            <a:ext cx="5223527" cy="523220"/>
          </a:xfrm>
          <a:prstGeom prst="rect">
            <a:avLst/>
          </a:prstGeom>
        </p:spPr>
        <p:style>
          <a:lnRef idx="2">
            <a:schemeClr val="accent4"/>
          </a:lnRef>
          <a:fillRef idx="1">
            <a:schemeClr val="lt1"/>
          </a:fillRef>
          <a:effectRef idx="0">
            <a:schemeClr val="accent4"/>
          </a:effectRef>
          <a:fontRef idx="minor">
            <a:schemeClr val="dk1"/>
          </a:fontRef>
        </p:style>
        <p:txBody>
          <a:bodyPr wrap="square" rtlCol="1">
            <a:spAutoFit/>
          </a:bodyPr>
          <a:lstStyle/>
          <a:p>
            <a:pPr algn="ctr"/>
            <a:r>
              <a:rPr lang="ar-EG" sz="2800" b="1" dirty="0"/>
              <a:t>الطرق </a:t>
            </a:r>
            <a:r>
              <a:rPr lang="ar-EG" sz="2800" b="1" dirty="0" err="1"/>
              <a:t>المختلفه</a:t>
            </a:r>
            <a:r>
              <a:rPr lang="ar-EG" sz="2800" b="1" dirty="0"/>
              <a:t> لتنفيذ فيلم الرسوم </a:t>
            </a:r>
            <a:r>
              <a:rPr lang="ar-EG" sz="2800" b="1" dirty="0" err="1"/>
              <a:t>المتحركه</a:t>
            </a:r>
            <a:endParaRPr lang="en-US" sz="2800" dirty="0"/>
          </a:p>
        </p:txBody>
      </p:sp>
      <p:sp>
        <p:nvSpPr>
          <p:cNvPr id="3" name="مربع نص 2"/>
          <p:cNvSpPr txBox="1"/>
          <p:nvPr/>
        </p:nvSpPr>
        <p:spPr>
          <a:xfrm>
            <a:off x="179512" y="908720"/>
            <a:ext cx="8856984" cy="6001643"/>
          </a:xfrm>
          <a:prstGeom prst="rect">
            <a:avLst/>
          </a:prstGeom>
          <a:noFill/>
        </p:spPr>
        <p:txBody>
          <a:bodyPr wrap="square" rtlCol="1">
            <a:spAutoFit/>
          </a:bodyPr>
          <a:lstStyle/>
          <a:p>
            <a:pPr lvl="0"/>
            <a:r>
              <a:rPr lang="ar-EG" sz="3200" b="1" dirty="0">
                <a:solidFill>
                  <a:schemeClr val="tx2"/>
                </a:solidFill>
              </a:rPr>
              <a:t>1- الرسوم المتحركه من اوراق السيلولوز </a:t>
            </a:r>
            <a:endParaRPr lang="en-US" sz="2800" b="1" dirty="0">
              <a:solidFill>
                <a:schemeClr val="tx2"/>
              </a:solidFill>
            </a:endParaRPr>
          </a:p>
          <a:p>
            <a:r>
              <a:rPr lang="ar-EG" sz="2400" b="1" dirty="0"/>
              <a:t>يقوم فنان تبويب المشاهد بتحديد الكيفيه التى تتحرك بها الشخصيات ومظهرها العام بالاضافه الى تقطيع السرد الفيلمى الى مشاهد منفصله ثم نجهيز رسومات ارشاديه لمجموعتى من الفنانين هم رسامى الخلفيات ورسامى التحريك .</a:t>
            </a:r>
            <a:endParaRPr lang="en-US" sz="2400" b="1" dirty="0"/>
          </a:p>
          <a:p>
            <a:pPr lvl="0"/>
            <a:r>
              <a:rPr lang="ar-EG" sz="3200" b="1" dirty="0">
                <a:solidFill>
                  <a:schemeClr val="tx2"/>
                </a:solidFill>
              </a:rPr>
              <a:t>2- التحريك بالتدبيس</a:t>
            </a:r>
            <a:endParaRPr lang="en-US" sz="2800" b="1" dirty="0">
              <a:solidFill>
                <a:schemeClr val="tx2"/>
              </a:solidFill>
            </a:endParaRPr>
          </a:p>
          <a:p>
            <a:r>
              <a:rPr lang="ar-EG" sz="2400" b="1" dirty="0"/>
              <a:t>عملية تستخدم فيها لوحة بيضاء كبيره بها ما يزيد على مليون ثقب صغير يقوم فنيو التحريك بملئها بدبابيس بلا رؤس وبعد ذلك يصلطون عليها اضاءة جانبية ترمى ظلالاً تكون منها الاشكال المستخدمة رسوما متحركة ويقوم الفنيون كذلك بتغيير الدبابيس وتبديلها بتغيير هذه الاشكال وتنوعها </a:t>
            </a:r>
            <a:endParaRPr lang="en-US" sz="2400" b="1" dirty="0"/>
          </a:p>
          <a:p>
            <a:pPr lvl="0"/>
            <a:r>
              <a:rPr lang="ar-EG" sz="3200" b="1" dirty="0">
                <a:solidFill>
                  <a:schemeClr val="tx2"/>
                </a:solidFill>
              </a:rPr>
              <a:t>3- التحريك بالحاسوب </a:t>
            </a:r>
            <a:endParaRPr lang="en-US" sz="2800" b="1" dirty="0">
              <a:solidFill>
                <a:schemeClr val="tx2"/>
              </a:solidFill>
            </a:endParaRPr>
          </a:p>
          <a:p>
            <a:r>
              <a:rPr lang="ar-EG" sz="2400" b="1" dirty="0"/>
              <a:t>يستخدم فيها الحاسوب بالتلوين والتظليل وتحريك </a:t>
            </a:r>
            <a:r>
              <a:rPr lang="ar-EG" sz="2400" b="1" dirty="0" err="1"/>
              <a:t>الاشكال</a:t>
            </a:r>
            <a:r>
              <a:rPr lang="ar-EG" sz="2400" b="1" dirty="0"/>
              <a:t> </a:t>
            </a:r>
            <a:r>
              <a:rPr lang="ar-EG" sz="2400" b="1" dirty="0" err="1"/>
              <a:t>التى</a:t>
            </a:r>
            <a:r>
              <a:rPr lang="ar-EG" sz="2400" b="1" dirty="0"/>
              <a:t> يقوم برسمها فنانون على لوحة للعرض وهى طريقة </a:t>
            </a:r>
            <a:r>
              <a:rPr lang="ar-EG" sz="2400" b="1" dirty="0" err="1"/>
              <a:t>اسرع</a:t>
            </a:r>
            <a:r>
              <a:rPr lang="ar-EG" sz="2400" b="1" dirty="0"/>
              <a:t> من الرسم باليد </a:t>
            </a:r>
            <a:r>
              <a:rPr lang="ar-EG" sz="2400" b="1" dirty="0" err="1"/>
              <a:t>اذ</a:t>
            </a:r>
            <a:r>
              <a:rPr lang="ar-EG" sz="2400" b="1" dirty="0"/>
              <a:t> بمقدور الحاسوب انجاز رسومات بالغة </a:t>
            </a:r>
            <a:r>
              <a:rPr lang="ar-EG" sz="2400" b="1" dirty="0" err="1"/>
              <a:t>الدقه</a:t>
            </a:r>
            <a:r>
              <a:rPr lang="ar-EG" sz="2400" b="1" dirty="0"/>
              <a:t> والتفاصيل ويستخدم التحريك بالحاسوب </a:t>
            </a:r>
            <a:r>
              <a:rPr lang="ar-EG" sz="2400" b="1" dirty="0" err="1"/>
              <a:t>فى</a:t>
            </a:r>
            <a:r>
              <a:rPr lang="ar-EG" sz="2400" b="1" dirty="0"/>
              <a:t> </a:t>
            </a:r>
            <a:r>
              <a:rPr lang="ar-EG" sz="2400" b="1" dirty="0" err="1"/>
              <a:t>اعلانات</a:t>
            </a:r>
            <a:r>
              <a:rPr lang="ar-EG" sz="2400" b="1" dirty="0"/>
              <a:t> التليفزيون </a:t>
            </a:r>
            <a:r>
              <a:rPr lang="ar-EG" sz="2400" b="1" dirty="0" err="1"/>
              <a:t>والافلام</a:t>
            </a:r>
            <a:r>
              <a:rPr lang="ar-EG" sz="2400" b="1" dirty="0"/>
              <a:t> </a:t>
            </a:r>
            <a:r>
              <a:rPr lang="ar-EG" sz="2400" b="1" dirty="0" err="1"/>
              <a:t>التعليميه</a:t>
            </a:r>
            <a:r>
              <a:rPr lang="ar-EG" sz="2400" b="1" dirty="0"/>
              <a:t> </a:t>
            </a:r>
            <a:r>
              <a:rPr lang="ar-EG" sz="2400" b="1" dirty="0" err="1"/>
              <a:t>وايضا</a:t>
            </a:r>
            <a:r>
              <a:rPr lang="ar-EG" sz="2400" b="1" dirty="0"/>
              <a:t> </a:t>
            </a:r>
            <a:r>
              <a:rPr lang="ar-EG" sz="2400" b="1" dirty="0" err="1"/>
              <a:t>فى</a:t>
            </a:r>
            <a:r>
              <a:rPr lang="ar-EG" sz="2400" b="1" dirty="0"/>
              <a:t> </a:t>
            </a:r>
            <a:r>
              <a:rPr lang="ar-EG" sz="2400" b="1" dirty="0" err="1"/>
              <a:t>الافلام</a:t>
            </a:r>
            <a:r>
              <a:rPr lang="ar-EG" sz="2400" b="1" dirty="0"/>
              <a:t> الروائية </a:t>
            </a:r>
            <a:endParaRPr lang="en-US" sz="2400" b="1" dirty="0"/>
          </a:p>
          <a:p>
            <a:endParaRPr lang="ar-EG" sz="2400" b="1" dirty="0"/>
          </a:p>
        </p:txBody>
      </p:sp>
    </p:spTree>
  </p:cSld>
  <p:clrMapOvr>
    <a:masterClrMapping/>
  </p:clrMapOvr>
  <p:transition spd="slow">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39" presetClass="entr" presetSubtype="0" accel="10000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p:cTn id="19" dur="500" fill="hold"/>
                                        <p:tgtEl>
                                          <p:spTgt spid="3">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20" dur="500" fill="hold"/>
                                        <p:tgtEl>
                                          <p:spTgt spid="3">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21" dur="500" fill="hold"/>
                                        <p:tgtEl>
                                          <p:spTgt spid="3">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22"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circle(in)">
                                      <p:cBhvr>
                                        <p:cTn id="27" dur="20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9" presetClass="entr" presetSubtype="0" accel="100000" fill="hold"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 calcmode="lin" valueType="num">
                                      <p:cBhvr>
                                        <p:cTn id="32" dur="500" fill="hold"/>
                                        <p:tgtEl>
                                          <p:spTgt spid="3">
                                            <p:txEl>
                                              <p:pRg st="2" end="2"/>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33" dur="500" fill="hold"/>
                                        <p:tgtEl>
                                          <p:spTgt spid="3">
                                            <p:txEl>
                                              <p:pRg st="2" end="2"/>
                                            </p:txEl>
                                          </p:spTgt>
                                        </p:tgtEl>
                                        <p:attrNameLst>
                                          <p:attrName>ppt_w</p:attrName>
                                        </p:attrNameLst>
                                      </p:cBhvr>
                                      <p:tavLst>
                                        <p:tav tm="0">
                                          <p:val>
                                            <p:strVal val="#ppt_w+.3"/>
                                          </p:val>
                                        </p:tav>
                                        <p:tav tm="50000">
                                          <p:val>
                                            <p:strVal val="#ppt_w+.3"/>
                                          </p:val>
                                        </p:tav>
                                        <p:tav tm="100000">
                                          <p:val>
                                            <p:strVal val="#ppt_w"/>
                                          </p:val>
                                        </p:tav>
                                      </p:tavLst>
                                    </p:anim>
                                    <p:anim calcmode="lin" valueType="num">
                                      <p:cBhvr>
                                        <p:cTn id="34" dur="500" fill="hold"/>
                                        <p:tgtEl>
                                          <p:spTgt spid="3">
                                            <p:txEl>
                                              <p:pRg st="2" end="2"/>
                                            </p:txEl>
                                          </p:spTgt>
                                        </p:tgtEl>
                                        <p:attrNameLst>
                                          <p:attrName>ppt_x</p:attrName>
                                        </p:attrNameLst>
                                      </p:cBhvr>
                                      <p:tavLst>
                                        <p:tav tm="0">
                                          <p:val>
                                            <p:strVal val="#ppt_x-.3"/>
                                          </p:val>
                                        </p:tav>
                                        <p:tav tm="50000">
                                          <p:val>
                                            <p:strVal val="#ppt_x"/>
                                          </p:val>
                                        </p:tav>
                                        <p:tav tm="100000">
                                          <p:val>
                                            <p:strVal val="#ppt_x"/>
                                          </p:val>
                                        </p:tav>
                                      </p:tavLst>
                                    </p:anim>
                                    <p:anim calcmode="lin" valueType="num">
                                      <p:cBhvr>
                                        <p:cTn id="35"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nodeType="clickEffect">
                                  <p:stCondLst>
                                    <p:cond delay="0"/>
                                  </p:stCondLst>
                                  <p:childTnLst>
                                    <p:set>
                                      <p:cBhvr>
                                        <p:cTn id="39" dur="1" fill="hold">
                                          <p:stCondLst>
                                            <p:cond delay="0"/>
                                          </p:stCondLst>
                                        </p:cTn>
                                        <p:tgtEl>
                                          <p:spTgt spid="3">
                                            <p:txEl>
                                              <p:pRg st="3" end="3"/>
                                            </p:txEl>
                                          </p:spTgt>
                                        </p:tgtEl>
                                        <p:attrNameLst>
                                          <p:attrName>style.visibility</p:attrName>
                                        </p:attrNameLst>
                                      </p:cBhvr>
                                      <p:to>
                                        <p:strVal val="visible"/>
                                      </p:to>
                                    </p:set>
                                    <p:animEffect transition="in" filter="circle(in)">
                                      <p:cBhvr>
                                        <p:cTn id="40" dur="2000"/>
                                        <p:tgtEl>
                                          <p:spTgt spid="3">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9" presetClass="entr" presetSubtype="0" accel="100000" fill="hold" nodeType="click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anim calcmode="lin" valueType="num">
                                      <p:cBhvr>
                                        <p:cTn id="45" dur="500" fill="hold"/>
                                        <p:tgtEl>
                                          <p:spTgt spid="3">
                                            <p:txEl>
                                              <p:pRg st="4" end="4"/>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46" dur="500" fill="hold"/>
                                        <p:tgtEl>
                                          <p:spTgt spid="3">
                                            <p:txEl>
                                              <p:pRg st="4" end="4"/>
                                            </p:txEl>
                                          </p:spTgt>
                                        </p:tgtEl>
                                        <p:attrNameLst>
                                          <p:attrName>ppt_w</p:attrName>
                                        </p:attrNameLst>
                                      </p:cBhvr>
                                      <p:tavLst>
                                        <p:tav tm="0">
                                          <p:val>
                                            <p:strVal val="#ppt_w+.3"/>
                                          </p:val>
                                        </p:tav>
                                        <p:tav tm="50000">
                                          <p:val>
                                            <p:strVal val="#ppt_w+.3"/>
                                          </p:val>
                                        </p:tav>
                                        <p:tav tm="100000">
                                          <p:val>
                                            <p:strVal val="#ppt_w"/>
                                          </p:val>
                                        </p:tav>
                                      </p:tavLst>
                                    </p:anim>
                                    <p:anim calcmode="lin" valueType="num">
                                      <p:cBhvr>
                                        <p:cTn id="47" dur="500" fill="hold"/>
                                        <p:tgtEl>
                                          <p:spTgt spid="3">
                                            <p:txEl>
                                              <p:pRg st="4" end="4"/>
                                            </p:txEl>
                                          </p:spTgt>
                                        </p:tgtEl>
                                        <p:attrNameLst>
                                          <p:attrName>ppt_x</p:attrName>
                                        </p:attrNameLst>
                                      </p:cBhvr>
                                      <p:tavLst>
                                        <p:tav tm="0">
                                          <p:val>
                                            <p:strVal val="#ppt_x-.3"/>
                                          </p:val>
                                        </p:tav>
                                        <p:tav tm="50000">
                                          <p:val>
                                            <p:strVal val="#ppt_x"/>
                                          </p:val>
                                        </p:tav>
                                        <p:tav tm="100000">
                                          <p:val>
                                            <p:strVal val="#ppt_x"/>
                                          </p:val>
                                        </p:tav>
                                      </p:tavLst>
                                    </p:anim>
                                    <p:anim calcmode="lin" valueType="num">
                                      <p:cBhvr>
                                        <p:cTn id="48"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6" presetClass="entr" presetSubtype="16" fill="hold" nodeType="clickEffect">
                                  <p:stCondLst>
                                    <p:cond delay="0"/>
                                  </p:stCondLst>
                                  <p:childTnLst>
                                    <p:set>
                                      <p:cBhvr>
                                        <p:cTn id="52" dur="1" fill="hold">
                                          <p:stCondLst>
                                            <p:cond delay="0"/>
                                          </p:stCondLst>
                                        </p:cTn>
                                        <p:tgtEl>
                                          <p:spTgt spid="3">
                                            <p:txEl>
                                              <p:pRg st="5" end="5"/>
                                            </p:txEl>
                                          </p:spTgt>
                                        </p:tgtEl>
                                        <p:attrNameLst>
                                          <p:attrName>style.visibility</p:attrName>
                                        </p:attrNameLst>
                                      </p:cBhvr>
                                      <p:to>
                                        <p:strVal val="visible"/>
                                      </p:to>
                                    </p:set>
                                    <p:animEffect transition="in" filter="circle(in)">
                                      <p:cBhvr>
                                        <p:cTn id="53"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907704" y="116632"/>
            <a:ext cx="5786479" cy="523220"/>
          </a:xfrm>
          <a:prstGeom prst="rect">
            <a:avLst/>
          </a:prstGeom>
        </p:spPr>
        <p:style>
          <a:lnRef idx="0">
            <a:schemeClr val="accent4"/>
          </a:lnRef>
          <a:fillRef idx="3">
            <a:schemeClr val="accent4"/>
          </a:fillRef>
          <a:effectRef idx="3">
            <a:schemeClr val="accent4"/>
          </a:effectRef>
          <a:fontRef idx="minor">
            <a:schemeClr val="lt1"/>
          </a:fontRef>
        </p:style>
        <p:txBody>
          <a:bodyPr wrap="square" rtlCol="1">
            <a:spAutoFit/>
          </a:bodyPr>
          <a:lstStyle/>
          <a:p>
            <a:pPr algn="ctr"/>
            <a:r>
              <a:rPr lang="ar-EG" sz="2800" b="1" dirty="0"/>
              <a:t>سابعاً : الواقع </a:t>
            </a:r>
            <a:r>
              <a:rPr lang="ar-EG" sz="2800" b="1" dirty="0" err="1"/>
              <a:t>الافتراضى</a:t>
            </a:r>
            <a:r>
              <a:rPr lang="ar-EG" sz="2800" b="1" dirty="0"/>
              <a:t> </a:t>
            </a:r>
            <a:r>
              <a:rPr lang="en-US" sz="2800" b="1" dirty="0"/>
              <a:t>Virtual Reality</a:t>
            </a:r>
            <a:endParaRPr lang="en-US" sz="2800" dirty="0"/>
          </a:p>
        </p:txBody>
      </p:sp>
      <p:sp>
        <p:nvSpPr>
          <p:cNvPr id="3" name="مربع نص 2"/>
          <p:cNvSpPr txBox="1"/>
          <p:nvPr/>
        </p:nvSpPr>
        <p:spPr>
          <a:xfrm>
            <a:off x="142845" y="686438"/>
            <a:ext cx="8786874" cy="830997"/>
          </a:xfrm>
          <a:prstGeom prst="rect">
            <a:avLst/>
          </a:prstGeom>
          <a:noFill/>
        </p:spPr>
        <p:txBody>
          <a:bodyPr wrap="square" rtlCol="1">
            <a:spAutoFit/>
          </a:bodyPr>
          <a:lstStyle/>
          <a:p>
            <a:r>
              <a:rPr lang="ar-EG" sz="2400" b="1" dirty="0"/>
              <a:t>هو مصطلح يستخدم للتعبير عن استخدام التكنولوجيا الرقمية </a:t>
            </a:r>
            <a:r>
              <a:rPr lang="ar-EG" sz="2400" b="1" dirty="0" err="1"/>
              <a:t>فى</a:t>
            </a:r>
            <a:r>
              <a:rPr lang="ar-EG" sz="2400" b="1" dirty="0"/>
              <a:t> محاكاة الواقع من اجل تحقيق أهداف بعينها.</a:t>
            </a:r>
            <a:endParaRPr lang="en-US" sz="2400" b="1" dirty="0"/>
          </a:p>
        </p:txBody>
      </p:sp>
      <p:sp>
        <p:nvSpPr>
          <p:cNvPr id="4" name="مربع نص 3"/>
          <p:cNvSpPr txBox="1"/>
          <p:nvPr/>
        </p:nvSpPr>
        <p:spPr>
          <a:xfrm>
            <a:off x="2771800" y="1556792"/>
            <a:ext cx="4229092" cy="461665"/>
          </a:xfrm>
          <a:prstGeom prst="rect">
            <a:avLst/>
          </a:prstGeom>
        </p:spPr>
        <p:style>
          <a:lnRef idx="2">
            <a:schemeClr val="accent4"/>
          </a:lnRef>
          <a:fillRef idx="1">
            <a:schemeClr val="lt1"/>
          </a:fillRef>
          <a:effectRef idx="0">
            <a:schemeClr val="accent4"/>
          </a:effectRef>
          <a:fontRef idx="minor">
            <a:schemeClr val="dk1"/>
          </a:fontRef>
        </p:style>
        <p:txBody>
          <a:bodyPr wrap="square" rtlCol="1">
            <a:spAutoFit/>
          </a:bodyPr>
          <a:lstStyle/>
          <a:p>
            <a:r>
              <a:rPr lang="ar-EG" sz="2400" b="1" dirty="0"/>
              <a:t>يحتوى الواقع </a:t>
            </a:r>
            <a:r>
              <a:rPr lang="ar-EG" sz="2400" b="1" dirty="0" err="1"/>
              <a:t>الافتراضى</a:t>
            </a:r>
            <a:r>
              <a:rPr lang="ar-EG" sz="2400" b="1" dirty="0"/>
              <a:t> على ثلاثة </a:t>
            </a:r>
            <a:r>
              <a:rPr lang="ar-EG" sz="2400" b="1" dirty="0" err="1"/>
              <a:t>انواع</a:t>
            </a:r>
            <a:r>
              <a:rPr lang="ar-EG" sz="2400" b="1" dirty="0"/>
              <a:t> </a:t>
            </a:r>
            <a:endParaRPr lang="en-US" sz="2400" dirty="0"/>
          </a:p>
        </p:txBody>
      </p:sp>
      <p:sp>
        <p:nvSpPr>
          <p:cNvPr id="5" name="مربع نص 4"/>
          <p:cNvSpPr txBox="1"/>
          <p:nvPr/>
        </p:nvSpPr>
        <p:spPr>
          <a:xfrm>
            <a:off x="214283" y="2132856"/>
            <a:ext cx="8643999" cy="4462760"/>
          </a:xfrm>
          <a:prstGeom prst="rect">
            <a:avLst/>
          </a:prstGeom>
          <a:noFill/>
        </p:spPr>
        <p:txBody>
          <a:bodyPr wrap="square" rtlCol="1">
            <a:spAutoFit/>
          </a:bodyPr>
          <a:lstStyle/>
          <a:p>
            <a:pPr lvl="0"/>
            <a:r>
              <a:rPr lang="ar-EG" sz="2800" b="1" dirty="0">
                <a:solidFill>
                  <a:schemeClr val="tx2"/>
                </a:solidFill>
              </a:rPr>
              <a:t>1- </a:t>
            </a:r>
            <a:r>
              <a:rPr lang="ar-EG" sz="2800" b="1" dirty="0" err="1">
                <a:solidFill>
                  <a:schemeClr val="tx2"/>
                </a:solidFill>
              </a:rPr>
              <a:t>نافذه</a:t>
            </a:r>
            <a:r>
              <a:rPr lang="ar-EG" sz="2800" b="1" dirty="0">
                <a:solidFill>
                  <a:schemeClr val="tx2"/>
                </a:solidFill>
              </a:rPr>
              <a:t> على العالم </a:t>
            </a:r>
            <a:r>
              <a:rPr lang="en-US" sz="2800" b="1" dirty="0">
                <a:solidFill>
                  <a:schemeClr val="tx2"/>
                </a:solidFill>
              </a:rPr>
              <a:t>Window on World</a:t>
            </a:r>
          </a:p>
          <a:p>
            <a:r>
              <a:rPr lang="ar-EG" sz="2000" b="1" dirty="0"/>
              <a:t>يعرف هذا النوع للمتعاملين مع العاب الفيديو ومسارح المقعد المتحرك حيث يتم استخدامة فيها فمن خلال نافذه الواقع الافتراضى يشارك المشاهد فى العالم الافتراضى وهو جالس فى مقعدة فى العالم الحقيقى فيسافر المشاهد التى يوفرها الكمبيوتر لايجاد مواقف تكون فيها المشاهدة اكثر تفاعلا.</a:t>
            </a:r>
            <a:endParaRPr lang="en-US" sz="2000" b="1" dirty="0"/>
          </a:p>
          <a:p>
            <a:r>
              <a:rPr lang="ar-EG" sz="2800" b="1" dirty="0">
                <a:solidFill>
                  <a:schemeClr val="tx2"/>
                </a:solidFill>
              </a:rPr>
              <a:t>2- الانغماس – الاحتجاب – الواقع </a:t>
            </a:r>
            <a:r>
              <a:rPr lang="ar-EG" sz="2800" b="1" dirty="0" err="1">
                <a:solidFill>
                  <a:schemeClr val="tx2"/>
                </a:solidFill>
              </a:rPr>
              <a:t>الافتراضى</a:t>
            </a:r>
            <a:r>
              <a:rPr lang="ar-EG" sz="2800" b="1" dirty="0">
                <a:solidFill>
                  <a:schemeClr val="tx2"/>
                </a:solidFill>
              </a:rPr>
              <a:t> </a:t>
            </a:r>
            <a:r>
              <a:rPr lang="en-US" sz="2800" b="1" dirty="0">
                <a:solidFill>
                  <a:schemeClr val="tx2"/>
                </a:solidFill>
              </a:rPr>
              <a:t>Immersive</a:t>
            </a:r>
          </a:p>
          <a:p>
            <a:r>
              <a:rPr lang="ar-EG" sz="2000" b="1" dirty="0"/>
              <a:t>وهو نظام يعمل بشاشه عرض راسية وبيئة افترضية ثلاثية الابعاد يسمح للمشارك فيها بالدخول الى بيئة الواقع الافتراضى والانغماس بها حيث يصبح مغمورا بالواقع الافتراضى ويتميز هذه النوع بان المتعلم يمكن ان ينظر وان يتحرك فى جميع الاتجاهات.</a:t>
            </a:r>
            <a:endParaRPr lang="en-US" sz="2000" b="1" dirty="0"/>
          </a:p>
          <a:p>
            <a:pPr lvl="0"/>
            <a:r>
              <a:rPr lang="ar-EG" sz="2800" b="1" dirty="0">
                <a:solidFill>
                  <a:schemeClr val="tx2"/>
                </a:solidFill>
              </a:rPr>
              <a:t>3- الشخص </a:t>
            </a:r>
            <a:r>
              <a:rPr lang="ar-EG" sz="2800" b="1" dirty="0" err="1">
                <a:solidFill>
                  <a:schemeClr val="tx2"/>
                </a:solidFill>
              </a:rPr>
              <a:t>الاخر</a:t>
            </a:r>
            <a:r>
              <a:rPr lang="ar-EG" sz="2800" b="1" dirty="0">
                <a:solidFill>
                  <a:schemeClr val="tx2"/>
                </a:solidFill>
              </a:rPr>
              <a:t> بالواقع </a:t>
            </a:r>
            <a:r>
              <a:rPr lang="ar-EG" sz="2800" b="1" dirty="0" err="1">
                <a:solidFill>
                  <a:schemeClr val="tx2"/>
                </a:solidFill>
              </a:rPr>
              <a:t>الافتراضى</a:t>
            </a:r>
            <a:r>
              <a:rPr lang="ar-EG" sz="2800" b="1" dirty="0">
                <a:solidFill>
                  <a:schemeClr val="tx2"/>
                </a:solidFill>
              </a:rPr>
              <a:t> </a:t>
            </a:r>
            <a:r>
              <a:rPr lang="en-US" sz="2800" b="1" dirty="0">
                <a:solidFill>
                  <a:schemeClr val="tx2"/>
                </a:solidFill>
              </a:rPr>
              <a:t>Second Person VR</a:t>
            </a:r>
          </a:p>
          <a:p>
            <a:r>
              <a:rPr lang="ar-EG" sz="2000" b="1" dirty="0"/>
              <a:t>يتم توفير مع الواقع </a:t>
            </a:r>
            <a:r>
              <a:rPr lang="ar-EG" sz="2000" b="1" dirty="0" err="1"/>
              <a:t>الافتراضى</a:t>
            </a:r>
            <a:r>
              <a:rPr lang="ar-EG" sz="2000" b="1" dirty="0"/>
              <a:t> كاميرا لالتقاط صور المشارك بالبرنامج </a:t>
            </a:r>
            <a:r>
              <a:rPr lang="ar-EG" sz="2000" b="1" dirty="0" err="1"/>
              <a:t>وادخالها</a:t>
            </a:r>
            <a:r>
              <a:rPr lang="ar-EG" sz="2000" b="1" dirty="0"/>
              <a:t> </a:t>
            </a:r>
            <a:r>
              <a:rPr lang="ar-EG" sz="2000" b="1" dirty="0" err="1"/>
              <a:t>فى</a:t>
            </a:r>
            <a:r>
              <a:rPr lang="ar-EG" sz="2000" b="1" dirty="0"/>
              <a:t> الواقع </a:t>
            </a:r>
            <a:r>
              <a:rPr lang="ar-EG" sz="2000" b="1" dirty="0" err="1"/>
              <a:t>الافتراضى</a:t>
            </a:r>
            <a:r>
              <a:rPr lang="ar-EG" sz="2000" b="1" dirty="0"/>
              <a:t> ومن ثم مشاهدة المتعلمين صورهم بشاشة العرض حيث يتفاعلون مع </a:t>
            </a:r>
            <a:r>
              <a:rPr lang="ar-EG" sz="2000" b="1" dirty="0" err="1"/>
              <a:t>الاشياء</a:t>
            </a:r>
            <a:r>
              <a:rPr lang="ar-EG" sz="2000" b="1" dirty="0"/>
              <a:t> المتواجدة بالواقع </a:t>
            </a:r>
            <a:r>
              <a:rPr lang="ar-EG" sz="2000" b="1" dirty="0" err="1"/>
              <a:t>الافتراضى</a:t>
            </a:r>
            <a:r>
              <a:rPr lang="ar-EG" sz="2000" b="1" dirty="0"/>
              <a:t> وعادة ما يتم استخدام تجهيزات خاصة مثل القفزات </a:t>
            </a:r>
            <a:r>
              <a:rPr lang="ar-EG" sz="2000" b="1" dirty="0" err="1"/>
              <a:t>الزودة</a:t>
            </a:r>
            <a:r>
              <a:rPr lang="ar-EG" sz="2000" b="1" dirty="0"/>
              <a:t> بأجهزة حساسة تغطى اليد وعصا للتحكم ونظارات وسماعات داخل قبعة الكترونية.</a:t>
            </a:r>
            <a:endParaRPr lang="en-US" sz="2000" b="1" dirty="0"/>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7" presetClass="entr" presetSubtype="0" fill="hold" nodeType="clickEffect">
                                  <p:stCondLst>
                                    <p:cond delay="0"/>
                                  </p:stCondLst>
                                  <p:iterate type="lt">
                                    <p:tmPct val="50000"/>
                                  </p:iterate>
                                  <p:childTnLst>
                                    <p:set>
                                      <p:cBhvr>
                                        <p:cTn id="24" dur="1" fill="hold">
                                          <p:stCondLst>
                                            <p:cond delay="0"/>
                                          </p:stCondLst>
                                        </p:cTn>
                                        <p:tgtEl>
                                          <p:spTgt spid="3">
                                            <p:txEl>
                                              <p:pRg st="0" end="0"/>
                                            </p:txEl>
                                          </p:spTgt>
                                        </p:tgtEl>
                                        <p:attrNameLst>
                                          <p:attrName>style.visibility</p:attrName>
                                        </p:attrNameLst>
                                      </p:cBhvr>
                                      <p:to>
                                        <p:strVal val="visible"/>
                                      </p:to>
                                    </p:set>
                                    <p:anim calcmode="discrete" valueType="clr">
                                      <p:cBhvr override="childStyle">
                                        <p:cTn id="25" dur="80"/>
                                        <p:tgtEl>
                                          <p:spTgt spid="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6" dur="80"/>
                                        <p:tgtEl>
                                          <p:spTgt spid="3">
                                            <p:txEl>
                                              <p:pRg st="0" end="0"/>
                                            </p:txEl>
                                          </p:spTgt>
                                        </p:tgtEl>
                                        <p:attrNameLst>
                                          <p:attrName>fillcolor</p:attrName>
                                        </p:attrNameLst>
                                      </p:cBhvr>
                                      <p:tavLst>
                                        <p:tav tm="0">
                                          <p:val>
                                            <p:clrVal>
                                              <a:schemeClr val="accent2"/>
                                            </p:clrVal>
                                          </p:val>
                                        </p:tav>
                                        <p:tav tm="50000">
                                          <p:val>
                                            <p:clrVal>
                                              <a:schemeClr val="hlink"/>
                                            </p:clrVal>
                                          </p:val>
                                        </p:tav>
                                      </p:tavLst>
                                    </p:anim>
                                    <p:set>
                                      <p:cBhvr>
                                        <p:cTn id="27" dur="80"/>
                                        <p:tgtEl>
                                          <p:spTgt spid="3">
                                            <p:txEl>
                                              <p:pRg st="0" end="0"/>
                                            </p:txEl>
                                          </p:spTgt>
                                        </p:tgtEl>
                                        <p:attrNameLst>
                                          <p:attrName>fill.type</p:attrName>
                                        </p:attrNameLst>
                                      </p:cBhvr>
                                      <p:to>
                                        <p:strVal val="solid"/>
                                      </p:to>
                                    </p:se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p:cTn id="32" dur="1000" fill="hold"/>
                                        <p:tgtEl>
                                          <p:spTgt spid="4"/>
                                        </p:tgtEl>
                                        <p:attrNameLst>
                                          <p:attrName>ppt_w</p:attrName>
                                        </p:attrNameLst>
                                      </p:cBhvr>
                                      <p:tavLst>
                                        <p:tav tm="0">
                                          <p:val>
                                            <p:strVal val="#ppt_w*0.70"/>
                                          </p:val>
                                        </p:tav>
                                        <p:tav tm="100000">
                                          <p:val>
                                            <p:strVal val="#ppt_w"/>
                                          </p:val>
                                        </p:tav>
                                      </p:tavLst>
                                    </p:anim>
                                    <p:anim calcmode="lin" valueType="num">
                                      <p:cBhvr>
                                        <p:cTn id="33" dur="1000" fill="hold"/>
                                        <p:tgtEl>
                                          <p:spTgt spid="4"/>
                                        </p:tgtEl>
                                        <p:attrNameLst>
                                          <p:attrName>ppt_h</p:attrName>
                                        </p:attrNameLst>
                                      </p:cBhvr>
                                      <p:tavLst>
                                        <p:tav tm="0">
                                          <p:val>
                                            <p:strVal val="#ppt_h"/>
                                          </p:val>
                                        </p:tav>
                                        <p:tav tm="100000">
                                          <p:val>
                                            <p:strVal val="#ppt_h"/>
                                          </p:val>
                                        </p:tav>
                                      </p:tavLst>
                                    </p:anim>
                                    <p:animEffect transition="in" filter="fade">
                                      <p:cBhvr>
                                        <p:cTn id="34" dur="10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7" presetClass="entr" presetSubtype="4" fill="hold" nodeType="clickEffect">
                                  <p:stCondLst>
                                    <p:cond delay="0"/>
                                  </p:stCondLst>
                                  <p:childTnLst>
                                    <p:set>
                                      <p:cBhvr>
                                        <p:cTn id="38" dur="1" fill="hold">
                                          <p:stCondLst>
                                            <p:cond delay="0"/>
                                          </p:stCondLst>
                                        </p:cTn>
                                        <p:tgtEl>
                                          <p:spTgt spid="5">
                                            <p:txEl>
                                              <p:pRg st="0" end="0"/>
                                            </p:txEl>
                                          </p:spTgt>
                                        </p:tgtEl>
                                        <p:attrNameLst>
                                          <p:attrName>style.visibility</p:attrName>
                                        </p:attrNameLst>
                                      </p:cBhvr>
                                      <p:to>
                                        <p:strVal val="visible"/>
                                      </p:to>
                                    </p:set>
                                    <p:anim calcmode="lin" valueType="num">
                                      <p:cBhvr additive="base">
                                        <p:cTn id="39" dur="20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40" dur="20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nodeType="clickEffect">
                                  <p:stCondLst>
                                    <p:cond delay="0"/>
                                  </p:stCondLst>
                                  <p:childTnLst>
                                    <p:set>
                                      <p:cBhvr>
                                        <p:cTn id="44" dur="1" fill="hold">
                                          <p:stCondLst>
                                            <p:cond delay="0"/>
                                          </p:stCondLst>
                                        </p:cTn>
                                        <p:tgtEl>
                                          <p:spTgt spid="5">
                                            <p:txEl>
                                              <p:pRg st="1" end="1"/>
                                            </p:txEl>
                                          </p:spTgt>
                                        </p:tgtEl>
                                        <p:attrNameLst>
                                          <p:attrName>style.visibility</p:attrName>
                                        </p:attrNameLst>
                                      </p:cBhvr>
                                      <p:to>
                                        <p:strVal val="visible"/>
                                      </p:to>
                                    </p:set>
                                    <p:animEffect transition="in" filter="randombar(horizontal)">
                                      <p:cBhvr>
                                        <p:cTn id="45" dur="1000"/>
                                        <p:tgtEl>
                                          <p:spTgt spid="5">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7" presetClass="entr" presetSubtype="2" fill="hold" nodeType="clickEffect">
                                  <p:stCondLst>
                                    <p:cond delay="0"/>
                                  </p:stCondLst>
                                  <p:childTnLst>
                                    <p:set>
                                      <p:cBhvr>
                                        <p:cTn id="49" dur="1" fill="hold">
                                          <p:stCondLst>
                                            <p:cond delay="0"/>
                                          </p:stCondLst>
                                        </p:cTn>
                                        <p:tgtEl>
                                          <p:spTgt spid="5">
                                            <p:txEl>
                                              <p:pRg st="2" end="2"/>
                                            </p:txEl>
                                          </p:spTgt>
                                        </p:tgtEl>
                                        <p:attrNameLst>
                                          <p:attrName>style.visibility</p:attrName>
                                        </p:attrNameLst>
                                      </p:cBhvr>
                                      <p:to>
                                        <p:strVal val="visible"/>
                                      </p:to>
                                    </p:set>
                                    <p:anim calcmode="lin" valueType="num">
                                      <p:cBhvr additive="base">
                                        <p:cTn id="50" dur="2000" fill="hold"/>
                                        <p:tgtEl>
                                          <p:spTgt spid="5">
                                            <p:txEl>
                                              <p:pRg st="2" end="2"/>
                                            </p:txEl>
                                          </p:spTgt>
                                        </p:tgtEl>
                                        <p:attrNameLst>
                                          <p:attrName>ppt_x</p:attrName>
                                        </p:attrNameLst>
                                      </p:cBhvr>
                                      <p:tavLst>
                                        <p:tav tm="0">
                                          <p:val>
                                            <p:strVal val="1+#ppt_w/2"/>
                                          </p:val>
                                        </p:tav>
                                        <p:tav tm="100000">
                                          <p:val>
                                            <p:strVal val="#ppt_x"/>
                                          </p:val>
                                        </p:tav>
                                      </p:tavLst>
                                    </p:anim>
                                    <p:anim calcmode="lin" valueType="num">
                                      <p:cBhvr additive="base">
                                        <p:cTn id="51" dur="2000" fill="hold"/>
                                        <p:tgtEl>
                                          <p:spTgt spid="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4" presetClass="entr" presetSubtype="5" fill="hold" nodeType="clickEffect">
                                  <p:stCondLst>
                                    <p:cond delay="0"/>
                                  </p:stCondLst>
                                  <p:childTnLst>
                                    <p:set>
                                      <p:cBhvr>
                                        <p:cTn id="55" dur="1" fill="hold">
                                          <p:stCondLst>
                                            <p:cond delay="0"/>
                                          </p:stCondLst>
                                        </p:cTn>
                                        <p:tgtEl>
                                          <p:spTgt spid="5">
                                            <p:txEl>
                                              <p:pRg st="3" end="3"/>
                                            </p:txEl>
                                          </p:spTgt>
                                        </p:tgtEl>
                                        <p:attrNameLst>
                                          <p:attrName>style.visibility</p:attrName>
                                        </p:attrNameLst>
                                      </p:cBhvr>
                                      <p:to>
                                        <p:strVal val="visible"/>
                                      </p:to>
                                    </p:set>
                                    <p:animEffect transition="in" filter="randombar(vertical)">
                                      <p:cBhvr>
                                        <p:cTn id="56" dur="1000"/>
                                        <p:tgtEl>
                                          <p:spTgt spid="5">
                                            <p:txEl>
                                              <p:pRg st="3" end="3"/>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7" presetClass="entr" presetSubtype="8" fill="hold" nodeType="clickEffect">
                                  <p:stCondLst>
                                    <p:cond delay="0"/>
                                  </p:stCondLst>
                                  <p:childTnLst>
                                    <p:set>
                                      <p:cBhvr>
                                        <p:cTn id="60" dur="1" fill="hold">
                                          <p:stCondLst>
                                            <p:cond delay="0"/>
                                          </p:stCondLst>
                                        </p:cTn>
                                        <p:tgtEl>
                                          <p:spTgt spid="5">
                                            <p:txEl>
                                              <p:pRg st="4" end="4"/>
                                            </p:txEl>
                                          </p:spTgt>
                                        </p:tgtEl>
                                        <p:attrNameLst>
                                          <p:attrName>style.visibility</p:attrName>
                                        </p:attrNameLst>
                                      </p:cBhvr>
                                      <p:to>
                                        <p:strVal val="visible"/>
                                      </p:to>
                                    </p:set>
                                    <p:anim calcmode="lin" valueType="num">
                                      <p:cBhvr additive="base">
                                        <p:cTn id="61" dur="2000" fill="hold"/>
                                        <p:tgtEl>
                                          <p:spTgt spid="5">
                                            <p:txEl>
                                              <p:pRg st="4" end="4"/>
                                            </p:txEl>
                                          </p:spTgt>
                                        </p:tgtEl>
                                        <p:attrNameLst>
                                          <p:attrName>ppt_x</p:attrName>
                                        </p:attrNameLst>
                                      </p:cBhvr>
                                      <p:tavLst>
                                        <p:tav tm="0">
                                          <p:val>
                                            <p:strVal val="0-#ppt_w/2"/>
                                          </p:val>
                                        </p:tav>
                                        <p:tav tm="100000">
                                          <p:val>
                                            <p:strVal val="#ppt_x"/>
                                          </p:val>
                                        </p:tav>
                                      </p:tavLst>
                                    </p:anim>
                                    <p:anim calcmode="lin" valueType="num">
                                      <p:cBhvr additive="base">
                                        <p:cTn id="62" dur="2000" fill="hold"/>
                                        <p:tgtEl>
                                          <p:spTgt spid="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4" presetClass="entr" presetSubtype="10" fill="hold" nodeType="clickEffect">
                                  <p:stCondLst>
                                    <p:cond delay="0"/>
                                  </p:stCondLst>
                                  <p:childTnLst>
                                    <p:set>
                                      <p:cBhvr>
                                        <p:cTn id="66" dur="1" fill="hold">
                                          <p:stCondLst>
                                            <p:cond delay="0"/>
                                          </p:stCondLst>
                                        </p:cTn>
                                        <p:tgtEl>
                                          <p:spTgt spid="5">
                                            <p:txEl>
                                              <p:pRg st="5" end="5"/>
                                            </p:txEl>
                                          </p:spTgt>
                                        </p:tgtEl>
                                        <p:attrNameLst>
                                          <p:attrName>style.visibility</p:attrName>
                                        </p:attrNameLst>
                                      </p:cBhvr>
                                      <p:to>
                                        <p:strVal val="visible"/>
                                      </p:to>
                                    </p:set>
                                    <p:animEffect transition="in" filter="randombar(horizontal)">
                                      <p:cBhvr>
                                        <p:cTn id="6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3059832" y="260648"/>
            <a:ext cx="3433015" cy="523220"/>
          </a:xfrm>
          <a:prstGeom prst="rect">
            <a:avLst/>
          </a:prstGeom>
        </p:spPr>
        <p:style>
          <a:lnRef idx="2">
            <a:schemeClr val="accent4"/>
          </a:lnRef>
          <a:fillRef idx="1">
            <a:schemeClr val="lt1"/>
          </a:fillRef>
          <a:effectRef idx="0">
            <a:schemeClr val="accent4"/>
          </a:effectRef>
          <a:fontRef idx="minor">
            <a:schemeClr val="dk1"/>
          </a:fontRef>
        </p:style>
        <p:txBody>
          <a:bodyPr wrap="square" rtlCol="1">
            <a:spAutoFit/>
          </a:bodyPr>
          <a:lstStyle/>
          <a:p>
            <a:pPr algn="ctr"/>
            <a:r>
              <a:rPr lang="ar-EG" sz="2800" b="1" dirty="0"/>
              <a:t>مميزات الواقع </a:t>
            </a:r>
            <a:r>
              <a:rPr lang="ar-EG" sz="2800" b="1" dirty="0" err="1"/>
              <a:t>الافتراضى</a:t>
            </a:r>
            <a:endParaRPr lang="en-US" sz="2800" dirty="0"/>
          </a:p>
        </p:txBody>
      </p:sp>
      <p:sp>
        <p:nvSpPr>
          <p:cNvPr id="3" name="مربع نص 2"/>
          <p:cNvSpPr txBox="1"/>
          <p:nvPr/>
        </p:nvSpPr>
        <p:spPr>
          <a:xfrm>
            <a:off x="107504" y="1348800"/>
            <a:ext cx="8789155" cy="4524315"/>
          </a:xfrm>
          <a:prstGeom prst="rect">
            <a:avLst/>
          </a:prstGeom>
          <a:noFill/>
        </p:spPr>
        <p:txBody>
          <a:bodyPr wrap="square" rtlCol="1">
            <a:spAutoFit/>
          </a:bodyPr>
          <a:lstStyle/>
          <a:p>
            <a:pPr lvl="0"/>
            <a:r>
              <a:rPr lang="ar-EG" sz="3200" dirty="0"/>
              <a:t>1- تقديم بيئة افتراضية للابحار فيها من خلال فراغ ثلاثى الابعاد.</a:t>
            </a:r>
            <a:endParaRPr lang="en-US" sz="3200" dirty="0"/>
          </a:p>
          <a:p>
            <a:pPr lvl="0"/>
            <a:r>
              <a:rPr lang="ar-EG" sz="3200" dirty="0"/>
              <a:t>2- تعزز الصور المجسمة الادراك الحسى لعمق الفراغ.</a:t>
            </a:r>
            <a:endParaRPr lang="en-US" sz="3200" dirty="0"/>
          </a:p>
          <a:p>
            <a:pPr lvl="0"/>
            <a:r>
              <a:rPr lang="ar-EG" sz="3200" dirty="0"/>
              <a:t>3- يعرض العالم الافتراضى بالمقاييس الحقيقية والشكل الطبيعى الذى يتناسب مع الرؤية البشرية للاحجام.</a:t>
            </a:r>
            <a:endParaRPr lang="en-US" sz="3200" dirty="0"/>
          </a:p>
          <a:p>
            <a:pPr lvl="0"/>
            <a:r>
              <a:rPr lang="ar-EG" sz="3200" dirty="0"/>
              <a:t>4- استخدام قفازات المعلومات للاتصال الحقيقى المحسوس مع مواد افتراضية حقيقية مما يسمح بمعالجة واخضاع عوامل اخرى للمعالجة الافتراضية.</a:t>
            </a:r>
            <a:endParaRPr lang="en-US" sz="3200" dirty="0"/>
          </a:p>
          <a:p>
            <a:pPr lvl="0"/>
            <a:r>
              <a:rPr lang="ar-EG" sz="3200" dirty="0"/>
              <a:t>5- يعرض صور وهمية تشعر المستخدم انه مغمور </a:t>
            </a:r>
            <a:r>
              <a:rPr lang="ar-EG" sz="3200" dirty="0" err="1"/>
              <a:t>فى</a:t>
            </a:r>
            <a:r>
              <a:rPr lang="ar-EG" sz="3200" dirty="0"/>
              <a:t> عالم </a:t>
            </a:r>
            <a:r>
              <a:rPr lang="ar-EG" sz="3200" dirty="0" err="1"/>
              <a:t>افتراضى</a:t>
            </a:r>
            <a:r>
              <a:rPr lang="ar-EG" sz="3200" dirty="0"/>
              <a:t> ومعززا بالتكنولوجيا السمعية المرئية وغير الافتراضية.</a:t>
            </a:r>
            <a:endParaRPr lang="en-US" sz="3200" dirty="0"/>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30"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800" decel="100000"/>
                                        <p:tgtEl>
                                          <p:spTgt spid="3">
                                            <p:txEl>
                                              <p:pRg st="0" end="0"/>
                                            </p:txEl>
                                          </p:spTgt>
                                        </p:tgtEl>
                                      </p:cBhvr>
                                    </p:animEffect>
                                    <p:anim calcmode="lin" valueType="num">
                                      <p:cBhvr>
                                        <p:cTn id="15" dur="800" decel="100000" fill="hold"/>
                                        <p:tgtEl>
                                          <p:spTgt spid="3">
                                            <p:txEl>
                                              <p:pRg st="0" end="0"/>
                                            </p:txEl>
                                          </p:spTgt>
                                        </p:tgtEl>
                                        <p:attrNameLst>
                                          <p:attrName>style.rotation</p:attrName>
                                        </p:attrNameLst>
                                      </p:cBhvr>
                                      <p:tavLst>
                                        <p:tav tm="0">
                                          <p:val>
                                            <p:fltVal val="-90"/>
                                          </p:val>
                                        </p:tav>
                                        <p:tav tm="100000">
                                          <p:val>
                                            <p:fltVal val="0"/>
                                          </p:val>
                                        </p:tav>
                                      </p:tavLst>
                                    </p:anim>
                                    <p:anim calcmode="lin" valueType="num">
                                      <p:cBhvr>
                                        <p:cTn id="16" dur="800" decel="100000" fill="hold"/>
                                        <p:tgtEl>
                                          <p:spTgt spid="3">
                                            <p:txEl>
                                              <p:pRg st="0" end="0"/>
                                            </p:txEl>
                                          </p:spTgt>
                                        </p:tgtEl>
                                        <p:attrNameLst>
                                          <p:attrName>ppt_x</p:attrName>
                                        </p:attrNameLst>
                                      </p:cBhvr>
                                      <p:tavLst>
                                        <p:tav tm="0">
                                          <p:val>
                                            <p:strVal val="#ppt_x+0.4"/>
                                          </p:val>
                                        </p:tav>
                                        <p:tav tm="100000">
                                          <p:val>
                                            <p:strVal val="#ppt_x-0.05"/>
                                          </p:val>
                                        </p:tav>
                                      </p:tavLst>
                                    </p:anim>
                                    <p:anim calcmode="lin" valueType="num">
                                      <p:cBhvr>
                                        <p:cTn id="17" dur="800" decel="100000" fill="hold"/>
                                        <p:tgtEl>
                                          <p:spTgt spid="3">
                                            <p:txEl>
                                              <p:pRg st="0" end="0"/>
                                            </p:txEl>
                                          </p:spTgt>
                                        </p:tgtEl>
                                        <p:attrNameLst>
                                          <p:attrName>ppt_y</p:attrName>
                                        </p:attrNameLst>
                                      </p:cBhvr>
                                      <p:tavLst>
                                        <p:tav tm="0">
                                          <p:val>
                                            <p:strVal val="#ppt_y-0.4"/>
                                          </p:val>
                                        </p:tav>
                                        <p:tav tm="100000">
                                          <p:val>
                                            <p:strVal val="#ppt_y+0.1"/>
                                          </p:val>
                                        </p:tav>
                                      </p:tavLst>
                                    </p:anim>
                                    <p:anim calcmode="lin" valueType="num">
                                      <p:cBhvr>
                                        <p:cTn id="18" dur="200" accel="100000" fill="hold">
                                          <p:stCondLst>
                                            <p:cond delay="800"/>
                                          </p:stCondLst>
                                        </p:cTn>
                                        <p:tgtEl>
                                          <p:spTgt spid="3">
                                            <p:txEl>
                                              <p:pRg st="0" end="0"/>
                                            </p:txEl>
                                          </p:spTgt>
                                        </p:tgtEl>
                                        <p:attrNameLst>
                                          <p:attrName>ppt_x</p:attrName>
                                        </p:attrNameLst>
                                      </p:cBhvr>
                                      <p:tavLst>
                                        <p:tav tm="0">
                                          <p:val>
                                            <p:strVal val="#ppt_x-0.05"/>
                                          </p:val>
                                        </p:tav>
                                        <p:tav tm="100000">
                                          <p:val>
                                            <p:strVal val="#ppt_x"/>
                                          </p:val>
                                        </p:tav>
                                      </p:tavLst>
                                    </p:anim>
                                    <p:anim calcmode="lin" valueType="num">
                                      <p:cBhvr>
                                        <p:cTn id="19" dur="200" accel="100000" fill="hold">
                                          <p:stCondLst>
                                            <p:cond delay="800"/>
                                          </p:stCondLst>
                                        </p:cTn>
                                        <p:tgtEl>
                                          <p:spTgt spid="3">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0" presetClass="entr" presetSubtype="0" fill="hold"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fade">
                                      <p:cBhvr>
                                        <p:cTn id="24" dur="800" decel="100000"/>
                                        <p:tgtEl>
                                          <p:spTgt spid="3">
                                            <p:txEl>
                                              <p:pRg st="1" end="1"/>
                                            </p:txEl>
                                          </p:spTgt>
                                        </p:tgtEl>
                                      </p:cBhvr>
                                    </p:animEffect>
                                    <p:anim calcmode="lin" valueType="num">
                                      <p:cBhvr>
                                        <p:cTn id="25" dur="800" decel="100000" fill="hold"/>
                                        <p:tgtEl>
                                          <p:spTgt spid="3">
                                            <p:txEl>
                                              <p:pRg st="1" end="1"/>
                                            </p:txEl>
                                          </p:spTgt>
                                        </p:tgtEl>
                                        <p:attrNameLst>
                                          <p:attrName>style.rotation</p:attrName>
                                        </p:attrNameLst>
                                      </p:cBhvr>
                                      <p:tavLst>
                                        <p:tav tm="0">
                                          <p:val>
                                            <p:fltVal val="-90"/>
                                          </p:val>
                                        </p:tav>
                                        <p:tav tm="100000">
                                          <p:val>
                                            <p:fltVal val="0"/>
                                          </p:val>
                                        </p:tav>
                                      </p:tavLst>
                                    </p:anim>
                                    <p:anim calcmode="lin" valueType="num">
                                      <p:cBhvr>
                                        <p:cTn id="26" dur="800" decel="100000" fill="hold"/>
                                        <p:tgtEl>
                                          <p:spTgt spid="3">
                                            <p:txEl>
                                              <p:pRg st="1" end="1"/>
                                            </p:txEl>
                                          </p:spTgt>
                                        </p:tgtEl>
                                        <p:attrNameLst>
                                          <p:attrName>ppt_x</p:attrName>
                                        </p:attrNameLst>
                                      </p:cBhvr>
                                      <p:tavLst>
                                        <p:tav tm="0">
                                          <p:val>
                                            <p:strVal val="#ppt_x+0.4"/>
                                          </p:val>
                                        </p:tav>
                                        <p:tav tm="100000">
                                          <p:val>
                                            <p:strVal val="#ppt_x-0.05"/>
                                          </p:val>
                                        </p:tav>
                                      </p:tavLst>
                                    </p:anim>
                                    <p:anim calcmode="lin" valueType="num">
                                      <p:cBhvr>
                                        <p:cTn id="27" dur="800" decel="100000" fill="hold"/>
                                        <p:tgtEl>
                                          <p:spTgt spid="3">
                                            <p:txEl>
                                              <p:pRg st="1" end="1"/>
                                            </p:txEl>
                                          </p:spTgt>
                                        </p:tgtEl>
                                        <p:attrNameLst>
                                          <p:attrName>ppt_y</p:attrName>
                                        </p:attrNameLst>
                                      </p:cBhvr>
                                      <p:tavLst>
                                        <p:tav tm="0">
                                          <p:val>
                                            <p:strVal val="#ppt_y-0.4"/>
                                          </p:val>
                                        </p:tav>
                                        <p:tav tm="100000">
                                          <p:val>
                                            <p:strVal val="#ppt_y+0.1"/>
                                          </p:val>
                                        </p:tav>
                                      </p:tavLst>
                                    </p:anim>
                                    <p:anim calcmode="lin" valueType="num">
                                      <p:cBhvr>
                                        <p:cTn id="28" dur="200" accel="100000" fill="hold">
                                          <p:stCondLst>
                                            <p:cond delay="800"/>
                                          </p:stCondLst>
                                        </p:cTn>
                                        <p:tgtEl>
                                          <p:spTgt spid="3">
                                            <p:txEl>
                                              <p:pRg st="1" end="1"/>
                                            </p:txEl>
                                          </p:spTgt>
                                        </p:tgtEl>
                                        <p:attrNameLst>
                                          <p:attrName>ppt_x</p:attrName>
                                        </p:attrNameLst>
                                      </p:cBhvr>
                                      <p:tavLst>
                                        <p:tav tm="0">
                                          <p:val>
                                            <p:strVal val="#ppt_x-0.05"/>
                                          </p:val>
                                        </p:tav>
                                        <p:tav tm="100000">
                                          <p:val>
                                            <p:strVal val="#ppt_x"/>
                                          </p:val>
                                        </p:tav>
                                      </p:tavLst>
                                    </p:anim>
                                    <p:anim calcmode="lin" valueType="num">
                                      <p:cBhvr>
                                        <p:cTn id="29" dur="200" accel="100000" fill="hold">
                                          <p:stCondLst>
                                            <p:cond delay="800"/>
                                          </p:stCondLst>
                                        </p:cTn>
                                        <p:tgtEl>
                                          <p:spTgt spid="3">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0" presetClass="entr" presetSubtype="0" fill="hold" nodeType="clickEffect">
                                  <p:stCondLst>
                                    <p:cond delay="0"/>
                                  </p:stCondLst>
                                  <p:childTnLst>
                                    <p:set>
                                      <p:cBhvr>
                                        <p:cTn id="33" dur="1" fill="hold">
                                          <p:stCondLst>
                                            <p:cond delay="0"/>
                                          </p:stCondLst>
                                        </p:cTn>
                                        <p:tgtEl>
                                          <p:spTgt spid="3">
                                            <p:txEl>
                                              <p:pRg st="2" end="2"/>
                                            </p:txEl>
                                          </p:spTgt>
                                        </p:tgtEl>
                                        <p:attrNameLst>
                                          <p:attrName>style.visibility</p:attrName>
                                        </p:attrNameLst>
                                      </p:cBhvr>
                                      <p:to>
                                        <p:strVal val="visible"/>
                                      </p:to>
                                    </p:set>
                                    <p:animEffect transition="in" filter="fade">
                                      <p:cBhvr>
                                        <p:cTn id="34" dur="800" decel="100000"/>
                                        <p:tgtEl>
                                          <p:spTgt spid="3">
                                            <p:txEl>
                                              <p:pRg st="2" end="2"/>
                                            </p:txEl>
                                          </p:spTgt>
                                        </p:tgtEl>
                                      </p:cBhvr>
                                    </p:animEffect>
                                    <p:anim calcmode="lin" valueType="num">
                                      <p:cBhvr>
                                        <p:cTn id="35" dur="800" decel="100000" fill="hold"/>
                                        <p:tgtEl>
                                          <p:spTgt spid="3">
                                            <p:txEl>
                                              <p:pRg st="2" end="2"/>
                                            </p:txEl>
                                          </p:spTgt>
                                        </p:tgtEl>
                                        <p:attrNameLst>
                                          <p:attrName>style.rotation</p:attrName>
                                        </p:attrNameLst>
                                      </p:cBhvr>
                                      <p:tavLst>
                                        <p:tav tm="0">
                                          <p:val>
                                            <p:fltVal val="-90"/>
                                          </p:val>
                                        </p:tav>
                                        <p:tav tm="100000">
                                          <p:val>
                                            <p:fltVal val="0"/>
                                          </p:val>
                                        </p:tav>
                                      </p:tavLst>
                                    </p:anim>
                                    <p:anim calcmode="lin" valueType="num">
                                      <p:cBhvr>
                                        <p:cTn id="36" dur="800" decel="100000" fill="hold"/>
                                        <p:tgtEl>
                                          <p:spTgt spid="3">
                                            <p:txEl>
                                              <p:pRg st="2" end="2"/>
                                            </p:txEl>
                                          </p:spTgt>
                                        </p:tgtEl>
                                        <p:attrNameLst>
                                          <p:attrName>ppt_x</p:attrName>
                                        </p:attrNameLst>
                                      </p:cBhvr>
                                      <p:tavLst>
                                        <p:tav tm="0">
                                          <p:val>
                                            <p:strVal val="#ppt_x+0.4"/>
                                          </p:val>
                                        </p:tav>
                                        <p:tav tm="100000">
                                          <p:val>
                                            <p:strVal val="#ppt_x-0.05"/>
                                          </p:val>
                                        </p:tav>
                                      </p:tavLst>
                                    </p:anim>
                                    <p:anim calcmode="lin" valueType="num">
                                      <p:cBhvr>
                                        <p:cTn id="37" dur="800" decel="100000" fill="hold"/>
                                        <p:tgtEl>
                                          <p:spTgt spid="3">
                                            <p:txEl>
                                              <p:pRg st="2" end="2"/>
                                            </p:txEl>
                                          </p:spTgt>
                                        </p:tgtEl>
                                        <p:attrNameLst>
                                          <p:attrName>ppt_y</p:attrName>
                                        </p:attrNameLst>
                                      </p:cBhvr>
                                      <p:tavLst>
                                        <p:tav tm="0">
                                          <p:val>
                                            <p:strVal val="#ppt_y-0.4"/>
                                          </p:val>
                                        </p:tav>
                                        <p:tav tm="100000">
                                          <p:val>
                                            <p:strVal val="#ppt_y+0.1"/>
                                          </p:val>
                                        </p:tav>
                                      </p:tavLst>
                                    </p:anim>
                                    <p:anim calcmode="lin" valueType="num">
                                      <p:cBhvr>
                                        <p:cTn id="38" dur="200" accel="100000" fill="hold">
                                          <p:stCondLst>
                                            <p:cond delay="800"/>
                                          </p:stCondLst>
                                        </p:cTn>
                                        <p:tgtEl>
                                          <p:spTgt spid="3">
                                            <p:txEl>
                                              <p:pRg st="2" end="2"/>
                                            </p:txEl>
                                          </p:spTgt>
                                        </p:tgtEl>
                                        <p:attrNameLst>
                                          <p:attrName>ppt_x</p:attrName>
                                        </p:attrNameLst>
                                      </p:cBhvr>
                                      <p:tavLst>
                                        <p:tav tm="0">
                                          <p:val>
                                            <p:strVal val="#ppt_x-0.05"/>
                                          </p:val>
                                        </p:tav>
                                        <p:tav tm="100000">
                                          <p:val>
                                            <p:strVal val="#ppt_x"/>
                                          </p:val>
                                        </p:tav>
                                      </p:tavLst>
                                    </p:anim>
                                    <p:anim calcmode="lin" valueType="num">
                                      <p:cBhvr>
                                        <p:cTn id="39" dur="200" accel="100000" fill="hold">
                                          <p:stCondLst>
                                            <p:cond delay="800"/>
                                          </p:stCondLst>
                                        </p:cTn>
                                        <p:tgtEl>
                                          <p:spTgt spid="3">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0" presetClass="entr" presetSubtype="0" fill="hold" nodeType="clickEffect">
                                  <p:stCondLst>
                                    <p:cond delay="0"/>
                                  </p:stCondLst>
                                  <p:childTnLst>
                                    <p:set>
                                      <p:cBhvr>
                                        <p:cTn id="43" dur="1" fill="hold">
                                          <p:stCondLst>
                                            <p:cond delay="0"/>
                                          </p:stCondLst>
                                        </p:cTn>
                                        <p:tgtEl>
                                          <p:spTgt spid="3">
                                            <p:txEl>
                                              <p:pRg st="3" end="3"/>
                                            </p:txEl>
                                          </p:spTgt>
                                        </p:tgtEl>
                                        <p:attrNameLst>
                                          <p:attrName>style.visibility</p:attrName>
                                        </p:attrNameLst>
                                      </p:cBhvr>
                                      <p:to>
                                        <p:strVal val="visible"/>
                                      </p:to>
                                    </p:set>
                                    <p:animEffect transition="in" filter="fade">
                                      <p:cBhvr>
                                        <p:cTn id="44" dur="800" decel="100000"/>
                                        <p:tgtEl>
                                          <p:spTgt spid="3">
                                            <p:txEl>
                                              <p:pRg st="3" end="3"/>
                                            </p:txEl>
                                          </p:spTgt>
                                        </p:tgtEl>
                                      </p:cBhvr>
                                    </p:animEffect>
                                    <p:anim calcmode="lin" valueType="num">
                                      <p:cBhvr>
                                        <p:cTn id="45" dur="800" decel="100000" fill="hold"/>
                                        <p:tgtEl>
                                          <p:spTgt spid="3">
                                            <p:txEl>
                                              <p:pRg st="3" end="3"/>
                                            </p:txEl>
                                          </p:spTgt>
                                        </p:tgtEl>
                                        <p:attrNameLst>
                                          <p:attrName>style.rotation</p:attrName>
                                        </p:attrNameLst>
                                      </p:cBhvr>
                                      <p:tavLst>
                                        <p:tav tm="0">
                                          <p:val>
                                            <p:fltVal val="-90"/>
                                          </p:val>
                                        </p:tav>
                                        <p:tav tm="100000">
                                          <p:val>
                                            <p:fltVal val="0"/>
                                          </p:val>
                                        </p:tav>
                                      </p:tavLst>
                                    </p:anim>
                                    <p:anim calcmode="lin" valueType="num">
                                      <p:cBhvr>
                                        <p:cTn id="46" dur="800" decel="100000" fill="hold"/>
                                        <p:tgtEl>
                                          <p:spTgt spid="3">
                                            <p:txEl>
                                              <p:pRg st="3" end="3"/>
                                            </p:txEl>
                                          </p:spTgt>
                                        </p:tgtEl>
                                        <p:attrNameLst>
                                          <p:attrName>ppt_x</p:attrName>
                                        </p:attrNameLst>
                                      </p:cBhvr>
                                      <p:tavLst>
                                        <p:tav tm="0">
                                          <p:val>
                                            <p:strVal val="#ppt_x+0.4"/>
                                          </p:val>
                                        </p:tav>
                                        <p:tav tm="100000">
                                          <p:val>
                                            <p:strVal val="#ppt_x-0.05"/>
                                          </p:val>
                                        </p:tav>
                                      </p:tavLst>
                                    </p:anim>
                                    <p:anim calcmode="lin" valueType="num">
                                      <p:cBhvr>
                                        <p:cTn id="47" dur="800" decel="100000" fill="hold"/>
                                        <p:tgtEl>
                                          <p:spTgt spid="3">
                                            <p:txEl>
                                              <p:pRg st="3" end="3"/>
                                            </p:txEl>
                                          </p:spTgt>
                                        </p:tgtEl>
                                        <p:attrNameLst>
                                          <p:attrName>ppt_y</p:attrName>
                                        </p:attrNameLst>
                                      </p:cBhvr>
                                      <p:tavLst>
                                        <p:tav tm="0">
                                          <p:val>
                                            <p:strVal val="#ppt_y-0.4"/>
                                          </p:val>
                                        </p:tav>
                                        <p:tav tm="100000">
                                          <p:val>
                                            <p:strVal val="#ppt_y+0.1"/>
                                          </p:val>
                                        </p:tav>
                                      </p:tavLst>
                                    </p:anim>
                                    <p:anim calcmode="lin" valueType="num">
                                      <p:cBhvr>
                                        <p:cTn id="48" dur="200" accel="100000" fill="hold">
                                          <p:stCondLst>
                                            <p:cond delay="800"/>
                                          </p:stCondLst>
                                        </p:cTn>
                                        <p:tgtEl>
                                          <p:spTgt spid="3">
                                            <p:txEl>
                                              <p:pRg st="3" end="3"/>
                                            </p:txEl>
                                          </p:spTgt>
                                        </p:tgtEl>
                                        <p:attrNameLst>
                                          <p:attrName>ppt_x</p:attrName>
                                        </p:attrNameLst>
                                      </p:cBhvr>
                                      <p:tavLst>
                                        <p:tav tm="0">
                                          <p:val>
                                            <p:strVal val="#ppt_x-0.05"/>
                                          </p:val>
                                        </p:tav>
                                        <p:tav tm="100000">
                                          <p:val>
                                            <p:strVal val="#ppt_x"/>
                                          </p:val>
                                        </p:tav>
                                      </p:tavLst>
                                    </p:anim>
                                    <p:anim calcmode="lin" valueType="num">
                                      <p:cBhvr>
                                        <p:cTn id="49" dur="200" accel="100000" fill="hold">
                                          <p:stCondLst>
                                            <p:cond delay="800"/>
                                          </p:stCondLst>
                                        </p:cTn>
                                        <p:tgtEl>
                                          <p:spTgt spid="3">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30" presetClass="entr" presetSubtype="0" fill="hold" nodeType="clickEffect">
                                  <p:stCondLst>
                                    <p:cond delay="0"/>
                                  </p:stCondLst>
                                  <p:childTnLst>
                                    <p:set>
                                      <p:cBhvr>
                                        <p:cTn id="53" dur="1" fill="hold">
                                          <p:stCondLst>
                                            <p:cond delay="0"/>
                                          </p:stCondLst>
                                        </p:cTn>
                                        <p:tgtEl>
                                          <p:spTgt spid="3">
                                            <p:txEl>
                                              <p:pRg st="4" end="4"/>
                                            </p:txEl>
                                          </p:spTgt>
                                        </p:tgtEl>
                                        <p:attrNameLst>
                                          <p:attrName>style.visibility</p:attrName>
                                        </p:attrNameLst>
                                      </p:cBhvr>
                                      <p:to>
                                        <p:strVal val="visible"/>
                                      </p:to>
                                    </p:set>
                                    <p:animEffect transition="in" filter="fade">
                                      <p:cBhvr>
                                        <p:cTn id="54" dur="800" decel="100000"/>
                                        <p:tgtEl>
                                          <p:spTgt spid="3">
                                            <p:txEl>
                                              <p:pRg st="4" end="4"/>
                                            </p:txEl>
                                          </p:spTgt>
                                        </p:tgtEl>
                                      </p:cBhvr>
                                    </p:animEffect>
                                    <p:anim calcmode="lin" valueType="num">
                                      <p:cBhvr>
                                        <p:cTn id="55" dur="800" decel="100000" fill="hold"/>
                                        <p:tgtEl>
                                          <p:spTgt spid="3">
                                            <p:txEl>
                                              <p:pRg st="4" end="4"/>
                                            </p:txEl>
                                          </p:spTgt>
                                        </p:tgtEl>
                                        <p:attrNameLst>
                                          <p:attrName>style.rotation</p:attrName>
                                        </p:attrNameLst>
                                      </p:cBhvr>
                                      <p:tavLst>
                                        <p:tav tm="0">
                                          <p:val>
                                            <p:fltVal val="-90"/>
                                          </p:val>
                                        </p:tav>
                                        <p:tav tm="100000">
                                          <p:val>
                                            <p:fltVal val="0"/>
                                          </p:val>
                                        </p:tav>
                                      </p:tavLst>
                                    </p:anim>
                                    <p:anim calcmode="lin" valueType="num">
                                      <p:cBhvr>
                                        <p:cTn id="56" dur="800" decel="100000" fill="hold"/>
                                        <p:tgtEl>
                                          <p:spTgt spid="3">
                                            <p:txEl>
                                              <p:pRg st="4" end="4"/>
                                            </p:txEl>
                                          </p:spTgt>
                                        </p:tgtEl>
                                        <p:attrNameLst>
                                          <p:attrName>ppt_x</p:attrName>
                                        </p:attrNameLst>
                                      </p:cBhvr>
                                      <p:tavLst>
                                        <p:tav tm="0">
                                          <p:val>
                                            <p:strVal val="#ppt_x+0.4"/>
                                          </p:val>
                                        </p:tav>
                                        <p:tav tm="100000">
                                          <p:val>
                                            <p:strVal val="#ppt_x-0.05"/>
                                          </p:val>
                                        </p:tav>
                                      </p:tavLst>
                                    </p:anim>
                                    <p:anim calcmode="lin" valueType="num">
                                      <p:cBhvr>
                                        <p:cTn id="57" dur="800" decel="100000" fill="hold"/>
                                        <p:tgtEl>
                                          <p:spTgt spid="3">
                                            <p:txEl>
                                              <p:pRg st="4" end="4"/>
                                            </p:txEl>
                                          </p:spTgt>
                                        </p:tgtEl>
                                        <p:attrNameLst>
                                          <p:attrName>ppt_y</p:attrName>
                                        </p:attrNameLst>
                                      </p:cBhvr>
                                      <p:tavLst>
                                        <p:tav tm="0">
                                          <p:val>
                                            <p:strVal val="#ppt_y-0.4"/>
                                          </p:val>
                                        </p:tav>
                                        <p:tav tm="100000">
                                          <p:val>
                                            <p:strVal val="#ppt_y+0.1"/>
                                          </p:val>
                                        </p:tav>
                                      </p:tavLst>
                                    </p:anim>
                                    <p:anim calcmode="lin" valueType="num">
                                      <p:cBhvr>
                                        <p:cTn id="58" dur="200" accel="100000" fill="hold">
                                          <p:stCondLst>
                                            <p:cond delay="800"/>
                                          </p:stCondLst>
                                        </p:cTn>
                                        <p:tgtEl>
                                          <p:spTgt spid="3">
                                            <p:txEl>
                                              <p:pRg st="4" end="4"/>
                                            </p:txEl>
                                          </p:spTgt>
                                        </p:tgtEl>
                                        <p:attrNameLst>
                                          <p:attrName>ppt_x</p:attrName>
                                        </p:attrNameLst>
                                      </p:cBhvr>
                                      <p:tavLst>
                                        <p:tav tm="0">
                                          <p:val>
                                            <p:strVal val="#ppt_x-0.05"/>
                                          </p:val>
                                        </p:tav>
                                        <p:tav tm="100000">
                                          <p:val>
                                            <p:strVal val="#ppt_x"/>
                                          </p:val>
                                        </p:tav>
                                      </p:tavLst>
                                    </p:anim>
                                    <p:anim calcmode="lin" valueType="num">
                                      <p:cBhvr>
                                        <p:cTn id="59" dur="200" accel="100000" fill="hold">
                                          <p:stCondLst>
                                            <p:cond delay="800"/>
                                          </p:stCondLst>
                                        </p:cTn>
                                        <p:tgtEl>
                                          <p:spTgt spid="3">
                                            <p:txEl>
                                              <p:pRg st="4" end="4"/>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2857488" y="500042"/>
            <a:ext cx="3714778" cy="584775"/>
          </a:xfrm>
          <a:prstGeom prst="rect">
            <a:avLst/>
          </a:prstGeom>
        </p:spPr>
        <p:style>
          <a:lnRef idx="3">
            <a:schemeClr val="lt1"/>
          </a:lnRef>
          <a:fillRef idx="1">
            <a:schemeClr val="accent2"/>
          </a:fillRef>
          <a:effectRef idx="1">
            <a:schemeClr val="accent2"/>
          </a:effectRef>
          <a:fontRef idx="minor">
            <a:schemeClr val="lt1"/>
          </a:fontRef>
        </p:style>
        <p:txBody>
          <a:bodyPr wrap="square" rtlCol="1">
            <a:spAutoFit/>
          </a:bodyPr>
          <a:lstStyle/>
          <a:p>
            <a:pPr algn="ctr"/>
            <a:r>
              <a:rPr lang="ar-EG" sz="3200" b="1" dirty="0"/>
              <a:t>خصائص الوسائط المتعددة </a:t>
            </a:r>
            <a:endParaRPr lang="en-US" sz="3200" dirty="0"/>
          </a:p>
        </p:txBody>
      </p:sp>
      <p:sp>
        <p:nvSpPr>
          <p:cNvPr id="3" name="مربع نص 2"/>
          <p:cNvSpPr txBox="1"/>
          <p:nvPr/>
        </p:nvSpPr>
        <p:spPr>
          <a:xfrm>
            <a:off x="4804711" y="1785926"/>
            <a:ext cx="3873176" cy="523220"/>
          </a:xfrm>
          <a:prstGeom prst="rect">
            <a:avLst/>
          </a:prstGeom>
        </p:spPr>
        <p:style>
          <a:lnRef idx="2">
            <a:schemeClr val="accent3"/>
          </a:lnRef>
          <a:fillRef idx="1">
            <a:schemeClr val="lt1"/>
          </a:fillRef>
          <a:effectRef idx="0">
            <a:schemeClr val="accent3"/>
          </a:effectRef>
          <a:fontRef idx="minor">
            <a:schemeClr val="dk1"/>
          </a:fontRef>
        </p:style>
        <p:txBody>
          <a:bodyPr wrap="none" rtlCol="1">
            <a:spAutoFit/>
          </a:bodyPr>
          <a:lstStyle/>
          <a:p>
            <a:pPr lvl="0"/>
            <a:r>
              <a:rPr lang="ar-EG" sz="2800" b="1" dirty="0"/>
              <a:t>1- التفاعلية </a:t>
            </a:r>
            <a:r>
              <a:rPr lang="en-US" sz="2800" b="1" dirty="0"/>
              <a:t>Interactivity</a:t>
            </a:r>
            <a:endParaRPr lang="en-US" sz="2800" dirty="0"/>
          </a:p>
        </p:txBody>
      </p:sp>
      <p:sp>
        <p:nvSpPr>
          <p:cNvPr id="4" name="مربع نص 3"/>
          <p:cNvSpPr txBox="1"/>
          <p:nvPr/>
        </p:nvSpPr>
        <p:spPr>
          <a:xfrm>
            <a:off x="107504" y="2492896"/>
            <a:ext cx="8928992" cy="4278094"/>
          </a:xfrm>
          <a:prstGeom prst="rect">
            <a:avLst/>
          </a:prstGeom>
          <a:noFill/>
        </p:spPr>
        <p:txBody>
          <a:bodyPr wrap="square" rtlCol="1">
            <a:spAutoFit/>
          </a:bodyPr>
          <a:lstStyle/>
          <a:p>
            <a:r>
              <a:rPr lang="ar-EG" sz="2400" dirty="0"/>
              <a:t>تعرف </a:t>
            </a:r>
            <a:r>
              <a:rPr lang="ar-EG" sz="2400" dirty="0" err="1"/>
              <a:t>بانها</a:t>
            </a:r>
            <a:r>
              <a:rPr lang="ar-EG" sz="2400" dirty="0"/>
              <a:t> قيام المتعلم بمشاركة نشطة </a:t>
            </a:r>
            <a:r>
              <a:rPr lang="ar-EG" sz="2400" dirty="0" err="1"/>
              <a:t>فى</a:t>
            </a:r>
            <a:r>
              <a:rPr lang="ar-EG" sz="2400" dirty="0"/>
              <a:t> عملية التعلم </a:t>
            </a:r>
            <a:r>
              <a:rPr lang="ar-EG" sz="2400" dirty="0" err="1"/>
              <a:t>فى</a:t>
            </a:r>
            <a:r>
              <a:rPr lang="ar-EG" sz="2400" dirty="0"/>
              <a:t> صورة استجابات نحو مصدر التعلم مما يؤدى </a:t>
            </a:r>
            <a:r>
              <a:rPr lang="ar-EG" sz="2400" dirty="0" err="1"/>
              <a:t>الى</a:t>
            </a:r>
            <a:r>
              <a:rPr lang="ar-EG" sz="2400" dirty="0"/>
              <a:t> استمرار عملية التعلم ويقصد </a:t>
            </a:r>
            <a:r>
              <a:rPr lang="ar-EG" sz="2400" dirty="0" err="1"/>
              <a:t>بها</a:t>
            </a:r>
            <a:r>
              <a:rPr lang="ar-EG" sz="2400" dirty="0"/>
              <a:t> </a:t>
            </a:r>
            <a:r>
              <a:rPr lang="ar-EG" sz="2400" dirty="0" err="1"/>
              <a:t>ايضا</a:t>
            </a:r>
            <a:r>
              <a:rPr lang="ar-EG" sz="2400" dirty="0"/>
              <a:t> الطرق والوسائل </a:t>
            </a:r>
            <a:r>
              <a:rPr lang="ar-EG" sz="2400" dirty="0" err="1"/>
              <a:t>التى</a:t>
            </a:r>
            <a:r>
              <a:rPr lang="ar-EG" sz="2400" dirty="0"/>
              <a:t> يتيحها البرنامج للمستخدم للتعبير عن </a:t>
            </a:r>
            <a:r>
              <a:rPr lang="ar-EG" sz="2400" dirty="0" err="1"/>
              <a:t>استجابتة</a:t>
            </a:r>
            <a:r>
              <a:rPr lang="ar-EG" sz="2400" dirty="0"/>
              <a:t> للمثيرات </a:t>
            </a:r>
            <a:r>
              <a:rPr lang="ar-EG" sz="2400" dirty="0" err="1"/>
              <a:t>المختلفه</a:t>
            </a:r>
            <a:r>
              <a:rPr lang="ar-EG" sz="2400" dirty="0"/>
              <a:t> </a:t>
            </a:r>
            <a:r>
              <a:rPr lang="ar-EG" sz="2400" dirty="0" err="1"/>
              <a:t>فى</a:t>
            </a:r>
            <a:r>
              <a:rPr lang="ar-EG" sz="2400" dirty="0"/>
              <a:t> البرنامج وقد يطلق عليها البعض </a:t>
            </a:r>
            <a:r>
              <a:rPr lang="ar-EG" sz="2400" dirty="0" err="1"/>
              <a:t>انماط</a:t>
            </a:r>
            <a:r>
              <a:rPr lang="ar-EG" sz="2400" dirty="0"/>
              <a:t> الاستجابة </a:t>
            </a:r>
            <a:r>
              <a:rPr lang="en-US" sz="2400" dirty="0"/>
              <a:t>Response Type</a:t>
            </a:r>
            <a:r>
              <a:rPr lang="ar-EG" sz="2400" dirty="0"/>
              <a:t>.</a:t>
            </a:r>
            <a:endParaRPr lang="ar-EG" sz="2000" dirty="0"/>
          </a:p>
          <a:p>
            <a:r>
              <a:rPr lang="ar-EG" sz="2800" b="1" dirty="0">
                <a:solidFill>
                  <a:schemeClr val="tx2"/>
                </a:solidFill>
              </a:rPr>
              <a:t>يمكن للمتعلم التفاعل مع البرنامج التعليمى حسب نمط او اكثر من الانماط التالية :</a:t>
            </a:r>
            <a:endParaRPr lang="en-US" sz="2400" b="1" dirty="0">
              <a:solidFill>
                <a:schemeClr val="tx2"/>
              </a:solidFill>
            </a:endParaRPr>
          </a:p>
          <a:p>
            <a:pPr lvl="0"/>
            <a:r>
              <a:rPr lang="ar-EG" sz="2400" dirty="0"/>
              <a:t>- النقر على مفتاح الشاشة</a:t>
            </a:r>
            <a:endParaRPr lang="en-US" sz="2400" dirty="0"/>
          </a:p>
          <a:p>
            <a:pPr lvl="0"/>
            <a:r>
              <a:rPr lang="ar-EG" sz="2400" dirty="0">
                <a:solidFill>
                  <a:srgbClr val="FFFF00"/>
                </a:solidFill>
              </a:rPr>
              <a:t>- نقر مساحة من الشاشة</a:t>
            </a:r>
            <a:endParaRPr lang="en-US" sz="2400" dirty="0">
              <a:solidFill>
                <a:srgbClr val="FFFF00"/>
              </a:solidFill>
            </a:endParaRPr>
          </a:p>
          <a:p>
            <a:pPr lvl="0"/>
            <a:r>
              <a:rPr lang="ar-EG" sz="2400" dirty="0"/>
              <a:t>- الاختيار من قائمة منسدلة </a:t>
            </a:r>
            <a:r>
              <a:rPr lang="ar-EG" sz="2400" dirty="0" err="1"/>
              <a:t>اى</a:t>
            </a:r>
            <a:r>
              <a:rPr lang="ar-EG" sz="2400" dirty="0"/>
              <a:t> الدروس يبدأ بتعلمها</a:t>
            </a:r>
            <a:endParaRPr lang="en-US" sz="2400" dirty="0"/>
          </a:p>
          <a:p>
            <a:pPr lvl="0"/>
            <a:r>
              <a:rPr lang="ar-EG" sz="2400" dirty="0">
                <a:solidFill>
                  <a:srgbClr val="FFFF00"/>
                </a:solidFill>
              </a:rPr>
              <a:t>- نقل عنصر من مكان </a:t>
            </a:r>
            <a:r>
              <a:rPr lang="ar-EG" sz="2400" dirty="0" err="1">
                <a:solidFill>
                  <a:srgbClr val="FFFF00"/>
                </a:solidFill>
              </a:rPr>
              <a:t>الى</a:t>
            </a:r>
            <a:r>
              <a:rPr lang="ar-EG" sz="2400" dirty="0">
                <a:solidFill>
                  <a:srgbClr val="FFFF00"/>
                </a:solidFill>
              </a:rPr>
              <a:t> مكان </a:t>
            </a:r>
            <a:r>
              <a:rPr lang="ar-EG" sz="2400" dirty="0" err="1">
                <a:solidFill>
                  <a:srgbClr val="FFFF00"/>
                </a:solidFill>
              </a:rPr>
              <a:t>اخر</a:t>
            </a:r>
            <a:r>
              <a:rPr lang="ar-EG" sz="2400" dirty="0">
                <a:solidFill>
                  <a:srgbClr val="FFFF00"/>
                </a:solidFill>
              </a:rPr>
              <a:t> على الشاشة</a:t>
            </a:r>
            <a:endParaRPr lang="en-US" sz="2400" dirty="0">
              <a:solidFill>
                <a:srgbClr val="FFFF00"/>
              </a:solidFill>
            </a:endParaRPr>
          </a:p>
          <a:p>
            <a:pPr lvl="0"/>
            <a:r>
              <a:rPr lang="ar-EG" sz="2400" dirty="0"/>
              <a:t>- التفاعل </a:t>
            </a:r>
            <a:r>
              <a:rPr lang="ar-EG" sz="2400" dirty="0" err="1"/>
              <a:t>النصى</a:t>
            </a:r>
            <a:r>
              <a:rPr lang="ar-EG" sz="2400" dirty="0"/>
              <a:t> عن طريق لوحة المفاتيح</a:t>
            </a:r>
            <a:endParaRPr lang="en-US" sz="2400" dirty="0"/>
          </a:p>
        </p:txBody>
      </p:sp>
    </p:spTree>
  </p:cSld>
  <p:clrMapOvr>
    <a:masterClrMapping/>
  </p:clrMapOvr>
  <p:transition spd="slow">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iterate type="lt">
                                    <p:tmPct val="0"/>
                                  </p:iterate>
                                  <p:childTnLst>
                                    <p:set>
                                      <p:cBhvr>
                                        <p:cTn id="6" dur="1" fill="hold">
                                          <p:stCondLst>
                                            <p:cond delay="0"/>
                                          </p:stCondLst>
                                        </p:cTn>
                                        <p:tgtEl>
                                          <p:spTgt spid="2"/>
                                        </p:tgtEl>
                                        <p:attrNameLst>
                                          <p:attrName>style.visibility</p:attrName>
                                        </p:attrNameLst>
                                      </p:cBhvr>
                                      <p:to>
                                        <p:strVal val="visible"/>
                                      </p:to>
                                    </p:set>
                                    <p:anim from="(-#ppt_w/2)" to="(#ppt_x)" calcmode="lin" valueType="num">
                                      <p:cBhvr>
                                        <p:cTn id="7" dur="600" fill="hold">
                                          <p:stCondLst>
                                            <p:cond delay="0"/>
                                          </p:stCondLst>
                                        </p:cTn>
                                        <p:tgtEl>
                                          <p:spTgt spid="2"/>
                                        </p:tgtEl>
                                        <p:attrNameLst>
                                          <p:attrName>ppt_x</p:attrName>
                                        </p:attrNameLst>
                                      </p:cBhvr>
                                    </p:anim>
                                    <p:anim from="0" to="-1.0" calcmode="lin" valueType="num">
                                      <p:cBhvr>
                                        <p:cTn id="8" dur="200" decel="50000" autoRev="1" fill="hold">
                                          <p:stCondLst>
                                            <p:cond delay="600"/>
                                          </p:stCondLst>
                                        </p:cTn>
                                        <p:tgtEl>
                                          <p:spTgt spid="2"/>
                                        </p:tgtEl>
                                        <p:attrNameLst>
                                          <p:attrName>xshear</p:attrName>
                                        </p:attrNameLst>
                                      </p:cBhvr>
                                    </p:anim>
                                    <p:animScale>
                                      <p:cBhvr>
                                        <p:cTn id="9" dur="200" decel="100000" autoRev="1" fill="hold">
                                          <p:stCondLst>
                                            <p:cond delay="600"/>
                                          </p:stCondLst>
                                        </p:cTn>
                                        <p:tgtEl>
                                          <p:spTgt spid="2"/>
                                        </p:tgtEl>
                                      </p:cBhvr>
                                      <p:from x="100000" y="100000"/>
                                      <p:to x="80000" y="100000"/>
                                    </p:animScale>
                                    <p:anim by="(#ppt_h/3+#ppt_w*0.1)" calcmode="lin" valueType="num">
                                      <p:cBhvr additive="sum">
                                        <p:cTn id="10" dur="200" decel="100000" autoRev="1" fill="hold">
                                          <p:stCondLst>
                                            <p:cond delay="600"/>
                                          </p:stCondLst>
                                        </p:cTn>
                                        <p:tgtEl>
                                          <p:spTgt spid="2"/>
                                        </p:tgtEl>
                                        <p:attrNameLst>
                                          <p:attrName>ppt_x</p:attrName>
                                        </p:attrNameLst>
                                      </p:cBhvr>
                                    </p:anim>
                                  </p:childTnLst>
                                </p:cTn>
                              </p:par>
                            </p:childTnLst>
                          </p:cTn>
                        </p:par>
                        <p:par>
                          <p:cTn id="11" fill="hold">
                            <p:stCondLst>
                              <p:cond delay="1000"/>
                            </p:stCondLst>
                            <p:childTnLst>
                              <p:par>
                                <p:cTn id="12" presetID="34" presetClass="emph" presetSubtype="0" fill="hold" grpId="1" nodeType="afterEffect">
                                  <p:stCondLst>
                                    <p:cond delay="0"/>
                                  </p:stCondLst>
                                  <p:iterate type="lt">
                                    <p:tmPct val="10000"/>
                                  </p:iterate>
                                  <p:childTnLst>
                                    <p:animMotion origin="layout" path="M 0.0 0.0 L 0.0 -0.07213" pathEditMode="relative" ptsTypes="">
                                      <p:cBhvr>
                                        <p:cTn id="13" dur="250" accel="50000" decel="50000" autoRev="1" fill="hold">
                                          <p:stCondLst>
                                            <p:cond delay="0"/>
                                          </p:stCondLst>
                                        </p:cTn>
                                        <p:tgtEl>
                                          <p:spTgt spid="2"/>
                                        </p:tgtEl>
                                        <p:attrNameLst>
                                          <p:attrName>ppt_x</p:attrName>
                                          <p:attrName>ppt_y</p:attrName>
                                        </p:attrNameLst>
                                      </p:cBhvr>
                                    </p:animMotion>
                                    <p:animRot by="1500000">
                                      <p:cBhvr>
                                        <p:cTn id="14" dur="125" fill="hold">
                                          <p:stCondLst>
                                            <p:cond delay="0"/>
                                          </p:stCondLst>
                                        </p:cTn>
                                        <p:tgtEl>
                                          <p:spTgt spid="2"/>
                                        </p:tgtEl>
                                        <p:attrNameLst>
                                          <p:attrName>r</p:attrName>
                                        </p:attrNameLst>
                                      </p:cBhvr>
                                    </p:animRot>
                                    <p:animRot by="-1500000">
                                      <p:cBhvr>
                                        <p:cTn id="15" dur="125" fill="hold">
                                          <p:stCondLst>
                                            <p:cond delay="125"/>
                                          </p:stCondLst>
                                        </p:cTn>
                                        <p:tgtEl>
                                          <p:spTgt spid="2"/>
                                        </p:tgtEl>
                                        <p:attrNameLst>
                                          <p:attrName>r</p:attrName>
                                        </p:attrNameLst>
                                      </p:cBhvr>
                                    </p:animRot>
                                    <p:animRot by="-1500000">
                                      <p:cBhvr>
                                        <p:cTn id="16" dur="125" fill="hold">
                                          <p:stCondLst>
                                            <p:cond delay="250"/>
                                          </p:stCondLst>
                                        </p:cTn>
                                        <p:tgtEl>
                                          <p:spTgt spid="2"/>
                                        </p:tgtEl>
                                        <p:attrNameLst>
                                          <p:attrName>r</p:attrName>
                                        </p:attrNameLst>
                                      </p:cBhvr>
                                    </p:animRot>
                                    <p:animRot by="1500000">
                                      <p:cBhvr>
                                        <p:cTn id="17" dur="125" fill="hold">
                                          <p:stCondLst>
                                            <p:cond delay="375"/>
                                          </p:stCondLst>
                                        </p:cTn>
                                        <p:tgtEl>
                                          <p:spTgt spid="2"/>
                                        </p:tgtEl>
                                        <p:attrNameLst>
                                          <p:attrName>r</p:attrName>
                                        </p:attrNameLst>
                                      </p:cBhvr>
                                    </p:animRot>
                                  </p:childTnLst>
                                </p:cTn>
                              </p:par>
                            </p:childTnLst>
                          </p:cTn>
                        </p:par>
                      </p:childTnLst>
                    </p:cTn>
                  </p:par>
                  <p:par>
                    <p:cTn id="18" fill="hold">
                      <p:stCondLst>
                        <p:cond delay="indefinite"/>
                      </p:stCondLst>
                      <p:childTnLst>
                        <p:par>
                          <p:cTn id="19" fill="hold">
                            <p:stCondLst>
                              <p:cond delay="0"/>
                            </p:stCondLst>
                            <p:childTnLst>
                              <p:par>
                                <p:cTn id="20" presetID="3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800" decel="100000"/>
                                        <p:tgtEl>
                                          <p:spTgt spid="3"/>
                                        </p:tgtEl>
                                      </p:cBhvr>
                                    </p:animEffect>
                                    <p:anim calcmode="lin" valueType="num">
                                      <p:cBhvr>
                                        <p:cTn id="23" dur="800" decel="100000" fill="hold"/>
                                        <p:tgtEl>
                                          <p:spTgt spid="3"/>
                                        </p:tgtEl>
                                        <p:attrNameLst>
                                          <p:attrName>style.rotation</p:attrName>
                                        </p:attrNameLst>
                                      </p:cBhvr>
                                      <p:tavLst>
                                        <p:tav tm="0">
                                          <p:val>
                                            <p:fltVal val="-90"/>
                                          </p:val>
                                        </p:tav>
                                        <p:tav tm="100000">
                                          <p:val>
                                            <p:fltVal val="0"/>
                                          </p:val>
                                        </p:tav>
                                      </p:tavLst>
                                    </p:anim>
                                    <p:anim calcmode="lin" valueType="num">
                                      <p:cBhvr>
                                        <p:cTn id="24" dur="800" decel="100000" fill="hold"/>
                                        <p:tgtEl>
                                          <p:spTgt spid="3"/>
                                        </p:tgtEl>
                                        <p:attrNameLst>
                                          <p:attrName>ppt_x</p:attrName>
                                        </p:attrNameLst>
                                      </p:cBhvr>
                                      <p:tavLst>
                                        <p:tav tm="0">
                                          <p:val>
                                            <p:strVal val="#ppt_x+0.4"/>
                                          </p:val>
                                        </p:tav>
                                        <p:tav tm="100000">
                                          <p:val>
                                            <p:strVal val="#ppt_x-0.05"/>
                                          </p:val>
                                        </p:tav>
                                      </p:tavLst>
                                    </p:anim>
                                    <p:anim calcmode="lin" valueType="num">
                                      <p:cBhvr>
                                        <p:cTn id="25" dur="800" decel="100000" fill="hold"/>
                                        <p:tgtEl>
                                          <p:spTgt spid="3"/>
                                        </p:tgtEl>
                                        <p:attrNameLst>
                                          <p:attrName>ppt_y</p:attrName>
                                        </p:attrNameLst>
                                      </p:cBhvr>
                                      <p:tavLst>
                                        <p:tav tm="0">
                                          <p:val>
                                            <p:strVal val="#ppt_y-0.4"/>
                                          </p:val>
                                        </p:tav>
                                        <p:tav tm="100000">
                                          <p:val>
                                            <p:strVal val="#ppt_y+0.1"/>
                                          </p:val>
                                        </p:tav>
                                      </p:tavLst>
                                    </p:anim>
                                    <p:anim calcmode="lin" valueType="num">
                                      <p:cBhvr>
                                        <p:cTn id="26"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27"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circle(in)">
                                      <p:cBhvr>
                                        <p:cTn id="32" dur="2000"/>
                                        <p:tgtEl>
                                          <p:spTgt spid="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7" presetClass="entr" presetSubtype="0" fill="hold" nodeType="clickEffect">
                                  <p:stCondLst>
                                    <p:cond delay="0"/>
                                  </p:stCondLst>
                                  <p:iterate type="lt">
                                    <p:tmPct val="50000"/>
                                  </p:iterate>
                                  <p:childTnLst>
                                    <p:set>
                                      <p:cBhvr>
                                        <p:cTn id="36" dur="1" fill="hold">
                                          <p:stCondLst>
                                            <p:cond delay="0"/>
                                          </p:stCondLst>
                                        </p:cTn>
                                        <p:tgtEl>
                                          <p:spTgt spid="4">
                                            <p:txEl>
                                              <p:pRg st="1" end="1"/>
                                            </p:txEl>
                                          </p:spTgt>
                                        </p:tgtEl>
                                        <p:attrNameLst>
                                          <p:attrName>style.visibility</p:attrName>
                                        </p:attrNameLst>
                                      </p:cBhvr>
                                      <p:to>
                                        <p:strVal val="visible"/>
                                      </p:to>
                                    </p:set>
                                    <p:anim calcmode="discrete" valueType="clr">
                                      <p:cBhvr override="childStyle">
                                        <p:cTn id="37" dur="80"/>
                                        <p:tgtEl>
                                          <p:spTgt spid="4">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8" dur="80"/>
                                        <p:tgtEl>
                                          <p:spTgt spid="4">
                                            <p:txEl>
                                              <p:pRg st="1" end="1"/>
                                            </p:txEl>
                                          </p:spTgt>
                                        </p:tgtEl>
                                        <p:attrNameLst>
                                          <p:attrName>fillcolor</p:attrName>
                                        </p:attrNameLst>
                                      </p:cBhvr>
                                      <p:tavLst>
                                        <p:tav tm="0">
                                          <p:val>
                                            <p:clrVal>
                                              <a:schemeClr val="accent2"/>
                                            </p:clrVal>
                                          </p:val>
                                        </p:tav>
                                        <p:tav tm="50000">
                                          <p:val>
                                            <p:clrVal>
                                              <a:schemeClr val="hlink"/>
                                            </p:clrVal>
                                          </p:val>
                                        </p:tav>
                                      </p:tavLst>
                                    </p:anim>
                                    <p:set>
                                      <p:cBhvr>
                                        <p:cTn id="39" dur="80"/>
                                        <p:tgtEl>
                                          <p:spTgt spid="4">
                                            <p:txEl>
                                              <p:pRg st="1" end="1"/>
                                            </p:txEl>
                                          </p:spTgt>
                                        </p:tgtEl>
                                        <p:attrNameLst>
                                          <p:attrName>fill.type</p:attrName>
                                        </p:attrNameLst>
                                      </p:cBhvr>
                                      <p:to>
                                        <p:strVal val="solid"/>
                                      </p:to>
                                    </p:set>
                                  </p:childTnLst>
                                </p:cTn>
                              </p:par>
                            </p:childTnLst>
                          </p:cTn>
                        </p:par>
                      </p:childTnLst>
                    </p:cTn>
                  </p:par>
                  <p:par>
                    <p:cTn id="40" fill="hold">
                      <p:stCondLst>
                        <p:cond delay="indefinite"/>
                      </p:stCondLst>
                      <p:childTnLst>
                        <p:par>
                          <p:cTn id="41" fill="hold">
                            <p:stCondLst>
                              <p:cond delay="0"/>
                            </p:stCondLst>
                            <p:childTnLst>
                              <p:par>
                                <p:cTn id="42" presetID="47" presetClass="entr" presetSubtype="0" fill="hold" nodeType="clickEffect">
                                  <p:stCondLst>
                                    <p:cond delay="0"/>
                                  </p:stCondLst>
                                  <p:childTnLst>
                                    <p:set>
                                      <p:cBhvr>
                                        <p:cTn id="43" dur="1" fill="hold">
                                          <p:stCondLst>
                                            <p:cond delay="0"/>
                                          </p:stCondLst>
                                        </p:cTn>
                                        <p:tgtEl>
                                          <p:spTgt spid="4">
                                            <p:txEl>
                                              <p:pRg st="2" end="2"/>
                                            </p:txEl>
                                          </p:spTgt>
                                        </p:tgtEl>
                                        <p:attrNameLst>
                                          <p:attrName>style.visibility</p:attrName>
                                        </p:attrNameLst>
                                      </p:cBhvr>
                                      <p:to>
                                        <p:strVal val="visible"/>
                                      </p:to>
                                    </p:set>
                                    <p:animEffect transition="in" filter="fade">
                                      <p:cBhvr>
                                        <p:cTn id="44" dur="1000"/>
                                        <p:tgtEl>
                                          <p:spTgt spid="4">
                                            <p:txEl>
                                              <p:pRg st="2" end="2"/>
                                            </p:txEl>
                                          </p:spTgt>
                                        </p:tgtEl>
                                      </p:cBhvr>
                                    </p:animEffect>
                                    <p:anim calcmode="lin" valueType="num">
                                      <p:cBhvr>
                                        <p:cTn id="4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7" presetClass="entr" presetSubtype="0" fill="hold" nodeType="clickEffect">
                                  <p:stCondLst>
                                    <p:cond delay="0"/>
                                  </p:stCondLst>
                                  <p:childTnLst>
                                    <p:set>
                                      <p:cBhvr>
                                        <p:cTn id="50" dur="1" fill="hold">
                                          <p:stCondLst>
                                            <p:cond delay="0"/>
                                          </p:stCondLst>
                                        </p:cTn>
                                        <p:tgtEl>
                                          <p:spTgt spid="4">
                                            <p:txEl>
                                              <p:pRg st="3" end="3"/>
                                            </p:txEl>
                                          </p:spTgt>
                                        </p:tgtEl>
                                        <p:attrNameLst>
                                          <p:attrName>style.visibility</p:attrName>
                                        </p:attrNameLst>
                                      </p:cBhvr>
                                      <p:to>
                                        <p:strVal val="visible"/>
                                      </p:to>
                                    </p:set>
                                    <p:animEffect transition="in" filter="fade">
                                      <p:cBhvr>
                                        <p:cTn id="51" dur="1000"/>
                                        <p:tgtEl>
                                          <p:spTgt spid="4">
                                            <p:txEl>
                                              <p:pRg st="3" end="3"/>
                                            </p:txEl>
                                          </p:spTgt>
                                        </p:tgtEl>
                                      </p:cBhvr>
                                    </p:animEffect>
                                    <p:anim calcmode="lin" valueType="num">
                                      <p:cBhvr>
                                        <p:cTn id="5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7" presetClass="entr" presetSubtype="0" fill="hold" nodeType="clickEffect">
                                  <p:stCondLst>
                                    <p:cond delay="0"/>
                                  </p:stCondLst>
                                  <p:childTnLst>
                                    <p:set>
                                      <p:cBhvr>
                                        <p:cTn id="57" dur="1" fill="hold">
                                          <p:stCondLst>
                                            <p:cond delay="0"/>
                                          </p:stCondLst>
                                        </p:cTn>
                                        <p:tgtEl>
                                          <p:spTgt spid="4">
                                            <p:txEl>
                                              <p:pRg st="4" end="4"/>
                                            </p:txEl>
                                          </p:spTgt>
                                        </p:tgtEl>
                                        <p:attrNameLst>
                                          <p:attrName>style.visibility</p:attrName>
                                        </p:attrNameLst>
                                      </p:cBhvr>
                                      <p:to>
                                        <p:strVal val="visible"/>
                                      </p:to>
                                    </p:set>
                                    <p:animEffect transition="in" filter="fade">
                                      <p:cBhvr>
                                        <p:cTn id="58" dur="1000"/>
                                        <p:tgtEl>
                                          <p:spTgt spid="4">
                                            <p:txEl>
                                              <p:pRg st="4" end="4"/>
                                            </p:txEl>
                                          </p:spTgt>
                                        </p:tgtEl>
                                      </p:cBhvr>
                                    </p:animEffect>
                                    <p:anim calcmode="lin" valueType="num">
                                      <p:cBhvr>
                                        <p:cTn id="5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6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7" presetClass="entr" presetSubtype="0" fill="hold" nodeType="clickEffect">
                                  <p:stCondLst>
                                    <p:cond delay="0"/>
                                  </p:stCondLst>
                                  <p:childTnLst>
                                    <p:set>
                                      <p:cBhvr>
                                        <p:cTn id="64" dur="1" fill="hold">
                                          <p:stCondLst>
                                            <p:cond delay="0"/>
                                          </p:stCondLst>
                                        </p:cTn>
                                        <p:tgtEl>
                                          <p:spTgt spid="4">
                                            <p:txEl>
                                              <p:pRg st="5" end="5"/>
                                            </p:txEl>
                                          </p:spTgt>
                                        </p:tgtEl>
                                        <p:attrNameLst>
                                          <p:attrName>style.visibility</p:attrName>
                                        </p:attrNameLst>
                                      </p:cBhvr>
                                      <p:to>
                                        <p:strVal val="visible"/>
                                      </p:to>
                                    </p:set>
                                    <p:animEffect transition="in" filter="fade">
                                      <p:cBhvr>
                                        <p:cTn id="65" dur="1000"/>
                                        <p:tgtEl>
                                          <p:spTgt spid="4">
                                            <p:txEl>
                                              <p:pRg st="5" end="5"/>
                                            </p:txEl>
                                          </p:spTgt>
                                        </p:tgtEl>
                                      </p:cBhvr>
                                    </p:animEffect>
                                    <p:anim calcmode="lin" valueType="num">
                                      <p:cBhvr>
                                        <p:cTn id="66"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67"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7" presetClass="entr" presetSubtype="0" fill="hold" nodeType="clickEffect">
                                  <p:stCondLst>
                                    <p:cond delay="0"/>
                                  </p:stCondLst>
                                  <p:childTnLst>
                                    <p:set>
                                      <p:cBhvr>
                                        <p:cTn id="71" dur="1" fill="hold">
                                          <p:stCondLst>
                                            <p:cond delay="0"/>
                                          </p:stCondLst>
                                        </p:cTn>
                                        <p:tgtEl>
                                          <p:spTgt spid="4">
                                            <p:txEl>
                                              <p:pRg st="6" end="6"/>
                                            </p:txEl>
                                          </p:spTgt>
                                        </p:tgtEl>
                                        <p:attrNameLst>
                                          <p:attrName>style.visibility</p:attrName>
                                        </p:attrNameLst>
                                      </p:cBhvr>
                                      <p:to>
                                        <p:strVal val="visible"/>
                                      </p:to>
                                    </p:set>
                                    <p:animEffect transition="in" filter="fade">
                                      <p:cBhvr>
                                        <p:cTn id="72" dur="1000"/>
                                        <p:tgtEl>
                                          <p:spTgt spid="4">
                                            <p:txEl>
                                              <p:pRg st="6" end="6"/>
                                            </p:txEl>
                                          </p:spTgt>
                                        </p:tgtEl>
                                      </p:cBhvr>
                                    </p:animEffect>
                                    <p:anim calcmode="lin" valueType="num">
                                      <p:cBhvr>
                                        <p:cTn id="7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74"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500034" y="1071546"/>
            <a:ext cx="8358247" cy="5262979"/>
          </a:xfrm>
          <a:prstGeom prst="rect">
            <a:avLst/>
          </a:prstGeom>
          <a:noFill/>
        </p:spPr>
        <p:txBody>
          <a:bodyPr wrap="square" rtlCol="1">
            <a:spAutoFit/>
          </a:bodyPr>
          <a:lstStyle/>
          <a:p>
            <a:pPr algn="ctr"/>
            <a:r>
              <a:rPr lang="ar-EG" sz="3600" dirty="0">
                <a:solidFill>
                  <a:schemeClr val="tx2"/>
                </a:solidFill>
              </a:rPr>
              <a:t>ومن الاسس التى يجب مراعتها فى انماط التفاعل مع المستخدم ما يلى :</a:t>
            </a:r>
            <a:endParaRPr lang="en-US" sz="3200" dirty="0">
              <a:solidFill>
                <a:schemeClr val="tx2"/>
              </a:solidFill>
            </a:endParaRPr>
          </a:p>
          <a:p>
            <a:pPr lvl="0">
              <a:buFontTx/>
              <a:buChar char="-"/>
            </a:pPr>
            <a:r>
              <a:rPr lang="ar-EG" sz="3200" b="1" dirty="0"/>
              <a:t>تجنب الجمع بين </a:t>
            </a:r>
            <a:r>
              <a:rPr lang="ar-EG" sz="3200" b="1" dirty="0" err="1"/>
              <a:t>الانماط</a:t>
            </a:r>
            <a:r>
              <a:rPr lang="ar-EG" sz="3200" b="1" dirty="0"/>
              <a:t> </a:t>
            </a:r>
            <a:r>
              <a:rPr lang="ar-EG" sz="3200" b="1" dirty="0" err="1"/>
              <a:t>المختلفه</a:t>
            </a:r>
            <a:r>
              <a:rPr lang="ar-EG" sz="3200" b="1" dirty="0"/>
              <a:t> للتفاعل : </a:t>
            </a:r>
          </a:p>
          <a:p>
            <a:pPr lvl="0"/>
            <a:r>
              <a:rPr lang="ar-EG" sz="2800" dirty="0"/>
              <a:t>كاستخدام المدخلان المكتوبة ثم الفارة ثم الاسهم لان انتقال المستخدم بين اكثر من اسلوب يعنى شئ مزعج ومشتت له.</a:t>
            </a:r>
            <a:endParaRPr lang="en-US" sz="2800" dirty="0"/>
          </a:p>
          <a:p>
            <a:pPr lvl="0">
              <a:buFontTx/>
              <a:buChar char="-"/>
            </a:pPr>
            <a:r>
              <a:rPr lang="ar-EG" sz="3200" b="1" dirty="0"/>
              <a:t>عدم وجود ادوات تحديد : </a:t>
            </a:r>
          </a:p>
          <a:p>
            <a:pPr lvl="0"/>
            <a:r>
              <a:rPr lang="ar-EG" sz="2800" dirty="0"/>
              <a:t>يجب مراعاه انه من الممكن ان يعمل المستخدم على اجهزة قديمة غير مزوده بادوات التحديد كالفارة او القلم الضوئى او خلافة.</a:t>
            </a:r>
            <a:endParaRPr lang="en-US" sz="2800" dirty="0"/>
          </a:p>
          <a:p>
            <a:pPr lvl="0">
              <a:buFontTx/>
              <a:buChar char="-"/>
            </a:pPr>
            <a:r>
              <a:rPr lang="ar-EG" sz="3200" b="1" dirty="0"/>
              <a:t>تجنب الكتابة قدر </a:t>
            </a:r>
            <a:r>
              <a:rPr lang="ar-EG" sz="3200" b="1" dirty="0" err="1"/>
              <a:t>الامكان</a:t>
            </a:r>
            <a:r>
              <a:rPr lang="ar-EG" sz="3200" b="1" dirty="0"/>
              <a:t> : </a:t>
            </a:r>
          </a:p>
          <a:p>
            <a:pPr lvl="0"/>
            <a:r>
              <a:rPr lang="ar-EG" sz="2800" dirty="0"/>
              <a:t>معظم الطلاب غير متمرسين على الكتابة لذا ينصح باستخدام </a:t>
            </a:r>
            <a:r>
              <a:rPr lang="ar-EG" sz="2800" dirty="0" err="1"/>
              <a:t>اسلوب</a:t>
            </a:r>
            <a:r>
              <a:rPr lang="ar-EG" sz="2800" dirty="0"/>
              <a:t> </a:t>
            </a:r>
            <a:r>
              <a:rPr lang="ar-EG" sz="2800" dirty="0" err="1"/>
              <a:t>اخر</a:t>
            </a:r>
            <a:r>
              <a:rPr lang="ar-EG" sz="2800" dirty="0"/>
              <a:t> من التفاعل غير الكتابة.</a:t>
            </a:r>
            <a:endParaRPr lang="en-US" sz="2800" dirty="0"/>
          </a:p>
        </p:txBody>
      </p:sp>
    </p:spTree>
  </p:cSld>
  <p:clrMapOvr>
    <a:masterClrMapping/>
  </p:clrMapOvr>
  <p:transition spd="slow">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2">
                                            <p:txEl>
                                              <p:pRg st="0" end="0"/>
                                            </p:txEl>
                                          </p:spTgt>
                                        </p:tgtEl>
                                        <p:attrNameLst>
                                          <p:attrName>style.visibility</p:attrName>
                                        </p:attrNameLst>
                                      </p:cBhvr>
                                      <p:to>
                                        <p:strVal val="visible"/>
                                      </p:to>
                                    </p:set>
                                    <p:anim calcmode="discrete" valueType="clr">
                                      <p:cBhvr override="childStyle">
                                        <p:cTn id="7" dur="80"/>
                                        <p:tgtEl>
                                          <p:spTgt spid="2">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54" presetClass="entr" presetSubtype="0" accel="10000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 calcmode="lin" valueType="num">
                                      <p:cBhvr>
                                        <p:cTn id="14" dur="500" fill="hold"/>
                                        <p:tgtEl>
                                          <p:spTgt spid="2">
                                            <p:txEl>
                                              <p:pRg st="1" end="1"/>
                                            </p:txEl>
                                          </p:spTgt>
                                        </p:tgtEl>
                                        <p:attrNameLst>
                                          <p:attrName>ppt_w</p:attrName>
                                        </p:attrNameLst>
                                      </p:cBhvr>
                                      <p:tavLst>
                                        <p:tav tm="0">
                                          <p:val>
                                            <p:strVal val="#ppt_w*0.05"/>
                                          </p:val>
                                        </p:tav>
                                        <p:tav tm="100000">
                                          <p:val>
                                            <p:strVal val="#ppt_w"/>
                                          </p:val>
                                        </p:tav>
                                      </p:tavLst>
                                    </p:anim>
                                    <p:anim calcmode="lin" valueType="num">
                                      <p:cBhvr>
                                        <p:cTn id="15" dur="500" fill="hold"/>
                                        <p:tgtEl>
                                          <p:spTgt spid="2">
                                            <p:txEl>
                                              <p:pRg st="1" end="1"/>
                                            </p:txEl>
                                          </p:spTgt>
                                        </p:tgtEl>
                                        <p:attrNameLst>
                                          <p:attrName>ppt_h</p:attrName>
                                        </p:attrNameLst>
                                      </p:cBhvr>
                                      <p:tavLst>
                                        <p:tav tm="0">
                                          <p:val>
                                            <p:strVal val="#ppt_h"/>
                                          </p:val>
                                        </p:tav>
                                        <p:tav tm="100000">
                                          <p:val>
                                            <p:strVal val="#ppt_h"/>
                                          </p:val>
                                        </p:tav>
                                      </p:tavLst>
                                    </p:anim>
                                    <p:anim calcmode="lin" valueType="num">
                                      <p:cBhvr>
                                        <p:cTn id="16" dur="500" fill="hold"/>
                                        <p:tgtEl>
                                          <p:spTgt spid="2">
                                            <p:txEl>
                                              <p:pRg st="1" end="1"/>
                                            </p:txEl>
                                          </p:spTgt>
                                        </p:tgtEl>
                                        <p:attrNameLst>
                                          <p:attrName>ppt_x</p:attrName>
                                        </p:attrNameLst>
                                      </p:cBhvr>
                                      <p:tavLst>
                                        <p:tav tm="0">
                                          <p:val>
                                            <p:strVal val="#ppt_x-.2"/>
                                          </p:val>
                                        </p:tav>
                                        <p:tav tm="100000">
                                          <p:val>
                                            <p:strVal val="#ppt_x"/>
                                          </p:val>
                                        </p:tav>
                                      </p:tavLst>
                                    </p:anim>
                                    <p:anim calcmode="lin" valueType="num">
                                      <p:cBhvr>
                                        <p:cTn id="17" dur="500" fill="hold"/>
                                        <p:tgtEl>
                                          <p:spTgt spid="2">
                                            <p:txEl>
                                              <p:pRg st="1" end="1"/>
                                            </p:txEl>
                                          </p:spTgt>
                                        </p:tgtEl>
                                        <p:attrNameLst>
                                          <p:attrName>ppt_y</p:attrName>
                                        </p:attrNameLst>
                                      </p:cBhvr>
                                      <p:tavLst>
                                        <p:tav tm="0">
                                          <p:val>
                                            <p:strVal val="#ppt_y"/>
                                          </p:val>
                                        </p:tav>
                                        <p:tav tm="100000">
                                          <p:val>
                                            <p:strVal val="#ppt_y"/>
                                          </p:val>
                                        </p:tav>
                                      </p:tavLst>
                                    </p:anim>
                                    <p:animEffect transition="in" filter="fade">
                                      <p:cBhvr>
                                        <p:cTn id="18" dur="500"/>
                                        <p:tgtEl>
                                          <p:spTgt spid="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5" presetClass="entr" presetSubtype="0" fill="hold"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 calcmode="lin" valueType="num">
                                      <p:cBhvr>
                                        <p:cTn id="23" dur="1000" fill="hold"/>
                                        <p:tgtEl>
                                          <p:spTgt spid="2">
                                            <p:txEl>
                                              <p:pRg st="2" end="2"/>
                                            </p:txEl>
                                          </p:spTgt>
                                        </p:tgtEl>
                                        <p:attrNameLst>
                                          <p:attrName>ppt_w</p:attrName>
                                        </p:attrNameLst>
                                      </p:cBhvr>
                                      <p:tavLst>
                                        <p:tav tm="0">
                                          <p:val>
                                            <p:strVal val="#ppt_w*0.70"/>
                                          </p:val>
                                        </p:tav>
                                        <p:tav tm="100000">
                                          <p:val>
                                            <p:strVal val="#ppt_w"/>
                                          </p:val>
                                        </p:tav>
                                      </p:tavLst>
                                    </p:anim>
                                    <p:anim calcmode="lin" valueType="num">
                                      <p:cBhvr>
                                        <p:cTn id="24" dur="1000" fill="hold"/>
                                        <p:tgtEl>
                                          <p:spTgt spid="2">
                                            <p:txEl>
                                              <p:pRg st="2" end="2"/>
                                            </p:txEl>
                                          </p:spTgt>
                                        </p:tgtEl>
                                        <p:attrNameLst>
                                          <p:attrName>ppt_h</p:attrName>
                                        </p:attrNameLst>
                                      </p:cBhvr>
                                      <p:tavLst>
                                        <p:tav tm="0">
                                          <p:val>
                                            <p:strVal val="#ppt_h"/>
                                          </p:val>
                                        </p:tav>
                                        <p:tav tm="100000">
                                          <p:val>
                                            <p:strVal val="#ppt_h"/>
                                          </p:val>
                                        </p:tav>
                                      </p:tavLst>
                                    </p:anim>
                                    <p:animEffect transition="in" filter="fade">
                                      <p:cBhvr>
                                        <p:cTn id="25" dur="1000"/>
                                        <p:tgtEl>
                                          <p:spTgt spid="2">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54" presetClass="entr" presetSubtype="0" accel="100000" fill="hold" nodeType="clickEffect">
                                  <p:stCondLst>
                                    <p:cond delay="0"/>
                                  </p:stCondLst>
                                  <p:childTnLst>
                                    <p:set>
                                      <p:cBhvr>
                                        <p:cTn id="29" dur="1" fill="hold">
                                          <p:stCondLst>
                                            <p:cond delay="0"/>
                                          </p:stCondLst>
                                        </p:cTn>
                                        <p:tgtEl>
                                          <p:spTgt spid="2">
                                            <p:txEl>
                                              <p:pRg st="3" end="3"/>
                                            </p:txEl>
                                          </p:spTgt>
                                        </p:tgtEl>
                                        <p:attrNameLst>
                                          <p:attrName>style.visibility</p:attrName>
                                        </p:attrNameLst>
                                      </p:cBhvr>
                                      <p:to>
                                        <p:strVal val="visible"/>
                                      </p:to>
                                    </p:set>
                                    <p:anim calcmode="lin" valueType="num">
                                      <p:cBhvr>
                                        <p:cTn id="30" dur="500" fill="hold"/>
                                        <p:tgtEl>
                                          <p:spTgt spid="2">
                                            <p:txEl>
                                              <p:pRg st="3" end="3"/>
                                            </p:txEl>
                                          </p:spTgt>
                                        </p:tgtEl>
                                        <p:attrNameLst>
                                          <p:attrName>ppt_w</p:attrName>
                                        </p:attrNameLst>
                                      </p:cBhvr>
                                      <p:tavLst>
                                        <p:tav tm="0">
                                          <p:val>
                                            <p:strVal val="#ppt_w*0.05"/>
                                          </p:val>
                                        </p:tav>
                                        <p:tav tm="100000">
                                          <p:val>
                                            <p:strVal val="#ppt_w"/>
                                          </p:val>
                                        </p:tav>
                                      </p:tavLst>
                                    </p:anim>
                                    <p:anim calcmode="lin" valueType="num">
                                      <p:cBhvr>
                                        <p:cTn id="31" dur="500" fill="hold"/>
                                        <p:tgtEl>
                                          <p:spTgt spid="2">
                                            <p:txEl>
                                              <p:pRg st="3" end="3"/>
                                            </p:txEl>
                                          </p:spTgt>
                                        </p:tgtEl>
                                        <p:attrNameLst>
                                          <p:attrName>ppt_h</p:attrName>
                                        </p:attrNameLst>
                                      </p:cBhvr>
                                      <p:tavLst>
                                        <p:tav tm="0">
                                          <p:val>
                                            <p:strVal val="#ppt_h"/>
                                          </p:val>
                                        </p:tav>
                                        <p:tav tm="100000">
                                          <p:val>
                                            <p:strVal val="#ppt_h"/>
                                          </p:val>
                                        </p:tav>
                                      </p:tavLst>
                                    </p:anim>
                                    <p:anim calcmode="lin" valueType="num">
                                      <p:cBhvr>
                                        <p:cTn id="32" dur="500" fill="hold"/>
                                        <p:tgtEl>
                                          <p:spTgt spid="2">
                                            <p:txEl>
                                              <p:pRg st="3" end="3"/>
                                            </p:txEl>
                                          </p:spTgt>
                                        </p:tgtEl>
                                        <p:attrNameLst>
                                          <p:attrName>ppt_x</p:attrName>
                                        </p:attrNameLst>
                                      </p:cBhvr>
                                      <p:tavLst>
                                        <p:tav tm="0">
                                          <p:val>
                                            <p:strVal val="#ppt_x-.2"/>
                                          </p:val>
                                        </p:tav>
                                        <p:tav tm="100000">
                                          <p:val>
                                            <p:strVal val="#ppt_x"/>
                                          </p:val>
                                        </p:tav>
                                      </p:tavLst>
                                    </p:anim>
                                    <p:anim calcmode="lin" valueType="num">
                                      <p:cBhvr>
                                        <p:cTn id="33" dur="500" fill="hold"/>
                                        <p:tgtEl>
                                          <p:spTgt spid="2">
                                            <p:txEl>
                                              <p:pRg st="3" end="3"/>
                                            </p:txEl>
                                          </p:spTgt>
                                        </p:tgtEl>
                                        <p:attrNameLst>
                                          <p:attrName>ppt_y</p:attrName>
                                        </p:attrNameLst>
                                      </p:cBhvr>
                                      <p:tavLst>
                                        <p:tav tm="0">
                                          <p:val>
                                            <p:strVal val="#ppt_y"/>
                                          </p:val>
                                        </p:tav>
                                        <p:tav tm="100000">
                                          <p:val>
                                            <p:strVal val="#ppt_y"/>
                                          </p:val>
                                        </p:tav>
                                      </p:tavLst>
                                    </p:anim>
                                    <p:animEffect transition="in" filter="fade">
                                      <p:cBhvr>
                                        <p:cTn id="34" dur="500"/>
                                        <p:tgtEl>
                                          <p:spTgt spid="2">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2">
                                            <p:txEl>
                                              <p:pRg st="4" end="4"/>
                                            </p:txEl>
                                          </p:spTgt>
                                        </p:tgtEl>
                                        <p:attrNameLst>
                                          <p:attrName>style.visibility</p:attrName>
                                        </p:attrNameLst>
                                      </p:cBhvr>
                                      <p:to>
                                        <p:strVal val="visible"/>
                                      </p:to>
                                    </p:set>
                                    <p:anim calcmode="lin" valueType="num">
                                      <p:cBhvr>
                                        <p:cTn id="39" dur="1000" fill="hold"/>
                                        <p:tgtEl>
                                          <p:spTgt spid="2">
                                            <p:txEl>
                                              <p:pRg st="4" end="4"/>
                                            </p:txEl>
                                          </p:spTgt>
                                        </p:tgtEl>
                                        <p:attrNameLst>
                                          <p:attrName>ppt_w</p:attrName>
                                        </p:attrNameLst>
                                      </p:cBhvr>
                                      <p:tavLst>
                                        <p:tav tm="0">
                                          <p:val>
                                            <p:strVal val="#ppt_w*0.70"/>
                                          </p:val>
                                        </p:tav>
                                        <p:tav tm="100000">
                                          <p:val>
                                            <p:strVal val="#ppt_w"/>
                                          </p:val>
                                        </p:tav>
                                      </p:tavLst>
                                    </p:anim>
                                    <p:anim calcmode="lin" valueType="num">
                                      <p:cBhvr>
                                        <p:cTn id="40" dur="1000" fill="hold"/>
                                        <p:tgtEl>
                                          <p:spTgt spid="2">
                                            <p:txEl>
                                              <p:pRg st="4" end="4"/>
                                            </p:txEl>
                                          </p:spTgt>
                                        </p:tgtEl>
                                        <p:attrNameLst>
                                          <p:attrName>ppt_h</p:attrName>
                                        </p:attrNameLst>
                                      </p:cBhvr>
                                      <p:tavLst>
                                        <p:tav tm="0">
                                          <p:val>
                                            <p:strVal val="#ppt_h"/>
                                          </p:val>
                                        </p:tav>
                                        <p:tav tm="100000">
                                          <p:val>
                                            <p:strVal val="#ppt_h"/>
                                          </p:val>
                                        </p:tav>
                                      </p:tavLst>
                                    </p:anim>
                                    <p:animEffect transition="in" filter="fade">
                                      <p:cBhvr>
                                        <p:cTn id="41" dur="1000"/>
                                        <p:tgtEl>
                                          <p:spTgt spid="2">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54" presetClass="entr" presetSubtype="0" accel="100000" fill="hold" nodeType="clickEffect">
                                  <p:stCondLst>
                                    <p:cond delay="0"/>
                                  </p:stCondLst>
                                  <p:childTnLst>
                                    <p:set>
                                      <p:cBhvr>
                                        <p:cTn id="45" dur="1" fill="hold">
                                          <p:stCondLst>
                                            <p:cond delay="0"/>
                                          </p:stCondLst>
                                        </p:cTn>
                                        <p:tgtEl>
                                          <p:spTgt spid="2">
                                            <p:txEl>
                                              <p:pRg st="5" end="5"/>
                                            </p:txEl>
                                          </p:spTgt>
                                        </p:tgtEl>
                                        <p:attrNameLst>
                                          <p:attrName>style.visibility</p:attrName>
                                        </p:attrNameLst>
                                      </p:cBhvr>
                                      <p:to>
                                        <p:strVal val="visible"/>
                                      </p:to>
                                    </p:set>
                                    <p:anim calcmode="lin" valueType="num">
                                      <p:cBhvr>
                                        <p:cTn id="46" dur="500" fill="hold"/>
                                        <p:tgtEl>
                                          <p:spTgt spid="2">
                                            <p:txEl>
                                              <p:pRg st="5" end="5"/>
                                            </p:txEl>
                                          </p:spTgt>
                                        </p:tgtEl>
                                        <p:attrNameLst>
                                          <p:attrName>ppt_w</p:attrName>
                                        </p:attrNameLst>
                                      </p:cBhvr>
                                      <p:tavLst>
                                        <p:tav tm="0">
                                          <p:val>
                                            <p:strVal val="#ppt_w*0.05"/>
                                          </p:val>
                                        </p:tav>
                                        <p:tav tm="100000">
                                          <p:val>
                                            <p:strVal val="#ppt_w"/>
                                          </p:val>
                                        </p:tav>
                                      </p:tavLst>
                                    </p:anim>
                                    <p:anim calcmode="lin" valueType="num">
                                      <p:cBhvr>
                                        <p:cTn id="47" dur="500" fill="hold"/>
                                        <p:tgtEl>
                                          <p:spTgt spid="2">
                                            <p:txEl>
                                              <p:pRg st="5" end="5"/>
                                            </p:txEl>
                                          </p:spTgt>
                                        </p:tgtEl>
                                        <p:attrNameLst>
                                          <p:attrName>ppt_h</p:attrName>
                                        </p:attrNameLst>
                                      </p:cBhvr>
                                      <p:tavLst>
                                        <p:tav tm="0">
                                          <p:val>
                                            <p:strVal val="#ppt_h"/>
                                          </p:val>
                                        </p:tav>
                                        <p:tav tm="100000">
                                          <p:val>
                                            <p:strVal val="#ppt_h"/>
                                          </p:val>
                                        </p:tav>
                                      </p:tavLst>
                                    </p:anim>
                                    <p:anim calcmode="lin" valueType="num">
                                      <p:cBhvr>
                                        <p:cTn id="48" dur="500" fill="hold"/>
                                        <p:tgtEl>
                                          <p:spTgt spid="2">
                                            <p:txEl>
                                              <p:pRg st="5" end="5"/>
                                            </p:txEl>
                                          </p:spTgt>
                                        </p:tgtEl>
                                        <p:attrNameLst>
                                          <p:attrName>ppt_x</p:attrName>
                                        </p:attrNameLst>
                                      </p:cBhvr>
                                      <p:tavLst>
                                        <p:tav tm="0">
                                          <p:val>
                                            <p:strVal val="#ppt_x-.2"/>
                                          </p:val>
                                        </p:tav>
                                        <p:tav tm="100000">
                                          <p:val>
                                            <p:strVal val="#ppt_x"/>
                                          </p:val>
                                        </p:tav>
                                      </p:tavLst>
                                    </p:anim>
                                    <p:anim calcmode="lin" valueType="num">
                                      <p:cBhvr>
                                        <p:cTn id="49" dur="500" fill="hold"/>
                                        <p:tgtEl>
                                          <p:spTgt spid="2">
                                            <p:txEl>
                                              <p:pRg st="5" end="5"/>
                                            </p:txEl>
                                          </p:spTgt>
                                        </p:tgtEl>
                                        <p:attrNameLst>
                                          <p:attrName>ppt_y</p:attrName>
                                        </p:attrNameLst>
                                      </p:cBhvr>
                                      <p:tavLst>
                                        <p:tav tm="0">
                                          <p:val>
                                            <p:strVal val="#ppt_y"/>
                                          </p:val>
                                        </p:tav>
                                        <p:tav tm="100000">
                                          <p:val>
                                            <p:strVal val="#ppt_y"/>
                                          </p:val>
                                        </p:tav>
                                      </p:tavLst>
                                    </p:anim>
                                    <p:animEffect transition="in" filter="fade">
                                      <p:cBhvr>
                                        <p:cTn id="50" dur="500"/>
                                        <p:tgtEl>
                                          <p:spTgt spid="2">
                                            <p:txEl>
                                              <p:pRg st="5" end="5"/>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55" presetClass="entr" presetSubtype="0" fill="hold" nodeType="clickEffect">
                                  <p:stCondLst>
                                    <p:cond delay="0"/>
                                  </p:stCondLst>
                                  <p:childTnLst>
                                    <p:set>
                                      <p:cBhvr>
                                        <p:cTn id="54" dur="1" fill="hold">
                                          <p:stCondLst>
                                            <p:cond delay="0"/>
                                          </p:stCondLst>
                                        </p:cTn>
                                        <p:tgtEl>
                                          <p:spTgt spid="2">
                                            <p:txEl>
                                              <p:pRg st="6" end="6"/>
                                            </p:txEl>
                                          </p:spTgt>
                                        </p:tgtEl>
                                        <p:attrNameLst>
                                          <p:attrName>style.visibility</p:attrName>
                                        </p:attrNameLst>
                                      </p:cBhvr>
                                      <p:to>
                                        <p:strVal val="visible"/>
                                      </p:to>
                                    </p:set>
                                    <p:anim calcmode="lin" valueType="num">
                                      <p:cBhvr>
                                        <p:cTn id="55" dur="1000" fill="hold"/>
                                        <p:tgtEl>
                                          <p:spTgt spid="2">
                                            <p:txEl>
                                              <p:pRg st="6" end="6"/>
                                            </p:txEl>
                                          </p:spTgt>
                                        </p:tgtEl>
                                        <p:attrNameLst>
                                          <p:attrName>ppt_w</p:attrName>
                                        </p:attrNameLst>
                                      </p:cBhvr>
                                      <p:tavLst>
                                        <p:tav tm="0">
                                          <p:val>
                                            <p:strVal val="#ppt_w*0.70"/>
                                          </p:val>
                                        </p:tav>
                                        <p:tav tm="100000">
                                          <p:val>
                                            <p:strVal val="#ppt_w"/>
                                          </p:val>
                                        </p:tav>
                                      </p:tavLst>
                                    </p:anim>
                                    <p:anim calcmode="lin" valueType="num">
                                      <p:cBhvr>
                                        <p:cTn id="56" dur="1000" fill="hold"/>
                                        <p:tgtEl>
                                          <p:spTgt spid="2">
                                            <p:txEl>
                                              <p:pRg st="6" end="6"/>
                                            </p:txEl>
                                          </p:spTgt>
                                        </p:tgtEl>
                                        <p:attrNameLst>
                                          <p:attrName>ppt_h</p:attrName>
                                        </p:attrNameLst>
                                      </p:cBhvr>
                                      <p:tavLst>
                                        <p:tav tm="0">
                                          <p:val>
                                            <p:strVal val="#ppt_h"/>
                                          </p:val>
                                        </p:tav>
                                        <p:tav tm="100000">
                                          <p:val>
                                            <p:strVal val="#ppt_h"/>
                                          </p:val>
                                        </p:tav>
                                      </p:tavLst>
                                    </p:anim>
                                    <p:animEffect transition="in" filter="fade">
                                      <p:cBhvr>
                                        <p:cTn id="57" dur="10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5143504" y="714356"/>
            <a:ext cx="3429027"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pPr lvl="0" algn="ctr"/>
            <a:r>
              <a:rPr lang="ar-EG" sz="2800" b="1" dirty="0"/>
              <a:t>2- الفردية </a:t>
            </a:r>
            <a:r>
              <a:rPr lang="en-US" sz="2800" b="1" dirty="0"/>
              <a:t>Individual</a:t>
            </a:r>
            <a:endParaRPr lang="en-US" sz="2800" dirty="0"/>
          </a:p>
        </p:txBody>
      </p:sp>
      <p:sp>
        <p:nvSpPr>
          <p:cNvPr id="3" name="مربع نص 2"/>
          <p:cNvSpPr txBox="1"/>
          <p:nvPr/>
        </p:nvSpPr>
        <p:spPr>
          <a:xfrm>
            <a:off x="285720" y="1428736"/>
            <a:ext cx="8286807" cy="1569660"/>
          </a:xfrm>
          <a:prstGeom prst="rect">
            <a:avLst/>
          </a:prstGeom>
          <a:noFill/>
        </p:spPr>
        <p:txBody>
          <a:bodyPr wrap="square" rtlCol="1">
            <a:spAutoFit/>
          </a:bodyPr>
          <a:lstStyle/>
          <a:p>
            <a:r>
              <a:rPr lang="ar-EG" sz="2400" b="1" dirty="0"/>
              <a:t>تتميز عروض الوسائط المتعددة </a:t>
            </a:r>
            <a:r>
              <a:rPr lang="ar-EG" sz="2400" b="1" dirty="0" err="1"/>
              <a:t>بتفريد</a:t>
            </a:r>
            <a:r>
              <a:rPr lang="ar-EG" sz="2400" b="1" dirty="0"/>
              <a:t> المواقف التعليمية لتتناسب مع الفروق </a:t>
            </a:r>
            <a:r>
              <a:rPr lang="ar-EG" sz="2400" b="1" dirty="0" err="1"/>
              <a:t>الفرديه</a:t>
            </a:r>
            <a:r>
              <a:rPr lang="ar-EG" sz="2400" b="1" dirty="0"/>
              <a:t> بين المتعلمين ولقد صممت هذه العروض بحيث تعتمد على الخطو </a:t>
            </a:r>
            <a:r>
              <a:rPr lang="ar-EG" sz="2400" b="1" dirty="0" err="1"/>
              <a:t>الذاتى</a:t>
            </a:r>
            <a:r>
              <a:rPr lang="ar-EG" sz="2400" b="1" dirty="0"/>
              <a:t> للمتعلم </a:t>
            </a:r>
            <a:r>
              <a:rPr lang="en-US" sz="2400" b="1" dirty="0"/>
              <a:t>Self-Pacing</a:t>
            </a:r>
            <a:r>
              <a:rPr lang="ar-EG" sz="2400" b="1" dirty="0"/>
              <a:t> وهى بذلك تسمح باختلاف الوقت المخصص بين متعلم </a:t>
            </a:r>
            <a:r>
              <a:rPr lang="ar-EG" sz="2400" b="1" dirty="0" err="1"/>
              <a:t>واخر</a:t>
            </a:r>
            <a:r>
              <a:rPr lang="ar-EG" sz="2400" b="1" dirty="0"/>
              <a:t> تبعا لقدراته </a:t>
            </a:r>
            <a:r>
              <a:rPr lang="ar-EG" sz="2400" b="1" dirty="0" err="1"/>
              <a:t>واستعدادته</a:t>
            </a:r>
            <a:r>
              <a:rPr lang="ar-EG" sz="2400" b="1" dirty="0"/>
              <a:t> .</a:t>
            </a:r>
            <a:endParaRPr lang="en-US" sz="2400" b="1" dirty="0"/>
          </a:p>
        </p:txBody>
      </p:sp>
      <p:sp>
        <p:nvSpPr>
          <p:cNvPr id="4" name="مربع نص 3"/>
          <p:cNvSpPr txBox="1"/>
          <p:nvPr/>
        </p:nvSpPr>
        <p:spPr>
          <a:xfrm>
            <a:off x="5286379" y="3049796"/>
            <a:ext cx="3286149"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pPr lvl="0" algn="ctr"/>
            <a:r>
              <a:rPr lang="ar-EG" sz="2800" b="1" dirty="0"/>
              <a:t>3- التنوع </a:t>
            </a:r>
            <a:r>
              <a:rPr lang="en-US" sz="2800" b="1" dirty="0"/>
              <a:t>Diversity</a:t>
            </a:r>
            <a:endParaRPr lang="en-US" sz="2800" dirty="0"/>
          </a:p>
        </p:txBody>
      </p:sp>
      <p:sp>
        <p:nvSpPr>
          <p:cNvPr id="5" name="مربع نص 4"/>
          <p:cNvSpPr txBox="1"/>
          <p:nvPr/>
        </p:nvSpPr>
        <p:spPr>
          <a:xfrm>
            <a:off x="357158" y="3643314"/>
            <a:ext cx="8143934" cy="1200329"/>
          </a:xfrm>
          <a:prstGeom prst="rect">
            <a:avLst/>
          </a:prstGeom>
          <a:noFill/>
        </p:spPr>
        <p:txBody>
          <a:bodyPr wrap="square" rtlCol="1">
            <a:spAutoFit/>
          </a:bodyPr>
          <a:lstStyle/>
          <a:p>
            <a:r>
              <a:rPr lang="ar-EG" sz="2400" b="1" dirty="0"/>
              <a:t>التنوع </a:t>
            </a:r>
            <a:r>
              <a:rPr lang="ar-EG" sz="2400" b="1" dirty="0" err="1"/>
              <a:t>فى</a:t>
            </a:r>
            <a:r>
              <a:rPr lang="ar-EG" sz="2400" b="1" dirty="0"/>
              <a:t> تكنولوجيا الوسائط المتعددة على </a:t>
            </a:r>
            <a:r>
              <a:rPr lang="ar-EG" sz="2400" b="1" dirty="0" err="1"/>
              <a:t>اثراء</a:t>
            </a:r>
            <a:r>
              <a:rPr lang="ar-EG" sz="2400" b="1" dirty="0"/>
              <a:t> العملية التعليمية كما يستثير القدرات المعرفية للمتعلمين وذلك من خلال التآزر </a:t>
            </a:r>
            <a:r>
              <a:rPr lang="ar-EG" sz="2400" b="1" dirty="0" err="1"/>
              <a:t>فى</a:t>
            </a:r>
            <a:r>
              <a:rPr lang="ar-EG" sz="2400" b="1" dirty="0"/>
              <a:t> التأثير بين تشكيلة المثيرات المتعددة </a:t>
            </a:r>
            <a:r>
              <a:rPr lang="ar-EG" sz="2400" b="1" dirty="0" err="1"/>
              <a:t>التى</a:t>
            </a:r>
            <a:r>
              <a:rPr lang="ar-EG" sz="2400" b="1" dirty="0"/>
              <a:t> تخاطب </a:t>
            </a:r>
            <a:r>
              <a:rPr lang="ar-EG" sz="2400" b="1" dirty="0" err="1"/>
              <a:t>اكثر</a:t>
            </a:r>
            <a:r>
              <a:rPr lang="ar-EG" sz="2400" b="1" dirty="0"/>
              <a:t> من حاسة عند المتعلم.</a:t>
            </a:r>
            <a:endParaRPr lang="en-US" sz="2400" b="1" dirty="0"/>
          </a:p>
        </p:txBody>
      </p:sp>
      <p:sp>
        <p:nvSpPr>
          <p:cNvPr id="6" name="مربع نص 5"/>
          <p:cNvSpPr txBox="1"/>
          <p:nvPr/>
        </p:nvSpPr>
        <p:spPr>
          <a:xfrm>
            <a:off x="4857749" y="4922004"/>
            <a:ext cx="3714779"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pPr lvl="0"/>
            <a:r>
              <a:rPr lang="ar-EG" sz="2800" b="1" dirty="0"/>
              <a:t>4- التكاملية </a:t>
            </a:r>
            <a:r>
              <a:rPr lang="en-US" sz="2800" b="1" dirty="0"/>
              <a:t>Integration</a:t>
            </a:r>
            <a:endParaRPr lang="en-US" sz="2800" dirty="0"/>
          </a:p>
        </p:txBody>
      </p:sp>
      <p:sp>
        <p:nvSpPr>
          <p:cNvPr id="7" name="مربع نص 6"/>
          <p:cNvSpPr txBox="1"/>
          <p:nvPr/>
        </p:nvSpPr>
        <p:spPr>
          <a:xfrm>
            <a:off x="571472" y="5572142"/>
            <a:ext cx="8001056" cy="830997"/>
          </a:xfrm>
          <a:prstGeom prst="rect">
            <a:avLst/>
          </a:prstGeom>
          <a:noFill/>
        </p:spPr>
        <p:txBody>
          <a:bodyPr wrap="square" rtlCol="1">
            <a:spAutoFit/>
          </a:bodyPr>
          <a:lstStyle/>
          <a:p>
            <a:r>
              <a:rPr lang="ar-EG" sz="2400" b="1" dirty="0"/>
              <a:t>يقصد بالتكامل التناغم والاندماج بين مجموعه الوسائط المستخدمة والمعروضة على شاشة جهاز الكمبيوتر لخدمة المحتوى المراد توصيلة للطلاب .</a:t>
            </a:r>
            <a:endParaRPr lang="en-US" sz="2400" b="1" dirty="0"/>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800" decel="100000"/>
                                        <p:tgtEl>
                                          <p:spTgt spid="2"/>
                                        </p:tgtEl>
                                      </p:cBhvr>
                                    </p:animEffect>
                                    <p:anim calcmode="lin" valueType="num">
                                      <p:cBhvr>
                                        <p:cTn id="8" dur="800" decel="100000" fill="hold"/>
                                        <p:tgtEl>
                                          <p:spTgt spid="2"/>
                                        </p:tgtEl>
                                        <p:attrNameLst>
                                          <p:attrName>style.rotation</p:attrName>
                                        </p:attrNameLst>
                                      </p:cBhvr>
                                      <p:tavLst>
                                        <p:tav tm="0">
                                          <p:val>
                                            <p:fltVal val="-90"/>
                                          </p:val>
                                        </p:tav>
                                        <p:tav tm="100000">
                                          <p:val>
                                            <p:fltVal val="0"/>
                                          </p:val>
                                        </p:tav>
                                      </p:tavLst>
                                    </p:anim>
                                    <p:anim calcmode="lin" valueType="num">
                                      <p:cBhvr>
                                        <p:cTn id="9" dur="800" decel="100000" fill="hold"/>
                                        <p:tgtEl>
                                          <p:spTgt spid="2"/>
                                        </p:tgtEl>
                                        <p:attrNameLst>
                                          <p:attrName>ppt_x</p:attrName>
                                        </p:attrNameLst>
                                      </p:cBhvr>
                                      <p:tavLst>
                                        <p:tav tm="0">
                                          <p:val>
                                            <p:strVal val="#ppt_x+0.4"/>
                                          </p:val>
                                        </p:tav>
                                        <p:tav tm="100000">
                                          <p:val>
                                            <p:strVal val="#ppt_x-0.05"/>
                                          </p:val>
                                        </p:tav>
                                      </p:tavLst>
                                    </p:anim>
                                    <p:anim calcmode="lin" valueType="num">
                                      <p:cBhvr>
                                        <p:cTn id="10" dur="800" decel="100000" fill="hold"/>
                                        <p:tgtEl>
                                          <p:spTgt spid="2"/>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2"/>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2"/>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 calcmode="lin" valueType="num">
                                      <p:cBhvr>
                                        <p:cTn id="1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3">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0"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800" decel="100000"/>
                                        <p:tgtEl>
                                          <p:spTgt spid="4"/>
                                        </p:tgtEl>
                                      </p:cBhvr>
                                    </p:animEffect>
                                    <p:anim calcmode="lin" valueType="num">
                                      <p:cBhvr>
                                        <p:cTn id="25" dur="800" decel="100000" fill="hold"/>
                                        <p:tgtEl>
                                          <p:spTgt spid="4"/>
                                        </p:tgtEl>
                                        <p:attrNameLst>
                                          <p:attrName>style.rotation</p:attrName>
                                        </p:attrNameLst>
                                      </p:cBhvr>
                                      <p:tavLst>
                                        <p:tav tm="0">
                                          <p:val>
                                            <p:fltVal val="-90"/>
                                          </p:val>
                                        </p:tav>
                                        <p:tav tm="100000">
                                          <p:val>
                                            <p:fltVal val="0"/>
                                          </p:val>
                                        </p:tav>
                                      </p:tavLst>
                                    </p:anim>
                                    <p:anim calcmode="lin" valueType="num">
                                      <p:cBhvr>
                                        <p:cTn id="26" dur="800" decel="100000" fill="hold"/>
                                        <p:tgtEl>
                                          <p:spTgt spid="4"/>
                                        </p:tgtEl>
                                        <p:attrNameLst>
                                          <p:attrName>ppt_x</p:attrName>
                                        </p:attrNameLst>
                                      </p:cBhvr>
                                      <p:tavLst>
                                        <p:tav tm="0">
                                          <p:val>
                                            <p:strVal val="#ppt_x+0.4"/>
                                          </p:val>
                                        </p:tav>
                                        <p:tav tm="100000">
                                          <p:val>
                                            <p:strVal val="#ppt_x-0.05"/>
                                          </p:val>
                                        </p:tav>
                                      </p:tavLst>
                                    </p:anim>
                                    <p:anim calcmode="lin" valueType="num">
                                      <p:cBhvr>
                                        <p:cTn id="27" dur="800" decel="100000" fill="hold"/>
                                        <p:tgtEl>
                                          <p:spTgt spid="4"/>
                                        </p:tgtEl>
                                        <p:attrNameLst>
                                          <p:attrName>ppt_y</p:attrName>
                                        </p:attrNameLst>
                                      </p:cBhvr>
                                      <p:tavLst>
                                        <p:tav tm="0">
                                          <p:val>
                                            <p:strVal val="#ppt_y-0.4"/>
                                          </p:val>
                                        </p:tav>
                                        <p:tav tm="100000">
                                          <p:val>
                                            <p:strVal val="#ppt_y+0.1"/>
                                          </p:val>
                                        </p:tav>
                                      </p:tavLst>
                                    </p:anim>
                                    <p:anim calcmode="lin" valueType="num">
                                      <p:cBhvr>
                                        <p:cTn id="28" dur="200" accel="100000" fill="hold">
                                          <p:stCondLst>
                                            <p:cond delay="800"/>
                                          </p:stCondLst>
                                        </p:cTn>
                                        <p:tgtEl>
                                          <p:spTgt spid="4"/>
                                        </p:tgtEl>
                                        <p:attrNameLst>
                                          <p:attrName>ppt_x</p:attrName>
                                        </p:attrNameLst>
                                      </p:cBhvr>
                                      <p:tavLst>
                                        <p:tav tm="0">
                                          <p:val>
                                            <p:strVal val="#ppt_x-0.05"/>
                                          </p:val>
                                        </p:tav>
                                        <p:tav tm="100000">
                                          <p:val>
                                            <p:strVal val="#ppt_x"/>
                                          </p:val>
                                        </p:tav>
                                      </p:tavLst>
                                    </p:anim>
                                    <p:anim calcmode="lin" valueType="num">
                                      <p:cBhvr>
                                        <p:cTn id="29" dur="200" accel="100000" fill="hold">
                                          <p:stCondLst>
                                            <p:cond delay="800"/>
                                          </p:stCondLst>
                                        </p:cTn>
                                        <p:tgtEl>
                                          <p:spTgt spid="4"/>
                                        </p:tgtEl>
                                        <p:attrNameLst>
                                          <p:attrName>ppt_y</p:attrName>
                                        </p:attrNameLst>
                                      </p:cBhvr>
                                      <p:tavLst>
                                        <p:tav tm="0">
                                          <p:val>
                                            <p:strVal val="#ppt_y+0.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nodeType="clickEffect">
                                  <p:stCondLst>
                                    <p:cond delay="0"/>
                                  </p:stCondLst>
                                  <p:childTnLst>
                                    <p:set>
                                      <p:cBhvr>
                                        <p:cTn id="33" dur="1" fill="hold">
                                          <p:stCondLst>
                                            <p:cond delay="0"/>
                                          </p:stCondLst>
                                        </p:cTn>
                                        <p:tgtEl>
                                          <p:spTgt spid="5">
                                            <p:txEl>
                                              <p:pRg st="0" end="0"/>
                                            </p:txEl>
                                          </p:spTgt>
                                        </p:tgtEl>
                                        <p:attrNameLst>
                                          <p:attrName>style.visibility</p:attrName>
                                        </p:attrNameLst>
                                      </p:cBhvr>
                                      <p:to>
                                        <p:strVal val="visible"/>
                                      </p:to>
                                    </p:set>
                                    <p:anim calcmode="lin" valueType="num">
                                      <p:cBhvr>
                                        <p:cTn id="34"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35"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36" dur="1000"/>
                                        <p:tgtEl>
                                          <p:spTgt spid="5">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0"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800" decel="100000"/>
                                        <p:tgtEl>
                                          <p:spTgt spid="6"/>
                                        </p:tgtEl>
                                      </p:cBhvr>
                                    </p:animEffect>
                                    <p:anim calcmode="lin" valueType="num">
                                      <p:cBhvr>
                                        <p:cTn id="42" dur="800" decel="100000" fill="hold"/>
                                        <p:tgtEl>
                                          <p:spTgt spid="6"/>
                                        </p:tgtEl>
                                        <p:attrNameLst>
                                          <p:attrName>style.rotation</p:attrName>
                                        </p:attrNameLst>
                                      </p:cBhvr>
                                      <p:tavLst>
                                        <p:tav tm="0">
                                          <p:val>
                                            <p:fltVal val="-90"/>
                                          </p:val>
                                        </p:tav>
                                        <p:tav tm="100000">
                                          <p:val>
                                            <p:fltVal val="0"/>
                                          </p:val>
                                        </p:tav>
                                      </p:tavLst>
                                    </p:anim>
                                    <p:anim calcmode="lin" valueType="num">
                                      <p:cBhvr>
                                        <p:cTn id="43" dur="800" decel="100000" fill="hold"/>
                                        <p:tgtEl>
                                          <p:spTgt spid="6"/>
                                        </p:tgtEl>
                                        <p:attrNameLst>
                                          <p:attrName>ppt_x</p:attrName>
                                        </p:attrNameLst>
                                      </p:cBhvr>
                                      <p:tavLst>
                                        <p:tav tm="0">
                                          <p:val>
                                            <p:strVal val="#ppt_x+0.4"/>
                                          </p:val>
                                        </p:tav>
                                        <p:tav tm="100000">
                                          <p:val>
                                            <p:strVal val="#ppt_x-0.05"/>
                                          </p:val>
                                        </p:tav>
                                      </p:tavLst>
                                    </p:anim>
                                    <p:anim calcmode="lin" valueType="num">
                                      <p:cBhvr>
                                        <p:cTn id="44" dur="800" decel="100000" fill="hold"/>
                                        <p:tgtEl>
                                          <p:spTgt spid="6"/>
                                        </p:tgtEl>
                                        <p:attrNameLst>
                                          <p:attrName>ppt_y</p:attrName>
                                        </p:attrNameLst>
                                      </p:cBhvr>
                                      <p:tavLst>
                                        <p:tav tm="0">
                                          <p:val>
                                            <p:strVal val="#ppt_y-0.4"/>
                                          </p:val>
                                        </p:tav>
                                        <p:tav tm="100000">
                                          <p:val>
                                            <p:strVal val="#ppt_y+0.1"/>
                                          </p:val>
                                        </p:tav>
                                      </p:tavLst>
                                    </p:anim>
                                    <p:anim calcmode="lin" valueType="num">
                                      <p:cBhvr>
                                        <p:cTn id="45"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46"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55" presetClass="entr" presetSubtype="0" fill="hold" nodeType="clickEffect">
                                  <p:stCondLst>
                                    <p:cond delay="0"/>
                                  </p:stCondLst>
                                  <p:childTnLst>
                                    <p:set>
                                      <p:cBhvr>
                                        <p:cTn id="50" dur="1" fill="hold">
                                          <p:stCondLst>
                                            <p:cond delay="0"/>
                                          </p:stCondLst>
                                        </p:cTn>
                                        <p:tgtEl>
                                          <p:spTgt spid="7">
                                            <p:txEl>
                                              <p:pRg st="0" end="0"/>
                                            </p:txEl>
                                          </p:spTgt>
                                        </p:tgtEl>
                                        <p:attrNameLst>
                                          <p:attrName>style.visibility</p:attrName>
                                        </p:attrNameLst>
                                      </p:cBhvr>
                                      <p:to>
                                        <p:strVal val="visible"/>
                                      </p:to>
                                    </p:set>
                                    <p:anim calcmode="lin" valueType="num">
                                      <p:cBhvr>
                                        <p:cTn id="51" dur="1000" fill="hold"/>
                                        <p:tgtEl>
                                          <p:spTgt spid="7">
                                            <p:txEl>
                                              <p:pRg st="0" end="0"/>
                                            </p:txEl>
                                          </p:spTgt>
                                        </p:tgtEl>
                                        <p:attrNameLst>
                                          <p:attrName>ppt_w</p:attrName>
                                        </p:attrNameLst>
                                      </p:cBhvr>
                                      <p:tavLst>
                                        <p:tav tm="0">
                                          <p:val>
                                            <p:strVal val="#ppt_w*0.70"/>
                                          </p:val>
                                        </p:tav>
                                        <p:tav tm="100000">
                                          <p:val>
                                            <p:strVal val="#ppt_w"/>
                                          </p:val>
                                        </p:tav>
                                      </p:tavLst>
                                    </p:anim>
                                    <p:anim calcmode="lin" valueType="num">
                                      <p:cBhvr>
                                        <p:cTn id="52" dur="1000" fill="hold"/>
                                        <p:tgtEl>
                                          <p:spTgt spid="7">
                                            <p:txEl>
                                              <p:pRg st="0" end="0"/>
                                            </p:txEl>
                                          </p:spTgt>
                                        </p:tgtEl>
                                        <p:attrNameLst>
                                          <p:attrName>ppt_h</p:attrName>
                                        </p:attrNameLst>
                                      </p:cBhvr>
                                      <p:tavLst>
                                        <p:tav tm="0">
                                          <p:val>
                                            <p:strVal val="#ppt_h"/>
                                          </p:val>
                                        </p:tav>
                                        <p:tav tm="100000">
                                          <p:val>
                                            <p:strVal val="#ppt_h"/>
                                          </p:val>
                                        </p:tav>
                                      </p:tavLst>
                                    </p:anim>
                                    <p:animEffect transition="in" filter="fade">
                                      <p:cBhvr>
                                        <p:cTn id="53" dur="1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5286380" y="714356"/>
            <a:ext cx="3071837"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pPr lvl="0"/>
            <a:r>
              <a:rPr lang="ar-EG" sz="2800" b="1" dirty="0"/>
              <a:t>5- التزامن </a:t>
            </a:r>
            <a:r>
              <a:rPr lang="en-US" sz="2800" b="1" dirty="0"/>
              <a:t>Timing</a:t>
            </a:r>
            <a:endParaRPr lang="en-US" sz="2800" dirty="0"/>
          </a:p>
        </p:txBody>
      </p:sp>
      <p:sp>
        <p:nvSpPr>
          <p:cNvPr id="3" name="مربع نص 2"/>
          <p:cNvSpPr txBox="1"/>
          <p:nvPr/>
        </p:nvSpPr>
        <p:spPr>
          <a:xfrm>
            <a:off x="179512" y="1364575"/>
            <a:ext cx="8712968" cy="1200329"/>
          </a:xfrm>
          <a:prstGeom prst="rect">
            <a:avLst/>
          </a:prstGeom>
          <a:noFill/>
        </p:spPr>
        <p:txBody>
          <a:bodyPr wrap="square" rtlCol="1">
            <a:spAutoFit/>
          </a:bodyPr>
          <a:lstStyle/>
          <a:p>
            <a:r>
              <a:rPr lang="ar-EG" sz="2400" b="1" dirty="0"/>
              <a:t>هو مناسبة توقيتات التداخل بين الوسائط المختلفة </a:t>
            </a:r>
            <a:r>
              <a:rPr lang="ar-EG" sz="2400" b="1" dirty="0" err="1"/>
              <a:t>فى</a:t>
            </a:r>
            <a:r>
              <a:rPr lang="ar-EG" sz="2400" b="1" dirty="0"/>
              <a:t> عروض البرمجيات التعليمية لتتناسب مع المحتوى وقدرات المتعلم وغيرها من الوسائط فمثلا عند التعليق على صورة معينة يجب تظهر الصورة </a:t>
            </a:r>
            <a:r>
              <a:rPr lang="ar-EG" sz="2400" b="1" dirty="0" err="1"/>
              <a:t>فى</a:t>
            </a:r>
            <a:r>
              <a:rPr lang="ar-EG" sz="2400" b="1" dirty="0"/>
              <a:t> خط </a:t>
            </a:r>
            <a:r>
              <a:rPr lang="ar-EG" sz="2400" b="1" dirty="0" err="1"/>
              <a:t>متوازى</a:t>
            </a:r>
            <a:r>
              <a:rPr lang="ar-EG" sz="2400" b="1" dirty="0"/>
              <a:t> مع التعليق .</a:t>
            </a:r>
            <a:endParaRPr lang="en-US" sz="2400" b="1" dirty="0"/>
          </a:p>
        </p:txBody>
      </p:sp>
      <p:sp>
        <p:nvSpPr>
          <p:cNvPr id="4" name="مربع نص 3"/>
          <p:cNvSpPr txBox="1"/>
          <p:nvPr/>
        </p:nvSpPr>
        <p:spPr>
          <a:xfrm>
            <a:off x="4817093" y="2708920"/>
            <a:ext cx="3643339"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pPr lvl="0"/>
            <a:r>
              <a:rPr lang="ar-EG" sz="2800" b="1" dirty="0"/>
              <a:t>6- الكونية  </a:t>
            </a:r>
            <a:r>
              <a:rPr lang="en-US" sz="2800" b="1" dirty="0" err="1"/>
              <a:t>Globablity</a:t>
            </a:r>
            <a:endParaRPr lang="en-US" sz="2800" dirty="0"/>
          </a:p>
        </p:txBody>
      </p:sp>
      <p:sp>
        <p:nvSpPr>
          <p:cNvPr id="5" name="مربع نص 4"/>
          <p:cNvSpPr txBox="1"/>
          <p:nvPr/>
        </p:nvSpPr>
        <p:spPr>
          <a:xfrm>
            <a:off x="571474" y="3500439"/>
            <a:ext cx="8072495" cy="2862322"/>
          </a:xfrm>
          <a:prstGeom prst="rect">
            <a:avLst/>
          </a:prstGeom>
          <a:noFill/>
        </p:spPr>
        <p:txBody>
          <a:bodyPr wrap="square" rtlCol="1">
            <a:spAutoFit/>
          </a:bodyPr>
          <a:lstStyle/>
          <a:p>
            <a:r>
              <a:rPr lang="ar-EG" sz="2000" b="1" dirty="0">
                <a:solidFill>
                  <a:schemeClr val="tx2"/>
                </a:solidFill>
              </a:rPr>
              <a:t>تعنى الغاء القيود الخاصه بالزمان والمكان والانفتاح على مصادر المعرفه المختلفه وتتضمن ملامح هذه الخاصيه فى :-</a:t>
            </a:r>
            <a:endParaRPr lang="en-US" sz="2000" b="1" dirty="0">
              <a:solidFill>
                <a:schemeClr val="tx2"/>
              </a:solidFill>
            </a:endParaRPr>
          </a:p>
          <a:p>
            <a:pPr lvl="0"/>
            <a:r>
              <a:rPr lang="ar-EG" sz="2000" b="1" dirty="0"/>
              <a:t>- تقديم عروض الوسائط المتعددة من خلال شبكة المعلومات الدولية الانترنت </a:t>
            </a:r>
            <a:r>
              <a:rPr lang="en-US" sz="2000" b="1" dirty="0"/>
              <a:t>Internet</a:t>
            </a:r>
            <a:r>
              <a:rPr lang="ar-EG" sz="2000" b="1" dirty="0"/>
              <a:t>.</a:t>
            </a:r>
            <a:endParaRPr lang="en-US" sz="2000" b="1" dirty="0"/>
          </a:p>
          <a:p>
            <a:pPr lvl="0"/>
            <a:r>
              <a:rPr lang="ar-EG" sz="2000" b="1" dirty="0"/>
              <a:t>- نقل عروض الوسائط المتعددة من خلال طرق المعلومات </a:t>
            </a:r>
            <a:r>
              <a:rPr lang="ar-EG" sz="2000" b="1" dirty="0" err="1"/>
              <a:t>السريعه</a:t>
            </a:r>
            <a:r>
              <a:rPr lang="ar-EG" sz="2000" b="1" dirty="0"/>
              <a:t> </a:t>
            </a:r>
            <a:r>
              <a:rPr lang="en-US" sz="2000" b="1" dirty="0"/>
              <a:t>Information Superhighways</a:t>
            </a:r>
            <a:r>
              <a:rPr lang="ar-EG" sz="2000" b="1" dirty="0"/>
              <a:t> وانظمه البث </a:t>
            </a:r>
            <a:r>
              <a:rPr lang="ar-EG" sz="2000" b="1" dirty="0" err="1"/>
              <a:t>بالاقمار</a:t>
            </a:r>
            <a:r>
              <a:rPr lang="ar-EG" sz="2000" b="1" dirty="0"/>
              <a:t> الصناعية.</a:t>
            </a:r>
            <a:endParaRPr lang="en-US" sz="2000" b="1" dirty="0"/>
          </a:p>
          <a:p>
            <a:pPr lvl="0"/>
            <a:r>
              <a:rPr lang="ar-EG" sz="2000" b="1" dirty="0"/>
              <a:t>- انتشار وتعميم شبكات الوسائط المتعددة بين المؤسسات المختلفة والمتباعدة.</a:t>
            </a:r>
            <a:endParaRPr lang="en-US" sz="2000" b="1" dirty="0"/>
          </a:p>
          <a:p>
            <a:pPr lvl="0"/>
            <a:r>
              <a:rPr lang="ar-EG" sz="2000" b="1" dirty="0"/>
              <a:t>- ظهور </a:t>
            </a:r>
            <a:r>
              <a:rPr lang="ar-EG" sz="2000" b="1" dirty="0" err="1"/>
              <a:t>انظمة</a:t>
            </a:r>
            <a:r>
              <a:rPr lang="ar-EG" sz="2000" b="1" dirty="0"/>
              <a:t> مؤتمرات الفيديو ومؤتمرات الكمبيوتر </a:t>
            </a:r>
            <a:r>
              <a:rPr lang="ar-EG" sz="2000" b="1" dirty="0" err="1"/>
              <a:t>التى</a:t>
            </a:r>
            <a:r>
              <a:rPr lang="ar-EG" sz="2000" b="1" dirty="0"/>
              <a:t> تمكن من حدوث لقاء </a:t>
            </a:r>
            <a:r>
              <a:rPr lang="ar-EG" sz="2000" b="1" dirty="0" err="1"/>
              <a:t>او</a:t>
            </a:r>
            <a:r>
              <a:rPr lang="ar-EG" sz="2000" b="1" dirty="0"/>
              <a:t> اجتماع وتحاور </a:t>
            </a:r>
            <a:r>
              <a:rPr lang="ar-EG" sz="2000" b="1" dirty="0" err="1"/>
              <a:t>مرئى</a:t>
            </a:r>
            <a:r>
              <a:rPr lang="ar-EG" sz="2000" b="1" dirty="0"/>
              <a:t> بين عدد من </a:t>
            </a:r>
            <a:r>
              <a:rPr lang="ar-EG" sz="2000" b="1" dirty="0" err="1"/>
              <a:t>الاشخاص</a:t>
            </a:r>
            <a:r>
              <a:rPr lang="ar-EG" sz="2000" b="1" dirty="0"/>
              <a:t> المختلفين </a:t>
            </a:r>
            <a:r>
              <a:rPr lang="ar-EG" sz="2000" b="1" dirty="0" err="1"/>
              <a:t>فى</a:t>
            </a:r>
            <a:r>
              <a:rPr lang="ar-EG" sz="2000" b="1" dirty="0"/>
              <a:t> عدة دول </a:t>
            </a:r>
            <a:r>
              <a:rPr lang="ar-EG" sz="2000" b="1" dirty="0" err="1"/>
              <a:t>فى</a:t>
            </a:r>
            <a:r>
              <a:rPr lang="ar-EG" sz="2000" b="1" dirty="0"/>
              <a:t> </a:t>
            </a:r>
            <a:r>
              <a:rPr lang="ar-EG" sz="2000" b="1" dirty="0" err="1"/>
              <a:t>ان</a:t>
            </a:r>
            <a:r>
              <a:rPr lang="ar-EG" sz="2000" b="1" dirty="0"/>
              <a:t> واحد.</a:t>
            </a:r>
            <a:endParaRPr lang="en-US" sz="2000" b="1" dirty="0"/>
          </a:p>
          <a:p>
            <a:pPr lvl="0"/>
            <a:r>
              <a:rPr lang="ar-EG" sz="2000" b="1" dirty="0"/>
              <a:t>- ظهور ما يسمى بالبريد </a:t>
            </a:r>
            <a:r>
              <a:rPr lang="ar-EG" sz="2000" b="1" dirty="0" err="1"/>
              <a:t>الالكترونى</a:t>
            </a:r>
            <a:r>
              <a:rPr lang="ar-EG" sz="2000" b="1" dirty="0"/>
              <a:t> متعدد الوسائط </a:t>
            </a:r>
            <a:r>
              <a:rPr lang="en-US" sz="2000" b="1" dirty="0"/>
              <a:t>Multimedia E-Mail </a:t>
            </a:r>
            <a:r>
              <a:rPr lang="ar-EG" sz="2000" b="1" dirty="0"/>
              <a:t>.</a:t>
            </a:r>
            <a:endParaRPr lang="en-US" sz="2000" b="1" dirty="0"/>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800" decel="100000"/>
                                        <p:tgtEl>
                                          <p:spTgt spid="2"/>
                                        </p:tgtEl>
                                      </p:cBhvr>
                                    </p:animEffect>
                                    <p:anim calcmode="lin" valueType="num">
                                      <p:cBhvr>
                                        <p:cTn id="8" dur="800" decel="100000" fill="hold"/>
                                        <p:tgtEl>
                                          <p:spTgt spid="2"/>
                                        </p:tgtEl>
                                        <p:attrNameLst>
                                          <p:attrName>style.rotation</p:attrName>
                                        </p:attrNameLst>
                                      </p:cBhvr>
                                      <p:tavLst>
                                        <p:tav tm="0">
                                          <p:val>
                                            <p:fltVal val="-90"/>
                                          </p:val>
                                        </p:tav>
                                        <p:tav tm="100000">
                                          <p:val>
                                            <p:fltVal val="0"/>
                                          </p:val>
                                        </p:tav>
                                      </p:tavLst>
                                    </p:anim>
                                    <p:anim calcmode="lin" valueType="num">
                                      <p:cBhvr>
                                        <p:cTn id="9" dur="800" decel="100000" fill="hold"/>
                                        <p:tgtEl>
                                          <p:spTgt spid="2"/>
                                        </p:tgtEl>
                                        <p:attrNameLst>
                                          <p:attrName>ppt_x</p:attrName>
                                        </p:attrNameLst>
                                      </p:cBhvr>
                                      <p:tavLst>
                                        <p:tav tm="0">
                                          <p:val>
                                            <p:strVal val="#ppt_x+0.4"/>
                                          </p:val>
                                        </p:tav>
                                        <p:tav tm="100000">
                                          <p:val>
                                            <p:strVal val="#ppt_x-0.05"/>
                                          </p:val>
                                        </p:tav>
                                      </p:tavLst>
                                    </p:anim>
                                    <p:anim calcmode="lin" valueType="num">
                                      <p:cBhvr>
                                        <p:cTn id="10" dur="800" decel="100000" fill="hold"/>
                                        <p:tgtEl>
                                          <p:spTgt spid="2"/>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2"/>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2"/>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1000" fill="hold"/>
                                        <p:tgtEl>
                                          <p:spTgt spid="3"/>
                                        </p:tgtEl>
                                        <p:attrNameLst>
                                          <p:attrName>ppt_w</p:attrName>
                                        </p:attrNameLst>
                                      </p:cBhvr>
                                      <p:tavLst>
                                        <p:tav tm="0">
                                          <p:val>
                                            <p:strVal val="#ppt_w*0.70"/>
                                          </p:val>
                                        </p:tav>
                                        <p:tav tm="100000">
                                          <p:val>
                                            <p:strVal val="#ppt_w"/>
                                          </p:val>
                                        </p:tav>
                                      </p:tavLst>
                                    </p:anim>
                                    <p:anim calcmode="lin" valueType="num">
                                      <p:cBhvr>
                                        <p:cTn id="18" dur="1000" fill="hold"/>
                                        <p:tgtEl>
                                          <p:spTgt spid="3"/>
                                        </p:tgtEl>
                                        <p:attrNameLst>
                                          <p:attrName>ppt_h</p:attrName>
                                        </p:attrNameLst>
                                      </p:cBhvr>
                                      <p:tavLst>
                                        <p:tav tm="0">
                                          <p:val>
                                            <p:strVal val="#ppt_h"/>
                                          </p:val>
                                        </p:tav>
                                        <p:tav tm="100000">
                                          <p:val>
                                            <p:strVal val="#ppt_h"/>
                                          </p:val>
                                        </p:tav>
                                      </p:tavLst>
                                    </p:anim>
                                    <p:animEffect transition="in" filter="fade">
                                      <p:cBhvr>
                                        <p:cTn id="19" dur="10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30"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800" decel="100000"/>
                                        <p:tgtEl>
                                          <p:spTgt spid="4"/>
                                        </p:tgtEl>
                                      </p:cBhvr>
                                    </p:animEffect>
                                    <p:anim calcmode="lin" valueType="num">
                                      <p:cBhvr>
                                        <p:cTn id="25" dur="800" decel="100000" fill="hold"/>
                                        <p:tgtEl>
                                          <p:spTgt spid="4"/>
                                        </p:tgtEl>
                                        <p:attrNameLst>
                                          <p:attrName>style.rotation</p:attrName>
                                        </p:attrNameLst>
                                      </p:cBhvr>
                                      <p:tavLst>
                                        <p:tav tm="0">
                                          <p:val>
                                            <p:fltVal val="-90"/>
                                          </p:val>
                                        </p:tav>
                                        <p:tav tm="100000">
                                          <p:val>
                                            <p:fltVal val="0"/>
                                          </p:val>
                                        </p:tav>
                                      </p:tavLst>
                                    </p:anim>
                                    <p:anim calcmode="lin" valueType="num">
                                      <p:cBhvr>
                                        <p:cTn id="26" dur="800" decel="100000" fill="hold"/>
                                        <p:tgtEl>
                                          <p:spTgt spid="4"/>
                                        </p:tgtEl>
                                        <p:attrNameLst>
                                          <p:attrName>ppt_x</p:attrName>
                                        </p:attrNameLst>
                                      </p:cBhvr>
                                      <p:tavLst>
                                        <p:tav tm="0">
                                          <p:val>
                                            <p:strVal val="#ppt_x+0.4"/>
                                          </p:val>
                                        </p:tav>
                                        <p:tav tm="100000">
                                          <p:val>
                                            <p:strVal val="#ppt_x-0.05"/>
                                          </p:val>
                                        </p:tav>
                                      </p:tavLst>
                                    </p:anim>
                                    <p:anim calcmode="lin" valueType="num">
                                      <p:cBhvr>
                                        <p:cTn id="27" dur="800" decel="100000" fill="hold"/>
                                        <p:tgtEl>
                                          <p:spTgt spid="4"/>
                                        </p:tgtEl>
                                        <p:attrNameLst>
                                          <p:attrName>ppt_y</p:attrName>
                                        </p:attrNameLst>
                                      </p:cBhvr>
                                      <p:tavLst>
                                        <p:tav tm="0">
                                          <p:val>
                                            <p:strVal val="#ppt_y-0.4"/>
                                          </p:val>
                                        </p:tav>
                                        <p:tav tm="100000">
                                          <p:val>
                                            <p:strVal val="#ppt_y+0.1"/>
                                          </p:val>
                                        </p:tav>
                                      </p:tavLst>
                                    </p:anim>
                                    <p:anim calcmode="lin" valueType="num">
                                      <p:cBhvr>
                                        <p:cTn id="28" dur="200" accel="100000" fill="hold">
                                          <p:stCondLst>
                                            <p:cond delay="800"/>
                                          </p:stCondLst>
                                        </p:cTn>
                                        <p:tgtEl>
                                          <p:spTgt spid="4"/>
                                        </p:tgtEl>
                                        <p:attrNameLst>
                                          <p:attrName>ppt_x</p:attrName>
                                        </p:attrNameLst>
                                      </p:cBhvr>
                                      <p:tavLst>
                                        <p:tav tm="0">
                                          <p:val>
                                            <p:strVal val="#ppt_x-0.05"/>
                                          </p:val>
                                        </p:tav>
                                        <p:tav tm="100000">
                                          <p:val>
                                            <p:strVal val="#ppt_x"/>
                                          </p:val>
                                        </p:tav>
                                      </p:tavLst>
                                    </p:anim>
                                    <p:anim calcmode="lin" valueType="num">
                                      <p:cBhvr>
                                        <p:cTn id="29" dur="200" accel="100000" fill="hold">
                                          <p:stCondLst>
                                            <p:cond delay="800"/>
                                          </p:stCondLst>
                                        </p:cTn>
                                        <p:tgtEl>
                                          <p:spTgt spid="4"/>
                                        </p:tgtEl>
                                        <p:attrNameLst>
                                          <p:attrName>ppt_y</p:attrName>
                                        </p:attrNameLst>
                                      </p:cBhvr>
                                      <p:tavLst>
                                        <p:tav tm="0">
                                          <p:val>
                                            <p:strVal val="#ppt_y+0.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nodeType="clickEffect">
                                  <p:stCondLst>
                                    <p:cond delay="0"/>
                                  </p:stCondLst>
                                  <p:childTnLst>
                                    <p:set>
                                      <p:cBhvr>
                                        <p:cTn id="33" dur="1" fill="hold">
                                          <p:stCondLst>
                                            <p:cond delay="0"/>
                                          </p:stCondLst>
                                        </p:cTn>
                                        <p:tgtEl>
                                          <p:spTgt spid="5">
                                            <p:txEl>
                                              <p:pRg st="0" end="0"/>
                                            </p:txEl>
                                          </p:spTgt>
                                        </p:tgtEl>
                                        <p:attrNameLst>
                                          <p:attrName>style.visibility</p:attrName>
                                        </p:attrNameLst>
                                      </p:cBhvr>
                                      <p:to>
                                        <p:strVal val="visible"/>
                                      </p:to>
                                    </p:set>
                                    <p:anim calcmode="lin" valueType="num">
                                      <p:cBhvr>
                                        <p:cTn id="34"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35"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36" dur="1000"/>
                                        <p:tgtEl>
                                          <p:spTgt spid="5">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47" presetClass="entr" presetSubtype="0" fill="hold" nodeType="clickEffect">
                                  <p:stCondLst>
                                    <p:cond delay="0"/>
                                  </p:stCondLst>
                                  <p:childTnLst>
                                    <p:set>
                                      <p:cBhvr>
                                        <p:cTn id="40" dur="1" fill="hold">
                                          <p:stCondLst>
                                            <p:cond delay="0"/>
                                          </p:stCondLst>
                                        </p:cTn>
                                        <p:tgtEl>
                                          <p:spTgt spid="5">
                                            <p:txEl>
                                              <p:pRg st="1" end="1"/>
                                            </p:txEl>
                                          </p:spTgt>
                                        </p:tgtEl>
                                        <p:attrNameLst>
                                          <p:attrName>style.visibility</p:attrName>
                                        </p:attrNameLst>
                                      </p:cBhvr>
                                      <p:to>
                                        <p:strVal val="visible"/>
                                      </p:to>
                                    </p:set>
                                    <p:animEffect transition="in" filter="fade">
                                      <p:cBhvr>
                                        <p:cTn id="41" dur="1000"/>
                                        <p:tgtEl>
                                          <p:spTgt spid="5">
                                            <p:txEl>
                                              <p:pRg st="1" end="1"/>
                                            </p:txEl>
                                          </p:spTgt>
                                        </p:tgtEl>
                                      </p:cBhvr>
                                    </p:animEffect>
                                    <p:anim calcmode="lin" valueType="num">
                                      <p:cBhvr>
                                        <p:cTn id="42"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43"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7" presetClass="entr" presetSubtype="0" fill="hold" nodeType="clickEffect">
                                  <p:stCondLst>
                                    <p:cond delay="0"/>
                                  </p:stCondLst>
                                  <p:childTnLst>
                                    <p:set>
                                      <p:cBhvr>
                                        <p:cTn id="47" dur="1" fill="hold">
                                          <p:stCondLst>
                                            <p:cond delay="0"/>
                                          </p:stCondLst>
                                        </p:cTn>
                                        <p:tgtEl>
                                          <p:spTgt spid="5">
                                            <p:txEl>
                                              <p:pRg st="2" end="2"/>
                                            </p:txEl>
                                          </p:spTgt>
                                        </p:tgtEl>
                                        <p:attrNameLst>
                                          <p:attrName>style.visibility</p:attrName>
                                        </p:attrNameLst>
                                      </p:cBhvr>
                                      <p:to>
                                        <p:strVal val="visible"/>
                                      </p:to>
                                    </p:set>
                                    <p:animEffect transition="in" filter="fade">
                                      <p:cBhvr>
                                        <p:cTn id="48" dur="1000"/>
                                        <p:tgtEl>
                                          <p:spTgt spid="5">
                                            <p:txEl>
                                              <p:pRg st="2" end="2"/>
                                            </p:txEl>
                                          </p:spTgt>
                                        </p:tgtEl>
                                      </p:cBhvr>
                                    </p:animEffect>
                                    <p:anim calcmode="lin" valueType="num">
                                      <p:cBhvr>
                                        <p:cTn id="49"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50"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7" presetClass="entr" presetSubtype="0" fill="hold" nodeType="clickEffect">
                                  <p:stCondLst>
                                    <p:cond delay="0"/>
                                  </p:stCondLst>
                                  <p:childTnLst>
                                    <p:set>
                                      <p:cBhvr>
                                        <p:cTn id="54" dur="1" fill="hold">
                                          <p:stCondLst>
                                            <p:cond delay="0"/>
                                          </p:stCondLst>
                                        </p:cTn>
                                        <p:tgtEl>
                                          <p:spTgt spid="5">
                                            <p:txEl>
                                              <p:pRg st="3" end="3"/>
                                            </p:txEl>
                                          </p:spTgt>
                                        </p:tgtEl>
                                        <p:attrNameLst>
                                          <p:attrName>style.visibility</p:attrName>
                                        </p:attrNameLst>
                                      </p:cBhvr>
                                      <p:to>
                                        <p:strVal val="visible"/>
                                      </p:to>
                                    </p:set>
                                    <p:animEffect transition="in" filter="fade">
                                      <p:cBhvr>
                                        <p:cTn id="55" dur="1000"/>
                                        <p:tgtEl>
                                          <p:spTgt spid="5">
                                            <p:txEl>
                                              <p:pRg st="3" end="3"/>
                                            </p:txEl>
                                          </p:spTgt>
                                        </p:tgtEl>
                                      </p:cBhvr>
                                    </p:animEffect>
                                    <p:anim calcmode="lin" valueType="num">
                                      <p:cBhvr>
                                        <p:cTn id="56"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57"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7" presetClass="entr" presetSubtype="0" fill="hold" nodeType="clickEffect">
                                  <p:stCondLst>
                                    <p:cond delay="0"/>
                                  </p:stCondLst>
                                  <p:childTnLst>
                                    <p:set>
                                      <p:cBhvr>
                                        <p:cTn id="61" dur="1" fill="hold">
                                          <p:stCondLst>
                                            <p:cond delay="0"/>
                                          </p:stCondLst>
                                        </p:cTn>
                                        <p:tgtEl>
                                          <p:spTgt spid="5">
                                            <p:txEl>
                                              <p:pRg st="4" end="4"/>
                                            </p:txEl>
                                          </p:spTgt>
                                        </p:tgtEl>
                                        <p:attrNameLst>
                                          <p:attrName>style.visibility</p:attrName>
                                        </p:attrNameLst>
                                      </p:cBhvr>
                                      <p:to>
                                        <p:strVal val="visible"/>
                                      </p:to>
                                    </p:set>
                                    <p:animEffect transition="in" filter="fade">
                                      <p:cBhvr>
                                        <p:cTn id="62" dur="1000"/>
                                        <p:tgtEl>
                                          <p:spTgt spid="5">
                                            <p:txEl>
                                              <p:pRg st="4" end="4"/>
                                            </p:txEl>
                                          </p:spTgt>
                                        </p:tgtEl>
                                      </p:cBhvr>
                                    </p:animEffect>
                                    <p:anim calcmode="lin" valueType="num">
                                      <p:cBhvr>
                                        <p:cTn id="6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6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7" presetClass="entr" presetSubtype="0" fill="hold" nodeType="clickEffect">
                                  <p:stCondLst>
                                    <p:cond delay="0"/>
                                  </p:stCondLst>
                                  <p:childTnLst>
                                    <p:set>
                                      <p:cBhvr>
                                        <p:cTn id="68" dur="1" fill="hold">
                                          <p:stCondLst>
                                            <p:cond delay="0"/>
                                          </p:stCondLst>
                                        </p:cTn>
                                        <p:tgtEl>
                                          <p:spTgt spid="5">
                                            <p:txEl>
                                              <p:pRg st="5" end="5"/>
                                            </p:txEl>
                                          </p:spTgt>
                                        </p:tgtEl>
                                        <p:attrNameLst>
                                          <p:attrName>style.visibility</p:attrName>
                                        </p:attrNameLst>
                                      </p:cBhvr>
                                      <p:to>
                                        <p:strVal val="visible"/>
                                      </p:to>
                                    </p:set>
                                    <p:animEffect transition="in" filter="fade">
                                      <p:cBhvr>
                                        <p:cTn id="69" dur="1000"/>
                                        <p:tgtEl>
                                          <p:spTgt spid="5">
                                            <p:txEl>
                                              <p:pRg st="5" end="5"/>
                                            </p:txEl>
                                          </p:spTgt>
                                        </p:tgtEl>
                                      </p:cBhvr>
                                    </p:animEffect>
                                    <p:anim calcmode="lin" valueType="num">
                                      <p:cBhvr>
                                        <p:cTn id="70"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71"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4786314" y="241484"/>
            <a:ext cx="3571901"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pPr lvl="0"/>
            <a:r>
              <a:rPr lang="ar-EG" sz="2800" b="1" dirty="0"/>
              <a:t>7- المرونة  </a:t>
            </a:r>
            <a:r>
              <a:rPr lang="en-US" sz="2800" b="1" dirty="0"/>
              <a:t>Flexibility</a:t>
            </a:r>
            <a:endParaRPr lang="en-US" sz="2800" dirty="0"/>
          </a:p>
        </p:txBody>
      </p:sp>
      <p:sp>
        <p:nvSpPr>
          <p:cNvPr id="3" name="مربع نص 2"/>
          <p:cNvSpPr txBox="1"/>
          <p:nvPr/>
        </p:nvSpPr>
        <p:spPr>
          <a:xfrm>
            <a:off x="0" y="836712"/>
            <a:ext cx="8643969" cy="1200329"/>
          </a:xfrm>
          <a:prstGeom prst="rect">
            <a:avLst/>
          </a:prstGeom>
          <a:noFill/>
        </p:spPr>
        <p:txBody>
          <a:bodyPr wrap="square" rtlCol="1">
            <a:spAutoFit/>
          </a:bodyPr>
          <a:lstStyle/>
          <a:p>
            <a:r>
              <a:rPr lang="ar-EG" sz="2400" dirty="0"/>
              <a:t>تتعدد </a:t>
            </a:r>
            <a:r>
              <a:rPr lang="ar-EG" sz="2400" dirty="0" err="1"/>
              <a:t>استخدامتها</a:t>
            </a:r>
            <a:r>
              <a:rPr lang="ar-EG" sz="2400" dirty="0"/>
              <a:t> فهناك مرونة </a:t>
            </a:r>
            <a:r>
              <a:rPr lang="ar-EG" sz="2400" dirty="0" err="1"/>
              <a:t>فى</a:t>
            </a:r>
            <a:r>
              <a:rPr lang="ar-EG" sz="2400" dirty="0"/>
              <a:t> مرحلة </a:t>
            </a:r>
            <a:r>
              <a:rPr lang="ar-EG" sz="2400" dirty="0" err="1"/>
              <a:t>الانتاج</a:t>
            </a:r>
            <a:r>
              <a:rPr lang="ar-EG" sz="2400" dirty="0"/>
              <a:t> وفيها تستطيع </a:t>
            </a:r>
            <a:r>
              <a:rPr lang="ar-EG" sz="2400" dirty="0" err="1"/>
              <a:t>تغييرصورة</a:t>
            </a:r>
            <a:r>
              <a:rPr lang="ar-EG" sz="2400" dirty="0"/>
              <a:t> مكان صورة </a:t>
            </a:r>
            <a:r>
              <a:rPr lang="ar-EG" sz="2400" dirty="0" err="1"/>
              <a:t>او</a:t>
            </a:r>
            <a:r>
              <a:rPr lang="ar-EG" sz="2400" dirty="0"/>
              <a:t> نص مكان نص </a:t>
            </a:r>
            <a:r>
              <a:rPr lang="ar-EG" sz="2400" dirty="0" err="1"/>
              <a:t>او</a:t>
            </a:r>
            <a:r>
              <a:rPr lang="ar-EG" sz="2400" dirty="0"/>
              <a:t> تبديل لون </a:t>
            </a:r>
            <a:r>
              <a:rPr lang="ar-EG" sz="2400" dirty="0" err="1"/>
              <a:t>باخر</a:t>
            </a:r>
            <a:r>
              <a:rPr lang="ar-EG" sz="2400" dirty="0"/>
              <a:t> وخلفية </a:t>
            </a:r>
            <a:r>
              <a:rPr lang="ar-EG" sz="2400" dirty="0" err="1"/>
              <a:t>باخرى</a:t>
            </a:r>
            <a:r>
              <a:rPr lang="ar-EG" sz="2400" dirty="0"/>
              <a:t> وهناك مرونة يستشعرها المستخدم </a:t>
            </a:r>
            <a:r>
              <a:rPr lang="ar-EG" sz="2400" dirty="0" err="1"/>
              <a:t>فى</a:t>
            </a:r>
            <a:r>
              <a:rPr lang="ar-EG" sz="2400" dirty="0"/>
              <a:t> مرحلة العرض فيستطيع </a:t>
            </a:r>
            <a:r>
              <a:rPr lang="ar-EG" sz="2400" dirty="0" err="1"/>
              <a:t>ان</a:t>
            </a:r>
            <a:r>
              <a:rPr lang="ar-EG" sz="2400" dirty="0"/>
              <a:t> يكبر </a:t>
            </a:r>
            <a:r>
              <a:rPr lang="ar-EG" sz="2400" dirty="0" err="1"/>
              <a:t>او</a:t>
            </a:r>
            <a:r>
              <a:rPr lang="ar-EG" sz="2400" dirty="0"/>
              <a:t> يصغر الصورة </a:t>
            </a:r>
            <a:r>
              <a:rPr lang="ar-EG" sz="2400" dirty="0" err="1"/>
              <a:t>او</a:t>
            </a:r>
            <a:r>
              <a:rPr lang="ar-EG" sz="2400" dirty="0"/>
              <a:t> النص .</a:t>
            </a:r>
            <a:endParaRPr lang="en-US" sz="2400" dirty="0"/>
          </a:p>
        </p:txBody>
      </p:sp>
      <p:sp>
        <p:nvSpPr>
          <p:cNvPr id="4" name="مربع نص 3"/>
          <p:cNvSpPr txBox="1"/>
          <p:nvPr/>
        </p:nvSpPr>
        <p:spPr>
          <a:xfrm>
            <a:off x="4464842" y="2119014"/>
            <a:ext cx="3929091"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1">
            <a:spAutoFit/>
          </a:bodyPr>
          <a:lstStyle/>
          <a:p>
            <a:pPr lvl="0"/>
            <a:r>
              <a:rPr lang="ar-EG" sz="2800" b="1" dirty="0"/>
              <a:t>8- الرقمية  </a:t>
            </a:r>
            <a:r>
              <a:rPr lang="en-US" sz="2800" b="1" dirty="0"/>
              <a:t>Digitization</a:t>
            </a:r>
            <a:endParaRPr lang="en-US" sz="2800" dirty="0"/>
          </a:p>
        </p:txBody>
      </p:sp>
      <p:sp>
        <p:nvSpPr>
          <p:cNvPr id="5" name="مربع نص 4"/>
          <p:cNvSpPr txBox="1"/>
          <p:nvPr/>
        </p:nvSpPr>
        <p:spPr>
          <a:xfrm>
            <a:off x="251521" y="2811700"/>
            <a:ext cx="8640960" cy="3785652"/>
          </a:xfrm>
          <a:prstGeom prst="rect">
            <a:avLst/>
          </a:prstGeom>
          <a:noFill/>
        </p:spPr>
        <p:txBody>
          <a:bodyPr wrap="square" rtlCol="1">
            <a:spAutoFit/>
          </a:bodyPr>
          <a:lstStyle/>
          <a:p>
            <a:r>
              <a:rPr lang="ar-EG" sz="2000" b="1" dirty="0"/>
              <a:t>فى عروض الوسائط المتعددة يتم اخذ الصوت او الفيديو من مصدر خارجى مثل مسجل الصوت او الميكرفون او كاميرا الفيديو او مشغل شرائط الفيديو وادخاله الى الحاسب ويتم ادخال الصوت او لقطات الفيديو الى بطاقة الرقمنة (الكارت الخاص بالصوت او الصورة) فى الحاسب حيث تقوم بعض البطاقات بوظيفة الرقمنة للفيديو والصوت معا وباستعمال عملية تسمى اخذ </a:t>
            </a:r>
            <a:r>
              <a:rPr lang="en-US" sz="2000" b="1" dirty="0"/>
              <a:t>Sampling</a:t>
            </a:r>
            <a:r>
              <a:rPr lang="ar-EG" sz="2000" b="1" dirty="0"/>
              <a:t> يقوم محول الاشارات التناظرية فى البطاقة بمعالجة اشارات الصوت والفيديو وتحويلها الى سيل متدفق من البيانات الرقمية واخذ العينات هى العملية التى تغير اشارات الفيديو والصوت الى نظام من البيانات الرقمية التى تحتوى على ارقام (010101001) والتى تتواجد فى اجهزة الحاسبات المتطورة وبعد اجراء الرقمنة تتم عملية الضغط لهذه البيانات الرقمنة باستخدام اساليب الضغط المناسبة مثل اسلوب ضغط بيانات الصور </a:t>
            </a:r>
            <a:r>
              <a:rPr lang="en-US" sz="2000" b="1" dirty="0"/>
              <a:t>(MPEG – GPEG)</a:t>
            </a:r>
            <a:r>
              <a:rPr lang="ar-EG" sz="2000" b="1" dirty="0"/>
              <a:t> مما يقلل حجم الملف حوالى 200 مرة عن الحجم الاصلى اما الصوت فلا يتم ضغطة وبذلك يمكن تخزين لقطات الفيديو او الصوت او الصور او الرسومات المتحركة على وسائط التخزين فى شكل بيانات رقمية تتصف بالجودة العالية عند عرضها من خلال الحاسب.</a:t>
            </a:r>
            <a:endParaRPr lang="en-US" sz="2000" b="1" dirty="0"/>
          </a:p>
          <a:p>
            <a:endParaRPr lang="ar-EG" sz="2000" b="1" dirty="0"/>
          </a:p>
        </p:txBody>
      </p:sp>
    </p:spTree>
  </p:cSld>
  <p:clrMapOvr>
    <a:masterClrMapping/>
  </p:clrMapOvr>
  <p:transition>
    <p:blinds/>
    <p:sndAc>
      <p:stSnd>
        <p:snd r:embed="rId2" name="HARP.WAV"/>
      </p:stSnd>
    </p:sndAc>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2339752" y="332656"/>
            <a:ext cx="4432574" cy="584775"/>
          </a:xfrm>
          <a:prstGeom prst="rect">
            <a:avLst/>
          </a:prstGeom>
        </p:spPr>
        <p:style>
          <a:lnRef idx="3">
            <a:schemeClr val="lt1"/>
          </a:lnRef>
          <a:fillRef idx="1">
            <a:schemeClr val="accent2"/>
          </a:fillRef>
          <a:effectRef idx="1">
            <a:schemeClr val="accent2"/>
          </a:effectRef>
          <a:fontRef idx="minor">
            <a:schemeClr val="lt1"/>
          </a:fontRef>
        </p:style>
        <p:txBody>
          <a:bodyPr wrap="square" rtlCol="1">
            <a:spAutoFit/>
          </a:bodyPr>
          <a:lstStyle/>
          <a:p>
            <a:pPr algn="ctr"/>
            <a:r>
              <a:rPr lang="ar-EG" sz="3200" b="1" dirty="0"/>
              <a:t>أنماط برامج الوسائط المتعددة</a:t>
            </a:r>
            <a:endParaRPr lang="en-US" sz="3200" dirty="0"/>
          </a:p>
        </p:txBody>
      </p:sp>
      <p:sp>
        <p:nvSpPr>
          <p:cNvPr id="3" name="مربع نص 2"/>
          <p:cNvSpPr txBox="1"/>
          <p:nvPr/>
        </p:nvSpPr>
        <p:spPr>
          <a:xfrm>
            <a:off x="-36512" y="1556792"/>
            <a:ext cx="9036496" cy="5078313"/>
          </a:xfrm>
          <a:prstGeom prst="rect">
            <a:avLst/>
          </a:prstGeom>
          <a:noFill/>
        </p:spPr>
        <p:txBody>
          <a:bodyPr wrap="square" rtlCol="1">
            <a:spAutoFit/>
          </a:bodyPr>
          <a:lstStyle/>
          <a:p>
            <a:pPr lvl="0"/>
            <a:r>
              <a:rPr lang="ar-EG" sz="2800" b="1" dirty="0">
                <a:solidFill>
                  <a:schemeClr val="tx2"/>
                </a:solidFill>
              </a:rPr>
              <a:t>1- الممارسة والتدريب </a:t>
            </a:r>
            <a:r>
              <a:rPr lang="en-US" sz="2800" b="1" dirty="0">
                <a:solidFill>
                  <a:schemeClr val="tx2"/>
                </a:solidFill>
              </a:rPr>
              <a:t>Drill and Practice</a:t>
            </a:r>
            <a:endParaRPr lang="en-US" sz="2800" dirty="0">
              <a:solidFill>
                <a:schemeClr val="tx2"/>
              </a:solidFill>
            </a:endParaRPr>
          </a:p>
          <a:p>
            <a:r>
              <a:rPr lang="ar-EG" sz="2400" dirty="0"/>
              <a:t>يقوم الحاسب بطرح سؤالا معينا ويقوم ايضا بتقديم الاجابة التى ادلى بها المتعلم على نفس السؤال وبذلك يتيح للمتعلم التحصيل بدرجة عالية ولا ينتقل الى الموضوع التالى الا بعد ان يتقن المتعلم الموضوع الاول بالاضافة الى توفير تغذية راجعة فورية.</a:t>
            </a:r>
            <a:endParaRPr lang="en-US" sz="2000" dirty="0"/>
          </a:p>
          <a:p>
            <a:pPr lvl="0"/>
            <a:r>
              <a:rPr lang="ar-EG" sz="2800" b="1" dirty="0">
                <a:solidFill>
                  <a:schemeClr val="tx2"/>
                </a:solidFill>
              </a:rPr>
              <a:t>2- المحاكاة </a:t>
            </a:r>
            <a:r>
              <a:rPr lang="ar-EG" sz="2800" b="1" dirty="0" err="1">
                <a:solidFill>
                  <a:schemeClr val="tx2"/>
                </a:solidFill>
              </a:rPr>
              <a:t>او</a:t>
            </a:r>
            <a:r>
              <a:rPr lang="ar-EG" sz="2800" b="1" dirty="0">
                <a:solidFill>
                  <a:schemeClr val="tx2"/>
                </a:solidFill>
              </a:rPr>
              <a:t> التقليد </a:t>
            </a:r>
            <a:r>
              <a:rPr lang="en-US" sz="2800" b="1" dirty="0">
                <a:solidFill>
                  <a:schemeClr val="tx2"/>
                </a:solidFill>
              </a:rPr>
              <a:t>Simulation</a:t>
            </a:r>
            <a:endParaRPr lang="en-US" sz="2800" dirty="0">
              <a:solidFill>
                <a:schemeClr val="tx2"/>
              </a:solidFill>
            </a:endParaRPr>
          </a:p>
          <a:p>
            <a:r>
              <a:rPr lang="ar-EG" sz="2400" dirty="0"/>
              <a:t>يتم تقديم انشطة ونماذج حقيقية مماثلة للواقع قدر الامكان فهو تمثيل لموقف او ظاهره تحدث فى الواقع وتتيح الفرصه للمتعلم ان يتدرب ويكتسب مهارات دون مخاطرة اوتكاليف عالية.</a:t>
            </a:r>
            <a:endParaRPr lang="en-US" sz="2000" dirty="0"/>
          </a:p>
          <a:p>
            <a:pPr lvl="0"/>
            <a:r>
              <a:rPr lang="ar-EG" sz="2800" b="1" dirty="0">
                <a:solidFill>
                  <a:schemeClr val="tx2"/>
                </a:solidFill>
              </a:rPr>
              <a:t>3- </a:t>
            </a:r>
            <a:r>
              <a:rPr lang="ar-EG" sz="2800" b="1" dirty="0" err="1">
                <a:solidFill>
                  <a:schemeClr val="tx2"/>
                </a:solidFill>
              </a:rPr>
              <a:t>الريادة</a:t>
            </a:r>
            <a:r>
              <a:rPr lang="ar-EG" sz="2800" b="1" dirty="0">
                <a:solidFill>
                  <a:schemeClr val="tx2"/>
                </a:solidFill>
              </a:rPr>
              <a:t> </a:t>
            </a:r>
            <a:r>
              <a:rPr lang="en-US" sz="2800" b="1" dirty="0">
                <a:solidFill>
                  <a:schemeClr val="tx2"/>
                </a:solidFill>
              </a:rPr>
              <a:t>Tutorial</a:t>
            </a:r>
            <a:endParaRPr lang="en-US" sz="2800" dirty="0">
              <a:solidFill>
                <a:schemeClr val="tx2"/>
              </a:solidFill>
            </a:endParaRPr>
          </a:p>
          <a:p>
            <a:r>
              <a:rPr lang="ar-EG" sz="2400" dirty="0"/>
              <a:t>يهتم بعرض المادة العلمية الجديدة كما يقوم بدور المدرس </a:t>
            </a:r>
            <a:r>
              <a:rPr lang="ar-EG" sz="2400" dirty="0" err="1"/>
              <a:t>الخصوصى</a:t>
            </a:r>
            <a:r>
              <a:rPr lang="ar-EG" sz="2400" dirty="0"/>
              <a:t> </a:t>
            </a:r>
            <a:r>
              <a:rPr lang="ar-EG" sz="2400" dirty="0" err="1"/>
              <a:t>فى</a:t>
            </a:r>
            <a:r>
              <a:rPr lang="ar-EG" sz="2400" dirty="0"/>
              <a:t> تدريس المفاهيم والمصطلحات ويقدم البرنامج شرحا وافيا للموضوعات </a:t>
            </a:r>
            <a:r>
              <a:rPr lang="ar-EG" sz="2400" dirty="0" err="1"/>
              <a:t>التى</a:t>
            </a:r>
            <a:r>
              <a:rPr lang="ar-EG" sz="2400" dirty="0"/>
              <a:t> يشتمل عليها </a:t>
            </a:r>
            <a:r>
              <a:rPr lang="ar-EG" sz="2400" dirty="0" err="1"/>
              <a:t>والتى</a:t>
            </a:r>
            <a:r>
              <a:rPr lang="ar-EG" sz="2400" dirty="0"/>
              <a:t> ترتبط </a:t>
            </a:r>
            <a:r>
              <a:rPr lang="ar-EG" sz="2400" dirty="0" err="1"/>
              <a:t>بالاهداف</a:t>
            </a:r>
            <a:r>
              <a:rPr lang="ar-EG" sz="2400" dirty="0"/>
              <a:t> التعليمية </a:t>
            </a:r>
            <a:r>
              <a:rPr lang="ar-EG" sz="2400" dirty="0" err="1"/>
              <a:t>التى</a:t>
            </a:r>
            <a:r>
              <a:rPr lang="ar-EG" sz="2400" dirty="0"/>
              <a:t> يحاول تحقيقها </a:t>
            </a:r>
            <a:r>
              <a:rPr lang="ar-EG" sz="2400" dirty="0" err="1"/>
              <a:t>ويشبة</a:t>
            </a:r>
            <a:r>
              <a:rPr lang="ar-EG" sz="2400" dirty="0"/>
              <a:t> هذا </a:t>
            </a:r>
            <a:r>
              <a:rPr lang="ar-EG" sz="2400" dirty="0" err="1"/>
              <a:t>الاسلوب</a:t>
            </a:r>
            <a:r>
              <a:rPr lang="ar-EG" sz="2400" dirty="0"/>
              <a:t> </a:t>
            </a:r>
            <a:r>
              <a:rPr lang="ar-EG" sz="2400" dirty="0" err="1"/>
              <a:t>الى</a:t>
            </a:r>
            <a:r>
              <a:rPr lang="ar-EG" sz="2400" dirty="0"/>
              <a:t> حد ما </a:t>
            </a:r>
            <a:r>
              <a:rPr lang="ar-EG" sz="2400" dirty="0" err="1"/>
              <a:t>اسلوب</a:t>
            </a:r>
            <a:r>
              <a:rPr lang="ar-EG" sz="2400" dirty="0"/>
              <a:t> المدرس داخل الفصل وترجع </a:t>
            </a:r>
            <a:r>
              <a:rPr lang="ar-EG" sz="2400" dirty="0" err="1"/>
              <a:t>تسميتة</a:t>
            </a:r>
            <a:r>
              <a:rPr lang="ar-EG" sz="2400" dirty="0"/>
              <a:t> بالمدرس </a:t>
            </a:r>
            <a:r>
              <a:rPr lang="ar-EG" sz="2400" dirty="0" err="1"/>
              <a:t>الخصوصى</a:t>
            </a:r>
            <a:r>
              <a:rPr lang="ar-EG" sz="2400" dirty="0"/>
              <a:t> </a:t>
            </a:r>
            <a:r>
              <a:rPr lang="ar-EG" sz="2400" dirty="0" err="1"/>
              <a:t>الى</a:t>
            </a:r>
            <a:r>
              <a:rPr lang="ar-EG" sz="2400" dirty="0"/>
              <a:t> </a:t>
            </a:r>
            <a:r>
              <a:rPr lang="ar-EG" sz="2400" dirty="0" err="1"/>
              <a:t>اعتمادة</a:t>
            </a:r>
            <a:r>
              <a:rPr lang="ar-EG" sz="2400" dirty="0"/>
              <a:t> على التعليم </a:t>
            </a:r>
            <a:r>
              <a:rPr lang="ar-EG" sz="2400" dirty="0" err="1"/>
              <a:t>الفردى</a:t>
            </a:r>
            <a:r>
              <a:rPr lang="ar-EG" sz="2400" dirty="0"/>
              <a:t> حيث يشعر المتعلم </a:t>
            </a:r>
            <a:r>
              <a:rPr lang="ar-EG" sz="2400" dirty="0" err="1"/>
              <a:t>ان</a:t>
            </a:r>
            <a:r>
              <a:rPr lang="ar-EG" sz="2400" dirty="0"/>
              <a:t> الشرح موجه له بصفة خاصة.</a:t>
            </a:r>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style.rotation</p:attrName>
                                        </p:attrNameLst>
                                      </p:cBhvr>
                                      <p:tavLst>
                                        <p:tav tm="0">
                                          <p:val>
                                            <p:fltVal val="720"/>
                                          </p:val>
                                        </p:tav>
                                        <p:tav tm="100000">
                                          <p:val>
                                            <p:fltVal val="0"/>
                                          </p:val>
                                        </p:tav>
                                      </p:tavLst>
                                    </p:anim>
                                    <p:anim calcmode="lin" valueType="num">
                                      <p:cBhvr>
                                        <p:cTn id="9" dur="2000" fill="hold"/>
                                        <p:tgtEl>
                                          <p:spTgt spid="2"/>
                                        </p:tgtEl>
                                        <p:attrNameLst>
                                          <p:attrName>ppt_h</p:attrName>
                                        </p:attrNameLst>
                                      </p:cBhvr>
                                      <p:tavLst>
                                        <p:tav tm="0">
                                          <p:val>
                                            <p:fltVal val="0"/>
                                          </p:val>
                                        </p:tav>
                                        <p:tav tm="100000">
                                          <p:val>
                                            <p:strVal val="#ppt_h"/>
                                          </p:val>
                                        </p:tav>
                                      </p:tavLst>
                                    </p:anim>
                                    <p:anim calcmode="lin" valueType="num">
                                      <p:cBhvr>
                                        <p:cTn id="10" dur="2000" fill="hold"/>
                                        <p:tgtEl>
                                          <p:spTgt spid="2"/>
                                        </p:tgtEl>
                                        <p:attrNameLst>
                                          <p:attrName>ppt_w</p:attrName>
                                        </p:attrNameLst>
                                      </p:cBhvr>
                                      <p:tavLst>
                                        <p:tav tm="0">
                                          <p:val>
                                            <p:fltVal val="0"/>
                                          </p:val>
                                        </p:tav>
                                        <p:tav tm="100000">
                                          <p:val>
                                            <p:strVal val="#ppt_w"/>
                                          </p:val>
                                        </p:tav>
                                      </p:tavLst>
                                    </p:anim>
                                  </p:childTnLst>
                                </p:cTn>
                              </p:par>
                            </p:childTnLst>
                          </p:cTn>
                        </p:par>
                        <p:par>
                          <p:cTn id="11" fill="hold">
                            <p:stCondLst>
                              <p:cond delay="2000"/>
                            </p:stCondLst>
                            <p:childTnLst>
                              <p:par>
                                <p:cTn id="12" presetID="8" presetClass="emph" presetSubtype="0" fill="hold" grpId="1" nodeType="afterEffect">
                                  <p:stCondLst>
                                    <p:cond delay="0"/>
                                  </p:stCondLst>
                                  <p:childTnLst>
                                    <p:animRot by="21600000">
                                      <p:cBhvr>
                                        <p:cTn id="13" dur="2000" fill="hold"/>
                                        <p:tgtEl>
                                          <p:spTgt spid="2"/>
                                        </p:tgtEl>
                                        <p:attrNameLst>
                                          <p:attrName>r</p:attrName>
                                        </p:attrNameLst>
                                      </p:cBhvr>
                                    </p:animRot>
                                  </p:childTnLst>
                                </p:cTn>
                              </p:par>
                            </p:childTnLst>
                          </p:cTn>
                        </p:par>
                        <p:par>
                          <p:cTn id="14" fill="hold">
                            <p:stCondLst>
                              <p:cond delay="4000"/>
                            </p:stCondLst>
                            <p:childTnLst>
                              <p:par>
                                <p:cTn id="15" presetID="10" presetClass="path" presetSubtype="0" accel="50000" decel="50000" fill="hold" grpId="2" nodeType="afterEffect">
                                  <p:stCondLst>
                                    <p:cond delay="0"/>
                                  </p:stCondLst>
                                  <p:childTnLst>
                                    <p:animMotion origin="layout" path="M 0 0  L 0.073 -0.09733  L 0.177 -0.09733  L 0.25 0  L 0.25 0.13867  L 0.177 0.236  L 0.073 0.236  L 0 0.13867  L 0 0  Z" pathEditMode="relative" ptsTypes="">
                                      <p:cBhvr>
                                        <p:cTn id="16" dur="2000" fill="hold"/>
                                        <p:tgtEl>
                                          <p:spTgt spid="2"/>
                                        </p:tgtEl>
                                        <p:attrNameLst>
                                          <p:attrName>ppt_x</p:attrName>
                                          <p:attrName>ppt_y</p:attrName>
                                        </p:attrNameLst>
                                      </p:cBhvr>
                                    </p:animMotion>
                                  </p:childTnLst>
                                </p:cTn>
                              </p:par>
                            </p:childTnLst>
                          </p:cTn>
                        </p:par>
                      </p:childTnLst>
                    </p:cTn>
                  </p:par>
                  <p:par>
                    <p:cTn id="17" fill="hold">
                      <p:stCondLst>
                        <p:cond delay="indefinite"/>
                      </p:stCondLst>
                      <p:childTnLst>
                        <p:par>
                          <p:cTn id="18" fill="hold">
                            <p:stCondLst>
                              <p:cond delay="0"/>
                            </p:stCondLst>
                            <p:childTnLst>
                              <p:par>
                                <p:cTn id="19" presetID="48" presetClass="entr" presetSubtype="0" accel="50000" fill="hold"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 calcmode="lin" valueType="num">
                                      <p:cBhvr>
                                        <p:cTn id="21" dur="1000" fill="hold"/>
                                        <p:tgtEl>
                                          <p:spTgt spid="3">
                                            <p:txEl>
                                              <p:pRg st="0" end="0"/>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22" dur="1000" fill="hold"/>
                                        <p:tgtEl>
                                          <p:spTgt spid="3">
                                            <p:txEl>
                                              <p:pRg st="0" end="0"/>
                                            </p:txEl>
                                          </p:spTgt>
                                        </p:tgtEl>
                                        <p:attrNameLst>
                                          <p:attrName>ppt_x</p:attrName>
                                        </p:attrNameLst>
                                      </p:cBhvr>
                                      <p:tavLst>
                                        <p:tav tm="0">
                                          <p:val>
                                            <p:fltVal val="-1"/>
                                          </p:val>
                                        </p:tav>
                                        <p:tav tm="50000">
                                          <p:val>
                                            <p:fltVal val="0.95"/>
                                          </p:val>
                                        </p:tav>
                                        <p:tav tm="100000">
                                          <p:val>
                                            <p:strVal val="#ppt_x"/>
                                          </p:val>
                                        </p:tav>
                                      </p:tavLst>
                                    </p:anim>
                                    <p:anim calcmode="lin" valueType="num">
                                      <p:cBhvr>
                                        <p:cTn id="23" dur="1000" fill="hold"/>
                                        <p:tgtEl>
                                          <p:spTgt spid="3">
                                            <p:txEl>
                                              <p:pRg st="0" end="0"/>
                                            </p:txEl>
                                          </p:spTgt>
                                        </p:tgtEl>
                                        <p:attrNameLst>
                                          <p:attrName>ppt_y</p:attrName>
                                        </p:attrNameLst>
                                      </p:cBhvr>
                                      <p:tavLst>
                                        <p:tav tm="0">
                                          <p:val>
                                            <p:strVal val="#ppt_y"/>
                                          </p:val>
                                        </p:tav>
                                        <p:tav tm="100000">
                                          <p:val>
                                            <p:strVal val="#ppt_y"/>
                                          </p:val>
                                        </p:tav>
                                      </p:tavLst>
                                    </p:anim>
                                    <p:animEffect transition="in" filter="fade">
                                      <p:cBhvr>
                                        <p:cTn id="24" dur="1000"/>
                                        <p:tgtEl>
                                          <p:spTgt spid="3">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animEffect transition="in" filter="circle(in)">
                                      <p:cBhvr>
                                        <p:cTn id="29" dur="2000"/>
                                        <p:tgtEl>
                                          <p:spTgt spid="3">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8" presetClass="entr" presetSubtype="0" accel="50000" fill="hold" nodeType="clickEffect">
                                  <p:stCondLst>
                                    <p:cond delay="0"/>
                                  </p:stCondLst>
                                  <p:childTnLst>
                                    <p:set>
                                      <p:cBhvr>
                                        <p:cTn id="33" dur="1" fill="hold">
                                          <p:stCondLst>
                                            <p:cond delay="0"/>
                                          </p:stCondLst>
                                        </p:cTn>
                                        <p:tgtEl>
                                          <p:spTgt spid="3">
                                            <p:txEl>
                                              <p:pRg st="2" end="2"/>
                                            </p:txEl>
                                          </p:spTgt>
                                        </p:tgtEl>
                                        <p:attrNameLst>
                                          <p:attrName>style.visibility</p:attrName>
                                        </p:attrNameLst>
                                      </p:cBhvr>
                                      <p:to>
                                        <p:strVal val="visible"/>
                                      </p:to>
                                    </p:set>
                                    <p:anim calcmode="lin" valueType="num">
                                      <p:cBhvr>
                                        <p:cTn id="34" dur="1000" fill="hold"/>
                                        <p:tgtEl>
                                          <p:spTgt spid="3">
                                            <p:txEl>
                                              <p:pRg st="2" end="2"/>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35" dur="1000" fill="hold"/>
                                        <p:tgtEl>
                                          <p:spTgt spid="3">
                                            <p:txEl>
                                              <p:pRg st="2" end="2"/>
                                            </p:txEl>
                                          </p:spTgt>
                                        </p:tgtEl>
                                        <p:attrNameLst>
                                          <p:attrName>ppt_x</p:attrName>
                                        </p:attrNameLst>
                                      </p:cBhvr>
                                      <p:tavLst>
                                        <p:tav tm="0">
                                          <p:val>
                                            <p:fltVal val="-1"/>
                                          </p:val>
                                        </p:tav>
                                        <p:tav tm="50000">
                                          <p:val>
                                            <p:fltVal val="0.95"/>
                                          </p:val>
                                        </p:tav>
                                        <p:tav tm="100000">
                                          <p:val>
                                            <p:strVal val="#ppt_x"/>
                                          </p:val>
                                        </p:tav>
                                      </p:tavLst>
                                    </p:anim>
                                    <p:anim calcmode="lin" valueType="num">
                                      <p:cBhvr>
                                        <p:cTn id="36" dur="1000" fill="hold"/>
                                        <p:tgtEl>
                                          <p:spTgt spid="3">
                                            <p:txEl>
                                              <p:pRg st="2" end="2"/>
                                            </p:txEl>
                                          </p:spTgt>
                                        </p:tgtEl>
                                        <p:attrNameLst>
                                          <p:attrName>ppt_y</p:attrName>
                                        </p:attrNameLst>
                                      </p:cBhvr>
                                      <p:tavLst>
                                        <p:tav tm="0">
                                          <p:val>
                                            <p:strVal val="#ppt_y"/>
                                          </p:val>
                                        </p:tav>
                                        <p:tav tm="100000">
                                          <p:val>
                                            <p:strVal val="#ppt_y"/>
                                          </p:val>
                                        </p:tav>
                                      </p:tavLst>
                                    </p:anim>
                                    <p:animEffect transition="in" filter="fade">
                                      <p:cBhvr>
                                        <p:cTn id="37" dur="1000"/>
                                        <p:tgtEl>
                                          <p:spTgt spid="3">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circle(in)">
                                      <p:cBhvr>
                                        <p:cTn id="42" dur="2000"/>
                                        <p:tgtEl>
                                          <p:spTgt spid="3">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8" presetClass="entr" presetSubtype="0" accel="50000" fill="hold"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 calcmode="lin" valueType="num">
                                      <p:cBhvr>
                                        <p:cTn id="47" dur="1000" fill="hold"/>
                                        <p:tgtEl>
                                          <p:spTgt spid="3">
                                            <p:txEl>
                                              <p:pRg st="4" end="4"/>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48" dur="1000" fill="hold"/>
                                        <p:tgtEl>
                                          <p:spTgt spid="3">
                                            <p:txEl>
                                              <p:pRg st="4" end="4"/>
                                            </p:txEl>
                                          </p:spTgt>
                                        </p:tgtEl>
                                        <p:attrNameLst>
                                          <p:attrName>ppt_x</p:attrName>
                                        </p:attrNameLst>
                                      </p:cBhvr>
                                      <p:tavLst>
                                        <p:tav tm="0">
                                          <p:val>
                                            <p:fltVal val="-1"/>
                                          </p:val>
                                        </p:tav>
                                        <p:tav tm="50000">
                                          <p:val>
                                            <p:fltVal val="0.95"/>
                                          </p:val>
                                        </p:tav>
                                        <p:tav tm="100000">
                                          <p:val>
                                            <p:strVal val="#ppt_x"/>
                                          </p:val>
                                        </p:tav>
                                      </p:tavLst>
                                    </p:anim>
                                    <p:anim calcmode="lin" valueType="num">
                                      <p:cBhvr>
                                        <p:cTn id="49" dur="1000" fill="hold"/>
                                        <p:tgtEl>
                                          <p:spTgt spid="3">
                                            <p:txEl>
                                              <p:pRg st="4" end="4"/>
                                            </p:txEl>
                                          </p:spTgt>
                                        </p:tgtEl>
                                        <p:attrNameLst>
                                          <p:attrName>ppt_y</p:attrName>
                                        </p:attrNameLst>
                                      </p:cBhvr>
                                      <p:tavLst>
                                        <p:tav tm="0">
                                          <p:val>
                                            <p:strVal val="#ppt_y"/>
                                          </p:val>
                                        </p:tav>
                                        <p:tav tm="100000">
                                          <p:val>
                                            <p:strVal val="#ppt_y"/>
                                          </p:val>
                                        </p:tav>
                                      </p:tavLst>
                                    </p:anim>
                                    <p:animEffect transition="in" filter="fade">
                                      <p:cBhvr>
                                        <p:cTn id="50" dur="1000"/>
                                        <p:tgtEl>
                                          <p:spTgt spid="3">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6" presetClass="entr" presetSubtype="16" fill="hold" nodeType="clickEffect">
                                  <p:stCondLst>
                                    <p:cond delay="0"/>
                                  </p:stCondLst>
                                  <p:childTnLst>
                                    <p:set>
                                      <p:cBhvr>
                                        <p:cTn id="54" dur="1" fill="hold">
                                          <p:stCondLst>
                                            <p:cond delay="0"/>
                                          </p:stCondLst>
                                        </p:cTn>
                                        <p:tgtEl>
                                          <p:spTgt spid="3">
                                            <p:txEl>
                                              <p:pRg st="5" end="5"/>
                                            </p:txEl>
                                          </p:spTgt>
                                        </p:tgtEl>
                                        <p:attrNameLst>
                                          <p:attrName>style.visibility</p:attrName>
                                        </p:attrNameLst>
                                      </p:cBhvr>
                                      <p:to>
                                        <p:strVal val="visible"/>
                                      </p:to>
                                    </p:set>
                                    <p:animEffect transition="in" filter="circle(in)">
                                      <p:cBhvr>
                                        <p:cTn id="55"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0" y="260648"/>
            <a:ext cx="8964488" cy="6186309"/>
          </a:xfrm>
          <a:prstGeom prst="rect">
            <a:avLst/>
          </a:prstGeom>
          <a:noFill/>
        </p:spPr>
        <p:txBody>
          <a:bodyPr wrap="square" rtlCol="1">
            <a:spAutoFit/>
          </a:bodyPr>
          <a:lstStyle/>
          <a:p>
            <a:pPr lvl="0"/>
            <a:r>
              <a:rPr lang="ar-EG" sz="2800" b="1" dirty="0">
                <a:solidFill>
                  <a:schemeClr val="tx2"/>
                </a:solidFill>
              </a:rPr>
              <a:t>4- الحوار التعليمى </a:t>
            </a:r>
            <a:r>
              <a:rPr lang="en-US" sz="2800" b="1" dirty="0">
                <a:solidFill>
                  <a:schemeClr val="tx2"/>
                </a:solidFill>
              </a:rPr>
              <a:t>Instructional Dialogue</a:t>
            </a:r>
            <a:endParaRPr lang="en-US" sz="2800" dirty="0">
              <a:solidFill>
                <a:schemeClr val="tx2"/>
              </a:solidFill>
            </a:endParaRPr>
          </a:p>
          <a:p>
            <a:r>
              <a:rPr lang="ar-EG" sz="2400" dirty="0"/>
              <a:t>يسمى بلغه الحوار وتتميز برامج الوسائط المتعددة فى هذا المتعددة فى هذا النمط بحدوث التفاعل بين المتعلم والحاسب من خلال التحاور من خلال اللغه الطبيعية اى ان كلا من المتعلم والحاسب يمكنة طرح الاسئلة والاجابة بالاضافة الى استخدام وحدات الادخال والاخراج التقليدية المتوفرة فى جهاز الحاسب مثل لوحة المفاتيح والشاشة.</a:t>
            </a:r>
            <a:endParaRPr lang="en-US" sz="2400" dirty="0"/>
          </a:p>
          <a:p>
            <a:r>
              <a:rPr lang="ar-EG" sz="2400" dirty="0"/>
              <a:t> </a:t>
            </a:r>
            <a:endParaRPr lang="en-US" sz="2400" dirty="0"/>
          </a:p>
          <a:p>
            <a:r>
              <a:rPr lang="ar-EG" sz="2800" b="1" dirty="0">
                <a:solidFill>
                  <a:schemeClr val="tx2"/>
                </a:solidFill>
              </a:rPr>
              <a:t>5- الالعاب التعليمى </a:t>
            </a:r>
            <a:r>
              <a:rPr lang="en-US" sz="2800" b="1" dirty="0">
                <a:solidFill>
                  <a:schemeClr val="tx2"/>
                </a:solidFill>
              </a:rPr>
              <a:t>Instructional Games</a:t>
            </a:r>
          </a:p>
          <a:p>
            <a:r>
              <a:rPr lang="ar-EG" sz="2400" dirty="0"/>
              <a:t>يقوم الحاسب بتوفير الدعم والاقتراحات للمتعلم من خلال محاولتة الوصول الى المواقف التعليمية التى يريدها وتتميز برامج هذا النمط بعنصر التسلية والتشويق والاثارة وزيادة الدافعية للتعلم.</a:t>
            </a:r>
          </a:p>
          <a:p>
            <a:endParaRPr lang="en-US" sz="2400" dirty="0"/>
          </a:p>
          <a:p>
            <a:pPr lvl="0"/>
            <a:r>
              <a:rPr lang="ar-EG" sz="2800" b="1" dirty="0">
                <a:solidFill>
                  <a:schemeClr val="tx2"/>
                </a:solidFill>
              </a:rPr>
              <a:t>6- اكتشاف وحل المشكلات </a:t>
            </a:r>
            <a:r>
              <a:rPr lang="en-US" sz="2800" b="1" dirty="0">
                <a:solidFill>
                  <a:schemeClr val="tx2"/>
                </a:solidFill>
              </a:rPr>
              <a:t>Discovery and Problem Solving</a:t>
            </a:r>
          </a:p>
          <a:p>
            <a:r>
              <a:rPr lang="ar-EG" sz="2400" dirty="0"/>
              <a:t>يستخدم فى تنمية مهارات التفكير المنطقى فى حل المشكلات مما يساعد على انتقال اثر التعلم وتناول الموقف التعليمى باسلوب علمى لان ذلك الاسلوب يقوم بتحويل مركز اهتمام المعلمين من اليات الحل الى العلاقة التى تدور حولها المشكلة.</a:t>
            </a:r>
            <a:endParaRPr lang="en-US" sz="2400" dirty="0"/>
          </a:p>
          <a:p>
            <a:endParaRPr lang="ar-EG" sz="2400" dirty="0"/>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8" presetClass="entr" presetSubtype="0" accel="5000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2">
                                            <p:txEl>
                                              <p:pRg st="0" end="0"/>
                                            </p:txEl>
                                          </p:spTgt>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
                                          </p:val>
                                        </p:tav>
                                        <p:tav tm="100000">
                                          <p:val>
                                            <p:strVal val="#ppt_y"/>
                                          </p:val>
                                        </p:tav>
                                      </p:tavLst>
                                    </p:anim>
                                    <p:animEffect transition="in" filter="fade">
                                      <p:cBhvr>
                                        <p:cTn id="10" dur="1000"/>
                                        <p:tgtEl>
                                          <p:spTgt spid="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circle(in)">
                                      <p:cBhvr>
                                        <p:cTn id="15" dur="2000"/>
                                        <p:tgtEl>
                                          <p:spTgt spid="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8" presetClass="entr" presetSubtype="0" accel="50000" fill="hold"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 calcmode="lin" valueType="num">
                                      <p:cBhvr>
                                        <p:cTn id="20" dur="1000" fill="hold"/>
                                        <p:tgtEl>
                                          <p:spTgt spid="2">
                                            <p:txEl>
                                              <p:pRg st="3" end="3"/>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21" dur="1000" fill="hold"/>
                                        <p:tgtEl>
                                          <p:spTgt spid="2">
                                            <p:txEl>
                                              <p:pRg st="3" end="3"/>
                                            </p:txEl>
                                          </p:spTgt>
                                        </p:tgtEl>
                                        <p:attrNameLst>
                                          <p:attrName>ppt_x</p:attrName>
                                        </p:attrNameLst>
                                      </p:cBhvr>
                                      <p:tavLst>
                                        <p:tav tm="0">
                                          <p:val>
                                            <p:fltVal val="-1"/>
                                          </p:val>
                                        </p:tav>
                                        <p:tav tm="50000">
                                          <p:val>
                                            <p:fltVal val="0.95"/>
                                          </p:val>
                                        </p:tav>
                                        <p:tav tm="100000">
                                          <p:val>
                                            <p:strVal val="#ppt_x"/>
                                          </p:val>
                                        </p:tav>
                                      </p:tavLst>
                                    </p:anim>
                                    <p:anim calcmode="lin" valueType="num">
                                      <p:cBhvr>
                                        <p:cTn id="22" dur="1000" fill="hold"/>
                                        <p:tgtEl>
                                          <p:spTgt spid="2">
                                            <p:txEl>
                                              <p:pRg st="3" end="3"/>
                                            </p:txEl>
                                          </p:spTgt>
                                        </p:tgtEl>
                                        <p:attrNameLst>
                                          <p:attrName>ppt_y</p:attrName>
                                        </p:attrNameLst>
                                      </p:cBhvr>
                                      <p:tavLst>
                                        <p:tav tm="0">
                                          <p:val>
                                            <p:strVal val="#ppt_y"/>
                                          </p:val>
                                        </p:tav>
                                        <p:tav tm="100000">
                                          <p:val>
                                            <p:strVal val="#ppt_y"/>
                                          </p:val>
                                        </p:tav>
                                      </p:tavLst>
                                    </p:anim>
                                    <p:animEffect transition="in" filter="fade">
                                      <p:cBhvr>
                                        <p:cTn id="23" dur="1000"/>
                                        <p:tgtEl>
                                          <p:spTgt spid="2">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circle(in)">
                                      <p:cBhvr>
                                        <p:cTn id="28" dur="2000"/>
                                        <p:tgtEl>
                                          <p:spTgt spid="2">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48" presetClass="entr" presetSubtype="0" accel="50000" fill="hold" nodeType="click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anim calcmode="lin" valueType="num">
                                      <p:cBhvr>
                                        <p:cTn id="33" dur="1000" fill="hold"/>
                                        <p:tgtEl>
                                          <p:spTgt spid="2">
                                            <p:txEl>
                                              <p:pRg st="6" end="6"/>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34" dur="1000" fill="hold"/>
                                        <p:tgtEl>
                                          <p:spTgt spid="2">
                                            <p:txEl>
                                              <p:pRg st="6" end="6"/>
                                            </p:txEl>
                                          </p:spTgt>
                                        </p:tgtEl>
                                        <p:attrNameLst>
                                          <p:attrName>ppt_x</p:attrName>
                                        </p:attrNameLst>
                                      </p:cBhvr>
                                      <p:tavLst>
                                        <p:tav tm="0">
                                          <p:val>
                                            <p:fltVal val="-1"/>
                                          </p:val>
                                        </p:tav>
                                        <p:tav tm="50000">
                                          <p:val>
                                            <p:fltVal val="0.95"/>
                                          </p:val>
                                        </p:tav>
                                        <p:tav tm="100000">
                                          <p:val>
                                            <p:strVal val="#ppt_x"/>
                                          </p:val>
                                        </p:tav>
                                      </p:tavLst>
                                    </p:anim>
                                    <p:anim calcmode="lin" valueType="num">
                                      <p:cBhvr>
                                        <p:cTn id="35" dur="1000" fill="hold"/>
                                        <p:tgtEl>
                                          <p:spTgt spid="2">
                                            <p:txEl>
                                              <p:pRg st="6" end="6"/>
                                            </p:txEl>
                                          </p:spTgt>
                                        </p:tgtEl>
                                        <p:attrNameLst>
                                          <p:attrName>ppt_y</p:attrName>
                                        </p:attrNameLst>
                                      </p:cBhvr>
                                      <p:tavLst>
                                        <p:tav tm="0">
                                          <p:val>
                                            <p:strVal val="#ppt_y"/>
                                          </p:val>
                                        </p:tav>
                                        <p:tav tm="100000">
                                          <p:val>
                                            <p:strVal val="#ppt_y"/>
                                          </p:val>
                                        </p:tav>
                                      </p:tavLst>
                                    </p:anim>
                                    <p:animEffect transition="in" filter="fade">
                                      <p:cBhvr>
                                        <p:cTn id="36" dur="1000"/>
                                        <p:tgtEl>
                                          <p:spTgt spid="2">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nodeType="clickEffect">
                                  <p:stCondLst>
                                    <p:cond delay="0"/>
                                  </p:stCondLst>
                                  <p:childTnLst>
                                    <p:set>
                                      <p:cBhvr>
                                        <p:cTn id="40" dur="1" fill="hold">
                                          <p:stCondLst>
                                            <p:cond delay="0"/>
                                          </p:stCondLst>
                                        </p:cTn>
                                        <p:tgtEl>
                                          <p:spTgt spid="2">
                                            <p:txEl>
                                              <p:pRg st="7" end="7"/>
                                            </p:txEl>
                                          </p:spTgt>
                                        </p:tgtEl>
                                        <p:attrNameLst>
                                          <p:attrName>style.visibility</p:attrName>
                                        </p:attrNameLst>
                                      </p:cBhvr>
                                      <p:to>
                                        <p:strVal val="visible"/>
                                      </p:to>
                                    </p:set>
                                    <p:animEffect transition="in" filter="circle(in)">
                                      <p:cBhvr>
                                        <p:cTn id="41" dur="20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2857488" y="44624"/>
            <a:ext cx="4214841" cy="1200329"/>
          </a:xfrm>
          <a:prstGeom prst="rect">
            <a:avLst/>
          </a:prstGeom>
          <a:blipFill>
            <a:blip r:embed="rId2"/>
            <a:tile tx="0" ty="0" sx="100000" sy="100000" flip="none" algn="tl"/>
          </a:blipFill>
        </p:spPr>
        <p:style>
          <a:lnRef idx="1">
            <a:schemeClr val="dk1"/>
          </a:lnRef>
          <a:fillRef idx="1003">
            <a:schemeClr val="dk1"/>
          </a:fillRef>
          <a:effectRef idx="1">
            <a:schemeClr val="dk1"/>
          </a:effectRef>
          <a:fontRef idx="minor">
            <a:schemeClr val="dk1"/>
          </a:fontRef>
        </p:style>
        <p:txBody>
          <a:bodyPr wrap="square" rtlCol="1">
            <a:spAutoFit/>
          </a:bodyPr>
          <a:lstStyle/>
          <a:p>
            <a:pPr algn="ctr"/>
            <a:r>
              <a:rPr lang="ar-EG" sz="3600" dirty="0">
                <a:ln w="18415" cmpd="sng">
                  <a:solidFill>
                    <a:srgbClr val="FFFFFF"/>
                  </a:solidFill>
                  <a:prstDash val="solid"/>
                </a:ln>
                <a:solidFill>
                  <a:srgbClr val="FFFFFF"/>
                </a:solidFill>
                <a:effectLst>
                  <a:outerShdw blurRad="63500" dir="3600000" algn="tl" rotWithShape="0">
                    <a:srgbClr val="000000">
                      <a:alpha val="70000"/>
                    </a:srgbClr>
                  </a:outerShdw>
                </a:effectLst>
              </a:rPr>
              <a:t>الوسائط الفائقة </a:t>
            </a:r>
            <a:r>
              <a:rPr 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rPr>
              <a:t>Hypermedia</a:t>
            </a:r>
          </a:p>
        </p:txBody>
      </p:sp>
      <p:sp>
        <p:nvSpPr>
          <p:cNvPr id="3" name="مربع نص 2"/>
          <p:cNvSpPr txBox="1"/>
          <p:nvPr/>
        </p:nvSpPr>
        <p:spPr>
          <a:xfrm>
            <a:off x="107504" y="1412776"/>
            <a:ext cx="8856984" cy="5324535"/>
          </a:xfrm>
          <a:prstGeom prst="rect">
            <a:avLst/>
          </a:prstGeom>
          <a:noFill/>
        </p:spPr>
        <p:txBody>
          <a:bodyPr wrap="square" rtlCol="1">
            <a:spAutoFit/>
          </a:bodyPr>
          <a:lstStyle/>
          <a:p>
            <a:r>
              <a:rPr lang="ar-EG" sz="2400" dirty="0"/>
              <a:t>تعتبر </a:t>
            </a:r>
            <a:r>
              <a:rPr lang="ar-EG" sz="2400" dirty="0" err="1"/>
              <a:t>اهم</a:t>
            </a:r>
            <a:r>
              <a:rPr lang="ar-EG" sz="2400" dirty="0"/>
              <a:t> المداخل القائمة على استخدام الكمبيوتر </a:t>
            </a:r>
            <a:r>
              <a:rPr lang="ar-EG" sz="2400" dirty="0" err="1"/>
              <a:t>فى</a:t>
            </a:r>
            <a:r>
              <a:rPr lang="ar-EG" sz="2400" dirty="0"/>
              <a:t> التعليم </a:t>
            </a:r>
            <a:r>
              <a:rPr lang="ar-EG" sz="2400" dirty="0" err="1"/>
              <a:t>فى</a:t>
            </a:r>
            <a:r>
              <a:rPr lang="ar-EG" sz="2400" dirty="0"/>
              <a:t> </a:t>
            </a:r>
            <a:r>
              <a:rPr lang="ar-EG" sz="2400" dirty="0" err="1"/>
              <a:t>الاونة</a:t>
            </a:r>
            <a:r>
              <a:rPr lang="ar-EG" sz="2400" dirty="0"/>
              <a:t> </a:t>
            </a:r>
            <a:r>
              <a:rPr lang="ar-EG" sz="2400" dirty="0" err="1"/>
              <a:t>الاخيرة</a:t>
            </a:r>
            <a:r>
              <a:rPr lang="ar-EG" sz="2400" dirty="0"/>
              <a:t> وتشير معظم الدراسات </a:t>
            </a:r>
            <a:r>
              <a:rPr lang="ar-EG" sz="2400" dirty="0" err="1"/>
              <a:t>الى</a:t>
            </a:r>
            <a:r>
              <a:rPr lang="ar-EG" sz="2400" dirty="0"/>
              <a:t> </a:t>
            </a:r>
            <a:r>
              <a:rPr lang="ar-EG" sz="2400" dirty="0" err="1"/>
              <a:t>ان</a:t>
            </a:r>
            <a:r>
              <a:rPr lang="ar-EG" sz="2400" dirty="0"/>
              <a:t> بداية ظهور الوسائط الفائقة يرجع </a:t>
            </a:r>
            <a:r>
              <a:rPr lang="ar-EG" sz="2400" dirty="0" err="1"/>
              <a:t>الى</a:t>
            </a:r>
            <a:r>
              <a:rPr lang="ar-EG" sz="2400" dirty="0"/>
              <a:t> عام 1945 عندما نشر (بوش) مقالا بعنوان كيف نفكر وكان يدور حول الوسيلة </a:t>
            </a:r>
            <a:r>
              <a:rPr lang="ar-EG" sz="2400" dirty="0" err="1"/>
              <a:t>التى</a:t>
            </a:r>
            <a:r>
              <a:rPr lang="ar-EG" sz="2400" dirty="0"/>
              <a:t> تساعد على </a:t>
            </a:r>
            <a:r>
              <a:rPr lang="ar-EG" sz="2400" dirty="0" err="1"/>
              <a:t>احداث</a:t>
            </a:r>
            <a:r>
              <a:rPr lang="ar-EG" sz="2400" dirty="0"/>
              <a:t> طفرة تتناسب مع الكم الهائل من المعلومات وسرعة وحرية التفكير البشرى </a:t>
            </a:r>
            <a:r>
              <a:rPr lang="ar-EG" sz="2400" dirty="0" err="1"/>
              <a:t>واكد</a:t>
            </a:r>
            <a:r>
              <a:rPr lang="ar-EG" sz="2400" dirty="0"/>
              <a:t> على </a:t>
            </a:r>
            <a:r>
              <a:rPr lang="ar-EG" sz="2400" dirty="0" err="1"/>
              <a:t>ان</a:t>
            </a:r>
            <a:r>
              <a:rPr lang="ar-EG" sz="2400" dirty="0"/>
              <a:t> العقل البشرى يعمل من خلال ارتباطات </a:t>
            </a:r>
            <a:r>
              <a:rPr lang="en-US" sz="2400" dirty="0"/>
              <a:t>Links</a:t>
            </a:r>
            <a:r>
              <a:rPr lang="ar-EG" sz="2400" dirty="0"/>
              <a:t> وقد سميت تلك الوسيلة </a:t>
            </a:r>
            <a:r>
              <a:rPr lang="ar-EG" sz="2400" dirty="0" err="1"/>
              <a:t>التى</a:t>
            </a:r>
            <a:r>
              <a:rPr lang="ar-EG" sz="2400" dirty="0"/>
              <a:t> من خلالها يتم تخزين المعلومات والتحكم فيها </a:t>
            </a:r>
            <a:r>
              <a:rPr lang="ar-EG" sz="2400" dirty="0" err="1"/>
              <a:t>ب</a:t>
            </a:r>
            <a:r>
              <a:rPr lang="ar-EG" sz="2400" dirty="0"/>
              <a:t> </a:t>
            </a:r>
            <a:r>
              <a:rPr lang="en-US" sz="2400" dirty="0" err="1"/>
              <a:t>Memex</a:t>
            </a:r>
            <a:r>
              <a:rPr lang="en-US" sz="2400" dirty="0"/>
              <a:t> </a:t>
            </a:r>
            <a:r>
              <a:rPr lang="ar-EG" sz="2400" dirty="0"/>
              <a:t> وكانت تسمح للمستخدمين بتكوين ارتباطات بين اجزاء المعلومات بعضة البعض.</a:t>
            </a:r>
            <a:endParaRPr lang="en-US" sz="2400" dirty="0"/>
          </a:p>
          <a:p>
            <a:r>
              <a:rPr lang="ar-EG" sz="2800" b="1" dirty="0">
                <a:solidFill>
                  <a:schemeClr val="tx2"/>
                </a:solidFill>
              </a:rPr>
              <a:t>تشمل تعريفات الوسائط الفائقة </a:t>
            </a:r>
          </a:p>
          <a:p>
            <a:r>
              <a:rPr lang="ar-EG" sz="2400" dirty="0"/>
              <a:t>على استخدام وسائط متعددة (الصوت – النصوص – الرسوم ) </a:t>
            </a:r>
            <a:r>
              <a:rPr lang="ar-EG" sz="2400" dirty="0" err="1"/>
              <a:t>الا</a:t>
            </a:r>
            <a:r>
              <a:rPr lang="ar-EG" sz="2400" dirty="0"/>
              <a:t> </a:t>
            </a:r>
            <a:r>
              <a:rPr lang="ar-EG" sz="2400" dirty="0" err="1"/>
              <a:t>انها</a:t>
            </a:r>
            <a:r>
              <a:rPr lang="ar-EG" sz="2400" dirty="0"/>
              <a:t> تحتوى على العقد </a:t>
            </a:r>
            <a:r>
              <a:rPr lang="en-US" sz="2400" dirty="0"/>
              <a:t>Links</a:t>
            </a:r>
            <a:r>
              <a:rPr lang="ar-EG" sz="2400" dirty="0"/>
              <a:t> سواء كانت نصيه </a:t>
            </a:r>
            <a:r>
              <a:rPr lang="ar-EG" sz="2400" dirty="0" err="1"/>
              <a:t>او</a:t>
            </a:r>
            <a:r>
              <a:rPr lang="ar-EG" sz="2400" dirty="0"/>
              <a:t> غير نصيه.</a:t>
            </a:r>
            <a:endParaRPr lang="en-US" sz="2400" dirty="0"/>
          </a:p>
          <a:p>
            <a:r>
              <a:rPr lang="ar-EG" sz="2400" b="1" dirty="0">
                <a:solidFill>
                  <a:schemeClr val="tx2"/>
                </a:solidFill>
              </a:rPr>
              <a:t>وبناء على ذلك يعرف الباحث الوسائط المتعددة </a:t>
            </a:r>
            <a:r>
              <a:rPr lang="ar-EG" sz="2400" b="1" dirty="0" err="1">
                <a:solidFill>
                  <a:schemeClr val="tx2"/>
                </a:solidFill>
              </a:rPr>
              <a:t>الفائقه</a:t>
            </a:r>
            <a:r>
              <a:rPr lang="ar-EG" sz="2400" b="1" dirty="0">
                <a:solidFill>
                  <a:schemeClr val="tx2"/>
                </a:solidFill>
              </a:rPr>
              <a:t> تعريفا </a:t>
            </a:r>
            <a:r>
              <a:rPr lang="ar-EG" sz="2400" b="1" dirty="0" err="1">
                <a:solidFill>
                  <a:schemeClr val="tx2"/>
                </a:solidFill>
              </a:rPr>
              <a:t>اجرائيا</a:t>
            </a:r>
            <a:r>
              <a:rPr lang="ar-EG" sz="2400" b="1" dirty="0">
                <a:solidFill>
                  <a:schemeClr val="tx2"/>
                </a:solidFill>
              </a:rPr>
              <a:t> على </a:t>
            </a:r>
            <a:r>
              <a:rPr lang="ar-EG" sz="2400" b="1" dirty="0" err="1">
                <a:solidFill>
                  <a:schemeClr val="tx2"/>
                </a:solidFill>
              </a:rPr>
              <a:t>انها</a:t>
            </a:r>
            <a:r>
              <a:rPr lang="ar-EG" sz="2400" b="1" dirty="0">
                <a:solidFill>
                  <a:schemeClr val="tx2"/>
                </a:solidFill>
              </a:rPr>
              <a:t> </a:t>
            </a:r>
          </a:p>
          <a:p>
            <a:r>
              <a:rPr lang="ar-EG" sz="2400" dirty="0"/>
              <a:t>" الاستخدام المترابط المتفاعل المتكامل لعدد من الوسائط مثل (الصوت – النصوص – الرسوم – الفيديو) داخل بيئة تعلم تتصف بالشمول والعمق مع الاعتماد على استخدام الروابط.</a:t>
            </a:r>
            <a:endParaRPr lang="en-US" sz="2400" dirty="0"/>
          </a:p>
        </p:txBody>
      </p: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7" presetClass="path" presetSubtype="0" accel="50000" decel="50000" fill="hold" grpId="1" nodeType="clickEffect">
                                  <p:stCondLst>
                                    <p:cond delay="0"/>
                                  </p:stCondLst>
                                  <p:childTnLst>
                                    <p:animMotion origin="layout" path="M 0 0  L 0.052 0  L 0.089 -0.04933  L 0.125 0  L 0.177 0  L 0.177 0.06933  L 0.213 0.11867  L 0.177 0.16667  L 0.177 0.236  L 0.125 0.236  L 0.089 0.284  L 0.052 0.236  L 0 0.236  L 0 0.16667  L -0.037 0.11867  L 0 0.06933  L 0 0  Z" pathEditMode="relative" ptsTypes="">
                                      <p:cBhvr>
                                        <p:cTn id="14" dur="2000" fill="hold"/>
                                        <p:tgtEl>
                                          <p:spTgt spid="2"/>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54" presetClass="entr" presetSubtype="0" accel="10000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p:cTn id="19" dur="500" fill="hold"/>
                                        <p:tgtEl>
                                          <p:spTgt spid="3">
                                            <p:txEl>
                                              <p:pRg st="0" end="0"/>
                                            </p:txEl>
                                          </p:spTgt>
                                        </p:tgtEl>
                                        <p:attrNameLst>
                                          <p:attrName>ppt_w</p:attrName>
                                        </p:attrNameLst>
                                      </p:cBhvr>
                                      <p:tavLst>
                                        <p:tav tm="0">
                                          <p:val>
                                            <p:strVal val="#ppt_w*0.05"/>
                                          </p:val>
                                        </p:tav>
                                        <p:tav tm="100000">
                                          <p:val>
                                            <p:strVal val="#ppt_w"/>
                                          </p:val>
                                        </p:tav>
                                      </p:tavLst>
                                    </p:anim>
                                    <p:anim calcmode="lin" valueType="num">
                                      <p:cBhvr>
                                        <p:cTn id="20" dur="500" fill="hold"/>
                                        <p:tgtEl>
                                          <p:spTgt spid="3">
                                            <p:txEl>
                                              <p:pRg st="0" end="0"/>
                                            </p:txEl>
                                          </p:spTgt>
                                        </p:tgtEl>
                                        <p:attrNameLst>
                                          <p:attrName>ppt_h</p:attrName>
                                        </p:attrNameLst>
                                      </p:cBhvr>
                                      <p:tavLst>
                                        <p:tav tm="0">
                                          <p:val>
                                            <p:strVal val="#ppt_h"/>
                                          </p:val>
                                        </p:tav>
                                        <p:tav tm="100000">
                                          <p:val>
                                            <p:strVal val="#ppt_h"/>
                                          </p:val>
                                        </p:tav>
                                      </p:tavLst>
                                    </p:anim>
                                    <p:anim calcmode="lin" valueType="num">
                                      <p:cBhvr>
                                        <p:cTn id="21" dur="5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22" dur="500" fill="hold"/>
                                        <p:tgtEl>
                                          <p:spTgt spid="3">
                                            <p:txEl>
                                              <p:pRg st="0" end="0"/>
                                            </p:txEl>
                                          </p:spTgt>
                                        </p:tgtEl>
                                        <p:attrNameLst>
                                          <p:attrName>ppt_y</p:attrName>
                                        </p:attrNameLst>
                                      </p:cBhvr>
                                      <p:tavLst>
                                        <p:tav tm="0">
                                          <p:val>
                                            <p:strVal val="#ppt_y"/>
                                          </p:val>
                                        </p:tav>
                                        <p:tav tm="100000">
                                          <p:val>
                                            <p:strVal val="#ppt_y"/>
                                          </p:val>
                                        </p:tav>
                                      </p:tavLst>
                                    </p:anim>
                                    <p:animEffect transition="in" filter="fade">
                                      <p:cBhvr>
                                        <p:cTn id="23" dur="500"/>
                                        <p:tgtEl>
                                          <p:spTgt spid="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1" presetClass="entr" presetSubtype="0" fill="hold" nodeType="clickEffect">
                                  <p:stCondLst>
                                    <p:cond delay="0"/>
                                  </p:stCondLst>
                                  <p:iterate type="lt">
                                    <p:tmPct val="10000"/>
                                  </p:iterate>
                                  <p:childTnLst>
                                    <p:set>
                                      <p:cBhvr>
                                        <p:cTn id="27" dur="1" fill="hold">
                                          <p:stCondLst>
                                            <p:cond delay="0"/>
                                          </p:stCondLst>
                                        </p:cTn>
                                        <p:tgtEl>
                                          <p:spTgt spid="3">
                                            <p:txEl>
                                              <p:pRg st="1" end="1"/>
                                            </p:txEl>
                                          </p:spTgt>
                                        </p:tgtEl>
                                        <p:attrNameLst>
                                          <p:attrName>style.visibility</p:attrName>
                                        </p:attrNameLst>
                                      </p:cBhvr>
                                      <p:to>
                                        <p:strVal val="visible"/>
                                      </p:to>
                                    </p:set>
                                    <p:anim calcmode="lin" valueType="num">
                                      <p:cBhvr>
                                        <p:cTn id="28" dur="500" fill="hold"/>
                                        <p:tgtEl>
                                          <p:spTgt spid="3">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29" dur="500" fill="hold"/>
                                        <p:tgtEl>
                                          <p:spTgt spid="3">
                                            <p:txEl>
                                              <p:pRg st="1" end="1"/>
                                            </p:txEl>
                                          </p:spTgt>
                                        </p:tgtEl>
                                        <p:attrNameLst>
                                          <p:attrName>ppt_y</p:attrName>
                                        </p:attrNameLst>
                                      </p:cBhvr>
                                      <p:tavLst>
                                        <p:tav tm="0">
                                          <p:val>
                                            <p:strVal val="#ppt_y"/>
                                          </p:val>
                                        </p:tav>
                                        <p:tav tm="100000">
                                          <p:val>
                                            <p:strVal val="#ppt_y"/>
                                          </p:val>
                                        </p:tav>
                                      </p:tavLst>
                                    </p:anim>
                                    <p:anim calcmode="lin" valueType="num">
                                      <p:cBhvr>
                                        <p:cTn id="30" dur="500" fill="hold"/>
                                        <p:tgtEl>
                                          <p:spTgt spid="3">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1" dur="500" fill="hold"/>
                                        <p:tgtEl>
                                          <p:spTgt spid="3">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2" dur="500" tmFilter="0,0; .5, 1; 1, 1"/>
                                        <p:tgtEl>
                                          <p:spTgt spid="3">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4" presetClass="entr" presetSubtype="0" accel="100000" fill="hold"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 calcmode="lin" valueType="num">
                                      <p:cBhvr>
                                        <p:cTn id="37" dur="500" fill="hold"/>
                                        <p:tgtEl>
                                          <p:spTgt spid="3">
                                            <p:txEl>
                                              <p:pRg st="2" end="2"/>
                                            </p:txEl>
                                          </p:spTgt>
                                        </p:tgtEl>
                                        <p:attrNameLst>
                                          <p:attrName>ppt_w</p:attrName>
                                        </p:attrNameLst>
                                      </p:cBhvr>
                                      <p:tavLst>
                                        <p:tav tm="0">
                                          <p:val>
                                            <p:strVal val="#ppt_w*0.05"/>
                                          </p:val>
                                        </p:tav>
                                        <p:tav tm="100000">
                                          <p:val>
                                            <p:strVal val="#ppt_w"/>
                                          </p:val>
                                        </p:tav>
                                      </p:tavLst>
                                    </p:anim>
                                    <p:anim calcmode="lin" valueType="num">
                                      <p:cBhvr>
                                        <p:cTn id="38" dur="500" fill="hold"/>
                                        <p:tgtEl>
                                          <p:spTgt spid="3">
                                            <p:txEl>
                                              <p:pRg st="2" end="2"/>
                                            </p:txEl>
                                          </p:spTgt>
                                        </p:tgtEl>
                                        <p:attrNameLst>
                                          <p:attrName>ppt_h</p:attrName>
                                        </p:attrNameLst>
                                      </p:cBhvr>
                                      <p:tavLst>
                                        <p:tav tm="0">
                                          <p:val>
                                            <p:strVal val="#ppt_h"/>
                                          </p:val>
                                        </p:tav>
                                        <p:tav tm="100000">
                                          <p:val>
                                            <p:strVal val="#ppt_h"/>
                                          </p:val>
                                        </p:tav>
                                      </p:tavLst>
                                    </p:anim>
                                    <p:anim calcmode="lin" valueType="num">
                                      <p:cBhvr>
                                        <p:cTn id="39" dur="5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40" dur="500" fill="hold"/>
                                        <p:tgtEl>
                                          <p:spTgt spid="3">
                                            <p:txEl>
                                              <p:pRg st="2" end="2"/>
                                            </p:txEl>
                                          </p:spTgt>
                                        </p:tgtEl>
                                        <p:attrNameLst>
                                          <p:attrName>ppt_y</p:attrName>
                                        </p:attrNameLst>
                                      </p:cBhvr>
                                      <p:tavLst>
                                        <p:tav tm="0">
                                          <p:val>
                                            <p:strVal val="#ppt_y"/>
                                          </p:val>
                                        </p:tav>
                                        <p:tav tm="100000">
                                          <p:val>
                                            <p:strVal val="#ppt_y"/>
                                          </p:val>
                                        </p:tav>
                                      </p:tavLst>
                                    </p:anim>
                                    <p:animEffect transition="in" filter="fade">
                                      <p:cBhvr>
                                        <p:cTn id="41" dur="500"/>
                                        <p:tgtEl>
                                          <p:spTgt spid="3">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41" presetClass="entr" presetSubtype="0" fill="hold" nodeType="clickEffect">
                                  <p:stCondLst>
                                    <p:cond delay="0"/>
                                  </p:stCondLst>
                                  <p:iterate type="lt">
                                    <p:tmPct val="10000"/>
                                  </p:iterate>
                                  <p:childTnLst>
                                    <p:set>
                                      <p:cBhvr>
                                        <p:cTn id="45" dur="1" fill="hold">
                                          <p:stCondLst>
                                            <p:cond delay="0"/>
                                          </p:stCondLst>
                                        </p:cTn>
                                        <p:tgtEl>
                                          <p:spTgt spid="3">
                                            <p:txEl>
                                              <p:pRg st="3" end="3"/>
                                            </p:txEl>
                                          </p:spTgt>
                                        </p:tgtEl>
                                        <p:attrNameLst>
                                          <p:attrName>style.visibility</p:attrName>
                                        </p:attrNameLst>
                                      </p:cBhvr>
                                      <p:to>
                                        <p:strVal val="visible"/>
                                      </p:to>
                                    </p:set>
                                    <p:anim calcmode="lin" valueType="num">
                                      <p:cBhvr>
                                        <p:cTn id="46" dur="500" fill="hold"/>
                                        <p:tgtEl>
                                          <p:spTgt spid="3">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47" dur="500" fill="hold"/>
                                        <p:tgtEl>
                                          <p:spTgt spid="3">
                                            <p:txEl>
                                              <p:pRg st="3" end="3"/>
                                            </p:txEl>
                                          </p:spTgt>
                                        </p:tgtEl>
                                        <p:attrNameLst>
                                          <p:attrName>ppt_y</p:attrName>
                                        </p:attrNameLst>
                                      </p:cBhvr>
                                      <p:tavLst>
                                        <p:tav tm="0">
                                          <p:val>
                                            <p:strVal val="#ppt_y"/>
                                          </p:val>
                                        </p:tav>
                                        <p:tav tm="100000">
                                          <p:val>
                                            <p:strVal val="#ppt_y"/>
                                          </p:val>
                                        </p:tav>
                                      </p:tavLst>
                                    </p:anim>
                                    <p:anim calcmode="lin" valueType="num">
                                      <p:cBhvr>
                                        <p:cTn id="48" dur="500" fill="hold"/>
                                        <p:tgtEl>
                                          <p:spTgt spid="3">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9" dur="500" fill="hold"/>
                                        <p:tgtEl>
                                          <p:spTgt spid="3">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0" dur="500" tmFilter="0,0; .5, 1; 1, 1"/>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54" presetClass="entr" presetSubtype="0" accel="100000" fill="hold"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 calcmode="lin" valueType="num">
                                      <p:cBhvr>
                                        <p:cTn id="55" dur="500" fill="hold"/>
                                        <p:tgtEl>
                                          <p:spTgt spid="3">
                                            <p:txEl>
                                              <p:pRg st="4" end="4"/>
                                            </p:txEl>
                                          </p:spTgt>
                                        </p:tgtEl>
                                        <p:attrNameLst>
                                          <p:attrName>ppt_w</p:attrName>
                                        </p:attrNameLst>
                                      </p:cBhvr>
                                      <p:tavLst>
                                        <p:tav tm="0">
                                          <p:val>
                                            <p:strVal val="#ppt_w*0.05"/>
                                          </p:val>
                                        </p:tav>
                                        <p:tav tm="100000">
                                          <p:val>
                                            <p:strVal val="#ppt_w"/>
                                          </p:val>
                                        </p:tav>
                                      </p:tavLst>
                                    </p:anim>
                                    <p:anim calcmode="lin" valueType="num">
                                      <p:cBhvr>
                                        <p:cTn id="56" dur="500" fill="hold"/>
                                        <p:tgtEl>
                                          <p:spTgt spid="3">
                                            <p:txEl>
                                              <p:pRg st="4" end="4"/>
                                            </p:txEl>
                                          </p:spTgt>
                                        </p:tgtEl>
                                        <p:attrNameLst>
                                          <p:attrName>ppt_h</p:attrName>
                                        </p:attrNameLst>
                                      </p:cBhvr>
                                      <p:tavLst>
                                        <p:tav tm="0">
                                          <p:val>
                                            <p:strVal val="#ppt_h"/>
                                          </p:val>
                                        </p:tav>
                                        <p:tav tm="100000">
                                          <p:val>
                                            <p:strVal val="#ppt_h"/>
                                          </p:val>
                                        </p:tav>
                                      </p:tavLst>
                                    </p:anim>
                                    <p:anim calcmode="lin" valueType="num">
                                      <p:cBhvr>
                                        <p:cTn id="57" dur="5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58" dur="500" fill="hold"/>
                                        <p:tgtEl>
                                          <p:spTgt spid="3">
                                            <p:txEl>
                                              <p:pRg st="4" end="4"/>
                                            </p:txEl>
                                          </p:spTgt>
                                        </p:tgtEl>
                                        <p:attrNameLst>
                                          <p:attrName>ppt_y</p:attrName>
                                        </p:attrNameLst>
                                      </p:cBhvr>
                                      <p:tavLst>
                                        <p:tav tm="0">
                                          <p:val>
                                            <p:strVal val="#ppt_y"/>
                                          </p:val>
                                        </p:tav>
                                        <p:tav tm="100000">
                                          <p:val>
                                            <p:strVal val="#ppt_y"/>
                                          </p:val>
                                        </p:tav>
                                      </p:tavLst>
                                    </p:anim>
                                    <p:animEffect transition="in" filter="fade">
                                      <p:cBhvr>
                                        <p:cTn id="5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475656" y="179929"/>
            <a:ext cx="6286544" cy="584775"/>
          </a:xfrm>
          <a:prstGeom prst="rect">
            <a:avLst/>
          </a:prstGeom>
          <a:solidFill>
            <a:srgbClr val="FFC000"/>
          </a:solidFill>
        </p:spPr>
        <p:txBody>
          <a:bodyPr wrap="square" rtlCol="1">
            <a:spAutoFit/>
          </a:bodyPr>
          <a:lstStyle/>
          <a:p>
            <a:pPr algn="ctr"/>
            <a:r>
              <a:rPr lang="ar-EG" sz="3200" b="1" dirty="0"/>
              <a:t>العلاقة بين الوسائط المتعددة </a:t>
            </a:r>
            <a:r>
              <a:rPr lang="ar-EG" sz="3200" b="1" dirty="0" err="1"/>
              <a:t>و</a:t>
            </a:r>
            <a:r>
              <a:rPr lang="ar-EG" sz="3200" b="1" dirty="0"/>
              <a:t> الوسائط الفائقة</a:t>
            </a:r>
            <a:endParaRPr lang="en-US" sz="3200" dirty="0"/>
          </a:p>
        </p:txBody>
      </p:sp>
      <p:sp>
        <p:nvSpPr>
          <p:cNvPr id="3" name="مربع نص 2"/>
          <p:cNvSpPr txBox="1"/>
          <p:nvPr/>
        </p:nvSpPr>
        <p:spPr>
          <a:xfrm>
            <a:off x="179512" y="1124744"/>
            <a:ext cx="8643998" cy="5262979"/>
          </a:xfrm>
          <a:prstGeom prst="rect">
            <a:avLst/>
          </a:prstGeom>
          <a:noFill/>
        </p:spPr>
        <p:txBody>
          <a:bodyPr wrap="square" rtlCol="1">
            <a:spAutoFit/>
          </a:bodyPr>
          <a:lstStyle/>
          <a:p>
            <a:pPr algn="just"/>
            <a:r>
              <a:rPr lang="ar-EG" sz="2800" dirty="0">
                <a:effectLst>
                  <a:glow rad="101600">
                    <a:schemeClr val="bg2">
                      <a:lumMod val="75000"/>
                      <a:alpha val="60000"/>
                    </a:schemeClr>
                  </a:glow>
                </a:effectLst>
              </a:rPr>
              <a:t> يمكن القول </a:t>
            </a:r>
            <a:r>
              <a:rPr lang="ar-EG" sz="2800" dirty="0" err="1">
                <a:effectLst>
                  <a:glow rad="101600">
                    <a:schemeClr val="bg2">
                      <a:lumMod val="75000"/>
                      <a:alpha val="60000"/>
                    </a:schemeClr>
                  </a:glow>
                </a:effectLst>
              </a:rPr>
              <a:t>بانه</a:t>
            </a:r>
            <a:r>
              <a:rPr lang="ar-EG" sz="2800" dirty="0">
                <a:effectLst>
                  <a:glow rad="101600">
                    <a:schemeClr val="bg2">
                      <a:lumMod val="75000"/>
                      <a:alpha val="60000"/>
                    </a:schemeClr>
                  </a:glow>
                </a:effectLst>
              </a:rPr>
              <a:t> على الرغم من وجود </a:t>
            </a:r>
            <a:r>
              <a:rPr lang="ar-EG" sz="2800" dirty="0" err="1">
                <a:effectLst>
                  <a:glow rad="101600">
                    <a:schemeClr val="bg2">
                      <a:lumMod val="75000"/>
                      <a:alpha val="60000"/>
                    </a:schemeClr>
                  </a:glow>
                </a:effectLst>
              </a:rPr>
              <a:t>اوجه</a:t>
            </a:r>
            <a:r>
              <a:rPr lang="ar-EG" sz="2800" dirty="0">
                <a:effectLst>
                  <a:glow rad="101600">
                    <a:schemeClr val="bg2">
                      <a:lumMod val="75000"/>
                      <a:alpha val="60000"/>
                    </a:schemeClr>
                  </a:glow>
                </a:effectLst>
              </a:rPr>
              <a:t> تشابه بين الوسائط المتعددة والفائقة </a:t>
            </a:r>
            <a:r>
              <a:rPr lang="ar-EG" sz="2800" dirty="0" err="1">
                <a:effectLst>
                  <a:glow rad="101600">
                    <a:schemeClr val="bg2">
                      <a:lumMod val="75000"/>
                      <a:alpha val="60000"/>
                    </a:schemeClr>
                  </a:glow>
                </a:effectLst>
              </a:rPr>
              <a:t>الا</a:t>
            </a:r>
            <a:r>
              <a:rPr lang="ar-EG" sz="2800" dirty="0">
                <a:effectLst>
                  <a:glow rad="101600">
                    <a:schemeClr val="bg2">
                      <a:lumMod val="75000"/>
                      <a:alpha val="60000"/>
                    </a:schemeClr>
                  </a:glow>
                </a:effectLst>
              </a:rPr>
              <a:t> </a:t>
            </a:r>
            <a:r>
              <a:rPr lang="ar-EG" sz="2800" dirty="0" err="1">
                <a:effectLst>
                  <a:glow rad="101600">
                    <a:schemeClr val="bg2">
                      <a:lumMod val="75000"/>
                      <a:alpha val="60000"/>
                    </a:schemeClr>
                  </a:glow>
                </a:effectLst>
              </a:rPr>
              <a:t>ان</a:t>
            </a:r>
            <a:r>
              <a:rPr lang="ar-EG" sz="2800" dirty="0">
                <a:effectLst>
                  <a:glow rad="101600">
                    <a:schemeClr val="bg2">
                      <a:lumMod val="75000"/>
                      <a:alpha val="60000"/>
                    </a:schemeClr>
                  </a:glow>
                </a:effectLst>
              </a:rPr>
              <a:t> هناك </a:t>
            </a:r>
            <a:r>
              <a:rPr lang="ar-EG" sz="2800" dirty="0" err="1">
                <a:effectLst>
                  <a:glow rad="101600">
                    <a:schemeClr val="bg2">
                      <a:lumMod val="75000"/>
                      <a:alpha val="60000"/>
                    </a:schemeClr>
                  </a:glow>
                </a:effectLst>
              </a:rPr>
              <a:t>اوجه</a:t>
            </a:r>
            <a:r>
              <a:rPr lang="ar-EG" sz="2800" dirty="0">
                <a:effectLst>
                  <a:glow rad="101600">
                    <a:schemeClr val="bg2">
                      <a:lumMod val="75000"/>
                      <a:alpha val="60000"/>
                    </a:schemeClr>
                  </a:glow>
                </a:effectLst>
              </a:rPr>
              <a:t> اختلاف بينها فالوسائط المتعددة يمكن  استخدامها مع وسائط مختلفة منها الكمبيوتر بينما الوسائط الفائقة سواء كانت نصوص </a:t>
            </a:r>
            <a:r>
              <a:rPr lang="ar-EG" sz="2800" dirty="0" err="1">
                <a:effectLst>
                  <a:glow rad="101600">
                    <a:schemeClr val="bg2">
                      <a:lumMod val="75000"/>
                      <a:alpha val="60000"/>
                    </a:schemeClr>
                  </a:glow>
                </a:effectLst>
              </a:rPr>
              <a:t>او</a:t>
            </a:r>
            <a:r>
              <a:rPr lang="ar-EG" sz="2800" dirty="0">
                <a:effectLst>
                  <a:glow rad="101600">
                    <a:schemeClr val="bg2">
                      <a:lumMod val="75000"/>
                      <a:alpha val="60000"/>
                    </a:schemeClr>
                  </a:glow>
                </a:effectLst>
              </a:rPr>
              <a:t> وسائط </a:t>
            </a:r>
            <a:r>
              <a:rPr lang="ar-EG" sz="2800" dirty="0" err="1">
                <a:effectLst>
                  <a:glow rad="101600">
                    <a:schemeClr val="bg2">
                      <a:lumMod val="75000"/>
                      <a:alpha val="60000"/>
                    </a:schemeClr>
                  </a:glow>
                </a:effectLst>
              </a:rPr>
              <a:t>فانها</a:t>
            </a:r>
            <a:r>
              <a:rPr lang="ar-EG" sz="2800" dirty="0">
                <a:effectLst>
                  <a:glow rad="101600">
                    <a:schemeClr val="bg2">
                      <a:lumMod val="75000"/>
                      <a:alpha val="60000"/>
                    </a:schemeClr>
                  </a:glow>
                </a:effectLst>
              </a:rPr>
              <a:t> تعتمد على استخدام الكمبيوتر فقط ولا توجد ضرورة من </a:t>
            </a:r>
            <a:r>
              <a:rPr lang="ar-EG" sz="2800" dirty="0" err="1">
                <a:effectLst>
                  <a:glow rad="101600">
                    <a:schemeClr val="bg2">
                      <a:lumMod val="75000"/>
                      <a:alpha val="60000"/>
                    </a:schemeClr>
                  </a:glow>
                </a:effectLst>
              </a:rPr>
              <a:t>ان</a:t>
            </a:r>
            <a:r>
              <a:rPr lang="ar-EG" sz="2800" dirty="0">
                <a:effectLst>
                  <a:glow rad="101600">
                    <a:schemeClr val="bg2">
                      <a:lumMod val="75000"/>
                      <a:alpha val="60000"/>
                    </a:schemeClr>
                  </a:glow>
                </a:effectLst>
              </a:rPr>
              <a:t> تشمل الوسائط المتعددة على نظام للروابط والعقد </a:t>
            </a:r>
            <a:r>
              <a:rPr lang="en-US" sz="2800" dirty="0">
                <a:effectLst>
                  <a:glow rad="101600">
                    <a:schemeClr val="bg2">
                      <a:lumMod val="75000"/>
                      <a:alpha val="60000"/>
                    </a:schemeClr>
                  </a:glow>
                </a:effectLst>
              </a:rPr>
              <a:t>links</a:t>
            </a:r>
            <a:r>
              <a:rPr lang="ar-EG" sz="2800" dirty="0">
                <a:effectLst>
                  <a:glow rad="101600">
                    <a:schemeClr val="bg2">
                      <a:lumMod val="75000"/>
                      <a:alpha val="60000"/>
                    </a:schemeClr>
                  </a:glow>
                </a:effectLst>
              </a:rPr>
              <a:t> </a:t>
            </a:r>
            <a:r>
              <a:rPr lang="ar-EG" sz="2800" dirty="0" err="1">
                <a:effectLst>
                  <a:glow rad="101600">
                    <a:schemeClr val="bg2">
                      <a:lumMod val="75000"/>
                      <a:alpha val="60000"/>
                    </a:schemeClr>
                  </a:glow>
                </a:effectLst>
              </a:rPr>
              <a:t>فهى</a:t>
            </a:r>
            <a:r>
              <a:rPr lang="ar-EG" sz="2800" dirty="0">
                <a:effectLst>
                  <a:glow rad="101600">
                    <a:schemeClr val="bg2">
                      <a:lumMod val="75000"/>
                      <a:alpha val="60000"/>
                    </a:schemeClr>
                  </a:glow>
                </a:effectLst>
              </a:rPr>
              <a:t> يمكن </a:t>
            </a:r>
            <a:r>
              <a:rPr lang="ar-EG" sz="2800" dirty="0" err="1">
                <a:effectLst>
                  <a:glow rad="101600">
                    <a:schemeClr val="bg2">
                      <a:lumMod val="75000"/>
                      <a:alpha val="60000"/>
                    </a:schemeClr>
                  </a:glow>
                </a:effectLst>
              </a:rPr>
              <a:t>ان</a:t>
            </a:r>
            <a:r>
              <a:rPr lang="ar-EG" sz="2800" dirty="0">
                <a:effectLst>
                  <a:glow rad="101600">
                    <a:schemeClr val="bg2">
                      <a:lumMod val="75000"/>
                      <a:alpha val="60000"/>
                    </a:schemeClr>
                  </a:glow>
                </a:effectLst>
              </a:rPr>
              <a:t> تضم كل العناصر </a:t>
            </a:r>
            <a:r>
              <a:rPr lang="ar-EG" sz="2800" dirty="0" err="1">
                <a:effectLst>
                  <a:glow rad="101600">
                    <a:schemeClr val="bg2">
                      <a:lumMod val="75000"/>
                      <a:alpha val="60000"/>
                    </a:schemeClr>
                  </a:glow>
                </a:effectLst>
              </a:rPr>
              <a:t>الاعلامية</a:t>
            </a:r>
            <a:r>
              <a:rPr lang="ar-EG" sz="2800" dirty="0">
                <a:effectLst>
                  <a:glow rad="101600">
                    <a:schemeClr val="bg2">
                      <a:lumMod val="75000"/>
                      <a:alpha val="60000"/>
                    </a:schemeClr>
                  </a:glow>
                </a:effectLst>
              </a:rPr>
              <a:t> مثل النصوص </a:t>
            </a:r>
            <a:r>
              <a:rPr lang="ar-EG" sz="2800" dirty="0" err="1">
                <a:effectLst>
                  <a:glow rad="101600">
                    <a:schemeClr val="bg2">
                      <a:lumMod val="75000"/>
                      <a:alpha val="60000"/>
                    </a:schemeClr>
                  </a:glow>
                </a:effectLst>
              </a:rPr>
              <a:t>والجرافيك</a:t>
            </a:r>
            <a:r>
              <a:rPr lang="ar-EG" sz="2800" dirty="0">
                <a:effectLst>
                  <a:glow rad="101600">
                    <a:schemeClr val="bg2">
                      <a:lumMod val="75000"/>
                      <a:alpha val="60000"/>
                    </a:schemeClr>
                  </a:glow>
                </a:effectLst>
              </a:rPr>
              <a:t> والصوت ولكن لا يتم الوصول </a:t>
            </a:r>
            <a:r>
              <a:rPr lang="ar-EG" sz="2800" dirty="0" err="1">
                <a:effectLst>
                  <a:glow rad="101600">
                    <a:schemeClr val="bg2">
                      <a:lumMod val="75000"/>
                      <a:alpha val="60000"/>
                    </a:schemeClr>
                  </a:glow>
                </a:effectLst>
              </a:rPr>
              <a:t>اليها</a:t>
            </a:r>
            <a:r>
              <a:rPr lang="ar-EG" sz="2800" dirty="0">
                <a:effectLst>
                  <a:glow rad="101600">
                    <a:schemeClr val="bg2">
                      <a:lumMod val="75000"/>
                      <a:alpha val="60000"/>
                    </a:schemeClr>
                  </a:glow>
                </a:effectLst>
              </a:rPr>
              <a:t> من خلال الروابط بينما </a:t>
            </a:r>
            <a:r>
              <a:rPr lang="ar-EG" sz="2800" dirty="0" err="1">
                <a:effectLst>
                  <a:glow rad="101600">
                    <a:schemeClr val="bg2">
                      <a:lumMod val="75000"/>
                      <a:alpha val="60000"/>
                    </a:schemeClr>
                  </a:glow>
                </a:effectLst>
              </a:rPr>
              <a:t>فى</a:t>
            </a:r>
            <a:r>
              <a:rPr lang="ar-EG" sz="2800" dirty="0">
                <a:effectLst>
                  <a:glow rad="101600">
                    <a:schemeClr val="bg2">
                      <a:lumMod val="75000"/>
                      <a:alpha val="60000"/>
                    </a:schemeClr>
                  </a:glow>
                </a:effectLst>
              </a:rPr>
              <a:t> الوسائط الفائقة لابد من توافر تلك الروابط.</a:t>
            </a:r>
          </a:p>
          <a:p>
            <a:pPr algn="just"/>
            <a:endParaRPr lang="en-US" sz="2800" dirty="0">
              <a:effectLst>
                <a:glow rad="101600">
                  <a:schemeClr val="bg2">
                    <a:lumMod val="75000"/>
                    <a:alpha val="60000"/>
                  </a:schemeClr>
                </a:glow>
              </a:effectLst>
            </a:endParaRPr>
          </a:p>
          <a:p>
            <a:pPr algn="just"/>
            <a:r>
              <a:rPr lang="ar-EG" sz="2800" dirty="0" err="1">
                <a:effectLst>
                  <a:glow rad="101600">
                    <a:schemeClr val="bg2">
                      <a:lumMod val="75000"/>
                      <a:alpha val="60000"/>
                    </a:schemeClr>
                  </a:glow>
                </a:effectLst>
              </a:rPr>
              <a:t>الا</a:t>
            </a:r>
            <a:r>
              <a:rPr lang="ar-EG" sz="2800" dirty="0">
                <a:effectLst>
                  <a:glow rad="101600">
                    <a:schemeClr val="bg2">
                      <a:lumMod val="75000"/>
                      <a:alpha val="60000"/>
                    </a:schemeClr>
                  </a:glow>
                </a:effectLst>
              </a:rPr>
              <a:t> </a:t>
            </a:r>
            <a:r>
              <a:rPr lang="ar-EG" sz="2800" dirty="0" err="1">
                <a:effectLst>
                  <a:glow rad="101600">
                    <a:schemeClr val="bg2">
                      <a:lumMod val="75000"/>
                      <a:alpha val="60000"/>
                    </a:schemeClr>
                  </a:glow>
                </a:effectLst>
              </a:rPr>
              <a:t>ان</a:t>
            </a:r>
            <a:r>
              <a:rPr lang="ar-EG" sz="2800" dirty="0">
                <a:effectLst>
                  <a:glow rad="101600">
                    <a:schemeClr val="bg2">
                      <a:lumMod val="75000"/>
                      <a:alpha val="60000"/>
                    </a:schemeClr>
                  </a:glow>
                </a:effectLst>
              </a:rPr>
              <a:t> الوسائط الفائقة تتميز عن الوسائط المتعددة </a:t>
            </a:r>
            <a:r>
              <a:rPr lang="ar-EG" sz="2800" dirty="0" err="1">
                <a:effectLst>
                  <a:glow rad="101600">
                    <a:schemeClr val="bg2">
                      <a:lumMod val="75000"/>
                      <a:alpha val="60000"/>
                    </a:schemeClr>
                  </a:glow>
                </a:effectLst>
              </a:rPr>
              <a:t>فى</a:t>
            </a:r>
            <a:r>
              <a:rPr lang="ar-EG" sz="2800" dirty="0">
                <a:effectLst>
                  <a:glow rad="101600">
                    <a:schemeClr val="bg2">
                      <a:lumMod val="75000"/>
                      <a:alpha val="60000"/>
                    </a:schemeClr>
                  </a:glow>
                </a:effectLst>
              </a:rPr>
              <a:t> </a:t>
            </a:r>
            <a:r>
              <a:rPr lang="ar-EG" sz="2800" dirty="0" err="1">
                <a:effectLst>
                  <a:glow rad="101600">
                    <a:schemeClr val="bg2">
                      <a:lumMod val="75000"/>
                      <a:alpha val="60000"/>
                    </a:schemeClr>
                  </a:glow>
                </a:effectLst>
              </a:rPr>
              <a:t>انها</a:t>
            </a:r>
            <a:r>
              <a:rPr lang="ar-EG" sz="2800" dirty="0">
                <a:effectLst>
                  <a:glow rad="101600">
                    <a:schemeClr val="bg2">
                      <a:lumMod val="75000"/>
                      <a:alpha val="60000"/>
                    </a:schemeClr>
                  </a:glow>
                </a:effectLst>
              </a:rPr>
              <a:t> تضيف </a:t>
            </a:r>
            <a:r>
              <a:rPr lang="ar-EG" sz="2800" dirty="0" err="1">
                <a:effectLst>
                  <a:glow rad="101600">
                    <a:schemeClr val="bg2">
                      <a:lumMod val="75000"/>
                      <a:alpha val="60000"/>
                    </a:schemeClr>
                  </a:glow>
                </a:effectLst>
              </a:rPr>
              <a:t>الى</a:t>
            </a:r>
            <a:r>
              <a:rPr lang="ar-EG" sz="2800" dirty="0">
                <a:effectLst>
                  <a:glow rad="101600">
                    <a:schemeClr val="bg2">
                      <a:lumMod val="75000"/>
                      <a:alpha val="60000"/>
                    </a:schemeClr>
                  </a:glow>
                </a:effectLst>
              </a:rPr>
              <a:t> محتوى البرنامج بجانب النص </a:t>
            </a:r>
            <a:r>
              <a:rPr lang="ar-EG" sz="2800" dirty="0" err="1">
                <a:effectLst>
                  <a:glow rad="101600">
                    <a:schemeClr val="bg2">
                      <a:lumMod val="75000"/>
                      <a:alpha val="60000"/>
                    </a:schemeClr>
                  </a:glow>
                </a:effectLst>
              </a:rPr>
              <a:t>انماطا</a:t>
            </a:r>
            <a:r>
              <a:rPr lang="ar-EG" sz="2800" dirty="0">
                <a:effectLst>
                  <a:glow rad="101600">
                    <a:schemeClr val="bg2">
                      <a:lumMod val="75000"/>
                      <a:alpha val="60000"/>
                    </a:schemeClr>
                  </a:glow>
                </a:effectLst>
              </a:rPr>
              <a:t> </a:t>
            </a:r>
            <a:r>
              <a:rPr lang="ar-EG" sz="2800" dirty="0" err="1">
                <a:effectLst>
                  <a:glow rad="101600">
                    <a:schemeClr val="bg2">
                      <a:lumMod val="75000"/>
                      <a:alpha val="60000"/>
                    </a:schemeClr>
                  </a:glow>
                </a:effectLst>
              </a:rPr>
              <a:t>اخرى</a:t>
            </a:r>
            <a:r>
              <a:rPr lang="ar-EG" sz="2800" dirty="0">
                <a:effectLst>
                  <a:glow rad="101600">
                    <a:schemeClr val="bg2">
                      <a:lumMod val="75000"/>
                      <a:alpha val="60000"/>
                    </a:schemeClr>
                  </a:glow>
                </a:effectLst>
              </a:rPr>
              <a:t> من الوسائط كالصور والرسومات الخطية والبيانية والصور المتحركة والفيديو.</a:t>
            </a:r>
            <a:endParaRPr lang="en-US" sz="2800" dirty="0">
              <a:effectLst>
                <a:glow rad="101600">
                  <a:schemeClr val="bg2">
                    <a:lumMod val="75000"/>
                    <a:alpha val="60000"/>
                  </a:schemeClr>
                </a:glow>
              </a:effectLst>
            </a:endParaRPr>
          </a:p>
        </p:txBody>
      </p:sp>
    </p:spTree>
  </p:cSld>
  <p:clrMapOvr>
    <a:masterClrMapping/>
  </p:clrMapOvr>
  <p:transition spd="slow">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9" presetClass="entr" presetSubtype="10" fill="hold" grpId="1" nodeType="clickEffect">
                                  <p:stCondLst>
                                    <p:cond delay="0"/>
                                  </p:stCondLst>
                                  <p:iterate type="lt">
                                    <p:tmPct val="0"/>
                                  </p:iterate>
                                  <p:childTnLst>
                                    <p:set>
                                      <p:cBhvr>
                                        <p:cTn id="14" dur="1" fill="hold">
                                          <p:stCondLst>
                                            <p:cond delay="0"/>
                                          </p:stCondLst>
                                        </p:cTn>
                                        <p:tgtEl>
                                          <p:spTgt spid="2"/>
                                        </p:tgtEl>
                                        <p:attrNameLst>
                                          <p:attrName>style.visibility</p:attrName>
                                        </p:attrNameLst>
                                      </p:cBhvr>
                                      <p:to>
                                        <p:strVal val="visible"/>
                                      </p:to>
                                    </p:set>
                                    <p:anim calcmode="lin" valueType="num">
                                      <p:cBhvr>
                                        <p:cTn id="15" dur="5000" fill="hold"/>
                                        <p:tgtEl>
                                          <p:spTgt spid="2"/>
                                        </p:tgtEl>
                                        <p:attrNameLst>
                                          <p:attrName>ppt_w</p:attrName>
                                        </p:attrNameLst>
                                      </p:cBhvr>
                                      <p:tavLst>
                                        <p:tav tm="0" fmla="#ppt_w*sin(2.5*pi*$)">
                                          <p:val>
                                            <p:fltVal val="0"/>
                                          </p:val>
                                        </p:tav>
                                        <p:tav tm="100000">
                                          <p:val>
                                            <p:fltVal val="1"/>
                                          </p:val>
                                        </p:tav>
                                      </p:tavLst>
                                    </p:anim>
                                    <p:anim calcmode="lin" valueType="num">
                                      <p:cBhvr>
                                        <p:cTn id="16" dur="5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dissolve">
                                      <p:cBhvr>
                                        <p:cTn id="21" dur="1000"/>
                                        <p:tgtEl>
                                          <p:spTgt spid="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6"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barn(inHorizontal)">
                                      <p:cBhvr>
                                        <p:cTn id="26"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214282" y="476672"/>
            <a:ext cx="8715436" cy="5509200"/>
          </a:xfrm>
          <a:prstGeom prst="rect">
            <a:avLst/>
          </a:prstGeom>
          <a:noFill/>
        </p:spPr>
        <p:txBody>
          <a:bodyPr wrap="square" rtlCol="1">
            <a:spAutoFit/>
          </a:bodyPr>
          <a:lstStyle/>
          <a:p>
            <a:pPr algn="ctr"/>
            <a:r>
              <a:rPr lang="ar-EG" sz="3600" dirty="0">
                <a:ln w="18415" cmpd="sng">
                  <a:solidFill>
                    <a:srgbClr val="FFFFFF"/>
                  </a:solidFill>
                  <a:prstDash val="solid"/>
                </a:ln>
                <a:solidFill>
                  <a:schemeClr val="tx2"/>
                </a:solidFill>
                <a:effectLst>
                  <a:reflection blurRad="6350" stA="55000" endA="300" endPos="45500" dir="5400000" sy="-100000" algn="bl" rotWithShape="0"/>
                </a:effectLst>
              </a:rPr>
              <a:t>ويتضح الفرق بين الوسائط المتعددة والوسائط الفائقة </a:t>
            </a:r>
            <a:r>
              <a:rPr lang="ar-EG" sz="3600" dirty="0" err="1">
                <a:ln w="18415" cmpd="sng">
                  <a:solidFill>
                    <a:srgbClr val="FFFFFF"/>
                  </a:solidFill>
                  <a:prstDash val="solid"/>
                </a:ln>
                <a:solidFill>
                  <a:schemeClr val="tx2"/>
                </a:solidFill>
                <a:effectLst>
                  <a:reflection blurRad="6350" stA="55000" endA="300" endPos="45500" dir="5400000" sy="-100000" algn="bl" rotWithShape="0"/>
                </a:effectLst>
              </a:rPr>
              <a:t>فى</a:t>
            </a:r>
            <a:r>
              <a:rPr lang="ar-EG" sz="3600" dirty="0">
                <a:ln w="18415" cmpd="sng">
                  <a:solidFill>
                    <a:srgbClr val="FFFFFF"/>
                  </a:solidFill>
                  <a:prstDash val="solid"/>
                </a:ln>
                <a:solidFill>
                  <a:schemeClr val="tx2"/>
                </a:solidFill>
                <a:effectLst>
                  <a:reflection blurRad="6350" stA="55000" endA="300" endPos="45500" dir="5400000" sy="-100000" algn="bl" rotWithShape="0"/>
                </a:effectLst>
              </a:rPr>
              <a:t> عدد من الخصائص منها :</a:t>
            </a:r>
          </a:p>
          <a:p>
            <a:pPr algn="ctr"/>
            <a:endParaRPr lang="ar-EG" sz="2800" dirty="0"/>
          </a:p>
          <a:p>
            <a:pPr algn="ctr"/>
            <a:endParaRPr lang="en-US" sz="2800" dirty="0"/>
          </a:p>
          <a:p>
            <a:pPr lvl="0">
              <a:buFontTx/>
              <a:buChar char="-"/>
            </a:pPr>
            <a:r>
              <a:rPr lang="ar-EG" sz="2800" dirty="0">
                <a:effectLst>
                  <a:glow rad="101600">
                    <a:schemeClr val="accent3">
                      <a:lumMod val="75000"/>
                      <a:alpha val="60000"/>
                    </a:schemeClr>
                  </a:glow>
                </a:effectLst>
              </a:rPr>
              <a:t>عدد الخيارات </a:t>
            </a:r>
            <a:r>
              <a:rPr lang="ar-EG" sz="2800" dirty="0" err="1">
                <a:effectLst>
                  <a:glow rad="101600">
                    <a:schemeClr val="accent3">
                      <a:lumMod val="75000"/>
                      <a:alpha val="60000"/>
                    </a:schemeClr>
                  </a:glow>
                </a:effectLst>
              </a:rPr>
              <a:t>المتاحه</a:t>
            </a:r>
            <a:r>
              <a:rPr lang="ar-EG" sz="2800" dirty="0">
                <a:effectLst>
                  <a:glow rad="101600">
                    <a:schemeClr val="accent3">
                      <a:lumMod val="75000"/>
                      <a:alpha val="60000"/>
                    </a:schemeClr>
                  </a:glow>
                </a:effectLst>
              </a:rPr>
              <a:t> للمستخدم.</a:t>
            </a:r>
          </a:p>
          <a:p>
            <a:pPr lvl="0"/>
            <a:endParaRPr lang="en-US" sz="2800" dirty="0"/>
          </a:p>
          <a:p>
            <a:pPr lvl="0">
              <a:buFontTx/>
              <a:buChar char="-"/>
            </a:pPr>
            <a:r>
              <a:rPr lang="ar-EG" sz="2800" dirty="0" err="1">
                <a:effectLst>
                  <a:glow rad="101600">
                    <a:schemeClr val="accent3">
                      <a:lumMod val="75000"/>
                      <a:alpha val="60000"/>
                    </a:schemeClr>
                  </a:glow>
                </a:effectLst>
              </a:rPr>
              <a:t>انماط</a:t>
            </a:r>
            <a:r>
              <a:rPr lang="ar-EG" sz="2800" dirty="0">
                <a:effectLst>
                  <a:glow rad="101600">
                    <a:schemeClr val="accent3">
                      <a:lumMod val="75000"/>
                      <a:alpha val="60000"/>
                    </a:schemeClr>
                  </a:glow>
                </a:effectLst>
              </a:rPr>
              <a:t> </a:t>
            </a:r>
            <a:r>
              <a:rPr lang="ar-EG" sz="2800" dirty="0" err="1">
                <a:effectLst>
                  <a:glow rad="101600">
                    <a:schemeClr val="accent3">
                      <a:lumMod val="75000"/>
                      <a:alpha val="60000"/>
                    </a:schemeClr>
                  </a:glow>
                </a:effectLst>
              </a:rPr>
              <a:t>الابحار</a:t>
            </a:r>
            <a:r>
              <a:rPr lang="ar-EG" sz="2800" dirty="0">
                <a:effectLst>
                  <a:glow rad="101600">
                    <a:schemeClr val="accent3">
                      <a:lumMod val="75000"/>
                      <a:alpha val="60000"/>
                    </a:schemeClr>
                  </a:glow>
                </a:effectLst>
              </a:rPr>
              <a:t> وطرق سير المستخدم </a:t>
            </a:r>
            <a:r>
              <a:rPr lang="ar-EG" sz="2800" dirty="0" err="1">
                <a:effectLst>
                  <a:glow rad="101600">
                    <a:schemeClr val="accent3">
                      <a:lumMod val="75000"/>
                      <a:alpha val="60000"/>
                    </a:schemeClr>
                  </a:glow>
                </a:effectLst>
              </a:rPr>
              <a:t>فى</a:t>
            </a:r>
            <a:r>
              <a:rPr lang="ar-EG" sz="2800" dirty="0">
                <a:effectLst>
                  <a:glow rad="101600">
                    <a:schemeClr val="accent3">
                      <a:lumMod val="75000"/>
                      <a:alpha val="60000"/>
                    </a:schemeClr>
                  </a:glow>
                </a:effectLst>
              </a:rPr>
              <a:t> العرض.</a:t>
            </a:r>
          </a:p>
          <a:p>
            <a:pPr lvl="0"/>
            <a:endParaRPr lang="en-US" sz="2800" dirty="0">
              <a:effectLst>
                <a:glow rad="101600">
                  <a:schemeClr val="accent3">
                    <a:lumMod val="75000"/>
                    <a:alpha val="60000"/>
                  </a:schemeClr>
                </a:glow>
              </a:effectLst>
            </a:endParaRPr>
          </a:p>
          <a:p>
            <a:pPr lvl="0">
              <a:buFontTx/>
              <a:buChar char="-"/>
            </a:pPr>
            <a:r>
              <a:rPr lang="ar-EG" sz="2800" dirty="0">
                <a:effectLst>
                  <a:glow rad="101600">
                    <a:schemeClr val="accent3">
                      <a:lumMod val="75000"/>
                      <a:alpha val="60000"/>
                    </a:schemeClr>
                  </a:glow>
                </a:effectLst>
              </a:rPr>
              <a:t>التوسعية </a:t>
            </a:r>
            <a:r>
              <a:rPr lang="ar-EG" sz="2800" dirty="0" err="1">
                <a:effectLst>
                  <a:glow rad="101600">
                    <a:schemeClr val="accent3">
                      <a:lumMod val="75000"/>
                      <a:alpha val="60000"/>
                    </a:schemeClr>
                  </a:glow>
                </a:effectLst>
              </a:rPr>
              <a:t>فى</a:t>
            </a:r>
            <a:r>
              <a:rPr lang="ar-EG" sz="2800" dirty="0">
                <a:effectLst>
                  <a:glow rad="101600">
                    <a:schemeClr val="accent3">
                      <a:lumMod val="75000"/>
                      <a:alpha val="60000"/>
                    </a:schemeClr>
                  </a:glow>
                </a:effectLst>
              </a:rPr>
              <a:t> تقديم النصوص والمعلومات </a:t>
            </a:r>
            <a:r>
              <a:rPr lang="ar-EG" sz="2800" dirty="0" err="1">
                <a:effectLst>
                  <a:glow rad="101600">
                    <a:schemeClr val="accent3">
                      <a:lumMod val="75000"/>
                      <a:alpha val="60000"/>
                    </a:schemeClr>
                  </a:glow>
                </a:effectLst>
              </a:rPr>
              <a:t>فى</a:t>
            </a:r>
            <a:r>
              <a:rPr lang="ar-EG" sz="2800" dirty="0">
                <a:effectLst>
                  <a:glow rad="101600">
                    <a:schemeClr val="accent3">
                      <a:lumMod val="75000"/>
                      <a:alpha val="60000"/>
                    </a:schemeClr>
                  </a:glow>
                </a:effectLst>
              </a:rPr>
              <a:t> الوسائط الفائقة عنها </a:t>
            </a:r>
            <a:r>
              <a:rPr lang="ar-EG" sz="2800" dirty="0" err="1">
                <a:effectLst>
                  <a:glow rad="101600">
                    <a:schemeClr val="accent3">
                      <a:lumMod val="75000"/>
                      <a:alpha val="60000"/>
                    </a:schemeClr>
                  </a:glow>
                </a:effectLst>
              </a:rPr>
              <a:t>فى</a:t>
            </a:r>
            <a:r>
              <a:rPr lang="ar-EG" sz="2800" dirty="0">
                <a:effectLst>
                  <a:glow rad="101600">
                    <a:schemeClr val="accent3">
                      <a:lumMod val="75000"/>
                      <a:alpha val="60000"/>
                    </a:schemeClr>
                  </a:glow>
                </a:effectLst>
              </a:rPr>
              <a:t> الوسائط المتعددة.</a:t>
            </a:r>
          </a:p>
          <a:p>
            <a:pPr lvl="0"/>
            <a:endParaRPr lang="en-US" sz="2800" dirty="0">
              <a:effectLst>
                <a:glow rad="101600">
                  <a:schemeClr val="accent3">
                    <a:lumMod val="75000"/>
                    <a:alpha val="60000"/>
                  </a:schemeClr>
                </a:glow>
              </a:effectLst>
            </a:endParaRPr>
          </a:p>
          <a:p>
            <a:pPr lvl="0"/>
            <a:r>
              <a:rPr lang="ar-EG" sz="2800" dirty="0">
                <a:effectLst>
                  <a:glow rad="101600">
                    <a:schemeClr val="accent3">
                      <a:lumMod val="75000"/>
                      <a:alpha val="60000"/>
                    </a:schemeClr>
                  </a:glow>
                </a:effectLst>
              </a:rPr>
              <a:t>- </a:t>
            </a:r>
            <a:r>
              <a:rPr lang="ar-EG" sz="2800" dirty="0" err="1">
                <a:effectLst>
                  <a:glow rad="101600">
                    <a:schemeClr val="accent3">
                      <a:lumMod val="75000"/>
                      <a:alpha val="60000"/>
                    </a:schemeClr>
                  </a:glow>
                </a:effectLst>
              </a:rPr>
              <a:t>الابهار</a:t>
            </a:r>
            <a:r>
              <a:rPr lang="ar-EG" sz="2800" dirty="0">
                <a:effectLst>
                  <a:glow rad="101600">
                    <a:schemeClr val="accent3">
                      <a:lumMod val="75000"/>
                      <a:alpha val="60000"/>
                    </a:schemeClr>
                  </a:glow>
                </a:effectLst>
              </a:rPr>
              <a:t> </a:t>
            </a:r>
            <a:r>
              <a:rPr lang="ar-EG" sz="2800" dirty="0" err="1">
                <a:effectLst>
                  <a:glow rad="101600">
                    <a:schemeClr val="accent3">
                      <a:lumMod val="75000"/>
                      <a:alpha val="60000"/>
                    </a:schemeClr>
                  </a:glow>
                </a:effectLst>
              </a:rPr>
              <a:t>فى</a:t>
            </a:r>
            <a:r>
              <a:rPr lang="ar-EG" sz="2800" dirty="0">
                <a:effectLst>
                  <a:glow rad="101600">
                    <a:schemeClr val="accent3">
                      <a:lumMod val="75000"/>
                      <a:alpha val="60000"/>
                    </a:schemeClr>
                  </a:glow>
                </a:effectLst>
              </a:rPr>
              <a:t> عروض الوسائط الفائقة عن عروض الوسائط المتعددة.</a:t>
            </a:r>
            <a:endParaRPr lang="en-US" sz="2800" dirty="0">
              <a:effectLst>
                <a:glow rad="101600">
                  <a:schemeClr val="accent3">
                    <a:lumMod val="75000"/>
                    <a:alpha val="60000"/>
                  </a:schemeClr>
                </a:glow>
              </a:effectLst>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righ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blinds(horizontal)">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animEffect transition="in" filter="blinds(horizontal)">
                                      <p:cBhvr>
                                        <p:cTn id="17" dur="500"/>
                                        <p:tgtEl>
                                          <p:spTgt spid="2">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xEl>
                                              <p:pRg st="7" end="7"/>
                                            </p:txEl>
                                          </p:spTgt>
                                        </p:tgtEl>
                                        <p:attrNameLst>
                                          <p:attrName>style.visibility</p:attrName>
                                        </p:attrNameLst>
                                      </p:cBhvr>
                                      <p:to>
                                        <p:strVal val="visible"/>
                                      </p:to>
                                    </p:set>
                                    <p:animEffect transition="in" filter="blinds(horizontal)">
                                      <p:cBhvr>
                                        <p:cTn id="22" dur="500"/>
                                        <p:tgtEl>
                                          <p:spTgt spid="2">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animEffect transition="in" filter="blinds(horizontal)">
                                      <p:cBhvr>
                                        <p:cTn id="27"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2051720" y="332656"/>
            <a:ext cx="4949172" cy="584775"/>
          </a:xfrm>
          <a:prstGeom prst="rect">
            <a:avLst/>
          </a:prstGeom>
        </p:spPr>
        <p:style>
          <a:lnRef idx="3">
            <a:schemeClr val="lt1"/>
          </a:lnRef>
          <a:fillRef idx="1">
            <a:schemeClr val="accent3"/>
          </a:fillRef>
          <a:effectRef idx="1">
            <a:schemeClr val="accent3"/>
          </a:effectRef>
          <a:fontRef idx="minor">
            <a:schemeClr val="lt1"/>
          </a:fontRef>
        </p:style>
        <p:txBody>
          <a:bodyPr wrap="square" rtlCol="1">
            <a:spAutoFit/>
          </a:bodyPr>
          <a:lstStyle/>
          <a:p>
            <a:pPr algn="ctr"/>
            <a:r>
              <a:rPr lang="ar-EG" sz="3200" b="1" dirty="0"/>
              <a:t>خصائص برامج الوسائط الفائقة</a:t>
            </a:r>
            <a:endParaRPr lang="en-US" sz="3200" dirty="0"/>
          </a:p>
        </p:txBody>
      </p:sp>
      <p:sp>
        <p:nvSpPr>
          <p:cNvPr id="3" name="مربع نص 2"/>
          <p:cNvSpPr txBox="1"/>
          <p:nvPr/>
        </p:nvSpPr>
        <p:spPr>
          <a:xfrm>
            <a:off x="107504" y="1412776"/>
            <a:ext cx="8856984" cy="5139869"/>
          </a:xfrm>
          <a:prstGeom prst="rect">
            <a:avLst/>
          </a:prstGeom>
          <a:noFill/>
        </p:spPr>
        <p:txBody>
          <a:bodyPr wrap="square" rtlCol="1">
            <a:spAutoFit/>
          </a:bodyPr>
          <a:lstStyle/>
          <a:p>
            <a:pPr lvl="0"/>
            <a:r>
              <a:rPr lang="ar-EG" sz="3200" b="1" dirty="0">
                <a:solidFill>
                  <a:srgbClr val="FFFF00"/>
                </a:solidFill>
              </a:rPr>
              <a:t>1- المعلومات الصغيرة</a:t>
            </a:r>
            <a:endParaRPr lang="en-US" sz="3200" dirty="0">
              <a:solidFill>
                <a:srgbClr val="FFFF00"/>
              </a:solidFill>
            </a:endParaRPr>
          </a:p>
          <a:p>
            <a:r>
              <a:rPr lang="ar-EG" sz="2400" dirty="0"/>
              <a:t>هى الوحدات الاساسية لتخزين المعلومات فى انظمة الوسائط الفائقة حيث تتكون من اجزاء صغيرة من النص او الرسوم البيانية او تتابعات الفيديو او الصوت او اى معلومات اخرى هذه المعلومات الصغيره التى تحدد ما يمكن عرضة على الشاشة الواحدة وحجم هذه المعلومات يتنوع ما بين كلمة مفردة او بعض الكلمات مقارنة بحجم البرنامج ككل بينما تتطلب الكتب والافلام المتحركة تدفق المعلومات بصفة مستمرة والمعلومات الصغيرة فى برامج الوسائط الفائقة يشار اليها بمسمى اطارات</a:t>
            </a:r>
          </a:p>
          <a:p>
            <a:pPr lvl="0"/>
            <a:r>
              <a:rPr lang="ar-EG" sz="3200" b="1" dirty="0">
                <a:solidFill>
                  <a:srgbClr val="FFFF00"/>
                </a:solidFill>
              </a:rPr>
              <a:t>2- الارتباطات </a:t>
            </a:r>
            <a:r>
              <a:rPr lang="en-US" sz="3200" b="1" dirty="0">
                <a:solidFill>
                  <a:srgbClr val="FFFF00"/>
                </a:solidFill>
              </a:rPr>
              <a:t>Links</a:t>
            </a:r>
            <a:endParaRPr lang="en-US" sz="3200" dirty="0">
              <a:solidFill>
                <a:srgbClr val="FFFF00"/>
              </a:solidFill>
            </a:endParaRPr>
          </a:p>
          <a:p>
            <a:r>
              <a:rPr lang="ar-EG" sz="2400" dirty="0" err="1"/>
              <a:t>هى</a:t>
            </a:r>
            <a:r>
              <a:rPr lang="ar-EG" sz="2400" dirty="0"/>
              <a:t> الروابط </a:t>
            </a:r>
            <a:r>
              <a:rPr lang="ar-EG" sz="2400" dirty="0" err="1"/>
              <a:t>التى</a:t>
            </a:r>
            <a:r>
              <a:rPr lang="ar-EG" sz="2400" dirty="0"/>
              <a:t> تستخدم بين المعلومات </a:t>
            </a:r>
            <a:r>
              <a:rPr lang="ar-EG" sz="2400" dirty="0" err="1"/>
              <a:t>والتى</a:t>
            </a:r>
            <a:r>
              <a:rPr lang="ar-EG" sz="2400" dirty="0"/>
              <a:t> يمكن من خلالها الانتقال والقفز بين المعلومات وتعتمد </a:t>
            </a:r>
            <a:r>
              <a:rPr lang="ar-EG" sz="2400" dirty="0" err="1"/>
              <a:t>انظمة</a:t>
            </a:r>
            <a:r>
              <a:rPr lang="ar-EG" sz="2400" dirty="0"/>
              <a:t> الوسائط الفائقة على الروابط </a:t>
            </a:r>
            <a:r>
              <a:rPr lang="ar-EG" sz="2400" dirty="0" err="1"/>
              <a:t>التى</a:t>
            </a:r>
            <a:r>
              <a:rPr lang="ar-EG" sz="2400" dirty="0"/>
              <a:t> تسمح للمستخدم باجتياز الرابطة من نقطة مصدرية محددة </a:t>
            </a:r>
            <a:r>
              <a:rPr lang="ar-EG" sz="2400" dirty="0" err="1"/>
              <a:t>فى</a:t>
            </a:r>
            <a:r>
              <a:rPr lang="ar-EG" sz="2400" dirty="0"/>
              <a:t> وثيقة </a:t>
            </a:r>
            <a:r>
              <a:rPr lang="ar-EG" sz="2400" dirty="0" err="1"/>
              <a:t>الى</a:t>
            </a:r>
            <a:r>
              <a:rPr lang="ar-EG" sz="2400" dirty="0"/>
              <a:t> جهة محددة وتشير معظم الدراسات </a:t>
            </a:r>
            <a:r>
              <a:rPr lang="ar-EG" sz="2400" dirty="0" err="1"/>
              <a:t>الى</a:t>
            </a:r>
            <a:r>
              <a:rPr lang="ar-EG" sz="2400" dirty="0"/>
              <a:t> </a:t>
            </a:r>
            <a:r>
              <a:rPr lang="ar-EG" sz="2400" dirty="0" err="1"/>
              <a:t>ان</a:t>
            </a:r>
            <a:r>
              <a:rPr lang="ar-EG" sz="2400" dirty="0"/>
              <a:t> هناك مجموعه نمازج </a:t>
            </a:r>
            <a:r>
              <a:rPr lang="ar-EG" sz="2400" dirty="0" err="1"/>
              <a:t>اساسية</a:t>
            </a:r>
            <a:r>
              <a:rPr lang="ar-EG" sz="2400" dirty="0"/>
              <a:t> للربط </a:t>
            </a:r>
            <a:r>
              <a:rPr lang="en-US" sz="2400" dirty="0"/>
              <a:t>Link</a:t>
            </a:r>
            <a:r>
              <a:rPr lang="ar-EG" sz="2400" dirty="0"/>
              <a:t> </a:t>
            </a:r>
            <a:r>
              <a:rPr lang="ar-EG" sz="2400" dirty="0" err="1"/>
              <a:t>فى</a:t>
            </a:r>
            <a:r>
              <a:rPr lang="ar-EG" sz="2400" dirty="0"/>
              <a:t> برامج الوسائط </a:t>
            </a:r>
            <a:r>
              <a:rPr lang="ar-EG" sz="2400" dirty="0" err="1"/>
              <a:t>الفائثة</a:t>
            </a:r>
            <a:r>
              <a:rPr lang="ar-EG" sz="2400" dirty="0"/>
              <a:t> تبدأ </a:t>
            </a:r>
            <a:r>
              <a:rPr lang="ar-EG" sz="2400" dirty="0" err="1"/>
              <a:t>بالاكثر</a:t>
            </a:r>
            <a:r>
              <a:rPr lang="ar-EG" sz="2400" dirty="0"/>
              <a:t> تقيدا </a:t>
            </a:r>
            <a:r>
              <a:rPr lang="ar-EG" sz="2400" dirty="0" err="1"/>
              <a:t>وتنتهى</a:t>
            </a:r>
            <a:r>
              <a:rPr lang="ar-EG" sz="2400" dirty="0"/>
              <a:t> </a:t>
            </a:r>
            <a:r>
              <a:rPr lang="ar-EG" sz="2400" dirty="0" err="1"/>
              <a:t>بالاقل</a:t>
            </a:r>
            <a:r>
              <a:rPr lang="ar-EG" sz="2400" dirty="0"/>
              <a:t> تقيدا </a:t>
            </a:r>
            <a:endParaRPr lang="en-US" sz="2400" dirty="0"/>
          </a:p>
        </p:txBody>
      </p:sp>
    </p:spTree>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5"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500" decel="50000" fill="hold">
                                          <p:stCondLst>
                                            <p:cond delay="0"/>
                                          </p:stCondLst>
                                        </p:cTn>
                                        <p:tgtEl>
                                          <p:spTgt spid="3">
                                            <p:txEl>
                                              <p:pRg st="0" end="0"/>
                                            </p:txEl>
                                          </p:spTgt>
                                        </p:tgtEl>
                                        <p:attrNameLst>
                                          <p:attrName>style.rotation</p:attrName>
                                        </p:attrNameLst>
                                      </p:cBhvr>
                                      <p:tavLst>
                                        <p:tav tm="0">
                                          <p:val>
                                            <p:fltVal val="-90"/>
                                          </p:val>
                                        </p:tav>
                                        <p:tav tm="100000">
                                          <p:val>
                                            <p:fltVal val="0"/>
                                          </p:val>
                                        </p:tav>
                                      </p:tavLst>
                                    </p:anim>
                                    <p:anim calcmode="lin" valueType="num">
                                      <p:cBhvr>
                                        <p:cTn id="16" dur="500" decel="50000" fill="hold">
                                          <p:stCondLst>
                                            <p:cond delay="0"/>
                                          </p:stCondLst>
                                        </p:cTn>
                                        <p:tgtEl>
                                          <p:spTgt spid="3">
                                            <p:txEl>
                                              <p:pRg st="0" end="0"/>
                                            </p:txEl>
                                          </p:spTgt>
                                        </p:tgtEl>
                                        <p:attrNameLst>
                                          <p:attrName>ppt_w</p:attrName>
                                        </p:attrNameLst>
                                      </p:cBhvr>
                                      <p:tavLst>
                                        <p:tav tm="0">
                                          <p:val>
                                            <p:strVal val="#ppt_w"/>
                                          </p:val>
                                        </p:tav>
                                        <p:tav tm="100000">
                                          <p:val>
                                            <p:strVal val="#ppt_w*.05"/>
                                          </p:val>
                                        </p:tav>
                                      </p:tavLst>
                                    </p:anim>
                                    <p:anim calcmode="lin" valueType="num">
                                      <p:cBhvr>
                                        <p:cTn id="17" dur="500" accel="50000" fill="hold">
                                          <p:stCondLst>
                                            <p:cond delay="500"/>
                                          </p:stCondLst>
                                        </p:cTn>
                                        <p:tgtEl>
                                          <p:spTgt spid="3">
                                            <p:txEl>
                                              <p:pRg st="0" end="0"/>
                                            </p:txEl>
                                          </p:spTgt>
                                        </p:tgtEl>
                                        <p:attrNameLst>
                                          <p:attrName>ppt_w</p:attrName>
                                        </p:attrNameLst>
                                      </p:cBhvr>
                                      <p:tavLst>
                                        <p:tav tm="0">
                                          <p:val>
                                            <p:strVal val="#ppt_w*.05"/>
                                          </p:val>
                                        </p:tav>
                                        <p:tav tm="100000">
                                          <p:val>
                                            <p:strVal val="#ppt_w"/>
                                          </p:val>
                                        </p:tav>
                                      </p:tavLst>
                                    </p:anim>
                                    <p:anim calcmode="lin" valueType="num">
                                      <p:cBhvr>
                                        <p:cTn id="18" dur="1000" fill="hold"/>
                                        <p:tgtEl>
                                          <p:spTgt spid="3">
                                            <p:txEl>
                                              <p:pRg st="0" end="0"/>
                                            </p:txEl>
                                          </p:spTgt>
                                        </p:tgtEl>
                                        <p:attrNameLst>
                                          <p:attrName>ppt_h</p:attrName>
                                        </p:attrNameLst>
                                      </p:cBhvr>
                                      <p:tavLst>
                                        <p:tav tm="0">
                                          <p:val>
                                            <p:strVal val="#ppt_h"/>
                                          </p:val>
                                        </p:tav>
                                        <p:tav tm="100000">
                                          <p:val>
                                            <p:strVal val="#ppt_h"/>
                                          </p:val>
                                        </p:tav>
                                      </p:tavLst>
                                    </p:anim>
                                    <p:anim calcmode="lin" valueType="num">
                                      <p:cBhvr>
                                        <p:cTn id="19" dur="500" decel="50000" fill="hold">
                                          <p:stCondLst>
                                            <p:cond delay="0"/>
                                          </p:stCondLst>
                                        </p:cTn>
                                        <p:tgtEl>
                                          <p:spTgt spid="3">
                                            <p:txEl>
                                              <p:pRg st="0" end="0"/>
                                            </p:txEl>
                                          </p:spTgt>
                                        </p:tgtEl>
                                        <p:attrNameLst>
                                          <p:attrName>ppt_x</p:attrName>
                                        </p:attrNameLst>
                                      </p:cBhvr>
                                      <p:tavLst>
                                        <p:tav tm="0">
                                          <p:val>
                                            <p:strVal val="#ppt_x+.4"/>
                                          </p:val>
                                        </p:tav>
                                        <p:tav tm="100000">
                                          <p:val>
                                            <p:strVal val="#ppt_x"/>
                                          </p:val>
                                        </p:tav>
                                      </p:tavLst>
                                    </p:anim>
                                    <p:anim calcmode="lin" valueType="num">
                                      <p:cBhvr>
                                        <p:cTn id="20" dur="500" decel="50000" fill="hold">
                                          <p:stCondLst>
                                            <p:cond delay="0"/>
                                          </p:stCondLst>
                                        </p:cTn>
                                        <p:tgtEl>
                                          <p:spTgt spid="3">
                                            <p:txEl>
                                              <p:pRg st="0" end="0"/>
                                            </p:txEl>
                                          </p:spTgt>
                                        </p:tgtEl>
                                        <p:attrNameLst>
                                          <p:attrName>ppt_y</p:attrName>
                                        </p:attrNameLst>
                                      </p:cBhvr>
                                      <p:tavLst>
                                        <p:tav tm="0">
                                          <p:val>
                                            <p:strVal val="#ppt_y-.2"/>
                                          </p:val>
                                        </p:tav>
                                        <p:tav tm="100000">
                                          <p:val>
                                            <p:strVal val="#ppt_y+.1"/>
                                          </p:val>
                                        </p:tav>
                                      </p:tavLst>
                                    </p:anim>
                                    <p:anim calcmode="lin" valueType="num">
                                      <p:cBhvr>
                                        <p:cTn id="21" dur="500" accel="50000" fill="hold">
                                          <p:stCondLst>
                                            <p:cond delay="500"/>
                                          </p:stCondLst>
                                        </p:cTn>
                                        <p:tgtEl>
                                          <p:spTgt spid="3">
                                            <p:txEl>
                                              <p:pRg st="0" end="0"/>
                                            </p:txEl>
                                          </p:spTgt>
                                        </p:tgtEl>
                                        <p:attrNameLst>
                                          <p:attrName>ppt_y</p:attrName>
                                        </p:attrNameLst>
                                      </p:cBhvr>
                                      <p:tavLst>
                                        <p:tav tm="0">
                                          <p:val>
                                            <p:strVal val="#ppt_y+.1"/>
                                          </p:val>
                                        </p:tav>
                                        <p:tav tm="100000">
                                          <p:val>
                                            <p:strVal val="#ppt_y"/>
                                          </p:val>
                                        </p:tav>
                                      </p:tavLst>
                                    </p:anim>
                                    <p:animEffect transition="in" filter="fade">
                                      <p:cBhvr>
                                        <p:cTn id="22" dur="1000" decel="50000">
                                          <p:stCondLst>
                                            <p:cond delay="0"/>
                                          </p:stCondLst>
                                        </p:cTn>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blinds(horizontal)">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5" presetClass="entr" presetSubtype="0" fill="hold"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 calcmode="lin" valueType="num">
                                      <p:cBhvr>
                                        <p:cTn id="32" dur="500" decel="50000" fill="hold">
                                          <p:stCondLst>
                                            <p:cond delay="0"/>
                                          </p:stCondLst>
                                        </p:cTn>
                                        <p:tgtEl>
                                          <p:spTgt spid="3">
                                            <p:txEl>
                                              <p:pRg st="2" end="2"/>
                                            </p:txEl>
                                          </p:spTgt>
                                        </p:tgtEl>
                                        <p:attrNameLst>
                                          <p:attrName>style.rotation</p:attrName>
                                        </p:attrNameLst>
                                      </p:cBhvr>
                                      <p:tavLst>
                                        <p:tav tm="0">
                                          <p:val>
                                            <p:fltVal val="-90"/>
                                          </p:val>
                                        </p:tav>
                                        <p:tav tm="100000">
                                          <p:val>
                                            <p:fltVal val="0"/>
                                          </p:val>
                                        </p:tav>
                                      </p:tavLst>
                                    </p:anim>
                                    <p:anim calcmode="lin" valueType="num">
                                      <p:cBhvr>
                                        <p:cTn id="33" dur="500" decel="50000" fill="hold">
                                          <p:stCondLst>
                                            <p:cond delay="0"/>
                                          </p:stCondLst>
                                        </p:cTn>
                                        <p:tgtEl>
                                          <p:spTgt spid="3">
                                            <p:txEl>
                                              <p:pRg st="2" end="2"/>
                                            </p:txEl>
                                          </p:spTgt>
                                        </p:tgtEl>
                                        <p:attrNameLst>
                                          <p:attrName>ppt_w</p:attrName>
                                        </p:attrNameLst>
                                      </p:cBhvr>
                                      <p:tavLst>
                                        <p:tav tm="0">
                                          <p:val>
                                            <p:strVal val="#ppt_w"/>
                                          </p:val>
                                        </p:tav>
                                        <p:tav tm="100000">
                                          <p:val>
                                            <p:strVal val="#ppt_w*.05"/>
                                          </p:val>
                                        </p:tav>
                                      </p:tavLst>
                                    </p:anim>
                                    <p:anim calcmode="lin" valueType="num">
                                      <p:cBhvr>
                                        <p:cTn id="34" dur="500" accel="50000" fill="hold">
                                          <p:stCondLst>
                                            <p:cond delay="500"/>
                                          </p:stCondLst>
                                        </p:cTn>
                                        <p:tgtEl>
                                          <p:spTgt spid="3">
                                            <p:txEl>
                                              <p:pRg st="2" end="2"/>
                                            </p:txEl>
                                          </p:spTgt>
                                        </p:tgtEl>
                                        <p:attrNameLst>
                                          <p:attrName>ppt_w</p:attrName>
                                        </p:attrNameLst>
                                      </p:cBhvr>
                                      <p:tavLst>
                                        <p:tav tm="0">
                                          <p:val>
                                            <p:strVal val="#ppt_w*.05"/>
                                          </p:val>
                                        </p:tav>
                                        <p:tav tm="100000">
                                          <p:val>
                                            <p:strVal val="#ppt_w"/>
                                          </p:val>
                                        </p:tav>
                                      </p:tavLst>
                                    </p:anim>
                                    <p:anim calcmode="lin" valueType="num">
                                      <p:cBhvr>
                                        <p:cTn id="35" dur="1000" fill="hold"/>
                                        <p:tgtEl>
                                          <p:spTgt spid="3">
                                            <p:txEl>
                                              <p:pRg st="2" end="2"/>
                                            </p:txEl>
                                          </p:spTgt>
                                        </p:tgtEl>
                                        <p:attrNameLst>
                                          <p:attrName>ppt_h</p:attrName>
                                        </p:attrNameLst>
                                      </p:cBhvr>
                                      <p:tavLst>
                                        <p:tav tm="0">
                                          <p:val>
                                            <p:strVal val="#ppt_h"/>
                                          </p:val>
                                        </p:tav>
                                        <p:tav tm="100000">
                                          <p:val>
                                            <p:strVal val="#ppt_h"/>
                                          </p:val>
                                        </p:tav>
                                      </p:tavLst>
                                    </p:anim>
                                    <p:anim calcmode="lin" valueType="num">
                                      <p:cBhvr>
                                        <p:cTn id="36" dur="500" decel="50000" fill="hold">
                                          <p:stCondLst>
                                            <p:cond delay="0"/>
                                          </p:stCondLst>
                                        </p:cTn>
                                        <p:tgtEl>
                                          <p:spTgt spid="3">
                                            <p:txEl>
                                              <p:pRg st="2" end="2"/>
                                            </p:txEl>
                                          </p:spTgt>
                                        </p:tgtEl>
                                        <p:attrNameLst>
                                          <p:attrName>ppt_x</p:attrName>
                                        </p:attrNameLst>
                                      </p:cBhvr>
                                      <p:tavLst>
                                        <p:tav tm="0">
                                          <p:val>
                                            <p:strVal val="#ppt_x+.4"/>
                                          </p:val>
                                        </p:tav>
                                        <p:tav tm="100000">
                                          <p:val>
                                            <p:strVal val="#ppt_x"/>
                                          </p:val>
                                        </p:tav>
                                      </p:tavLst>
                                    </p:anim>
                                    <p:anim calcmode="lin" valueType="num">
                                      <p:cBhvr>
                                        <p:cTn id="37" dur="500" decel="50000" fill="hold">
                                          <p:stCondLst>
                                            <p:cond delay="0"/>
                                          </p:stCondLst>
                                        </p:cTn>
                                        <p:tgtEl>
                                          <p:spTgt spid="3">
                                            <p:txEl>
                                              <p:pRg st="2" end="2"/>
                                            </p:txEl>
                                          </p:spTgt>
                                        </p:tgtEl>
                                        <p:attrNameLst>
                                          <p:attrName>ppt_y</p:attrName>
                                        </p:attrNameLst>
                                      </p:cBhvr>
                                      <p:tavLst>
                                        <p:tav tm="0">
                                          <p:val>
                                            <p:strVal val="#ppt_y-.2"/>
                                          </p:val>
                                        </p:tav>
                                        <p:tav tm="100000">
                                          <p:val>
                                            <p:strVal val="#ppt_y+.1"/>
                                          </p:val>
                                        </p:tav>
                                      </p:tavLst>
                                    </p:anim>
                                    <p:anim calcmode="lin" valueType="num">
                                      <p:cBhvr>
                                        <p:cTn id="38" dur="500" accel="50000" fill="hold">
                                          <p:stCondLst>
                                            <p:cond delay="500"/>
                                          </p:stCondLst>
                                        </p:cTn>
                                        <p:tgtEl>
                                          <p:spTgt spid="3">
                                            <p:txEl>
                                              <p:pRg st="2" end="2"/>
                                            </p:txEl>
                                          </p:spTgt>
                                        </p:tgtEl>
                                        <p:attrNameLst>
                                          <p:attrName>ppt_y</p:attrName>
                                        </p:attrNameLst>
                                      </p:cBhvr>
                                      <p:tavLst>
                                        <p:tav tm="0">
                                          <p:val>
                                            <p:strVal val="#ppt_y+.1"/>
                                          </p:val>
                                        </p:tav>
                                        <p:tav tm="100000">
                                          <p:val>
                                            <p:strVal val="#ppt_y"/>
                                          </p:val>
                                        </p:tav>
                                      </p:tavLst>
                                    </p:anim>
                                    <p:animEffect transition="in" filter="fade">
                                      <p:cBhvr>
                                        <p:cTn id="39" dur="1000" decel="50000">
                                          <p:stCondLst>
                                            <p:cond delay="0"/>
                                          </p:stCondLst>
                                        </p:cTn>
                                        <p:tgtEl>
                                          <p:spTgt spid="3">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3">
                                            <p:txEl>
                                              <p:pRg st="3" end="3"/>
                                            </p:txEl>
                                          </p:spTgt>
                                        </p:tgtEl>
                                        <p:attrNameLst>
                                          <p:attrName>style.visibility</p:attrName>
                                        </p:attrNameLst>
                                      </p:cBhvr>
                                      <p:to>
                                        <p:strVal val="visible"/>
                                      </p:to>
                                    </p:set>
                                    <p:animEffect transition="in" filter="blinds(horizontal)">
                                      <p:cBhvr>
                                        <p:cTn id="4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07504" y="404664"/>
            <a:ext cx="8856984" cy="2616101"/>
          </a:xfrm>
          <a:prstGeom prst="rect">
            <a:avLst/>
          </a:prstGeom>
          <a:noFill/>
        </p:spPr>
        <p:txBody>
          <a:bodyPr wrap="square" rtlCol="1">
            <a:spAutoFit/>
          </a:bodyPr>
          <a:lstStyle/>
          <a:p>
            <a:r>
              <a:rPr lang="ar-EG" sz="36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وهذه النماذج هى :</a:t>
            </a:r>
            <a:endParaRPr lang="en-US" sz="2800" dirty="0">
              <a:solidFill>
                <a:srgbClr val="002060"/>
              </a:solidFill>
            </a:endParaRPr>
          </a:p>
          <a:p>
            <a:pPr lvl="0"/>
            <a:r>
              <a:rPr lang="ar-EG" sz="3200" b="1" dirty="0"/>
              <a:t>- النموذج الخطى </a:t>
            </a:r>
            <a:r>
              <a:rPr lang="en-US" sz="3200" b="1" dirty="0"/>
              <a:t>Linear</a:t>
            </a:r>
          </a:p>
          <a:p>
            <a:r>
              <a:rPr lang="ar-EG" sz="2400" dirty="0"/>
              <a:t>يعتبر ابسط نماذج الربط ويفترض فيه </a:t>
            </a:r>
            <a:r>
              <a:rPr lang="ar-EG" sz="2400" dirty="0" err="1"/>
              <a:t>ان</a:t>
            </a:r>
            <a:r>
              <a:rPr lang="ar-EG" sz="2400" dirty="0"/>
              <a:t> كل العقد يمكن الوصول </a:t>
            </a:r>
            <a:r>
              <a:rPr lang="ar-EG" sz="2400" dirty="0" err="1"/>
              <a:t>اليها</a:t>
            </a:r>
            <a:r>
              <a:rPr lang="ar-EG" sz="2400" dirty="0"/>
              <a:t> من خلال عقده واحده على </a:t>
            </a:r>
            <a:r>
              <a:rPr lang="ar-EG" sz="2400" dirty="0" err="1"/>
              <a:t>الاقل</a:t>
            </a:r>
            <a:r>
              <a:rPr lang="ar-EG" sz="2400" dirty="0"/>
              <a:t> بمعنى </a:t>
            </a:r>
            <a:r>
              <a:rPr lang="ar-EG" sz="2400" dirty="0" err="1"/>
              <a:t>ان</a:t>
            </a:r>
            <a:r>
              <a:rPr lang="ar-EG" sz="2400" dirty="0"/>
              <a:t> كل الروابط يرتبط </a:t>
            </a:r>
            <a:r>
              <a:rPr lang="ar-EG" sz="2400" dirty="0" err="1"/>
              <a:t>راسها</a:t>
            </a:r>
            <a:r>
              <a:rPr lang="ar-EG" sz="2400" dirty="0"/>
              <a:t> بذيلها وليس الرأس بالرأس </a:t>
            </a:r>
            <a:r>
              <a:rPr lang="ar-EG" sz="2400" dirty="0" err="1"/>
              <a:t>او</a:t>
            </a:r>
            <a:r>
              <a:rPr lang="ar-EG" sz="2400" dirty="0"/>
              <a:t> الذيل بالذيل وهكذا فان البنية تحدد الاتجاه </a:t>
            </a:r>
            <a:r>
              <a:rPr lang="ar-EG" sz="2400" dirty="0" err="1"/>
              <a:t>الطبيعى</a:t>
            </a:r>
            <a:r>
              <a:rPr lang="ar-EG" sz="2400" dirty="0"/>
              <a:t> </a:t>
            </a:r>
            <a:r>
              <a:rPr lang="ar-EG" sz="2400" dirty="0" err="1"/>
              <a:t>الذى</a:t>
            </a:r>
            <a:r>
              <a:rPr lang="ar-EG" sz="2400" dirty="0"/>
              <a:t> تتحرك فيه كل عقده سواء </a:t>
            </a:r>
            <a:r>
              <a:rPr lang="ar-EG" sz="2400" dirty="0" err="1"/>
              <a:t>للامام</a:t>
            </a:r>
            <a:r>
              <a:rPr lang="ar-EG" sz="2400" dirty="0"/>
              <a:t> </a:t>
            </a:r>
            <a:r>
              <a:rPr lang="ar-EG" sz="2400" dirty="0" err="1"/>
              <a:t>او</a:t>
            </a:r>
            <a:r>
              <a:rPr lang="ar-EG" sz="2400" dirty="0"/>
              <a:t> الخلف.</a:t>
            </a:r>
            <a:endParaRPr lang="en-US" sz="2400" dirty="0"/>
          </a:p>
        </p:txBody>
      </p:sp>
      <p:sp>
        <p:nvSpPr>
          <p:cNvPr id="3" name="مربع نص 2"/>
          <p:cNvSpPr txBox="1"/>
          <p:nvPr/>
        </p:nvSpPr>
        <p:spPr>
          <a:xfrm>
            <a:off x="251521" y="3000374"/>
            <a:ext cx="8712968" cy="523220"/>
          </a:xfrm>
          <a:prstGeom prst="rect">
            <a:avLst/>
          </a:prstGeom>
          <a:noFill/>
        </p:spPr>
        <p:txBody>
          <a:bodyPr wrap="square" rtlCol="1">
            <a:spAutoFit/>
          </a:bodyPr>
          <a:lstStyle/>
          <a:p>
            <a:r>
              <a:rPr lang="ar-EG" sz="2800" b="1" dirty="0">
                <a:solidFill>
                  <a:srgbClr val="FFFF00"/>
                </a:solidFill>
              </a:rPr>
              <a:t>ن</a:t>
            </a:r>
            <a:r>
              <a:rPr lang="ar-SA" sz="2800" b="1" dirty="0">
                <a:solidFill>
                  <a:srgbClr val="FFFF00"/>
                </a:solidFill>
              </a:rPr>
              <a:t>م</a:t>
            </a:r>
            <a:r>
              <a:rPr lang="ar-EG" sz="2800" b="1" dirty="0">
                <a:solidFill>
                  <a:srgbClr val="FFFF00"/>
                </a:solidFill>
              </a:rPr>
              <a:t>وذج الربط الخطى ذو المسار الواحد من العقدة الاولى الى العقدة الاخيرة</a:t>
            </a:r>
            <a:endParaRPr lang="en-US" sz="2800" b="1" dirty="0">
              <a:solidFill>
                <a:srgbClr val="FFFF00"/>
              </a:solidFill>
            </a:endParaRPr>
          </a:p>
        </p:txBody>
      </p:sp>
      <p:pic>
        <p:nvPicPr>
          <p:cNvPr id="74754" name="Picture 2"/>
          <p:cNvPicPr>
            <a:picLocks noChangeAspect="1" noChangeArrowheads="1"/>
          </p:cNvPicPr>
          <p:nvPr/>
        </p:nvPicPr>
        <p:blipFill>
          <a:blip r:embed="rId2"/>
          <a:srcRect/>
          <a:stretch>
            <a:fillRect/>
          </a:stretch>
        </p:blipFill>
        <p:spPr bwMode="auto">
          <a:xfrm>
            <a:off x="857225" y="3786192"/>
            <a:ext cx="7358115" cy="2500330"/>
          </a:xfrm>
          <a:prstGeom prst="rect">
            <a:avLst/>
          </a:prstGeom>
          <a:noFill/>
          <a:ln w="9525">
            <a:noFill/>
            <a:miter lim="800000"/>
            <a:headEnd/>
            <a:tailEnd/>
          </a:ln>
          <a:effectLst/>
        </p:spPr>
      </p:pic>
    </p:spTree>
  </p:cSld>
  <p:clrMapOvr>
    <a:masterClrMapping/>
  </p:clrMapOvr>
  <p:transition spd="slow">
    <p:cover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plus(in)">
                                      <p:cBhvr>
                                        <p:cTn id="12" dur="2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32"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circle(out)">
                                      <p:cBhvr>
                                        <p:cTn id="17" dur="20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0"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 calcmode="lin" valueType="num">
                                      <p:cBhvr>
                                        <p:cTn id="22"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23" dur="10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24" dur="1000"/>
                                        <p:tgtEl>
                                          <p:spTgt spid="3">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4" presetClass="entr" presetSubtype="0" fill="hold" nodeType="clickEffect">
                                  <p:stCondLst>
                                    <p:cond delay="0"/>
                                  </p:stCondLst>
                                  <p:childTnLst>
                                    <p:set>
                                      <p:cBhvr>
                                        <p:cTn id="28" dur="1" fill="hold">
                                          <p:stCondLst>
                                            <p:cond delay="0"/>
                                          </p:stCondLst>
                                        </p:cTn>
                                        <p:tgtEl>
                                          <p:spTgt spid="74754"/>
                                        </p:tgtEl>
                                        <p:attrNameLst>
                                          <p:attrName>style.visibility</p:attrName>
                                        </p:attrNameLst>
                                      </p:cBhvr>
                                      <p:to>
                                        <p:strVal val="visible"/>
                                      </p:to>
                                    </p:set>
                                    <p:anim from="(-#ppt_w/2)" to="(#ppt_x)" calcmode="lin" valueType="num">
                                      <p:cBhvr>
                                        <p:cTn id="29" dur="600" fill="hold">
                                          <p:stCondLst>
                                            <p:cond delay="0"/>
                                          </p:stCondLst>
                                        </p:cTn>
                                        <p:tgtEl>
                                          <p:spTgt spid="74754"/>
                                        </p:tgtEl>
                                        <p:attrNameLst>
                                          <p:attrName>ppt_x</p:attrName>
                                        </p:attrNameLst>
                                      </p:cBhvr>
                                    </p:anim>
                                    <p:anim from="0" to="-1.0" calcmode="lin" valueType="num">
                                      <p:cBhvr>
                                        <p:cTn id="30" dur="200" decel="50000" autoRev="1" fill="hold">
                                          <p:stCondLst>
                                            <p:cond delay="600"/>
                                          </p:stCondLst>
                                        </p:cTn>
                                        <p:tgtEl>
                                          <p:spTgt spid="74754"/>
                                        </p:tgtEl>
                                        <p:attrNameLst>
                                          <p:attrName>xshear</p:attrName>
                                        </p:attrNameLst>
                                      </p:cBhvr>
                                    </p:anim>
                                    <p:animScale>
                                      <p:cBhvr>
                                        <p:cTn id="31" dur="200" decel="100000" autoRev="1" fill="hold">
                                          <p:stCondLst>
                                            <p:cond delay="600"/>
                                          </p:stCondLst>
                                        </p:cTn>
                                        <p:tgtEl>
                                          <p:spTgt spid="74754"/>
                                        </p:tgtEl>
                                      </p:cBhvr>
                                      <p:from x="100000" y="100000"/>
                                      <p:to x="80000" y="100000"/>
                                    </p:animScale>
                                    <p:anim by="(#ppt_h/3+#ppt_w*0.1)" calcmode="lin" valueType="num">
                                      <p:cBhvr additive="sum">
                                        <p:cTn id="32" dur="200" decel="100000" autoRev="1" fill="hold">
                                          <p:stCondLst>
                                            <p:cond delay="600"/>
                                          </p:stCondLst>
                                        </p:cTn>
                                        <p:tgtEl>
                                          <p:spTgt spid="74754"/>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493895" y="332656"/>
            <a:ext cx="5526377" cy="523220"/>
          </a:xfrm>
          <a:prstGeom prst="rect">
            <a:avLst/>
          </a:prstGeom>
          <a:noFill/>
        </p:spPr>
        <p:txBody>
          <a:bodyPr wrap="square" rtlCol="1">
            <a:spAutoFit/>
          </a:bodyPr>
          <a:lstStyle/>
          <a:p>
            <a:r>
              <a:rPr lang="ar-EG" sz="2800" b="1" dirty="0">
                <a:solidFill>
                  <a:srgbClr val="FFFF00"/>
                </a:solidFill>
              </a:rPr>
              <a:t>نموذج الربط الخطى ذو المسار </a:t>
            </a:r>
            <a:r>
              <a:rPr lang="ar-EG" sz="2800" b="1" dirty="0" err="1">
                <a:solidFill>
                  <a:srgbClr val="FFFF00"/>
                </a:solidFill>
              </a:rPr>
              <a:t>الدائرى</a:t>
            </a:r>
            <a:r>
              <a:rPr lang="ar-EG" sz="2800" b="1" dirty="0">
                <a:solidFill>
                  <a:srgbClr val="FFFF00"/>
                </a:solidFill>
              </a:rPr>
              <a:t> </a:t>
            </a:r>
            <a:endParaRPr lang="en-US" sz="2800" b="1" dirty="0">
              <a:solidFill>
                <a:srgbClr val="FFFF00"/>
              </a:solidFill>
            </a:endParaRPr>
          </a:p>
        </p:txBody>
      </p:sp>
      <p:pic>
        <p:nvPicPr>
          <p:cNvPr id="75778" name="Picture 2"/>
          <p:cNvPicPr>
            <a:picLocks noChangeAspect="1" noChangeArrowheads="1"/>
          </p:cNvPicPr>
          <p:nvPr/>
        </p:nvPicPr>
        <p:blipFill>
          <a:blip r:embed="rId2"/>
          <a:srcRect/>
          <a:stretch>
            <a:fillRect/>
          </a:stretch>
        </p:blipFill>
        <p:spPr bwMode="auto">
          <a:xfrm>
            <a:off x="1071537" y="1124744"/>
            <a:ext cx="7072363" cy="2790837"/>
          </a:xfrm>
          <a:prstGeom prst="rect">
            <a:avLst/>
          </a:prstGeom>
          <a:noFill/>
          <a:ln w="9525">
            <a:noFill/>
            <a:miter lim="800000"/>
            <a:headEnd/>
            <a:tailEnd/>
          </a:ln>
          <a:effectLst/>
        </p:spPr>
      </p:pic>
      <p:sp>
        <p:nvSpPr>
          <p:cNvPr id="4" name="مربع نص 3"/>
          <p:cNvSpPr txBox="1"/>
          <p:nvPr/>
        </p:nvSpPr>
        <p:spPr>
          <a:xfrm>
            <a:off x="285720" y="4509120"/>
            <a:ext cx="8750776" cy="2062103"/>
          </a:xfrm>
          <a:prstGeom prst="rect">
            <a:avLst/>
          </a:prstGeom>
          <a:noFill/>
        </p:spPr>
        <p:txBody>
          <a:bodyPr wrap="square" rtlCol="1">
            <a:spAutoFit/>
          </a:bodyPr>
          <a:lstStyle/>
          <a:p>
            <a:pPr lvl="0"/>
            <a:r>
              <a:rPr lang="ar-EG" sz="3200" b="1" dirty="0">
                <a:solidFill>
                  <a:srgbClr val="FFFF00"/>
                </a:solidFill>
              </a:rPr>
              <a:t>- الن</a:t>
            </a:r>
            <a:r>
              <a:rPr lang="ar-SA" sz="3200" b="1" dirty="0">
                <a:solidFill>
                  <a:srgbClr val="FFFF00"/>
                </a:solidFill>
              </a:rPr>
              <a:t>م</a:t>
            </a:r>
            <a:r>
              <a:rPr lang="ar-EG" sz="3200" b="1" dirty="0">
                <a:solidFill>
                  <a:srgbClr val="FFFF00"/>
                </a:solidFill>
              </a:rPr>
              <a:t>وذج الهرمى التسلسى </a:t>
            </a:r>
            <a:r>
              <a:rPr lang="en-US" sz="3200" b="1" dirty="0">
                <a:solidFill>
                  <a:srgbClr val="FFFF00"/>
                </a:solidFill>
              </a:rPr>
              <a:t>Hierarchy</a:t>
            </a:r>
          </a:p>
          <a:p>
            <a:r>
              <a:rPr lang="ar-EG" sz="2400" dirty="0"/>
              <a:t>المقصود </a:t>
            </a:r>
            <a:r>
              <a:rPr lang="ar-EG" sz="2400" dirty="0" err="1"/>
              <a:t>بها</a:t>
            </a:r>
            <a:r>
              <a:rPr lang="ar-EG" sz="2400" dirty="0"/>
              <a:t> </a:t>
            </a:r>
            <a:r>
              <a:rPr lang="ar-EG" sz="2400" dirty="0" err="1"/>
              <a:t>ان</a:t>
            </a:r>
            <a:r>
              <a:rPr lang="ar-EG" sz="2400" dirty="0"/>
              <a:t> عقدة واحدة ليس لها </a:t>
            </a:r>
            <a:r>
              <a:rPr lang="ar-EG" sz="2400" dirty="0" err="1"/>
              <a:t>اباء</a:t>
            </a:r>
            <a:r>
              <a:rPr lang="ar-EG" sz="2400" dirty="0"/>
              <a:t> بينما </a:t>
            </a:r>
            <a:r>
              <a:rPr lang="ar-EG" sz="2400" dirty="0" err="1"/>
              <a:t>الباقى</a:t>
            </a:r>
            <a:r>
              <a:rPr lang="ar-EG" sz="2400" dirty="0"/>
              <a:t> لدية والد واحد وتسمى عقدة البداية (بالعقدة اليتيمة) </a:t>
            </a:r>
            <a:r>
              <a:rPr lang="ar-EG" sz="2400" dirty="0" err="1"/>
              <a:t>والتى</a:t>
            </a:r>
            <a:r>
              <a:rPr lang="ar-EG" sz="2400" dirty="0"/>
              <a:t> عندها يدخل الفرد </a:t>
            </a:r>
            <a:r>
              <a:rPr lang="ar-EG" sz="2400" dirty="0" err="1"/>
              <a:t>الى</a:t>
            </a:r>
            <a:r>
              <a:rPr lang="ar-EG" sz="2400" dirty="0"/>
              <a:t> الوثيقة الفائقة ويمكن التحكم </a:t>
            </a:r>
            <a:r>
              <a:rPr lang="ar-EG" sz="2400" dirty="0" err="1"/>
              <a:t>فى</a:t>
            </a:r>
            <a:r>
              <a:rPr lang="ar-EG" sz="2400" dirty="0"/>
              <a:t> التحرك للخلف </a:t>
            </a:r>
            <a:r>
              <a:rPr lang="ar-EG" sz="2400" dirty="0" err="1"/>
              <a:t>والامام</a:t>
            </a:r>
            <a:r>
              <a:rPr lang="ar-EG" sz="2400" dirty="0"/>
              <a:t> بشكل متكرر خلال نفس الرابطة ويمكن من خلال هذا النموذج تحديد </a:t>
            </a:r>
            <a:r>
              <a:rPr lang="ar-EG" sz="2400" dirty="0" err="1"/>
              <a:t>الاتجاة</a:t>
            </a:r>
            <a:r>
              <a:rPr lang="ar-EG" sz="2400" dirty="0"/>
              <a:t> </a:t>
            </a:r>
            <a:r>
              <a:rPr lang="ar-EG" sz="2400" dirty="0" err="1"/>
              <a:t>فى</a:t>
            </a:r>
            <a:r>
              <a:rPr lang="ar-EG" sz="2400" dirty="0"/>
              <a:t> التسلسل سواء كان </a:t>
            </a:r>
            <a:r>
              <a:rPr lang="ar-EG" sz="2400" dirty="0" err="1"/>
              <a:t>الاتجاة</a:t>
            </a:r>
            <a:r>
              <a:rPr lang="ar-EG" sz="2400" dirty="0"/>
              <a:t> </a:t>
            </a:r>
            <a:r>
              <a:rPr lang="ar-EG" sz="2400" dirty="0" err="1"/>
              <a:t>اعلى</a:t>
            </a:r>
            <a:r>
              <a:rPr lang="ar-EG" sz="2400" dirty="0"/>
              <a:t> (نحو المؤخرة) </a:t>
            </a:r>
            <a:r>
              <a:rPr lang="ar-EG" sz="2400" dirty="0" err="1"/>
              <a:t>او</a:t>
            </a:r>
            <a:r>
              <a:rPr lang="ar-EG" sz="2400" dirty="0"/>
              <a:t> </a:t>
            </a:r>
            <a:r>
              <a:rPr lang="ar-EG" sz="2400" dirty="0" err="1"/>
              <a:t>اسفل</a:t>
            </a:r>
            <a:r>
              <a:rPr lang="ar-EG" sz="2400" dirty="0"/>
              <a:t> (بعيد عن المؤخرة)</a:t>
            </a:r>
            <a:endParaRPr lang="en-US" sz="2400" dirty="0"/>
          </a:p>
        </p:txBody>
      </p:sp>
    </p:spTree>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34" presetClass="entr" presetSubtype="0" fill="hold" nodeType="clickEffect">
                                  <p:stCondLst>
                                    <p:cond delay="0"/>
                                  </p:stCondLst>
                                  <p:childTnLst>
                                    <p:set>
                                      <p:cBhvr>
                                        <p:cTn id="13" dur="1" fill="hold">
                                          <p:stCondLst>
                                            <p:cond delay="0"/>
                                          </p:stCondLst>
                                        </p:cTn>
                                        <p:tgtEl>
                                          <p:spTgt spid="75778"/>
                                        </p:tgtEl>
                                        <p:attrNameLst>
                                          <p:attrName>style.visibility</p:attrName>
                                        </p:attrNameLst>
                                      </p:cBhvr>
                                      <p:to>
                                        <p:strVal val="visible"/>
                                      </p:to>
                                    </p:set>
                                    <p:anim from="(-#ppt_w/2)" to="(#ppt_x)" calcmode="lin" valueType="num">
                                      <p:cBhvr>
                                        <p:cTn id="14" dur="600" fill="hold">
                                          <p:stCondLst>
                                            <p:cond delay="0"/>
                                          </p:stCondLst>
                                        </p:cTn>
                                        <p:tgtEl>
                                          <p:spTgt spid="75778"/>
                                        </p:tgtEl>
                                        <p:attrNameLst>
                                          <p:attrName>ppt_x</p:attrName>
                                        </p:attrNameLst>
                                      </p:cBhvr>
                                    </p:anim>
                                    <p:anim from="0" to="-1.0" calcmode="lin" valueType="num">
                                      <p:cBhvr>
                                        <p:cTn id="15" dur="200" decel="50000" autoRev="1" fill="hold">
                                          <p:stCondLst>
                                            <p:cond delay="600"/>
                                          </p:stCondLst>
                                        </p:cTn>
                                        <p:tgtEl>
                                          <p:spTgt spid="75778"/>
                                        </p:tgtEl>
                                        <p:attrNameLst>
                                          <p:attrName>xshear</p:attrName>
                                        </p:attrNameLst>
                                      </p:cBhvr>
                                    </p:anim>
                                    <p:animScale>
                                      <p:cBhvr>
                                        <p:cTn id="16" dur="200" decel="100000" autoRev="1" fill="hold">
                                          <p:stCondLst>
                                            <p:cond delay="600"/>
                                          </p:stCondLst>
                                        </p:cTn>
                                        <p:tgtEl>
                                          <p:spTgt spid="75778"/>
                                        </p:tgtEl>
                                      </p:cBhvr>
                                      <p:from x="100000" y="100000"/>
                                      <p:to x="80000" y="100000"/>
                                    </p:animScale>
                                    <p:anim by="(#ppt_h/3+#ppt_w*0.1)" calcmode="lin" valueType="num">
                                      <p:cBhvr additive="sum">
                                        <p:cTn id="17" dur="200" decel="100000" autoRev="1" fill="hold">
                                          <p:stCondLst>
                                            <p:cond delay="600"/>
                                          </p:stCondLst>
                                        </p:cTn>
                                        <p:tgtEl>
                                          <p:spTgt spid="75778"/>
                                        </p:tgtEl>
                                        <p:attrNameLst>
                                          <p:attrName>ppt_x</p:attrName>
                                        </p:attrNameLst>
                                      </p:cBhvr>
                                    </p:anim>
                                  </p:childTnLst>
                                </p:cTn>
                              </p:par>
                            </p:childTnLst>
                          </p:cTn>
                        </p:par>
                      </p:childTnLst>
                    </p:cTn>
                  </p:par>
                  <p:par>
                    <p:cTn id="18" fill="hold">
                      <p:stCondLst>
                        <p:cond delay="indefinite"/>
                      </p:stCondLst>
                      <p:childTnLst>
                        <p:par>
                          <p:cTn id="19" fill="hold">
                            <p:stCondLst>
                              <p:cond delay="0"/>
                            </p:stCondLst>
                            <p:childTnLst>
                              <p:par>
                                <p:cTn id="20" presetID="13" presetClass="entr" presetSubtype="32"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plus(out)">
                                      <p:cBhvr>
                                        <p:cTn id="22" dur="2000"/>
                                        <p:tgtEl>
                                          <p:spTgt spid="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blinds(horizontal)">
                                      <p:cBhvr>
                                        <p:cTn id="2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07504" y="214290"/>
            <a:ext cx="8928992" cy="6740307"/>
          </a:xfrm>
          <a:prstGeom prst="rect">
            <a:avLst/>
          </a:prstGeom>
          <a:noFill/>
        </p:spPr>
        <p:txBody>
          <a:bodyPr wrap="square" rtlCol="1">
            <a:spAutoFit/>
          </a:bodyPr>
          <a:lstStyle/>
          <a:p>
            <a:pPr lvl="0"/>
            <a:r>
              <a:rPr lang="ar-EG" sz="3200" b="1" dirty="0">
                <a:solidFill>
                  <a:srgbClr val="FFFF00"/>
                </a:solidFill>
              </a:rPr>
              <a:t>- نموذج المكعب الفائق </a:t>
            </a:r>
            <a:r>
              <a:rPr lang="en-US" sz="3200" b="1" dirty="0">
                <a:solidFill>
                  <a:srgbClr val="FFFF00"/>
                </a:solidFill>
              </a:rPr>
              <a:t>Hypercube</a:t>
            </a:r>
          </a:p>
          <a:p>
            <a:r>
              <a:rPr lang="ar-EG" sz="2400" b="1" dirty="0"/>
              <a:t>يسير هذا النموذج على نمط الشوارع المستطيلة ويعتبر هذا النموذج اداه هامة لدراسة النماذج اللفظية فى الوثائق الادبية حيث يفضل الفرد ان يتبع موضوعات معروفة خلال عدد من القطع المختلفة.</a:t>
            </a:r>
          </a:p>
          <a:p>
            <a:pPr lvl="0"/>
            <a:r>
              <a:rPr lang="ar-EG" sz="2400" b="1" dirty="0">
                <a:solidFill>
                  <a:srgbClr val="FFFF00"/>
                </a:solidFill>
              </a:rPr>
              <a:t>- نموذج الرابط </a:t>
            </a:r>
            <a:r>
              <a:rPr lang="ar-EG" sz="2400" b="1" dirty="0" err="1">
                <a:solidFill>
                  <a:srgbClr val="FFFF00"/>
                </a:solidFill>
              </a:rPr>
              <a:t>البيانى</a:t>
            </a:r>
            <a:r>
              <a:rPr lang="ar-EG" sz="2400" b="1" dirty="0">
                <a:solidFill>
                  <a:srgbClr val="FFFF00"/>
                </a:solidFill>
              </a:rPr>
              <a:t> </a:t>
            </a:r>
            <a:r>
              <a:rPr lang="ar-EG" sz="2400" b="1" dirty="0" err="1">
                <a:solidFill>
                  <a:srgbClr val="FFFF00"/>
                </a:solidFill>
              </a:rPr>
              <a:t>الدائرى</a:t>
            </a:r>
            <a:r>
              <a:rPr lang="ar-EG" sz="2400" b="1" dirty="0">
                <a:solidFill>
                  <a:srgbClr val="FFFF00"/>
                </a:solidFill>
              </a:rPr>
              <a:t> الموجه</a:t>
            </a:r>
            <a:r>
              <a:rPr lang="en-US" sz="2400" b="1" dirty="0">
                <a:solidFill>
                  <a:srgbClr val="FFFF00"/>
                </a:solidFill>
              </a:rPr>
              <a:t>Directed A Cyclic Graph (DAG)</a:t>
            </a:r>
          </a:p>
          <a:p>
            <a:r>
              <a:rPr lang="ar-EG" sz="2400" b="1" dirty="0"/>
              <a:t>يعتبر اكثر نماذج الربط انتشارا وهو يتطلب عدم وجود اى عقد بالشبكة اى البدء من عقدة واحدة والتحرك فقط للامام من خلال الروابط ومن الممكن الرجوع الى عقدة البداية ويعتبر نموذجى الرابط الخطى والهرمى احد اشكال الربط البيانى الدائرى الموجه.</a:t>
            </a:r>
          </a:p>
          <a:p>
            <a:pPr lvl="0"/>
            <a:r>
              <a:rPr lang="ar-EG" sz="3200" b="1" dirty="0">
                <a:solidFill>
                  <a:srgbClr val="FFFF00"/>
                </a:solidFill>
              </a:rPr>
              <a:t>- نموذج التكتل </a:t>
            </a:r>
            <a:r>
              <a:rPr lang="en-US" sz="3200" b="1" dirty="0">
                <a:solidFill>
                  <a:srgbClr val="FFFF00"/>
                </a:solidFill>
              </a:rPr>
              <a:t>Clumped</a:t>
            </a:r>
          </a:p>
          <a:p>
            <a:r>
              <a:rPr lang="ar-EG" sz="2400" b="1" dirty="0"/>
              <a:t>احيانا ما تتكون شبكة الوسائط الفائقة من عدد من المناطق المتداخلة وبينها تتواجد روابط غير كثيفة ونجد ان الروابط المتبادلة الكثيفة فى المناطق المقيدة تنتج بسبب ان العقد المتجمعة بينها اشياء مشتركة عن ما بينها وبين باقى الشبكة ويستطيع المستخدم الشعور بهذا التشابة والتعامل معه.</a:t>
            </a:r>
            <a:endParaRPr lang="en-US" sz="2400" b="1" dirty="0"/>
          </a:p>
          <a:p>
            <a:pPr lvl="0"/>
            <a:r>
              <a:rPr lang="ar-EG" sz="3200" b="1" dirty="0">
                <a:solidFill>
                  <a:srgbClr val="FFFF00"/>
                </a:solidFill>
              </a:rPr>
              <a:t>- النموذج </a:t>
            </a:r>
            <a:r>
              <a:rPr lang="ar-EG" sz="3200" b="1" dirty="0" err="1">
                <a:solidFill>
                  <a:srgbClr val="FFFF00"/>
                </a:solidFill>
              </a:rPr>
              <a:t>العشوائى</a:t>
            </a:r>
            <a:r>
              <a:rPr lang="ar-EG" sz="3200" b="1" dirty="0">
                <a:solidFill>
                  <a:srgbClr val="FFFF00"/>
                </a:solidFill>
              </a:rPr>
              <a:t> </a:t>
            </a:r>
            <a:r>
              <a:rPr lang="en-US" sz="3200" b="1" dirty="0">
                <a:solidFill>
                  <a:srgbClr val="FFFF00"/>
                </a:solidFill>
              </a:rPr>
              <a:t>Arbitrary</a:t>
            </a:r>
          </a:p>
          <a:p>
            <a:r>
              <a:rPr lang="ar-EG" sz="2400" b="1" dirty="0"/>
              <a:t>هذا النموذج يعد اقل النماذج تقيدا من مجموعه العقد المترابطة وقد يكون النموذج </a:t>
            </a:r>
            <a:r>
              <a:rPr lang="ar-EG" sz="2400" b="1" dirty="0" err="1"/>
              <a:t>العشوائى</a:t>
            </a:r>
            <a:r>
              <a:rPr lang="ar-EG" sz="2400" b="1" dirty="0"/>
              <a:t> (</a:t>
            </a:r>
            <a:r>
              <a:rPr lang="ar-EG" sz="2400" b="1" dirty="0" err="1"/>
              <a:t>جزئى</a:t>
            </a:r>
            <a:r>
              <a:rPr lang="ar-EG" sz="2400" b="1" dirty="0"/>
              <a:t>) </a:t>
            </a:r>
            <a:r>
              <a:rPr lang="ar-EG" sz="2400" b="1" dirty="0" err="1"/>
              <a:t>اى</a:t>
            </a:r>
            <a:r>
              <a:rPr lang="ar-EG" sz="2400" b="1" dirty="0"/>
              <a:t> انه توجد روابط قليلة لكل عقدة </a:t>
            </a:r>
            <a:r>
              <a:rPr lang="ar-EG" sz="2400" b="1" dirty="0" err="1"/>
              <a:t>او</a:t>
            </a:r>
            <a:r>
              <a:rPr lang="ar-EG" sz="2400" b="1" dirty="0"/>
              <a:t> نموذج (كلى) بمعنى انه توجد روابط متعددة لكل عقدة.</a:t>
            </a:r>
            <a:endParaRPr lang="en-US" sz="2400" b="1"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plus(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3" presetClass="entr" presetSubtype="32"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plus(out)">
                                      <p:cBhvr>
                                        <p:cTn id="17" dur="20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3" presetClass="entr" presetSubtype="16"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plus(in)">
                                      <p:cBhvr>
                                        <p:cTn id="27" dur="20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linds(horizontal)">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3" presetClass="entr" presetSubtype="32"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plus(out)">
                                      <p:cBhvr>
                                        <p:cTn id="37" dur="20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blinds(horizontal)">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07504" y="428604"/>
            <a:ext cx="8856984" cy="6494085"/>
          </a:xfrm>
          <a:prstGeom prst="rect">
            <a:avLst/>
          </a:prstGeom>
          <a:noFill/>
        </p:spPr>
        <p:txBody>
          <a:bodyPr wrap="square" rtlCol="1">
            <a:spAutoFit/>
          </a:bodyPr>
          <a:lstStyle/>
          <a:p>
            <a:pPr lvl="0"/>
            <a:r>
              <a:rPr lang="ar-EG" sz="3200" b="1" dirty="0">
                <a:solidFill>
                  <a:srgbClr val="FFFF00"/>
                </a:solidFill>
              </a:rPr>
              <a:t>3- التفاعلية </a:t>
            </a:r>
            <a:r>
              <a:rPr lang="en-US" sz="3200" b="1" dirty="0">
                <a:solidFill>
                  <a:srgbClr val="FFFF00"/>
                </a:solidFill>
              </a:rPr>
              <a:t>  Interactivity</a:t>
            </a:r>
          </a:p>
          <a:p>
            <a:r>
              <a:rPr lang="ar-EG" sz="2000" b="1" dirty="0"/>
              <a:t>تعنى توفير بيئة اتصال ثنائية الاتجاة على الاقل وهى بذلك تسمح لمتعلم بدرجة من الحرية فيستطيع ان يختار بين العديد من البدائل محتوى المادة المنقولة ليختار المعدل الذى يناسبة كما يستطيع ان يختار بين العديد من البدائل فى موقف التعلم ويمكنه ان يتفرغ الى النقاط المتشابكة اثناء العرض ويمكن للمتعلم ان يتحاور مع الجهاز الذى يقدم له المحتوى كما يستطيع ان يتجول داخل المادة المعروضة ويتم ذلك من خلال العديد من الانشطة والقرارات التى تحدث فى موقف التعلم تكون فى يد المتعلم ذاتة وليست من جانب البرنامج.</a:t>
            </a:r>
            <a:endParaRPr lang="ar-EG" sz="2800" b="1" dirty="0">
              <a:solidFill>
                <a:srgbClr val="FFFF00"/>
              </a:solidFill>
            </a:endParaRPr>
          </a:p>
          <a:p>
            <a:pPr lvl="0"/>
            <a:r>
              <a:rPr lang="ar-EG" sz="3200" b="1" dirty="0">
                <a:solidFill>
                  <a:srgbClr val="FFFF00"/>
                </a:solidFill>
              </a:rPr>
              <a:t>4- التكامل </a:t>
            </a:r>
            <a:r>
              <a:rPr lang="en-US" sz="3200" b="1" dirty="0">
                <a:solidFill>
                  <a:srgbClr val="FFFF00"/>
                </a:solidFill>
              </a:rPr>
              <a:t>Integration</a:t>
            </a:r>
          </a:p>
          <a:p>
            <a:r>
              <a:rPr lang="ar-EG" sz="2000" b="1" dirty="0"/>
              <a:t>يعنى ان عرض مجموعه من الوسائل يتكامل على شاشة جهاز الكمبيوتر لخدمة الفكرة او المبدأ المراد توصيلة ولا يعنى ذلك عرض هذه الوسائل واحدة بعد الاخرى من خلال شاشات منفصلة ولكن العبرة ان تخدم هذه العناصر الفكرة المراد توصيلها على شاشة واحدة والمهم هنا هو اختيار الوسائل المناسبة من صوت وصور ورسوم متحركة ورسومات خطية وموسيقى ومؤثرات صوتية ويظهر ذلك على هيئة خليط او مزيج متكامل متجانس يرتبط بتحقيق مجموعه من الاهداف التعليمية المحددة.</a:t>
            </a:r>
          </a:p>
          <a:p>
            <a:pPr lvl="0"/>
            <a:r>
              <a:rPr lang="ar-EG" sz="3200" b="1" dirty="0">
                <a:solidFill>
                  <a:srgbClr val="FFFF00"/>
                </a:solidFill>
              </a:rPr>
              <a:t>5- </a:t>
            </a:r>
            <a:r>
              <a:rPr lang="ar-EG" sz="3200" b="1" dirty="0" err="1">
                <a:solidFill>
                  <a:srgbClr val="FFFF00"/>
                </a:solidFill>
              </a:rPr>
              <a:t>اللاخطية</a:t>
            </a:r>
            <a:r>
              <a:rPr lang="ar-EG" sz="3200" b="1" dirty="0">
                <a:solidFill>
                  <a:srgbClr val="FFFF00"/>
                </a:solidFill>
              </a:rPr>
              <a:t> </a:t>
            </a:r>
            <a:r>
              <a:rPr lang="ar-EG" sz="3200" b="1" dirty="0" err="1">
                <a:solidFill>
                  <a:srgbClr val="FFFF00"/>
                </a:solidFill>
              </a:rPr>
              <a:t>فى</a:t>
            </a:r>
            <a:r>
              <a:rPr lang="ar-EG" sz="3200" b="1" dirty="0">
                <a:solidFill>
                  <a:srgbClr val="FFFF00"/>
                </a:solidFill>
              </a:rPr>
              <a:t> الوصول </a:t>
            </a:r>
            <a:r>
              <a:rPr lang="ar-EG" sz="3200" b="1" dirty="0" err="1">
                <a:solidFill>
                  <a:srgbClr val="FFFF00"/>
                </a:solidFill>
              </a:rPr>
              <a:t>الى</a:t>
            </a:r>
            <a:r>
              <a:rPr lang="ar-EG" sz="3200" b="1" dirty="0">
                <a:solidFill>
                  <a:srgbClr val="FFFF00"/>
                </a:solidFill>
              </a:rPr>
              <a:t> المعلومات</a:t>
            </a:r>
            <a:endParaRPr lang="en-US" sz="3200" b="1" dirty="0">
              <a:solidFill>
                <a:srgbClr val="FFFF00"/>
              </a:solidFill>
            </a:endParaRPr>
          </a:p>
          <a:p>
            <a:r>
              <a:rPr lang="ar-EG" sz="2000" b="1" dirty="0"/>
              <a:t>يمكن القول بان العقد والروابط </a:t>
            </a:r>
            <a:r>
              <a:rPr lang="ar-EG" sz="2000" b="1" dirty="0" err="1"/>
              <a:t>الموجوده</a:t>
            </a:r>
            <a:r>
              <a:rPr lang="ar-EG" sz="2000" b="1" dirty="0"/>
              <a:t> </a:t>
            </a:r>
            <a:r>
              <a:rPr lang="ar-EG" sz="2000" b="1" dirty="0" err="1"/>
              <a:t>فى</a:t>
            </a:r>
            <a:r>
              <a:rPr lang="ar-EG" sz="2000" b="1" dirty="0"/>
              <a:t> برنامج الوسائط الفائقة تجعل المستخدم يسير </a:t>
            </a:r>
            <a:r>
              <a:rPr lang="ar-EG" sz="2000" b="1" dirty="0" err="1"/>
              <a:t>فى</a:t>
            </a:r>
            <a:r>
              <a:rPr lang="ar-EG" sz="2000" b="1" dirty="0"/>
              <a:t> نمط غير خطى بمعنى انه لا </a:t>
            </a:r>
            <a:r>
              <a:rPr lang="ar-EG" sz="2000" b="1" dirty="0" err="1"/>
              <a:t>يمكنة</a:t>
            </a:r>
            <a:r>
              <a:rPr lang="ar-EG" sz="2000" b="1" dirty="0"/>
              <a:t> تصفح البرنامج من الشاشة </a:t>
            </a:r>
            <a:r>
              <a:rPr lang="ar-EG" sz="2000" b="1" dirty="0" err="1"/>
              <a:t>الاولى</a:t>
            </a:r>
            <a:r>
              <a:rPr lang="ar-EG" sz="2000" b="1" dirty="0"/>
              <a:t> </a:t>
            </a:r>
            <a:r>
              <a:rPr lang="ar-EG" sz="2000" b="1" dirty="0" err="1"/>
              <a:t>الى</a:t>
            </a:r>
            <a:r>
              <a:rPr lang="ar-EG" sz="2000" b="1" dirty="0"/>
              <a:t> النهاية بصورة خطية ولكن نظرا لوجود خاصية تجزئة المحتوى </a:t>
            </a:r>
            <a:r>
              <a:rPr lang="ar-EG" sz="2000" b="1" dirty="0" err="1"/>
              <a:t>الى</a:t>
            </a:r>
            <a:r>
              <a:rPr lang="ar-EG" sz="2000" b="1" dirty="0"/>
              <a:t> </a:t>
            </a:r>
            <a:r>
              <a:rPr lang="ar-EG" sz="2000" b="1" dirty="0" err="1"/>
              <a:t>اجزاء</a:t>
            </a:r>
            <a:r>
              <a:rPr lang="ar-EG" sz="2000" b="1" dirty="0"/>
              <a:t> صغيرة </a:t>
            </a:r>
            <a:r>
              <a:rPr lang="ar-EG" sz="2000" b="1" dirty="0" err="1"/>
              <a:t>او</a:t>
            </a:r>
            <a:r>
              <a:rPr lang="ar-EG" sz="2000" b="1" dirty="0"/>
              <a:t> صفحات معلقة والروابط بين تلك </a:t>
            </a:r>
            <a:r>
              <a:rPr lang="ar-EG" sz="2000" b="1" dirty="0" err="1"/>
              <a:t>الاجزاء</a:t>
            </a:r>
            <a:r>
              <a:rPr lang="ar-EG" sz="2000" b="1" dirty="0"/>
              <a:t> باستخدام العقد فان المستخدم يتعامل مع كل </a:t>
            </a:r>
            <a:r>
              <a:rPr lang="ar-EG" sz="2000" b="1" dirty="0" err="1"/>
              <a:t>جزيئة</a:t>
            </a:r>
            <a:r>
              <a:rPr lang="ar-EG" sz="2000" b="1" dirty="0"/>
              <a:t> على حدة </a:t>
            </a:r>
            <a:r>
              <a:rPr lang="ar-EG" sz="2000" b="1" dirty="0" err="1"/>
              <a:t>ويمكنة</a:t>
            </a:r>
            <a:r>
              <a:rPr lang="ar-EG" sz="2000" b="1" dirty="0"/>
              <a:t> الانتقال من خلالها </a:t>
            </a:r>
            <a:r>
              <a:rPr lang="ar-EG" sz="2000" b="1" dirty="0" err="1"/>
              <a:t>الى</a:t>
            </a:r>
            <a:r>
              <a:rPr lang="ar-EG" sz="2000" b="1" dirty="0"/>
              <a:t> </a:t>
            </a:r>
            <a:r>
              <a:rPr lang="ar-EG" sz="2000" b="1" dirty="0" err="1"/>
              <a:t>جزيئة</a:t>
            </a:r>
            <a:r>
              <a:rPr lang="ar-EG" sz="2000" b="1" dirty="0"/>
              <a:t> </a:t>
            </a:r>
            <a:r>
              <a:rPr lang="ar-EG" sz="2000" b="1" dirty="0" err="1"/>
              <a:t>او</a:t>
            </a:r>
            <a:r>
              <a:rPr lang="ar-EG" sz="2000" b="1" dirty="0"/>
              <a:t> جزيئات </a:t>
            </a:r>
            <a:r>
              <a:rPr lang="ar-EG" sz="2000" b="1" dirty="0" err="1"/>
              <a:t>اخرى</a:t>
            </a:r>
            <a:r>
              <a:rPr lang="ar-EG" sz="2000" b="1" dirty="0"/>
              <a:t> مرتبطة </a:t>
            </a:r>
            <a:r>
              <a:rPr lang="ar-EG" sz="2000" b="1" dirty="0" err="1"/>
              <a:t>بها</a:t>
            </a:r>
            <a:r>
              <a:rPr lang="ar-EG" sz="2000" b="1" dirty="0"/>
              <a:t>.</a:t>
            </a:r>
            <a:endParaRPr lang="en-US" sz="2000" b="1" dirty="0"/>
          </a:p>
        </p:txBody>
      </p:sp>
    </p:spTree>
  </p:cSld>
  <p:clrMapOvr>
    <a:masterClrMapping/>
  </p:clrMapOvr>
  <p:transition spd="slow">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decel="50000" fill="hold">
                                          <p:stCondLst>
                                            <p:cond delay="0"/>
                                          </p:stCondLst>
                                        </p:cTn>
                                        <p:tgtEl>
                                          <p:spTgt spid="2">
                                            <p:txEl>
                                              <p:pRg st="0" end="0"/>
                                            </p:txEl>
                                          </p:spTgt>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xEl>
                                              <p:pRg st="0" end="0"/>
                                            </p:txEl>
                                          </p:spTgt>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xEl>
                                              <p:pRg st="0" end="0"/>
                                            </p:txEl>
                                          </p:spTgt>
                                        </p:tgtEl>
                                        <p:attrNameLst>
                                          <p:attrName>ppt_w</p:attrName>
                                        </p:attrNameLst>
                                      </p:cBhvr>
                                      <p:tavLst>
                                        <p:tav tm="0">
                                          <p:val>
                                            <p:strVal val="#ppt_w*.05"/>
                                          </p:val>
                                        </p:tav>
                                        <p:tav tm="100000">
                                          <p:val>
                                            <p:strVal val="#ppt_w"/>
                                          </p:val>
                                        </p:tav>
                                      </p:tavLst>
                                    </p:anim>
                                    <p:anim calcmode="lin" valueType="num">
                                      <p:cBhvr>
                                        <p:cTn id="10" dur="1000" fill="hold"/>
                                        <p:tgtEl>
                                          <p:spTgt spid="2">
                                            <p:txEl>
                                              <p:pRg st="0" end="0"/>
                                            </p:txEl>
                                          </p:spTgt>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xEl>
                                              <p:pRg st="0" end="0"/>
                                            </p:txEl>
                                          </p:spTgt>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xEl>
                                              <p:pRg st="0" end="0"/>
                                            </p:txEl>
                                          </p:spTgt>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xEl>
                                              <p:pRg st="0" end="0"/>
                                            </p:txEl>
                                          </p:spTgt>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5"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blinds(vertical)">
                                      <p:cBhvr>
                                        <p:cTn id="19" dur="1000"/>
                                        <p:tgtEl>
                                          <p:spTgt spid="2">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5" presetClass="entr" presetSubtype="0" fill="hold" nodeType="clickEffect">
                                  <p:stCondLst>
                                    <p:cond delay="0"/>
                                  </p:stCondLst>
                                  <p:childTnLst>
                                    <p:set>
                                      <p:cBhvr>
                                        <p:cTn id="23" dur="1" fill="hold">
                                          <p:stCondLst>
                                            <p:cond delay="0"/>
                                          </p:stCondLst>
                                        </p:cTn>
                                        <p:tgtEl>
                                          <p:spTgt spid="2">
                                            <p:txEl>
                                              <p:pRg st="2" end="2"/>
                                            </p:txEl>
                                          </p:spTgt>
                                        </p:tgtEl>
                                        <p:attrNameLst>
                                          <p:attrName>style.visibility</p:attrName>
                                        </p:attrNameLst>
                                      </p:cBhvr>
                                      <p:to>
                                        <p:strVal val="visible"/>
                                      </p:to>
                                    </p:set>
                                    <p:anim calcmode="lin" valueType="num">
                                      <p:cBhvr>
                                        <p:cTn id="24" dur="500" decel="50000" fill="hold">
                                          <p:stCondLst>
                                            <p:cond delay="0"/>
                                          </p:stCondLst>
                                        </p:cTn>
                                        <p:tgtEl>
                                          <p:spTgt spid="2">
                                            <p:txEl>
                                              <p:pRg st="2" end="2"/>
                                            </p:txEl>
                                          </p:spTgt>
                                        </p:tgtEl>
                                        <p:attrNameLst>
                                          <p:attrName>style.rotation</p:attrName>
                                        </p:attrNameLst>
                                      </p:cBhvr>
                                      <p:tavLst>
                                        <p:tav tm="0">
                                          <p:val>
                                            <p:fltVal val="-90"/>
                                          </p:val>
                                        </p:tav>
                                        <p:tav tm="100000">
                                          <p:val>
                                            <p:fltVal val="0"/>
                                          </p:val>
                                        </p:tav>
                                      </p:tavLst>
                                    </p:anim>
                                    <p:anim calcmode="lin" valueType="num">
                                      <p:cBhvr>
                                        <p:cTn id="25" dur="500" decel="50000" fill="hold">
                                          <p:stCondLst>
                                            <p:cond delay="0"/>
                                          </p:stCondLst>
                                        </p:cTn>
                                        <p:tgtEl>
                                          <p:spTgt spid="2">
                                            <p:txEl>
                                              <p:pRg st="2" end="2"/>
                                            </p:txEl>
                                          </p:spTgt>
                                        </p:tgtEl>
                                        <p:attrNameLst>
                                          <p:attrName>ppt_w</p:attrName>
                                        </p:attrNameLst>
                                      </p:cBhvr>
                                      <p:tavLst>
                                        <p:tav tm="0">
                                          <p:val>
                                            <p:strVal val="#ppt_w"/>
                                          </p:val>
                                        </p:tav>
                                        <p:tav tm="100000">
                                          <p:val>
                                            <p:strVal val="#ppt_w*.05"/>
                                          </p:val>
                                        </p:tav>
                                      </p:tavLst>
                                    </p:anim>
                                    <p:anim calcmode="lin" valueType="num">
                                      <p:cBhvr>
                                        <p:cTn id="26" dur="500" accel="50000" fill="hold">
                                          <p:stCondLst>
                                            <p:cond delay="500"/>
                                          </p:stCondLst>
                                        </p:cTn>
                                        <p:tgtEl>
                                          <p:spTgt spid="2">
                                            <p:txEl>
                                              <p:pRg st="2" end="2"/>
                                            </p:txEl>
                                          </p:spTgt>
                                        </p:tgtEl>
                                        <p:attrNameLst>
                                          <p:attrName>ppt_w</p:attrName>
                                        </p:attrNameLst>
                                      </p:cBhvr>
                                      <p:tavLst>
                                        <p:tav tm="0">
                                          <p:val>
                                            <p:strVal val="#ppt_w*.05"/>
                                          </p:val>
                                        </p:tav>
                                        <p:tav tm="100000">
                                          <p:val>
                                            <p:strVal val="#ppt_w"/>
                                          </p:val>
                                        </p:tav>
                                      </p:tavLst>
                                    </p:anim>
                                    <p:anim calcmode="lin" valueType="num">
                                      <p:cBhvr>
                                        <p:cTn id="27" dur="1000" fill="hold"/>
                                        <p:tgtEl>
                                          <p:spTgt spid="2">
                                            <p:txEl>
                                              <p:pRg st="2" end="2"/>
                                            </p:txEl>
                                          </p:spTgt>
                                        </p:tgtEl>
                                        <p:attrNameLst>
                                          <p:attrName>ppt_h</p:attrName>
                                        </p:attrNameLst>
                                      </p:cBhvr>
                                      <p:tavLst>
                                        <p:tav tm="0">
                                          <p:val>
                                            <p:strVal val="#ppt_h"/>
                                          </p:val>
                                        </p:tav>
                                        <p:tav tm="100000">
                                          <p:val>
                                            <p:strVal val="#ppt_h"/>
                                          </p:val>
                                        </p:tav>
                                      </p:tavLst>
                                    </p:anim>
                                    <p:anim calcmode="lin" valueType="num">
                                      <p:cBhvr>
                                        <p:cTn id="28" dur="500" decel="50000" fill="hold">
                                          <p:stCondLst>
                                            <p:cond delay="0"/>
                                          </p:stCondLst>
                                        </p:cTn>
                                        <p:tgtEl>
                                          <p:spTgt spid="2">
                                            <p:txEl>
                                              <p:pRg st="2" end="2"/>
                                            </p:txEl>
                                          </p:spTgt>
                                        </p:tgtEl>
                                        <p:attrNameLst>
                                          <p:attrName>ppt_x</p:attrName>
                                        </p:attrNameLst>
                                      </p:cBhvr>
                                      <p:tavLst>
                                        <p:tav tm="0">
                                          <p:val>
                                            <p:strVal val="#ppt_x+.4"/>
                                          </p:val>
                                        </p:tav>
                                        <p:tav tm="100000">
                                          <p:val>
                                            <p:strVal val="#ppt_x"/>
                                          </p:val>
                                        </p:tav>
                                      </p:tavLst>
                                    </p:anim>
                                    <p:anim calcmode="lin" valueType="num">
                                      <p:cBhvr>
                                        <p:cTn id="29" dur="500" decel="50000" fill="hold">
                                          <p:stCondLst>
                                            <p:cond delay="0"/>
                                          </p:stCondLst>
                                        </p:cTn>
                                        <p:tgtEl>
                                          <p:spTgt spid="2">
                                            <p:txEl>
                                              <p:pRg st="2" end="2"/>
                                            </p:txEl>
                                          </p:spTgt>
                                        </p:tgtEl>
                                        <p:attrNameLst>
                                          <p:attrName>ppt_y</p:attrName>
                                        </p:attrNameLst>
                                      </p:cBhvr>
                                      <p:tavLst>
                                        <p:tav tm="0">
                                          <p:val>
                                            <p:strVal val="#ppt_y-.2"/>
                                          </p:val>
                                        </p:tav>
                                        <p:tav tm="100000">
                                          <p:val>
                                            <p:strVal val="#ppt_y+.1"/>
                                          </p:val>
                                        </p:tav>
                                      </p:tavLst>
                                    </p:anim>
                                    <p:anim calcmode="lin" valueType="num">
                                      <p:cBhvr>
                                        <p:cTn id="30" dur="500" accel="50000" fill="hold">
                                          <p:stCondLst>
                                            <p:cond delay="500"/>
                                          </p:stCondLst>
                                        </p:cTn>
                                        <p:tgtEl>
                                          <p:spTgt spid="2">
                                            <p:txEl>
                                              <p:pRg st="2" end="2"/>
                                            </p:txEl>
                                          </p:spTgt>
                                        </p:tgtEl>
                                        <p:attrNameLst>
                                          <p:attrName>ppt_y</p:attrName>
                                        </p:attrNameLst>
                                      </p:cBhvr>
                                      <p:tavLst>
                                        <p:tav tm="0">
                                          <p:val>
                                            <p:strVal val="#ppt_y+.1"/>
                                          </p:val>
                                        </p:tav>
                                        <p:tav tm="100000">
                                          <p:val>
                                            <p:strVal val="#ppt_y"/>
                                          </p:val>
                                        </p:tav>
                                      </p:tavLst>
                                    </p:anim>
                                    <p:animEffect transition="in" filter="fade">
                                      <p:cBhvr>
                                        <p:cTn id="31" dur="1000" decel="50000">
                                          <p:stCondLst>
                                            <p:cond delay="0"/>
                                          </p:stCondLst>
                                        </p:cTn>
                                        <p:tgtEl>
                                          <p:spTgt spid="2">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2">
                                            <p:txEl>
                                              <p:pRg st="3" end="3"/>
                                            </p:txEl>
                                          </p:spTgt>
                                        </p:tgtEl>
                                        <p:attrNameLst>
                                          <p:attrName>style.visibility</p:attrName>
                                        </p:attrNameLst>
                                      </p:cBhvr>
                                      <p:to>
                                        <p:strVal val="visible"/>
                                      </p:to>
                                    </p:set>
                                    <p:animEffect transition="in" filter="blinds(horizontal)">
                                      <p:cBhvr>
                                        <p:cTn id="36" dur="1000"/>
                                        <p:tgtEl>
                                          <p:spTgt spid="2">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5" presetClass="entr" presetSubtype="0" fill="hold" nodeType="clickEffect">
                                  <p:stCondLst>
                                    <p:cond delay="0"/>
                                  </p:stCondLst>
                                  <p:childTnLst>
                                    <p:set>
                                      <p:cBhvr>
                                        <p:cTn id="40" dur="1" fill="hold">
                                          <p:stCondLst>
                                            <p:cond delay="0"/>
                                          </p:stCondLst>
                                        </p:cTn>
                                        <p:tgtEl>
                                          <p:spTgt spid="2">
                                            <p:txEl>
                                              <p:pRg st="4" end="4"/>
                                            </p:txEl>
                                          </p:spTgt>
                                        </p:tgtEl>
                                        <p:attrNameLst>
                                          <p:attrName>style.visibility</p:attrName>
                                        </p:attrNameLst>
                                      </p:cBhvr>
                                      <p:to>
                                        <p:strVal val="visible"/>
                                      </p:to>
                                    </p:set>
                                    <p:anim calcmode="lin" valueType="num">
                                      <p:cBhvr>
                                        <p:cTn id="41" dur="500" decel="50000" fill="hold">
                                          <p:stCondLst>
                                            <p:cond delay="0"/>
                                          </p:stCondLst>
                                        </p:cTn>
                                        <p:tgtEl>
                                          <p:spTgt spid="2">
                                            <p:txEl>
                                              <p:pRg st="4" end="4"/>
                                            </p:txEl>
                                          </p:spTgt>
                                        </p:tgtEl>
                                        <p:attrNameLst>
                                          <p:attrName>style.rotation</p:attrName>
                                        </p:attrNameLst>
                                      </p:cBhvr>
                                      <p:tavLst>
                                        <p:tav tm="0">
                                          <p:val>
                                            <p:fltVal val="-90"/>
                                          </p:val>
                                        </p:tav>
                                        <p:tav tm="100000">
                                          <p:val>
                                            <p:fltVal val="0"/>
                                          </p:val>
                                        </p:tav>
                                      </p:tavLst>
                                    </p:anim>
                                    <p:anim calcmode="lin" valueType="num">
                                      <p:cBhvr>
                                        <p:cTn id="42" dur="500" decel="50000" fill="hold">
                                          <p:stCondLst>
                                            <p:cond delay="0"/>
                                          </p:stCondLst>
                                        </p:cTn>
                                        <p:tgtEl>
                                          <p:spTgt spid="2">
                                            <p:txEl>
                                              <p:pRg st="4" end="4"/>
                                            </p:txEl>
                                          </p:spTgt>
                                        </p:tgtEl>
                                        <p:attrNameLst>
                                          <p:attrName>ppt_w</p:attrName>
                                        </p:attrNameLst>
                                      </p:cBhvr>
                                      <p:tavLst>
                                        <p:tav tm="0">
                                          <p:val>
                                            <p:strVal val="#ppt_w"/>
                                          </p:val>
                                        </p:tav>
                                        <p:tav tm="100000">
                                          <p:val>
                                            <p:strVal val="#ppt_w*.05"/>
                                          </p:val>
                                        </p:tav>
                                      </p:tavLst>
                                    </p:anim>
                                    <p:anim calcmode="lin" valueType="num">
                                      <p:cBhvr>
                                        <p:cTn id="43" dur="500" accel="50000" fill="hold">
                                          <p:stCondLst>
                                            <p:cond delay="500"/>
                                          </p:stCondLst>
                                        </p:cTn>
                                        <p:tgtEl>
                                          <p:spTgt spid="2">
                                            <p:txEl>
                                              <p:pRg st="4" end="4"/>
                                            </p:txEl>
                                          </p:spTgt>
                                        </p:tgtEl>
                                        <p:attrNameLst>
                                          <p:attrName>ppt_w</p:attrName>
                                        </p:attrNameLst>
                                      </p:cBhvr>
                                      <p:tavLst>
                                        <p:tav tm="0">
                                          <p:val>
                                            <p:strVal val="#ppt_w*.05"/>
                                          </p:val>
                                        </p:tav>
                                        <p:tav tm="100000">
                                          <p:val>
                                            <p:strVal val="#ppt_w"/>
                                          </p:val>
                                        </p:tav>
                                      </p:tavLst>
                                    </p:anim>
                                    <p:anim calcmode="lin" valueType="num">
                                      <p:cBhvr>
                                        <p:cTn id="44" dur="1000" fill="hold"/>
                                        <p:tgtEl>
                                          <p:spTgt spid="2">
                                            <p:txEl>
                                              <p:pRg st="4" end="4"/>
                                            </p:txEl>
                                          </p:spTgt>
                                        </p:tgtEl>
                                        <p:attrNameLst>
                                          <p:attrName>ppt_h</p:attrName>
                                        </p:attrNameLst>
                                      </p:cBhvr>
                                      <p:tavLst>
                                        <p:tav tm="0">
                                          <p:val>
                                            <p:strVal val="#ppt_h"/>
                                          </p:val>
                                        </p:tav>
                                        <p:tav tm="100000">
                                          <p:val>
                                            <p:strVal val="#ppt_h"/>
                                          </p:val>
                                        </p:tav>
                                      </p:tavLst>
                                    </p:anim>
                                    <p:anim calcmode="lin" valueType="num">
                                      <p:cBhvr>
                                        <p:cTn id="45" dur="500" decel="50000" fill="hold">
                                          <p:stCondLst>
                                            <p:cond delay="0"/>
                                          </p:stCondLst>
                                        </p:cTn>
                                        <p:tgtEl>
                                          <p:spTgt spid="2">
                                            <p:txEl>
                                              <p:pRg st="4" end="4"/>
                                            </p:txEl>
                                          </p:spTgt>
                                        </p:tgtEl>
                                        <p:attrNameLst>
                                          <p:attrName>ppt_x</p:attrName>
                                        </p:attrNameLst>
                                      </p:cBhvr>
                                      <p:tavLst>
                                        <p:tav tm="0">
                                          <p:val>
                                            <p:strVal val="#ppt_x+.4"/>
                                          </p:val>
                                        </p:tav>
                                        <p:tav tm="100000">
                                          <p:val>
                                            <p:strVal val="#ppt_x"/>
                                          </p:val>
                                        </p:tav>
                                      </p:tavLst>
                                    </p:anim>
                                    <p:anim calcmode="lin" valueType="num">
                                      <p:cBhvr>
                                        <p:cTn id="46" dur="500" decel="50000" fill="hold">
                                          <p:stCondLst>
                                            <p:cond delay="0"/>
                                          </p:stCondLst>
                                        </p:cTn>
                                        <p:tgtEl>
                                          <p:spTgt spid="2">
                                            <p:txEl>
                                              <p:pRg st="4" end="4"/>
                                            </p:txEl>
                                          </p:spTgt>
                                        </p:tgtEl>
                                        <p:attrNameLst>
                                          <p:attrName>ppt_y</p:attrName>
                                        </p:attrNameLst>
                                      </p:cBhvr>
                                      <p:tavLst>
                                        <p:tav tm="0">
                                          <p:val>
                                            <p:strVal val="#ppt_y-.2"/>
                                          </p:val>
                                        </p:tav>
                                        <p:tav tm="100000">
                                          <p:val>
                                            <p:strVal val="#ppt_y+.1"/>
                                          </p:val>
                                        </p:tav>
                                      </p:tavLst>
                                    </p:anim>
                                    <p:anim calcmode="lin" valueType="num">
                                      <p:cBhvr>
                                        <p:cTn id="47" dur="500" accel="50000" fill="hold">
                                          <p:stCondLst>
                                            <p:cond delay="500"/>
                                          </p:stCondLst>
                                        </p:cTn>
                                        <p:tgtEl>
                                          <p:spTgt spid="2">
                                            <p:txEl>
                                              <p:pRg st="4" end="4"/>
                                            </p:txEl>
                                          </p:spTgt>
                                        </p:tgtEl>
                                        <p:attrNameLst>
                                          <p:attrName>ppt_y</p:attrName>
                                        </p:attrNameLst>
                                      </p:cBhvr>
                                      <p:tavLst>
                                        <p:tav tm="0">
                                          <p:val>
                                            <p:strVal val="#ppt_y+.1"/>
                                          </p:val>
                                        </p:tav>
                                        <p:tav tm="100000">
                                          <p:val>
                                            <p:strVal val="#ppt_y"/>
                                          </p:val>
                                        </p:tav>
                                      </p:tavLst>
                                    </p:anim>
                                    <p:animEffect transition="in" filter="fade">
                                      <p:cBhvr>
                                        <p:cTn id="48" dur="1000" decel="50000">
                                          <p:stCondLst>
                                            <p:cond delay="0"/>
                                          </p:stCondLst>
                                        </p:cTn>
                                        <p:tgtEl>
                                          <p:spTgt spid="2">
                                            <p:txEl>
                                              <p:pRg st="4" end="4"/>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5" fill="hold" nodeType="clickEffect">
                                  <p:stCondLst>
                                    <p:cond delay="0"/>
                                  </p:stCondLst>
                                  <p:childTnLst>
                                    <p:set>
                                      <p:cBhvr>
                                        <p:cTn id="52" dur="1" fill="hold">
                                          <p:stCondLst>
                                            <p:cond delay="0"/>
                                          </p:stCondLst>
                                        </p:cTn>
                                        <p:tgtEl>
                                          <p:spTgt spid="2">
                                            <p:txEl>
                                              <p:pRg st="5" end="5"/>
                                            </p:txEl>
                                          </p:spTgt>
                                        </p:tgtEl>
                                        <p:attrNameLst>
                                          <p:attrName>style.visibility</p:attrName>
                                        </p:attrNameLst>
                                      </p:cBhvr>
                                      <p:to>
                                        <p:strVal val="visible"/>
                                      </p:to>
                                    </p:set>
                                    <p:animEffect transition="in" filter="blinds(vertical)">
                                      <p:cBhvr>
                                        <p:cTn id="53" dur="10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2267744" y="260648"/>
            <a:ext cx="4714908" cy="646331"/>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ctr" defTabSz="914400" rtl="1" eaLnBrk="1" fontAlgn="base" latinLnBrk="0" hangingPunct="1">
              <a:lnSpc>
                <a:spcPct val="100000"/>
              </a:lnSpc>
              <a:spcBef>
                <a:spcPct val="0"/>
              </a:spcBef>
              <a:spcAft>
                <a:spcPct val="0"/>
              </a:spcAft>
              <a:buClrTx/>
              <a:buSzTx/>
              <a:buFontTx/>
              <a:buNone/>
              <a:tabLst/>
            </a:pPr>
            <a:r>
              <a:rPr kumimoji="0" lang="ar-EG" sz="3600" b="1" i="0" u="none" strike="noStrike" cap="none" normalizeH="0" baseline="0" dirty="0">
                <a:ln>
                  <a:noFill/>
                </a:ln>
                <a:solidFill>
                  <a:schemeClr val="tx1"/>
                </a:solidFill>
                <a:effectLst/>
                <a:latin typeface="Adobe Caslon Pro Bold" pitchFamily="18" charset="0"/>
                <a:ea typeface="Calibri" pitchFamily="34" charset="0"/>
                <a:cs typeface="Arial" pitchFamily="34" charset="0"/>
              </a:rPr>
              <a:t>مراحل إنتاج الوسائط المتعددة </a:t>
            </a:r>
            <a:endParaRPr kumimoji="0" lang="ar-EG" sz="4000" b="0" i="0" u="none" strike="noStrike" cap="none" normalizeH="0" baseline="0" dirty="0">
              <a:ln>
                <a:noFill/>
              </a:ln>
              <a:solidFill>
                <a:schemeClr val="tx1"/>
              </a:solidFill>
              <a:effectLst/>
              <a:latin typeface="Arial" pitchFamily="34" charset="0"/>
              <a:cs typeface="Arial" pitchFamily="34" charset="0"/>
            </a:endParaRPr>
          </a:p>
        </p:txBody>
      </p:sp>
      <p:sp>
        <p:nvSpPr>
          <p:cNvPr id="4" name="مربع نص 3"/>
          <p:cNvSpPr txBox="1"/>
          <p:nvPr/>
        </p:nvSpPr>
        <p:spPr>
          <a:xfrm>
            <a:off x="6000759" y="1196752"/>
            <a:ext cx="2571771" cy="523220"/>
          </a:xfrm>
          <a:prstGeom prst="rect">
            <a:avLst/>
          </a:prstGeom>
        </p:spPr>
        <p:style>
          <a:lnRef idx="2">
            <a:schemeClr val="accent6"/>
          </a:lnRef>
          <a:fillRef idx="1">
            <a:schemeClr val="lt1"/>
          </a:fillRef>
          <a:effectRef idx="0">
            <a:schemeClr val="accent6"/>
          </a:effectRef>
          <a:fontRef idx="minor">
            <a:schemeClr val="dk1"/>
          </a:fontRef>
        </p:style>
        <p:txBody>
          <a:bodyPr wrap="square" rtlCol="1">
            <a:spAutoFit/>
          </a:bodyPr>
          <a:lstStyle/>
          <a:p>
            <a:r>
              <a:rPr lang="ar-EG" sz="2800" b="1" dirty="0"/>
              <a:t>أولا : مرحل التخطيط</a:t>
            </a:r>
            <a:endParaRPr lang="en-US" sz="2800" dirty="0"/>
          </a:p>
        </p:txBody>
      </p:sp>
      <p:sp>
        <p:nvSpPr>
          <p:cNvPr id="5" name="مربع نص 4"/>
          <p:cNvSpPr txBox="1"/>
          <p:nvPr/>
        </p:nvSpPr>
        <p:spPr>
          <a:xfrm>
            <a:off x="179512" y="1988840"/>
            <a:ext cx="8712968" cy="4524315"/>
          </a:xfrm>
          <a:prstGeom prst="rect">
            <a:avLst/>
          </a:prstGeom>
          <a:noFill/>
        </p:spPr>
        <p:txBody>
          <a:bodyPr wrap="square" rtlCol="1">
            <a:spAutoFit/>
          </a:bodyPr>
          <a:lstStyle/>
          <a:p>
            <a:pPr lvl="0"/>
            <a:r>
              <a:rPr lang="ar-EG" sz="3600" b="1" dirty="0">
                <a:solidFill>
                  <a:srgbClr val="92D050"/>
                </a:solidFill>
              </a:rPr>
              <a:t>1- تحديد الموضوع ومحتواة </a:t>
            </a:r>
            <a:endParaRPr lang="en-US" sz="3600" dirty="0">
              <a:solidFill>
                <a:srgbClr val="92D050"/>
              </a:solidFill>
            </a:endParaRPr>
          </a:p>
          <a:p>
            <a:r>
              <a:rPr lang="ar-EG" sz="2400" dirty="0"/>
              <a:t>يتم تحديد المحتوى الذى سيشملة البرنامج حيث يقوم المصمم بتحديد المحتوى التعليمي المخصص لبرنامج الوسائط المتعددة وذلك من خلال بعض المراجع والمصادر المرتبطة بالمحتوى التعليمى الامر الذى يؤدى الى تحديد المحتوى تحديدا دقيقا.</a:t>
            </a:r>
            <a:endParaRPr lang="en-US" sz="2400" dirty="0"/>
          </a:p>
          <a:p>
            <a:pPr lvl="0"/>
            <a:r>
              <a:rPr lang="ar-EG" sz="3600" b="1" dirty="0">
                <a:solidFill>
                  <a:srgbClr val="92D050"/>
                </a:solidFill>
              </a:rPr>
              <a:t>2- تحديد نمط البرنامج </a:t>
            </a:r>
            <a:r>
              <a:rPr lang="ar-EG" sz="3600" b="1" dirty="0" err="1">
                <a:solidFill>
                  <a:srgbClr val="92D050"/>
                </a:solidFill>
              </a:rPr>
              <a:t>التعليمى</a:t>
            </a:r>
            <a:r>
              <a:rPr lang="ar-EG" sz="3600" b="1" dirty="0">
                <a:solidFill>
                  <a:srgbClr val="92D050"/>
                </a:solidFill>
              </a:rPr>
              <a:t> </a:t>
            </a:r>
            <a:endParaRPr lang="en-US" sz="3600" dirty="0">
              <a:solidFill>
                <a:srgbClr val="92D050"/>
              </a:solidFill>
            </a:endParaRPr>
          </a:p>
          <a:p>
            <a:r>
              <a:rPr lang="ar-EG" sz="2400" dirty="0"/>
              <a:t>يجب على معد البرنامج </a:t>
            </a:r>
            <a:r>
              <a:rPr lang="ar-EG" sz="2400" dirty="0" err="1"/>
              <a:t>ان</a:t>
            </a:r>
            <a:r>
              <a:rPr lang="ar-EG" sz="2400" dirty="0"/>
              <a:t> يحدد نمط البرنامج </a:t>
            </a:r>
            <a:r>
              <a:rPr lang="ar-EG" sz="2400" dirty="0" err="1"/>
              <a:t>الذى</a:t>
            </a:r>
            <a:r>
              <a:rPr lang="ar-EG" sz="2400" dirty="0"/>
              <a:t> يرى انه يؤدى الهدف </a:t>
            </a:r>
            <a:r>
              <a:rPr lang="ar-EG" sz="2400" dirty="0" err="1"/>
              <a:t>التربوى</a:t>
            </a:r>
            <a:r>
              <a:rPr lang="ar-EG" sz="2400" dirty="0"/>
              <a:t> المطلوب فهناك بعض الموضوعات </a:t>
            </a:r>
            <a:r>
              <a:rPr lang="ar-EG" sz="2400" dirty="0" err="1"/>
              <a:t>التى</a:t>
            </a:r>
            <a:r>
              <a:rPr lang="ar-EG" sz="2400" dirty="0"/>
              <a:t> يفضل تدريسها عن طريق المحاكاة بينما موضوعات </a:t>
            </a:r>
            <a:r>
              <a:rPr lang="ar-EG" sz="2400" dirty="0" err="1"/>
              <a:t>اخرى</a:t>
            </a:r>
            <a:r>
              <a:rPr lang="ar-EG" sz="2400" dirty="0"/>
              <a:t> يفضل تدريسها عن طريق المدرس </a:t>
            </a:r>
            <a:r>
              <a:rPr lang="ar-EG" sz="2400" dirty="0" err="1"/>
              <a:t>الخصوصى</a:t>
            </a:r>
            <a:r>
              <a:rPr lang="ar-EG" sz="2400" dirty="0"/>
              <a:t> </a:t>
            </a:r>
            <a:r>
              <a:rPr lang="en-US" sz="2400" dirty="0"/>
              <a:t>Tutorial</a:t>
            </a:r>
            <a:r>
              <a:rPr lang="ar-EG" sz="2400" dirty="0"/>
              <a:t> </a:t>
            </a:r>
            <a:r>
              <a:rPr lang="ar-EG" sz="2400" dirty="0" err="1"/>
              <a:t>واخرى</a:t>
            </a:r>
            <a:r>
              <a:rPr lang="ar-EG" sz="2400" dirty="0"/>
              <a:t> عن طريق </a:t>
            </a:r>
            <a:r>
              <a:rPr lang="ar-EG" sz="2400" dirty="0" err="1"/>
              <a:t>الالعاب</a:t>
            </a:r>
            <a:r>
              <a:rPr lang="ar-EG" sz="2400" dirty="0"/>
              <a:t> </a:t>
            </a:r>
            <a:r>
              <a:rPr lang="en-US" sz="2400" dirty="0"/>
              <a:t>Games</a:t>
            </a:r>
            <a:r>
              <a:rPr lang="ar-EG" sz="2400" dirty="0"/>
              <a:t> ويفيد تحديد نمط البرنامج </a:t>
            </a:r>
            <a:r>
              <a:rPr lang="ar-EG" sz="2400" dirty="0" err="1"/>
              <a:t>فى</a:t>
            </a:r>
            <a:r>
              <a:rPr lang="ar-EG" sz="2400" dirty="0"/>
              <a:t> تحديد المتطلبات فيما بعد فلكل برنامج متطلباته المادية والبشرية فالمتطلبات المادية تتحدد </a:t>
            </a:r>
            <a:r>
              <a:rPr lang="ar-EG" sz="2400" dirty="0" err="1"/>
              <a:t>فى</a:t>
            </a:r>
            <a:r>
              <a:rPr lang="ar-EG" sz="2400" dirty="0"/>
              <a:t> الغالب </a:t>
            </a:r>
            <a:r>
              <a:rPr lang="ar-EG" sz="2400" dirty="0" err="1"/>
              <a:t>فى</a:t>
            </a:r>
            <a:r>
              <a:rPr lang="ar-EG" sz="2400" dirty="0"/>
              <a:t> شكل برامج التأليف وبرامج التحرير المساعدة.</a:t>
            </a:r>
            <a:endParaRPr lang="en-US" sz="2400" dirty="0"/>
          </a:p>
        </p:txBody>
      </p:sp>
    </p:spTree>
  </p:cSld>
  <p:clrMapOvr>
    <a:masterClrMapping/>
  </p:clrMapOvr>
  <p:transition spd="slow">
    <p:wheel spokes="8"/>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025"/>
                                        </p:tgtEl>
                                        <p:attrNameLst>
                                          <p:attrName>style.visibility</p:attrName>
                                        </p:attrNameLst>
                                      </p:cBhvr>
                                      <p:to>
                                        <p:strVal val="visible"/>
                                      </p:to>
                                    </p:set>
                                    <p:anim calcmode="lin" valueType="num">
                                      <p:cBhvr>
                                        <p:cTn id="7" dur="500" fill="hold"/>
                                        <p:tgtEl>
                                          <p:spTgt spid="1025"/>
                                        </p:tgtEl>
                                        <p:attrNameLst>
                                          <p:attrName>ppt_w</p:attrName>
                                        </p:attrNameLst>
                                      </p:cBhvr>
                                      <p:tavLst>
                                        <p:tav tm="0">
                                          <p:val>
                                            <p:fltVal val="0"/>
                                          </p:val>
                                        </p:tav>
                                        <p:tav tm="100000">
                                          <p:val>
                                            <p:strVal val="#ppt_w"/>
                                          </p:val>
                                        </p:tav>
                                      </p:tavLst>
                                    </p:anim>
                                    <p:anim calcmode="lin" valueType="num">
                                      <p:cBhvr>
                                        <p:cTn id="8" dur="500" fill="hold"/>
                                        <p:tgtEl>
                                          <p:spTgt spid="1025"/>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33" presetClass="path" presetSubtype="0" accel="50000" decel="50000" fill="hold" grpId="1" nodeType="afterEffect">
                                  <p:stCondLst>
                                    <p:cond delay="0"/>
                                  </p:stCondLst>
                                  <p:childTnLst>
                                    <p:animMotion origin="layout" path="M 0 0  C 0.015 0.032  0.037 0.06533  0.055 0.07867  C 0.082 0.1  0.108 0.108  0.113 0.09733  C 0.117 0.08667  0.099 0.06  0.072 0.03867  C 0.054 0.02533  0.021 0.016  -0.008 0.01467  C -0.036 0.016  -0.07 0.02533  -0.088 0.03867  C -0.115 0.06  -0.133 0.08667  -0.128 0.09733  C -0.123 0.108  -0.097 0.1  -0.071 0.07867  C -0.053 0.06533  -0.03 0.032  -0.016 0  C -0.001 -0.03333  0.009 -0.07733  0.009 -0.10533  C 0.009 -0.148  0.002 -0.18133  -0.008 -0.18133  C -0.017 -0.18133  -0.025 -0.148  -0.025 -0.10533  C -0.025 -0.07733  -0.014 -0.03333  0 0  Z" pathEditMode="relative" ptsTypes="">
                                      <p:cBhvr>
                                        <p:cTn id="11" dur="2000" fill="hold"/>
                                        <p:tgtEl>
                                          <p:spTgt spid="1025"/>
                                        </p:tgtEl>
                                        <p:attrNameLst>
                                          <p:attrName>ppt_x</p:attrName>
                                          <p:attrName>ppt_y</p:attrName>
                                        </p:attrNameLst>
                                      </p:cBhvr>
                                    </p:animMotion>
                                  </p:childTnLst>
                                </p:cTn>
                              </p:par>
                            </p:childTnLst>
                          </p:cTn>
                        </p:par>
                      </p:childTnLst>
                    </p:cTn>
                  </p:par>
                  <p:par>
                    <p:cTn id="12" fill="hold">
                      <p:stCondLst>
                        <p:cond delay="indefinite"/>
                      </p:stCondLst>
                      <p:childTnLst>
                        <p:par>
                          <p:cTn id="13" fill="hold">
                            <p:stCondLst>
                              <p:cond delay="0"/>
                            </p:stCondLst>
                            <p:childTnLst>
                              <p:par>
                                <p:cTn id="14" presetID="34"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 from="(-#ppt_w/2)" to="(#ppt_x)" calcmode="lin" valueType="num">
                                      <p:cBhvr>
                                        <p:cTn id="16" dur="600" fill="hold">
                                          <p:stCondLst>
                                            <p:cond delay="0"/>
                                          </p:stCondLst>
                                        </p:cTn>
                                        <p:tgtEl>
                                          <p:spTgt spid="4"/>
                                        </p:tgtEl>
                                        <p:attrNameLst>
                                          <p:attrName>ppt_x</p:attrName>
                                        </p:attrNameLst>
                                      </p:cBhvr>
                                    </p:anim>
                                    <p:anim from="0" to="-1.0" calcmode="lin" valueType="num">
                                      <p:cBhvr>
                                        <p:cTn id="17" dur="200" decel="50000" autoRev="1" fill="hold">
                                          <p:stCondLst>
                                            <p:cond delay="600"/>
                                          </p:stCondLst>
                                        </p:cTn>
                                        <p:tgtEl>
                                          <p:spTgt spid="4"/>
                                        </p:tgtEl>
                                        <p:attrNameLst>
                                          <p:attrName>xshear</p:attrName>
                                        </p:attrNameLst>
                                      </p:cBhvr>
                                    </p:anim>
                                    <p:animScale>
                                      <p:cBhvr>
                                        <p:cTn id="18" dur="200" decel="100000" autoRev="1" fill="hold">
                                          <p:stCondLst>
                                            <p:cond delay="600"/>
                                          </p:stCondLst>
                                        </p:cTn>
                                        <p:tgtEl>
                                          <p:spTgt spid="4"/>
                                        </p:tgtEl>
                                      </p:cBhvr>
                                      <p:from x="100000" y="100000"/>
                                      <p:to x="80000" y="100000"/>
                                    </p:animScale>
                                    <p:anim by="(#ppt_h/3+#ppt_w*0.1)" calcmode="lin" valueType="num">
                                      <p:cBhvr additive="sum">
                                        <p:cTn id="19" dur="200" decel="100000" autoRev="1" fill="hold">
                                          <p:stCondLst>
                                            <p:cond delay="600"/>
                                          </p:stCondLst>
                                        </p:cTn>
                                        <p:tgtEl>
                                          <p:spTgt spid="4"/>
                                        </p:tgtEl>
                                        <p:attrNameLst>
                                          <p:attrName>ppt_x</p:attrName>
                                        </p:attrNameLst>
                                      </p:cBhvr>
                                    </p:anim>
                                  </p:childTnLst>
                                </p:cTn>
                              </p:par>
                            </p:childTnLst>
                          </p:cTn>
                        </p:par>
                      </p:childTnLst>
                    </p:cTn>
                  </p:par>
                  <p:par>
                    <p:cTn id="20" fill="hold">
                      <p:stCondLst>
                        <p:cond delay="indefinite"/>
                      </p:stCondLst>
                      <p:childTnLst>
                        <p:par>
                          <p:cTn id="21" fill="hold">
                            <p:stCondLst>
                              <p:cond delay="0"/>
                            </p:stCondLst>
                            <p:childTnLst>
                              <p:par>
                                <p:cTn id="22" presetID="50" presetClass="entr" presetSubtype="0" decel="100000" fill="hold" nodeType="clickEffect">
                                  <p:stCondLst>
                                    <p:cond delay="0"/>
                                  </p:stCondLst>
                                  <p:childTnLst>
                                    <p:set>
                                      <p:cBhvr>
                                        <p:cTn id="23" dur="1" fill="hold">
                                          <p:stCondLst>
                                            <p:cond delay="0"/>
                                          </p:stCondLst>
                                        </p:cTn>
                                        <p:tgtEl>
                                          <p:spTgt spid="5">
                                            <p:txEl>
                                              <p:pRg st="0" end="0"/>
                                            </p:txEl>
                                          </p:spTgt>
                                        </p:tgtEl>
                                        <p:attrNameLst>
                                          <p:attrName>style.visibility</p:attrName>
                                        </p:attrNameLst>
                                      </p:cBhvr>
                                      <p:to>
                                        <p:strVal val="visible"/>
                                      </p:to>
                                    </p:set>
                                    <p:anim calcmode="lin" valueType="num">
                                      <p:cBhvr>
                                        <p:cTn id="24" dur="1000" fill="hold"/>
                                        <p:tgtEl>
                                          <p:spTgt spid="5">
                                            <p:txEl>
                                              <p:pRg st="0" end="0"/>
                                            </p:txEl>
                                          </p:spTgt>
                                        </p:tgtEl>
                                        <p:attrNameLst>
                                          <p:attrName>ppt_w</p:attrName>
                                        </p:attrNameLst>
                                      </p:cBhvr>
                                      <p:tavLst>
                                        <p:tav tm="0">
                                          <p:val>
                                            <p:strVal val="#ppt_w+.3"/>
                                          </p:val>
                                        </p:tav>
                                        <p:tav tm="100000">
                                          <p:val>
                                            <p:strVal val="#ppt_w"/>
                                          </p:val>
                                        </p:tav>
                                      </p:tavLst>
                                    </p:anim>
                                    <p:anim calcmode="lin" valueType="num">
                                      <p:cBhvr>
                                        <p:cTn id="25"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26" dur="1000"/>
                                        <p:tgtEl>
                                          <p:spTgt spid="5">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7" presetClass="entr" presetSubtype="0" fill="hold" nodeType="clickEffect">
                                  <p:stCondLst>
                                    <p:cond delay="0"/>
                                  </p:stCondLst>
                                  <p:childTnLst>
                                    <p:set>
                                      <p:cBhvr>
                                        <p:cTn id="30" dur="1" fill="hold">
                                          <p:stCondLst>
                                            <p:cond delay="0"/>
                                          </p:stCondLst>
                                        </p:cTn>
                                        <p:tgtEl>
                                          <p:spTgt spid="5">
                                            <p:txEl>
                                              <p:pRg st="1" end="1"/>
                                            </p:txEl>
                                          </p:spTgt>
                                        </p:tgtEl>
                                        <p:attrNameLst>
                                          <p:attrName>style.visibility</p:attrName>
                                        </p:attrNameLst>
                                      </p:cBhvr>
                                      <p:to>
                                        <p:strVal val="visible"/>
                                      </p:to>
                                    </p:set>
                                    <p:animEffect transition="in" filter="fade">
                                      <p:cBhvr>
                                        <p:cTn id="31" dur="1000"/>
                                        <p:tgtEl>
                                          <p:spTgt spid="5">
                                            <p:txEl>
                                              <p:pRg st="1" end="1"/>
                                            </p:txEl>
                                          </p:spTgt>
                                        </p:tgtEl>
                                      </p:cBhvr>
                                    </p:animEffect>
                                    <p:anim calcmode="lin" valueType="num">
                                      <p:cBhvr>
                                        <p:cTn id="32"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33"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50" presetClass="entr" presetSubtype="0" decel="100000" fill="hold" nodeType="clickEffect">
                                  <p:stCondLst>
                                    <p:cond delay="0"/>
                                  </p:stCondLst>
                                  <p:childTnLst>
                                    <p:set>
                                      <p:cBhvr>
                                        <p:cTn id="37" dur="1" fill="hold">
                                          <p:stCondLst>
                                            <p:cond delay="0"/>
                                          </p:stCondLst>
                                        </p:cTn>
                                        <p:tgtEl>
                                          <p:spTgt spid="5">
                                            <p:txEl>
                                              <p:pRg st="2" end="2"/>
                                            </p:txEl>
                                          </p:spTgt>
                                        </p:tgtEl>
                                        <p:attrNameLst>
                                          <p:attrName>style.visibility</p:attrName>
                                        </p:attrNameLst>
                                      </p:cBhvr>
                                      <p:to>
                                        <p:strVal val="visible"/>
                                      </p:to>
                                    </p:set>
                                    <p:anim calcmode="lin" valueType="num">
                                      <p:cBhvr>
                                        <p:cTn id="38" dur="1000" fill="hold"/>
                                        <p:tgtEl>
                                          <p:spTgt spid="5">
                                            <p:txEl>
                                              <p:pRg st="2" end="2"/>
                                            </p:txEl>
                                          </p:spTgt>
                                        </p:tgtEl>
                                        <p:attrNameLst>
                                          <p:attrName>ppt_w</p:attrName>
                                        </p:attrNameLst>
                                      </p:cBhvr>
                                      <p:tavLst>
                                        <p:tav tm="0">
                                          <p:val>
                                            <p:strVal val="#ppt_w+.3"/>
                                          </p:val>
                                        </p:tav>
                                        <p:tav tm="100000">
                                          <p:val>
                                            <p:strVal val="#ppt_w"/>
                                          </p:val>
                                        </p:tav>
                                      </p:tavLst>
                                    </p:anim>
                                    <p:anim calcmode="lin" valueType="num">
                                      <p:cBhvr>
                                        <p:cTn id="39" dur="1000" fill="hold"/>
                                        <p:tgtEl>
                                          <p:spTgt spid="5">
                                            <p:txEl>
                                              <p:pRg st="2" end="2"/>
                                            </p:txEl>
                                          </p:spTgt>
                                        </p:tgtEl>
                                        <p:attrNameLst>
                                          <p:attrName>ppt_h</p:attrName>
                                        </p:attrNameLst>
                                      </p:cBhvr>
                                      <p:tavLst>
                                        <p:tav tm="0">
                                          <p:val>
                                            <p:strVal val="#ppt_h"/>
                                          </p:val>
                                        </p:tav>
                                        <p:tav tm="100000">
                                          <p:val>
                                            <p:strVal val="#ppt_h"/>
                                          </p:val>
                                        </p:tav>
                                      </p:tavLst>
                                    </p:anim>
                                    <p:animEffect transition="in" filter="fade">
                                      <p:cBhvr>
                                        <p:cTn id="40" dur="1000"/>
                                        <p:tgtEl>
                                          <p:spTgt spid="5">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47" presetClass="entr" presetSubtype="0" fill="hold" nodeType="clickEffect">
                                  <p:stCondLst>
                                    <p:cond delay="0"/>
                                  </p:stCondLst>
                                  <p:childTnLst>
                                    <p:set>
                                      <p:cBhvr>
                                        <p:cTn id="44" dur="1" fill="hold">
                                          <p:stCondLst>
                                            <p:cond delay="0"/>
                                          </p:stCondLst>
                                        </p:cTn>
                                        <p:tgtEl>
                                          <p:spTgt spid="5">
                                            <p:txEl>
                                              <p:pRg st="3" end="3"/>
                                            </p:txEl>
                                          </p:spTgt>
                                        </p:tgtEl>
                                        <p:attrNameLst>
                                          <p:attrName>style.visibility</p:attrName>
                                        </p:attrNameLst>
                                      </p:cBhvr>
                                      <p:to>
                                        <p:strVal val="visible"/>
                                      </p:to>
                                    </p:set>
                                    <p:animEffect transition="in" filter="fade">
                                      <p:cBhvr>
                                        <p:cTn id="45" dur="1000"/>
                                        <p:tgtEl>
                                          <p:spTgt spid="5">
                                            <p:txEl>
                                              <p:pRg st="3" end="3"/>
                                            </p:txEl>
                                          </p:spTgt>
                                        </p:tgtEl>
                                      </p:cBhvr>
                                    </p:animEffect>
                                    <p:anim calcmode="lin" valueType="num">
                                      <p:cBhvr>
                                        <p:cTn id="46"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47"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 grpId="0" animBg="1"/>
      <p:bldP spid="1025" grpId="1" animBg="1"/>
      <p:bldP spid="4"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3779340" y="260648"/>
            <a:ext cx="4864627" cy="523220"/>
          </a:xfrm>
          <a:prstGeom prst="rect">
            <a:avLst/>
          </a:prstGeom>
        </p:spPr>
        <p:style>
          <a:lnRef idx="2">
            <a:schemeClr val="accent6"/>
          </a:lnRef>
          <a:fillRef idx="1">
            <a:schemeClr val="lt1"/>
          </a:fillRef>
          <a:effectRef idx="0">
            <a:schemeClr val="accent6"/>
          </a:effectRef>
          <a:fontRef idx="minor">
            <a:schemeClr val="dk1"/>
          </a:fontRef>
        </p:style>
        <p:txBody>
          <a:bodyPr wrap="square" rtlCol="1">
            <a:spAutoFit/>
          </a:bodyPr>
          <a:lstStyle/>
          <a:p>
            <a:r>
              <a:rPr lang="ar-EG" sz="2800" b="1" dirty="0"/>
              <a:t>ثانياً : مرحلة التصميم </a:t>
            </a:r>
            <a:r>
              <a:rPr lang="ar-EG" sz="2800" b="1" dirty="0" err="1"/>
              <a:t>التربوى</a:t>
            </a:r>
            <a:endParaRPr lang="en-US" sz="2800" dirty="0"/>
          </a:p>
        </p:txBody>
      </p:sp>
      <p:sp>
        <p:nvSpPr>
          <p:cNvPr id="3" name="مربع نص 2"/>
          <p:cNvSpPr txBox="1"/>
          <p:nvPr/>
        </p:nvSpPr>
        <p:spPr>
          <a:xfrm>
            <a:off x="0" y="908720"/>
            <a:ext cx="8964487" cy="6001643"/>
          </a:xfrm>
          <a:prstGeom prst="rect">
            <a:avLst/>
          </a:prstGeom>
          <a:noFill/>
        </p:spPr>
        <p:txBody>
          <a:bodyPr wrap="square" rtlCol="1">
            <a:spAutoFit/>
          </a:bodyPr>
          <a:lstStyle/>
          <a:p>
            <a:pPr lvl="0"/>
            <a:r>
              <a:rPr lang="ar-EG" sz="3600" b="1" dirty="0">
                <a:solidFill>
                  <a:srgbClr val="FFFF00"/>
                </a:solidFill>
              </a:rPr>
              <a:t>1- تحديد الاهداف العامة والسلوكية</a:t>
            </a:r>
            <a:endParaRPr lang="en-US" sz="3600" dirty="0">
              <a:solidFill>
                <a:srgbClr val="FFFF00"/>
              </a:solidFill>
            </a:endParaRPr>
          </a:p>
          <a:p>
            <a:r>
              <a:rPr lang="ar-EG" sz="2400" dirty="0"/>
              <a:t>يتم تحديد الاهداف العامة للبرنامج ثم صياغة الاهداف العامة فى صورة عبارات سلوكية تبين ما الذى يجب ان يكون علية سلوك الطالب بعد تحقيق الهدف فالتحديد الواضح للاهداف السلوكية يلعب دورا رئيسيا فى عملية تصميم البرنامج التعليمى وتنفيذة ويتفق كل من "انشراح الدسوقى على" (1989) عايش محمود زيتون " (1993) احمد ابراهيم قنديل " (1995) عبد المجيد نشوتى " (1997) " امال صادق فؤاد ابو حطب " (2000) على ان الهدف السلوكى "عبارة تصفأنماط السلوك المتوقع الذي يمارسه المتعلم ويصدره بدرجة ملائمة من الكفاية او الجودة او التمكن او الاتقان بعد دراسة درس معين او جزء منه"</a:t>
            </a:r>
            <a:endParaRPr lang="en-US" sz="2400" dirty="0"/>
          </a:p>
          <a:p>
            <a:pPr lvl="0"/>
            <a:r>
              <a:rPr lang="ar-EG" sz="3600" b="1" dirty="0">
                <a:solidFill>
                  <a:srgbClr val="FFFF00"/>
                </a:solidFill>
              </a:rPr>
              <a:t>2- تحليل المحتوي</a:t>
            </a:r>
            <a:endParaRPr lang="en-US" sz="3600" dirty="0">
              <a:solidFill>
                <a:srgbClr val="FFFF00"/>
              </a:solidFill>
            </a:endParaRPr>
          </a:p>
          <a:p>
            <a:r>
              <a:rPr lang="ar-EG" sz="2400" dirty="0"/>
              <a:t>يتم تحليل المحتوى العلمى للبرنامج واعادة صياغته فى تتابع منطقى وتحديد المفاهيم الرئيسية والحقائق والكشف عن العناصر الضرورية منها لتحقيق الاهداف والعمل على تقسيم هذا المحتوى الى فصول والفصل الى دروس والدرس الى فقرات ويساعد هذا التحليل على تحديد مهام التعلم وبناء الانشطة والمهام التى يجب على المتعلم اجتيازها وتحديد موقع الاختبارات فى البرنامج وموقع العروض</a:t>
            </a:r>
            <a:endParaRPr lang="en-US" sz="2400" dirty="0"/>
          </a:p>
          <a:p>
            <a:endParaRPr lang="ar-EG" sz="2400" dirty="0"/>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from="(-#ppt_w/2)" to="(#ppt_x)" calcmode="lin" valueType="num">
                                      <p:cBhvr>
                                        <p:cTn id="7" dur="600" fill="hold">
                                          <p:stCondLst>
                                            <p:cond delay="0"/>
                                          </p:stCondLst>
                                        </p:cTn>
                                        <p:tgtEl>
                                          <p:spTgt spid="2"/>
                                        </p:tgtEl>
                                        <p:attrNameLst>
                                          <p:attrName>ppt_x</p:attrName>
                                        </p:attrNameLst>
                                      </p:cBhvr>
                                    </p:anim>
                                    <p:anim from="0" to="-1.0" calcmode="lin" valueType="num">
                                      <p:cBhvr>
                                        <p:cTn id="8" dur="200" decel="50000" autoRev="1" fill="hold">
                                          <p:stCondLst>
                                            <p:cond delay="600"/>
                                          </p:stCondLst>
                                        </p:cTn>
                                        <p:tgtEl>
                                          <p:spTgt spid="2"/>
                                        </p:tgtEl>
                                        <p:attrNameLst>
                                          <p:attrName>xshear</p:attrName>
                                        </p:attrNameLst>
                                      </p:cBhvr>
                                    </p:anim>
                                    <p:animScale>
                                      <p:cBhvr>
                                        <p:cTn id="9" dur="200" decel="100000" autoRev="1" fill="hold">
                                          <p:stCondLst>
                                            <p:cond delay="600"/>
                                          </p:stCondLst>
                                        </p:cTn>
                                        <p:tgtEl>
                                          <p:spTgt spid="2"/>
                                        </p:tgtEl>
                                      </p:cBhvr>
                                      <p:from x="100000" y="100000"/>
                                      <p:to x="80000" y="100000"/>
                                    </p:animScale>
                                    <p:anim by="(#ppt_h/3+#ppt_w*0.1)" calcmode="lin" valueType="num">
                                      <p:cBhvr additive="sum">
                                        <p:cTn id="10" dur="200" decel="100000" autoRev="1" fill="hold">
                                          <p:stCondLst>
                                            <p:cond delay="600"/>
                                          </p:stCondLst>
                                        </p:cTn>
                                        <p:tgtEl>
                                          <p:spTgt spid="2"/>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50" presetClass="entr" presetSubtype="0" decel="10000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strVal val="#ppt_w+.3"/>
                                          </p:val>
                                        </p:tav>
                                        <p:tav tm="100000">
                                          <p:val>
                                            <p:strVal val="#ppt_w"/>
                                          </p:val>
                                        </p:tav>
                                      </p:tavLst>
                                    </p:anim>
                                    <p:anim calcmode="lin" valueType="num">
                                      <p:cBhvr>
                                        <p:cTn id="16"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17" dur="10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7"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1000"/>
                                        <p:tgtEl>
                                          <p:spTgt spid="3">
                                            <p:txEl>
                                              <p:pRg st="1" end="1"/>
                                            </p:txEl>
                                          </p:spTgt>
                                        </p:tgtEl>
                                      </p:cBhvr>
                                    </p:animEffect>
                                    <p:anim calcmode="lin" valueType="num">
                                      <p:cBhvr>
                                        <p:cTn id="2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0" presetClass="entr" presetSubtype="0" decel="10000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 calcmode="lin" valueType="num">
                                      <p:cBhvr>
                                        <p:cTn id="29" dur="1000" fill="hold"/>
                                        <p:tgtEl>
                                          <p:spTgt spid="3">
                                            <p:txEl>
                                              <p:pRg st="2" end="2"/>
                                            </p:txEl>
                                          </p:spTgt>
                                        </p:tgtEl>
                                        <p:attrNameLst>
                                          <p:attrName>ppt_w</p:attrName>
                                        </p:attrNameLst>
                                      </p:cBhvr>
                                      <p:tavLst>
                                        <p:tav tm="0">
                                          <p:val>
                                            <p:strVal val="#ppt_w+.3"/>
                                          </p:val>
                                        </p:tav>
                                        <p:tav tm="100000">
                                          <p:val>
                                            <p:strVal val="#ppt_w"/>
                                          </p:val>
                                        </p:tav>
                                      </p:tavLst>
                                    </p:anim>
                                    <p:anim calcmode="lin" valueType="num">
                                      <p:cBhvr>
                                        <p:cTn id="30"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31" dur="1000"/>
                                        <p:tgtEl>
                                          <p:spTgt spid="3">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47" presetClass="entr" presetSubtype="0" fill="hold"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fade">
                                      <p:cBhvr>
                                        <p:cTn id="36" dur="1000"/>
                                        <p:tgtEl>
                                          <p:spTgt spid="3">
                                            <p:txEl>
                                              <p:pRg st="3" end="3"/>
                                            </p:txEl>
                                          </p:spTgt>
                                        </p:tgtEl>
                                      </p:cBhvr>
                                    </p:animEffect>
                                    <p:anim calcmode="lin" valueType="num">
                                      <p:cBhvr>
                                        <p:cTn id="3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5004048" y="260648"/>
            <a:ext cx="3435296" cy="523220"/>
          </a:xfrm>
          <a:prstGeom prst="rect">
            <a:avLst/>
          </a:prstGeom>
        </p:spPr>
        <p:style>
          <a:lnRef idx="2">
            <a:schemeClr val="accent6"/>
          </a:lnRef>
          <a:fillRef idx="1">
            <a:schemeClr val="lt1"/>
          </a:fillRef>
          <a:effectRef idx="0">
            <a:schemeClr val="accent6"/>
          </a:effectRef>
          <a:fontRef idx="minor">
            <a:schemeClr val="dk1"/>
          </a:fontRef>
        </p:style>
        <p:txBody>
          <a:bodyPr wrap="square" rtlCol="1">
            <a:spAutoFit/>
          </a:bodyPr>
          <a:lstStyle/>
          <a:p>
            <a:r>
              <a:rPr lang="ar-EG" sz="2800" b="1" dirty="0"/>
              <a:t>ثالثاً : مرحلة التصميم </a:t>
            </a:r>
            <a:endParaRPr lang="en-US" sz="2800" dirty="0"/>
          </a:p>
        </p:txBody>
      </p:sp>
      <p:sp>
        <p:nvSpPr>
          <p:cNvPr id="3" name="مربع نص 2"/>
          <p:cNvSpPr txBox="1"/>
          <p:nvPr/>
        </p:nvSpPr>
        <p:spPr>
          <a:xfrm>
            <a:off x="357158" y="1124744"/>
            <a:ext cx="8463313" cy="5262979"/>
          </a:xfrm>
          <a:prstGeom prst="rect">
            <a:avLst/>
          </a:prstGeom>
          <a:noFill/>
        </p:spPr>
        <p:txBody>
          <a:bodyPr wrap="square" rtlCol="1">
            <a:spAutoFit/>
          </a:bodyPr>
          <a:lstStyle/>
          <a:p>
            <a:pPr lvl="0"/>
            <a:r>
              <a:rPr lang="ar-EG" sz="3600" b="1" dirty="0">
                <a:solidFill>
                  <a:srgbClr val="FFFF00"/>
                </a:solidFill>
              </a:rPr>
              <a:t>1- تحديد أنماط التفاعل مع البرنامج </a:t>
            </a:r>
            <a:endParaRPr lang="en-US" sz="3600" dirty="0">
              <a:solidFill>
                <a:srgbClr val="FFFF00"/>
              </a:solidFill>
            </a:endParaRPr>
          </a:p>
          <a:p>
            <a:r>
              <a:rPr lang="ar-EG" sz="2400" dirty="0"/>
              <a:t>ويقصد </a:t>
            </a:r>
            <a:r>
              <a:rPr lang="ar-EG" sz="2400" dirty="0" err="1"/>
              <a:t>بها</a:t>
            </a:r>
            <a:r>
              <a:rPr lang="ar-EG" sz="2400" dirty="0"/>
              <a:t> الوسائل </a:t>
            </a:r>
            <a:r>
              <a:rPr lang="ar-EG" sz="2400" dirty="0" err="1"/>
              <a:t>التى</a:t>
            </a:r>
            <a:r>
              <a:rPr lang="ar-EG" sz="2400" dirty="0"/>
              <a:t> يتيحها البرنامج للمتعلم للتعبير عن استجاباته ومن تلك </a:t>
            </a:r>
            <a:r>
              <a:rPr lang="ar-EG" sz="2400" dirty="0" err="1"/>
              <a:t>الانماط</a:t>
            </a:r>
            <a:r>
              <a:rPr lang="ar-EG" sz="2400" dirty="0"/>
              <a:t> النقر بالفارة والسحب </a:t>
            </a:r>
            <a:r>
              <a:rPr lang="ar-EG" sz="2400" dirty="0" err="1"/>
              <a:t>والاسقاط</a:t>
            </a:r>
            <a:r>
              <a:rPr lang="ar-EG" sz="2400" dirty="0"/>
              <a:t> </a:t>
            </a:r>
            <a:r>
              <a:rPr lang="ar-EG" sz="2400" dirty="0" err="1"/>
              <a:t>والكتابه</a:t>
            </a:r>
            <a:r>
              <a:rPr lang="ar-EG" sz="2400" dirty="0"/>
              <a:t> بلوحة المفاتيح ولمس جزء من الشاشة وغالبا ما تتوقف تلك </a:t>
            </a:r>
            <a:r>
              <a:rPr lang="ar-EG" sz="2400" dirty="0" err="1"/>
              <a:t>الانماط</a:t>
            </a:r>
            <a:r>
              <a:rPr lang="ar-EG" sz="2400" dirty="0"/>
              <a:t> على نوع التدريب المطلوب من المتعلم </a:t>
            </a:r>
          </a:p>
          <a:p>
            <a:endParaRPr lang="en-US" sz="2400" dirty="0"/>
          </a:p>
          <a:p>
            <a:pPr lvl="0"/>
            <a:r>
              <a:rPr lang="ar-EG" sz="3600" b="1" dirty="0">
                <a:solidFill>
                  <a:srgbClr val="FFFF00"/>
                </a:solidFill>
              </a:rPr>
              <a:t>2- تحويل المحتوى </a:t>
            </a:r>
            <a:r>
              <a:rPr lang="ar-EG" sz="3600" b="1" dirty="0" err="1">
                <a:solidFill>
                  <a:srgbClr val="FFFF00"/>
                </a:solidFill>
              </a:rPr>
              <a:t>الى</a:t>
            </a:r>
            <a:r>
              <a:rPr lang="ar-EG" sz="3600" b="1" dirty="0">
                <a:solidFill>
                  <a:srgbClr val="FFFF00"/>
                </a:solidFill>
              </a:rPr>
              <a:t> سيناريو </a:t>
            </a:r>
            <a:endParaRPr lang="en-US" sz="3600" dirty="0">
              <a:solidFill>
                <a:srgbClr val="FFFF00"/>
              </a:solidFill>
            </a:endParaRPr>
          </a:p>
          <a:p>
            <a:r>
              <a:rPr lang="ar-EG" sz="2400" dirty="0"/>
              <a:t>تعتبر الكلمة المكتوبة </a:t>
            </a:r>
            <a:r>
              <a:rPr lang="ar-EG" sz="2400" dirty="0" err="1"/>
              <a:t>اصل</a:t>
            </a:r>
            <a:r>
              <a:rPr lang="ar-EG" sz="2400" dirty="0"/>
              <a:t> نصوص وسائل الاتصال التعليمية على اختلاف </a:t>
            </a:r>
            <a:r>
              <a:rPr lang="ar-EG" sz="2400" dirty="0" err="1"/>
              <a:t>انواعها</a:t>
            </a:r>
            <a:r>
              <a:rPr lang="ar-EG" sz="2400" dirty="0"/>
              <a:t> فمن الكلمة المكتوبة تأتى الفكرة </a:t>
            </a:r>
            <a:r>
              <a:rPr lang="ar-EG" sz="2400" dirty="0" err="1"/>
              <a:t>الاساسية</a:t>
            </a:r>
            <a:r>
              <a:rPr lang="ar-EG" sz="2400" dirty="0"/>
              <a:t> </a:t>
            </a:r>
            <a:r>
              <a:rPr lang="ar-EG" sz="2400" dirty="0" err="1"/>
              <a:t>لاي</a:t>
            </a:r>
            <a:r>
              <a:rPr lang="ar-EG" sz="2400" dirty="0"/>
              <a:t> موضوع معرفي وتتم صياغة هذه الفكرة لتصبح ملائمة لقناة </a:t>
            </a:r>
            <a:r>
              <a:rPr lang="ar-EG" sz="2400" dirty="0" err="1"/>
              <a:t>او</a:t>
            </a:r>
            <a:r>
              <a:rPr lang="ar-EG" sz="2400" dirty="0"/>
              <a:t> لوسيلة الاتصال </a:t>
            </a:r>
            <a:r>
              <a:rPr lang="ar-EG" sz="2400" dirty="0" err="1"/>
              <a:t>التى</a:t>
            </a:r>
            <a:r>
              <a:rPr lang="ar-EG" sz="2400" dirty="0"/>
              <a:t> ستحملها للطلاب وتنبع الفكرة التعليمية من الحقيقة محملة بالمعارف والخبرات والمهارات </a:t>
            </a:r>
            <a:r>
              <a:rPr lang="ar-EG" sz="2400" dirty="0" err="1"/>
              <a:t>وتكونالفكرة</a:t>
            </a:r>
            <a:r>
              <a:rPr lang="ar-EG" sz="2400" dirty="0"/>
              <a:t> مسجلة </a:t>
            </a:r>
            <a:r>
              <a:rPr lang="ar-EG" sz="2400" dirty="0" err="1"/>
              <a:t>فى</a:t>
            </a:r>
            <a:r>
              <a:rPr lang="ar-EG" sz="2400" dirty="0"/>
              <a:t> الكتب الدراسية ولذا يتطلب </a:t>
            </a:r>
            <a:r>
              <a:rPr lang="ar-EG" sz="2400" dirty="0" err="1"/>
              <a:t>انتاج</a:t>
            </a:r>
            <a:r>
              <a:rPr lang="ar-EG" sz="2400" dirty="0"/>
              <a:t> برنامج </a:t>
            </a:r>
            <a:r>
              <a:rPr lang="ar-EG" sz="2400" dirty="0" err="1"/>
              <a:t>تعليمى</a:t>
            </a:r>
            <a:r>
              <a:rPr lang="ar-EG" sz="2400" dirty="0"/>
              <a:t> معين </a:t>
            </a:r>
            <a:r>
              <a:rPr lang="ar-EG" sz="2400" dirty="0" err="1"/>
              <a:t>ان</a:t>
            </a:r>
            <a:r>
              <a:rPr lang="ar-EG" sz="2400" dirty="0"/>
              <a:t> يتم تحويل هذه المادة النظرية المسجلة </a:t>
            </a:r>
            <a:r>
              <a:rPr lang="ar-EG" sz="2400" dirty="0" err="1"/>
              <a:t>الى</a:t>
            </a:r>
            <a:r>
              <a:rPr lang="ar-EG" sz="2400" dirty="0"/>
              <a:t> شكل </a:t>
            </a:r>
            <a:r>
              <a:rPr lang="ar-EG" sz="2400" dirty="0" err="1"/>
              <a:t>اخر</a:t>
            </a:r>
            <a:r>
              <a:rPr lang="ar-EG" sz="2400" dirty="0"/>
              <a:t> يعتمد على </a:t>
            </a:r>
            <a:r>
              <a:rPr lang="ar-EG" sz="2400" dirty="0" err="1"/>
              <a:t>اهم</a:t>
            </a:r>
            <a:r>
              <a:rPr lang="ar-EG" sz="2400" dirty="0"/>
              <a:t> حواس </a:t>
            </a:r>
            <a:r>
              <a:rPr lang="ar-EG" sz="2400" dirty="0" err="1"/>
              <a:t>الادراك</a:t>
            </a:r>
            <a:r>
              <a:rPr lang="ar-EG" sz="2400" dirty="0"/>
              <a:t> </a:t>
            </a:r>
            <a:r>
              <a:rPr lang="ar-EG" sz="2400" dirty="0" err="1"/>
              <a:t>المعرفى</a:t>
            </a:r>
            <a:r>
              <a:rPr lang="ar-EG" sz="2400" dirty="0"/>
              <a:t> ويتطلب ذلك </a:t>
            </a:r>
            <a:r>
              <a:rPr lang="ar-EG" sz="2400" dirty="0" err="1"/>
              <a:t>اعداد</a:t>
            </a:r>
            <a:r>
              <a:rPr lang="ar-EG" sz="2400" dirty="0"/>
              <a:t> السيناريو </a:t>
            </a:r>
            <a:r>
              <a:rPr lang="ar-EG" sz="2400" dirty="0" err="1"/>
              <a:t>التعليمى</a:t>
            </a:r>
            <a:r>
              <a:rPr lang="ar-EG" sz="2400" dirty="0"/>
              <a:t> .</a:t>
            </a:r>
            <a:endParaRPr lang="en-US" sz="2400" dirty="0"/>
          </a:p>
        </p:txBody>
      </p:sp>
    </p:spTree>
  </p:cSld>
  <p:clrMapOvr>
    <a:masterClrMapping/>
  </p:clrMapOvr>
  <p:transition spd="slow">
    <p:randomBa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from="(-#ppt_w/2)" to="(#ppt_x)" calcmode="lin" valueType="num">
                                      <p:cBhvr>
                                        <p:cTn id="7" dur="600" fill="hold">
                                          <p:stCondLst>
                                            <p:cond delay="0"/>
                                          </p:stCondLst>
                                        </p:cTn>
                                        <p:tgtEl>
                                          <p:spTgt spid="2"/>
                                        </p:tgtEl>
                                        <p:attrNameLst>
                                          <p:attrName>ppt_x</p:attrName>
                                        </p:attrNameLst>
                                      </p:cBhvr>
                                    </p:anim>
                                    <p:anim from="0" to="-1.0" calcmode="lin" valueType="num">
                                      <p:cBhvr>
                                        <p:cTn id="8" dur="200" decel="50000" autoRev="1" fill="hold">
                                          <p:stCondLst>
                                            <p:cond delay="600"/>
                                          </p:stCondLst>
                                        </p:cTn>
                                        <p:tgtEl>
                                          <p:spTgt spid="2"/>
                                        </p:tgtEl>
                                        <p:attrNameLst>
                                          <p:attrName>xshear</p:attrName>
                                        </p:attrNameLst>
                                      </p:cBhvr>
                                    </p:anim>
                                    <p:animScale>
                                      <p:cBhvr>
                                        <p:cTn id="9" dur="200" decel="100000" autoRev="1" fill="hold">
                                          <p:stCondLst>
                                            <p:cond delay="600"/>
                                          </p:stCondLst>
                                        </p:cTn>
                                        <p:tgtEl>
                                          <p:spTgt spid="2"/>
                                        </p:tgtEl>
                                      </p:cBhvr>
                                      <p:from x="100000" y="100000"/>
                                      <p:to x="80000" y="100000"/>
                                    </p:animScale>
                                    <p:anim by="(#ppt_h/3+#ppt_w*0.1)" calcmode="lin" valueType="num">
                                      <p:cBhvr additive="sum">
                                        <p:cTn id="10" dur="200" decel="100000" autoRev="1" fill="hold">
                                          <p:stCondLst>
                                            <p:cond delay="600"/>
                                          </p:stCondLst>
                                        </p:cTn>
                                        <p:tgtEl>
                                          <p:spTgt spid="2"/>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50" presetClass="entr" presetSubtype="0" decel="10000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strVal val="#ppt_w+.3"/>
                                          </p:val>
                                        </p:tav>
                                        <p:tav tm="100000">
                                          <p:val>
                                            <p:strVal val="#ppt_w"/>
                                          </p:val>
                                        </p:tav>
                                      </p:tavLst>
                                    </p:anim>
                                    <p:anim calcmode="lin" valueType="num">
                                      <p:cBhvr>
                                        <p:cTn id="16"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17" dur="10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7"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1000"/>
                                        <p:tgtEl>
                                          <p:spTgt spid="3">
                                            <p:txEl>
                                              <p:pRg st="1" end="1"/>
                                            </p:txEl>
                                          </p:spTgt>
                                        </p:tgtEl>
                                      </p:cBhvr>
                                    </p:animEffect>
                                    <p:anim calcmode="lin" valueType="num">
                                      <p:cBhvr>
                                        <p:cTn id="2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0" presetClass="entr" presetSubtype="0" decel="10000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p:cTn id="29" dur="1000" fill="hold"/>
                                        <p:tgtEl>
                                          <p:spTgt spid="3">
                                            <p:txEl>
                                              <p:pRg st="3" end="3"/>
                                            </p:txEl>
                                          </p:spTgt>
                                        </p:tgtEl>
                                        <p:attrNameLst>
                                          <p:attrName>ppt_w</p:attrName>
                                        </p:attrNameLst>
                                      </p:cBhvr>
                                      <p:tavLst>
                                        <p:tav tm="0">
                                          <p:val>
                                            <p:strVal val="#ppt_w+.3"/>
                                          </p:val>
                                        </p:tav>
                                        <p:tav tm="100000">
                                          <p:val>
                                            <p:strVal val="#ppt_w"/>
                                          </p:val>
                                        </p:tav>
                                      </p:tavLst>
                                    </p:anim>
                                    <p:anim calcmode="lin" valueType="num">
                                      <p:cBhvr>
                                        <p:cTn id="30"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31" dur="1000"/>
                                        <p:tgtEl>
                                          <p:spTgt spid="3">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47" presetClass="entr" presetSubtype="0" fill="hold"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fade">
                                      <p:cBhvr>
                                        <p:cTn id="36" dur="1000"/>
                                        <p:tgtEl>
                                          <p:spTgt spid="3">
                                            <p:txEl>
                                              <p:pRg st="4" end="4"/>
                                            </p:txEl>
                                          </p:spTgt>
                                        </p:tgtEl>
                                      </p:cBhvr>
                                    </p:animEffect>
                                    <p:anim calcmode="lin" valueType="num">
                                      <p:cBhvr>
                                        <p:cTn id="3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p:cNvSpPr txBox="1"/>
          <p:nvPr/>
        </p:nvSpPr>
        <p:spPr>
          <a:xfrm>
            <a:off x="107504" y="116632"/>
            <a:ext cx="8928992" cy="6063198"/>
          </a:xfrm>
          <a:prstGeom prst="rect">
            <a:avLst/>
          </a:prstGeom>
          <a:noFill/>
        </p:spPr>
        <p:txBody>
          <a:bodyPr wrap="square" rtlCol="1">
            <a:spAutoFit/>
          </a:bodyPr>
          <a:lstStyle/>
          <a:p>
            <a:r>
              <a:rPr lang="ar-EG" sz="3200" b="1" dirty="0">
                <a:effectLst>
                  <a:glow rad="139700">
                    <a:schemeClr val="accent3">
                      <a:satMod val="175000"/>
                      <a:alpha val="40000"/>
                    </a:schemeClr>
                  </a:glow>
                </a:effectLst>
              </a:rPr>
              <a:t>ويستطيع معد سيناريو البرنامج ان يضع تفاصيل أكثر على الورق هذا وعلى معد سيناريو البرنامج القيام بما يلي :</a:t>
            </a:r>
            <a:endParaRPr lang="en-US" sz="2800" b="1" dirty="0"/>
          </a:p>
          <a:p>
            <a:pPr lvl="0"/>
            <a:r>
              <a:rPr lang="ar-EG" sz="2000" b="1" dirty="0"/>
              <a:t>- تحديد النصوص </a:t>
            </a:r>
            <a:r>
              <a:rPr lang="ar-EG" sz="2000" b="1" dirty="0" err="1"/>
              <a:t>والاشكال</a:t>
            </a:r>
            <a:r>
              <a:rPr lang="ar-EG" sz="2000" b="1" dirty="0"/>
              <a:t> ومواقعها على الشاشة .</a:t>
            </a:r>
            <a:endParaRPr lang="en-US" sz="2000" b="1" dirty="0"/>
          </a:p>
          <a:p>
            <a:pPr lvl="0"/>
            <a:r>
              <a:rPr lang="ar-EG" sz="2000" b="1" dirty="0"/>
              <a:t>- تحديد عناصر التفاعل .</a:t>
            </a:r>
            <a:endParaRPr lang="en-US" sz="2000" b="1" dirty="0"/>
          </a:p>
          <a:p>
            <a:pPr lvl="0"/>
            <a:r>
              <a:rPr lang="ar-EG" sz="2000" b="1" dirty="0"/>
              <a:t>- تحديد </a:t>
            </a:r>
            <a:r>
              <a:rPr lang="ar-EG" sz="2000" b="1" dirty="0" err="1"/>
              <a:t>الؤثرات</a:t>
            </a:r>
            <a:r>
              <a:rPr lang="ar-EG" sz="2000" b="1" dirty="0"/>
              <a:t> بهدف جذب انتباه المتعلم كالألوان والصور التوضيحية والحركة </a:t>
            </a:r>
            <a:r>
              <a:rPr lang="ar-EG" sz="2000" b="1" dirty="0" err="1"/>
              <a:t>والمؤثؤات</a:t>
            </a:r>
            <a:r>
              <a:rPr lang="ar-EG" sz="2000" b="1" dirty="0"/>
              <a:t> الصوتية .</a:t>
            </a:r>
            <a:endParaRPr lang="en-US" sz="2000" b="1" dirty="0"/>
          </a:p>
          <a:p>
            <a:pPr lvl="0"/>
            <a:r>
              <a:rPr lang="ar-EG" sz="2000" b="1" dirty="0"/>
              <a:t>- تحديد كيفية الانتقال من شاشة </a:t>
            </a:r>
            <a:r>
              <a:rPr lang="ar-EG" sz="2000" b="1" dirty="0" err="1"/>
              <a:t>الى</a:t>
            </a:r>
            <a:r>
              <a:rPr lang="ar-EG" sz="2000" b="1" dirty="0"/>
              <a:t> أخرى.</a:t>
            </a:r>
            <a:endParaRPr lang="en-US" sz="2000" b="1" dirty="0"/>
          </a:p>
          <a:p>
            <a:pPr lvl="0"/>
            <a:r>
              <a:rPr lang="ar-EG" sz="2000" b="1" dirty="0"/>
              <a:t>- تحديد عدد الشاشات وتسلسلها .</a:t>
            </a:r>
            <a:endParaRPr lang="en-US" sz="2000" b="1" dirty="0"/>
          </a:p>
          <a:p>
            <a:pPr algn="justLow"/>
            <a:r>
              <a:rPr lang="ar-EG" sz="2000" b="1" dirty="0"/>
              <a:t>لا يستطيع السيناريو الا ان يقدم " الزمن الواقعى " فلا يستطيع كاتب السيناريو أن يعبر عن نفسه فى السيناريو ولا يستطيع أن يقول " وفى هذه الاثناء مر الزمن " ولا يستطيع ان يقول " وبعد سنوات عديدة " أو " وبعد ذلك " فالسيناريو لا يستطيع ان يشير الى الماضى ولا يستطيع ان يحدثنا عن شئ حدث منذ زمن بعيد او مكان اخر والسيناريو لا يستطيع الا ان يقدم ما يمكن تمثيله امام اعيننا فى الحاضر فى مكان وزمان يقابلهما ادراكنا .</a:t>
            </a:r>
            <a:endParaRPr lang="en-US" sz="2000" b="1" dirty="0"/>
          </a:p>
          <a:p>
            <a:r>
              <a:rPr lang="ar-EG" sz="3200" b="1" dirty="0">
                <a:effectLst>
                  <a:glow rad="228600">
                    <a:schemeClr val="accent3">
                      <a:satMod val="175000"/>
                      <a:alpha val="40000"/>
                    </a:schemeClr>
                  </a:glow>
                </a:effectLst>
              </a:rPr>
              <a:t>ومن ناحية شكل السيناريو فيقسم السيناريو </a:t>
            </a:r>
            <a:r>
              <a:rPr lang="ar-EG" sz="3200" b="1" dirty="0" err="1">
                <a:effectLst>
                  <a:glow rad="228600">
                    <a:schemeClr val="accent3">
                      <a:satMod val="175000"/>
                      <a:alpha val="40000"/>
                    </a:schemeClr>
                  </a:glow>
                </a:effectLst>
              </a:rPr>
              <a:t>التعليمى</a:t>
            </a:r>
            <a:r>
              <a:rPr lang="ar-EG" sz="3200" b="1" dirty="0">
                <a:effectLst>
                  <a:glow rad="228600">
                    <a:schemeClr val="accent3">
                      <a:satMod val="175000"/>
                      <a:alpha val="40000"/>
                    </a:schemeClr>
                  </a:glow>
                </a:effectLst>
              </a:rPr>
              <a:t> </a:t>
            </a:r>
            <a:r>
              <a:rPr lang="ar-EG" sz="3200" b="1" dirty="0" err="1">
                <a:effectLst>
                  <a:glow rad="228600">
                    <a:schemeClr val="accent3">
                      <a:satMod val="175000"/>
                      <a:alpha val="40000"/>
                    </a:schemeClr>
                  </a:glow>
                </a:effectLst>
              </a:rPr>
              <a:t>الى</a:t>
            </a:r>
            <a:r>
              <a:rPr lang="ar-EG" sz="3200" b="1" dirty="0">
                <a:effectLst>
                  <a:glow rad="228600">
                    <a:schemeClr val="accent3">
                      <a:satMod val="175000"/>
                      <a:alpha val="40000"/>
                    </a:schemeClr>
                  </a:glow>
                </a:effectLst>
              </a:rPr>
              <a:t> ثلاث </a:t>
            </a:r>
            <a:r>
              <a:rPr lang="ar-EG" sz="3200" b="1" dirty="0" err="1">
                <a:effectLst>
                  <a:glow rad="228600">
                    <a:schemeClr val="accent3">
                      <a:satMod val="175000"/>
                      <a:alpha val="40000"/>
                    </a:schemeClr>
                  </a:glow>
                </a:effectLst>
              </a:rPr>
              <a:t>اقسام</a:t>
            </a:r>
            <a:r>
              <a:rPr lang="ar-EG" sz="3200" b="1" dirty="0">
                <a:effectLst>
                  <a:glow rad="228600">
                    <a:schemeClr val="accent3">
                      <a:satMod val="175000"/>
                      <a:alpha val="40000"/>
                    </a:schemeClr>
                  </a:glow>
                </a:effectLst>
              </a:rPr>
              <a:t> :</a:t>
            </a:r>
            <a:endParaRPr lang="en-US" sz="3200" b="1" dirty="0">
              <a:effectLst>
                <a:glow rad="228600">
                  <a:schemeClr val="accent3">
                    <a:satMod val="175000"/>
                    <a:alpha val="40000"/>
                  </a:schemeClr>
                </a:glow>
              </a:effectLst>
            </a:endParaRPr>
          </a:p>
          <a:p>
            <a:r>
              <a:rPr lang="ar-EG" sz="2000" b="1" dirty="0"/>
              <a:t>النصف </a:t>
            </a:r>
            <a:r>
              <a:rPr lang="ar-EG" sz="2000" b="1" dirty="0" err="1"/>
              <a:t>الايمن</a:t>
            </a:r>
            <a:r>
              <a:rPr lang="ar-EG" sz="2000" b="1" dirty="0"/>
              <a:t> لشاشة الكمبيوتر والنصف </a:t>
            </a:r>
            <a:r>
              <a:rPr lang="ar-EG" sz="2000" b="1" dirty="0" err="1"/>
              <a:t>الايسر</a:t>
            </a:r>
            <a:r>
              <a:rPr lang="ar-EG" sz="2000" b="1" dirty="0"/>
              <a:t> مقسم </a:t>
            </a:r>
            <a:r>
              <a:rPr lang="ar-EG" sz="2000" b="1" dirty="0" err="1"/>
              <a:t>الى</a:t>
            </a:r>
            <a:r>
              <a:rPr lang="ar-EG" sz="2000" b="1" dirty="0"/>
              <a:t> جزء بين </a:t>
            </a:r>
            <a:r>
              <a:rPr lang="ar-EG" sz="2000" b="1" dirty="0" err="1"/>
              <a:t>الاول</a:t>
            </a:r>
            <a:r>
              <a:rPr lang="ar-EG" sz="2000" b="1" dirty="0"/>
              <a:t> للصوت </a:t>
            </a:r>
            <a:r>
              <a:rPr lang="ar-EG" sz="2000" b="1" dirty="0" err="1"/>
              <a:t>والثانى</a:t>
            </a:r>
            <a:r>
              <a:rPr lang="ar-EG" sz="2000" b="1" dirty="0"/>
              <a:t> لحركة النص على الشاشة </a:t>
            </a:r>
            <a:r>
              <a:rPr lang="ar-EG" sz="2000" b="1" dirty="0" err="1"/>
              <a:t>بالاضافة</a:t>
            </a:r>
            <a:r>
              <a:rPr lang="ar-EG" sz="2000" b="1" dirty="0"/>
              <a:t> </a:t>
            </a:r>
            <a:r>
              <a:rPr lang="ar-EG" sz="2000" b="1" dirty="0" err="1"/>
              <a:t>الى</a:t>
            </a:r>
            <a:r>
              <a:rPr lang="ar-EG" sz="2000" b="1" dirty="0"/>
              <a:t> زمن </a:t>
            </a:r>
            <a:r>
              <a:rPr lang="ar-EG" sz="2000" b="1" dirty="0" err="1"/>
              <a:t>الاطار</a:t>
            </a:r>
            <a:r>
              <a:rPr lang="ar-EG" sz="2000" b="1" dirty="0"/>
              <a:t> الخ .... ويمكن </a:t>
            </a:r>
            <a:r>
              <a:rPr lang="ar-EG" sz="2000" b="1" dirty="0" err="1"/>
              <a:t>ان</a:t>
            </a:r>
            <a:r>
              <a:rPr lang="ar-EG" sz="2000" b="1" dirty="0"/>
              <a:t> يكون الجانب </a:t>
            </a:r>
            <a:r>
              <a:rPr lang="ar-EG" sz="2000" b="1" dirty="0" err="1"/>
              <a:t>الايمن</a:t>
            </a:r>
            <a:r>
              <a:rPr lang="ar-EG" sz="2000" b="1" dirty="0"/>
              <a:t> المخصص لشاشة الكمبيوتر </a:t>
            </a:r>
            <a:r>
              <a:rPr lang="ar-EG" sz="2000" b="1" dirty="0" err="1"/>
              <a:t>ثلثى</a:t>
            </a:r>
            <a:r>
              <a:rPr lang="ar-EG" sz="2000" b="1" dirty="0"/>
              <a:t> الورقة </a:t>
            </a:r>
            <a:r>
              <a:rPr lang="ar-EG" sz="2000" b="1" dirty="0" err="1"/>
              <a:t>والايسر</a:t>
            </a:r>
            <a:r>
              <a:rPr lang="ar-EG" sz="2000" b="1" dirty="0"/>
              <a:t> للصوت وزمن </a:t>
            </a:r>
            <a:r>
              <a:rPr lang="ar-EG" sz="2000" b="1" dirty="0" err="1"/>
              <a:t>الاطار</a:t>
            </a:r>
            <a:r>
              <a:rPr lang="ar-EG" sz="2000" b="1" dirty="0"/>
              <a:t> ثلثا واحد .</a:t>
            </a:r>
            <a:endParaRPr lang="en-US" sz="2000" b="1" dirty="0"/>
          </a:p>
        </p:txBody>
      </p:sp>
    </p:spTree>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edg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0" presetClass="entr" presetSubtype="0" decel="10000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1000" fill="hold"/>
                                        <p:tgtEl>
                                          <p:spTgt spid="3">
                                            <p:txEl>
                                              <p:pRg st="1" end="1"/>
                                            </p:txEl>
                                          </p:spTgt>
                                        </p:tgtEl>
                                        <p:attrNameLst>
                                          <p:attrName>ppt_w</p:attrName>
                                        </p:attrNameLst>
                                      </p:cBhvr>
                                      <p:tavLst>
                                        <p:tav tm="0">
                                          <p:val>
                                            <p:strVal val="#ppt_w+.3"/>
                                          </p:val>
                                        </p:tav>
                                        <p:tav tm="100000">
                                          <p:val>
                                            <p:strVal val="#ppt_w"/>
                                          </p:val>
                                        </p:tav>
                                      </p:tavLst>
                                    </p:anim>
                                    <p:anim calcmode="lin" valueType="num">
                                      <p:cBhvr>
                                        <p:cTn id="13"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1000" fill="hold"/>
                                        <p:tgtEl>
                                          <p:spTgt spid="3">
                                            <p:txEl>
                                              <p:pRg st="2" end="2"/>
                                            </p:txEl>
                                          </p:spTgt>
                                        </p:tgtEl>
                                        <p:attrNameLst>
                                          <p:attrName>ppt_w</p:attrName>
                                        </p:attrNameLst>
                                      </p:cBhvr>
                                      <p:tavLst>
                                        <p:tav tm="0">
                                          <p:val>
                                            <p:strVal val="#ppt_w+.3"/>
                                          </p:val>
                                        </p:tav>
                                        <p:tav tm="100000">
                                          <p:val>
                                            <p:strVal val="#ppt_w"/>
                                          </p:val>
                                        </p:tav>
                                      </p:tavLst>
                                    </p:anim>
                                    <p:anim calcmode="lin" valueType="num">
                                      <p:cBhvr>
                                        <p:cTn id="20"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0" presetClass="entr" presetSubtype="0" decel="10000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 calcmode="lin" valueType="num">
                                      <p:cBhvr>
                                        <p:cTn id="26" dur="1000" fill="hold"/>
                                        <p:tgtEl>
                                          <p:spTgt spid="3">
                                            <p:txEl>
                                              <p:pRg st="3" end="3"/>
                                            </p:txEl>
                                          </p:spTgt>
                                        </p:tgtEl>
                                        <p:attrNameLst>
                                          <p:attrName>ppt_w</p:attrName>
                                        </p:attrNameLst>
                                      </p:cBhvr>
                                      <p:tavLst>
                                        <p:tav tm="0">
                                          <p:val>
                                            <p:strVal val="#ppt_w+.3"/>
                                          </p:val>
                                        </p:tav>
                                        <p:tav tm="100000">
                                          <p:val>
                                            <p:strVal val="#ppt_w"/>
                                          </p:val>
                                        </p:tav>
                                      </p:tavLst>
                                    </p:anim>
                                    <p:anim calcmode="lin" valueType="num">
                                      <p:cBhvr>
                                        <p:cTn id="27"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28" dur="10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0" presetClass="entr" presetSubtype="0" decel="10000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p:cTn id="33" dur="1000" fill="hold"/>
                                        <p:tgtEl>
                                          <p:spTgt spid="3">
                                            <p:txEl>
                                              <p:pRg st="4" end="4"/>
                                            </p:txEl>
                                          </p:spTgt>
                                        </p:tgtEl>
                                        <p:attrNameLst>
                                          <p:attrName>ppt_w</p:attrName>
                                        </p:attrNameLst>
                                      </p:cBhvr>
                                      <p:tavLst>
                                        <p:tav tm="0">
                                          <p:val>
                                            <p:strVal val="#ppt_w+.3"/>
                                          </p:val>
                                        </p:tav>
                                        <p:tav tm="100000">
                                          <p:val>
                                            <p:strVal val="#ppt_w"/>
                                          </p:val>
                                        </p:tav>
                                      </p:tavLst>
                                    </p:anim>
                                    <p:anim calcmode="lin" valueType="num">
                                      <p:cBhvr>
                                        <p:cTn id="34"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35" dur="1000"/>
                                        <p:tgtEl>
                                          <p:spTgt spid="3">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0" presetClass="entr" presetSubtype="0" decel="100000" fill="hold"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 calcmode="lin" valueType="num">
                                      <p:cBhvr>
                                        <p:cTn id="40" dur="1000" fill="hold"/>
                                        <p:tgtEl>
                                          <p:spTgt spid="3">
                                            <p:txEl>
                                              <p:pRg st="5" end="5"/>
                                            </p:txEl>
                                          </p:spTgt>
                                        </p:tgtEl>
                                        <p:attrNameLst>
                                          <p:attrName>ppt_w</p:attrName>
                                        </p:attrNameLst>
                                      </p:cBhvr>
                                      <p:tavLst>
                                        <p:tav tm="0">
                                          <p:val>
                                            <p:strVal val="#ppt_w+.3"/>
                                          </p:val>
                                        </p:tav>
                                        <p:tav tm="100000">
                                          <p:val>
                                            <p:strVal val="#ppt_w"/>
                                          </p:val>
                                        </p:tav>
                                      </p:tavLst>
                                    </p:anim>
                                    <p:anim calcmode="lin" valueType="num">
                                      <p:cBhvr>
                                        <p:cTn id="41"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42" dur="1000"/>
                                        <p:tgtEl>
                                          <p:spTgt spid="3">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barn(inVertical)">
                                      <p:cBhvr>
                                        <p:cTn id="47" dur="1000"/>
                                        <p:tgtEl>
                                          <p:spTgt spid="3">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7" presetClass="entr" presetSubtype="0" fill="hold" nodeType="clickEffect">
                                  <p:stCondLst>
                                    <p:cond delay="0"/>
                                  </p:stCondLst>
                                  <p:iterate type="lt">
                                    <p:tmPct val="50000"/>
                                  </p:iterate>
                                  <p:childTnLst>
                                    <p:set>
                                      <p:cBhvr>
                                        <p:cTn id="51" dur="1" fill="hold">
                                          <p:stCondLst>
                                            <p:cond delay="0"/>
                                          </p:stCondLst>
                                        </p:cTn>
                                        <p:tgtEl>
                                          <p:spTgt spid="3">
                                            <p:txEl>
                                              <p:pRg st="7" end="7"/>
                                            </p:txEl>
                                          </p:spTgt>
                                        </p:tgtEl>
                                        <p:attrNameLst>
                                          <p:attrName>style.visibility</p:attrName>
                                        </p:attrNameLst>
                                      </p:cBhvr>
                                      <p:to>
                                        <p:strVal val="visible"/>
                                      </p:to>
                                    </p:set>
                                    <p:anim calcmode="discrete" valueType="clr">
                                      <p:cBhvr override="childStyle">
                                        <p:cTn id="52" dur="80"/>
                                        <p:tgtEl>
                                          <p:spTgt spid="3">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3" dur="80"/>
                                        <p:tgtEl>
                                          <p:spTgt spid="3">
                                            <p:txEl>
                                              <p:pRg st="7" end="7"/>
                                            </p:txEl>
                                          </p:spTgt>
                                        </p:tgtEl>
                                        <p:attrNameLst>
                                          <p:attrName>fillcolor</p:attrName>
                                        </p:attrNameLst>
                                      </p:cBhvr>
                                      <p:tavLst>
                                        <p:tav tm="0">
                                          <p:val>
                                            <p:clrVal>
                                              <a:schemeClr val="accent2"/>
                                            </p:clrVal>
                                          </p:val>
                                        </p:tav>
                                        <p:tav tm="50000">
                                          <p:val>
                                            <p:clrVal>
                                              <a:schemeClr val="hlink"/>
                                            </p:clrVal>
                                          </p:val>
                                        </p:tav>
                                      </p:tavLst>
                                    </p:anim>
                                    <p:set>
                                      <p:cBhvr>
                                        <p:cTn id="54" dur="80"/>
                                        <p:tgtEl>
                                          <p:spTgt spid="3">
                                            <p:txEl>
                                              <p:pRg st="7" end="7"/>
                                            </p:txEl>
                                          </p:spTgt>
                                        </p:tgtEl>
                                        <p:attrNameLst>
                                          <p:attrName>fill.type</p:attrName>
                                        </p:attrNameLst>
                                      </p:cBhvr>
                                      <p:to>
                                        <p:strVal val="solid"/>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animEffect transition="in" filter="fade">
                                      <p:cBhvr>
                                        <p:cTn id="59"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4860032" y="332656"/>
            <a:ext cx="3649610" cy="523220"/>
          </a:xfrm>
          <a:prstGeom prst="rect">
            <a:avLst/>
          </a:prstGeom>
        </p:spPr>
        <p:style>
          <a:lnRef idx="2">
            <a:schemeClr val="accent6"/>
          </a:lnRef>
          <a:fillRef idx="1">
            <a:schemeClr val="lt1"/>
          </a:fillRef>
          <a:effectRef idx="0">
            <a:schemeClr val="accent6"/>
          </a:effectRef>
          <a:fontRef idx="minor">
            <a:schemeClr val="dk1"/>
          </a:fontRef>
        </p:style>
        <p:txBody>
          <a:bodyPr wrap="square" rtlCol="1">
            <a:spAutoFit/>
          </a:bodyPr>
          <a:lstStyle/>
          <a:p>
            <a:pPr algn="ctr"/>
            <a:r>
              <a:rPr lang="ar-EG" sz="2800" b="1" dirty="0"/>
              <a:t>رابعا : مرحلة الإنتاج </a:t>
            </a:r>
            <a:endParaRPr lang="en-US" sz="2800" dirty="0"/>
          </a:p>
        </p:txBody>
      </p:sp>
      <p:sp>
        <p:nvSpPr>
          <p:cNvPr id="3" name="مربع نص 2"/>
          <p:cNvSpPr txBox="1"/>
          <p:nvPr/>
        </p:nvSpPr>
        <p:spPr>
          <a:xfrm>
            <a:off x="35496" y="764704"/>
            <a:ext cx="9036495" cy="5755422"/>
          </a:xfrm>
          <a:prstGeom prst="rect">
            <a:avLst/>
          </a:prstGeom>
          <a:noFill/>
        </p:spPr>
        <p:txBody>
          <a:bodyPr wrap="square" rtlCol="1">
            <a:spAutoFit/>
          </a:bodyPr>
          <a:lstStyle/>
          <a:p>
            <a:pPr lvl="0"/>
            <a:r>
              <a:rPr lang="ar-EG" sz="3200" b="1" dirty="0">
                <a:solidFill>
                  <a:schemeClr val="tx2"/>
                </a:solidFill>
              </a:rPr>
              <a:t>1- تحديد الوسائل وإنتاجها :</a:t>
            </a:r>
            <a:endParaRPr lang="en-US" sz="3200" dirty="0">
              <a:solidFill>
                <a:schemeClr val="tx2"/>
              </a:solidFill>
            </a:endParaRPr>
          </a:p>
          <a:p>
            <a:r>
              <a:rPr lang="ar-EG" sz="2400" dirty="0"/>
              <a:t>يتم فى هذه المرحلة تحديد الوسائل المطلوبة فى البرنامج بناءا على السيناريو ويتم تجميع تلك الوسائل أما بالبحث عن وسائل جاهزة مثل البحث عن بعض المؤثرات الموسيقية او البحث عن بعض الصور الجاهزة وتعديلها حسب الغرض منها أما عن طريق إنتاج هذه الوسائل إذا كانت غير متوفرة كتصوير الصور ولقطات الفيديو وغيرها من الوسائل المطلوب انتاجها .</a:t>
            </a:r>
            <a:endParaRPr lang="en-US" sz="2400" dirty="0"/>
          </a:p>
          <a:p>
            <a:pPr lvl="0"/>
            <a:r>
              <a:rPr lang="ar-EG" sz="3200" b="1" dirty="0">
                <a:solidFill>
                  <a:schemeClr val="tx2"/>
                </a:solidFill>
              </a:rPr>
              <a:t>2- دمج الوسائط مع البرنامج :</a:t>
            </a:r>
            <a:endParaRPr lang="en-US" sz="2400" dirty="0">
              <a:solidFill>
                <a:schemeClr val="tx2"/>
              </a:solidFill>
            </a:endParaRPr>
          </a:p>
          <a:p>
            <a:pPr lvl="0"/>
            <a:r>
              <a:rPr lang="ar-EG" sz="2800" b="1" dirty="0">
                <a:solidFill>
                  <a:srgbClr val="FFFF00"/>
                </a:solidFill>
              </a:rPr>
              <a:t>- النظم المبنية على أسلوب البطاقة أو الصفحة </a:t>
            </a:r>
            <a:r>
              <a:rPr lang="en-US" sz="2800" b="1" dirty="0">
                <a:solidFill>
                  <a:srgbClr val="FFFF00"/>
                </a:solidFill>
              </a:rPr>
              <a:t>Card Based Tools </a:t>
            </a:r>
            <a:endParaRPr lang="en-US" sz="2800" dirty="0">
              <a:solidFill>
                <a:srgbClr val="FFFF00"/>
              </a:solidFill>
            </a:endParaRPr>
          </a:p>
          <a:p>
            <a:r>
              <a:rPr lang="ar-EG" sz="2400" dirty="0"/>
              <a:t>وفيه تنظم العناصر </a:t>
            </a:r>
            <a:r>
              <a:rPr lang="ar-EG" sz="2400" dirty="0" err="1"/>
              <a:t>فى</a:t>
            </a:r>
            <a:r>
              <a:rPr lang="ar-EG" sz="2400" dirty="0"/>
              <a:t> صورة صفحات كتاب مجموعة من البطاقات وهذه </a:t>
            </a:r>
            <a:r>
              <a:rPr lang="ar-EG" sz="2400" dirty="0" err="1"/>
              <a:t>الادوات</a:t>
            </a:r>
            <a:r>
              <a:rPr lang="ar-EG" sz="2400" dirty="0"/>
              <a:t> تكون مناسبة </a:t>
            </a:r>
            <a:r>
              <a:rPr lang="ar-EG" sz="2400" dirty="0" err="1"/>
              <a:t>فى</a:t>
            </a:r>
            <a:r>
              <a:rPr lang="ar-EG" sz="2400" dirty="0"/>
              <a:t> الاستخدام </a:t>
            </a:r>
            <a:r>
              <a:rPr lang="ar-EG" sz="2400" dirty="0" err="1"/>
              <a:t>اذا</a:t>
            </a:r>
            <a:r>
              <a:rPr lang="ar-EG" sz="2400" dirty="0"/>
              <a:t> كان المحتوى يمكن تقسيمه </a:t>
            </a:r>
            <a:r>
              <a:rPr lang="ar-EG" sz="2400" dirty="0" err="1"/>
              <a:t>الى</a:t>
            </a:r>
            <a:r>
              <a:rPr lang="ar-EG" sz="2400" dirty="0"/>
              <a:t> عناصر يمكن تناولها بشكل مفرد حيث يسمح نظام التأليف بربط هذه</a:t>
            </a:r>
            <a:endParaRPr lang="en-US" sz="2400" dirty="0"/>
          </a:p>
          <a:p>
            <a:r>
              <a:rPr lang="ar-EG" sz="2400" dirty="0"/>
              <a:t>الصفحات </a:t>
            </a:r>
            <a:r>
              <a:rPr lang="ar-EG" sz="2400" dirty="0" err="1"/>
              <a:t>فى</a:t>
            </a:r>
            <a:r>
              <a:rPr lang="ar-EG" sz="2400" dirty="0"/>
              <a:t> تتابع منظم مع توفر إمكانية القفز وتخطى التتابع </a:t>
            </a:r>
            <a:r>
              <a:rPr lang="ar-EG" sz="2400" dirty="0" err="1"/>
              <a:t>الى</a:t>
            </a:r>
            <a:r>
              <a:rPr lang="ar-EG" sz="2400" dirty="0"/>
              <a:t> أي صفحة يريدها المتعلم ومن أمثلة برمجيات هذا النظام :</a:t>
            </a:r>
            <a:endParaRPr lang="en-US" sz="2400" b="1" dirty="0"/>
          </a:p>
          <a:p>
            <a:pPr lvl="0" algn="l"/>
            <a:r>
              <a:rPr lang="en-US" sz="2000" b="1" dirty="0">
                <a:solidFill>
                  <a:srgbClr val="FFFF66"/>
                </a:solidFill>
              </a:rPr>
              <a:t>Hyperactive Card </a:t>
            </a:r>
            <a:r>
              <a:rPr lang="ar-EG" sz="2000" b="1" dirty="0">
                <a:solidFill>
                  <a:srgbClr val="FFFF66"/>
                </a:solidFill>
              </a:rPr>
              <a:t>على </a:t>
            </a:r>
            <a:r>
              <a:rPr lang="ar-EG" sz="2000" b="1" dirty="0" err="1">
                <a:solidFill>
                  <a:srgbClr val="FFFF66"/>
                </a:solidFill>
              </a:rPr>
              <a:t>اجهزة</a:t>
            </a:r>
            <a:r>
              <a:rPr lang="ar-EG" sz="2000" b="1" dirty="0">
                <a:solidFill>
                  <a:srgbClr val="FFFF66"/>
                </a:solidFill>
              </a:rPr>
              <a:t> </a:t>
            </a:r>
            <a:r>
              <a:rPr lang="en-US" sz="2000" b="1" dirty="0">
                <a:solidFill>
                  <a:srgbClr val="FFFF66"/>
                </a:solidFill>
              </a:rPr>
              <a:t>- Apple Macintosh</a:t>
            </a:r>
          </a:p>
          <a:p>
            <a:pPr lvl="0" algn="l"/>
            <a:r>
              <a:rPr lang="en-US" sz="2000" b="1" dirty="0">
                <a:solidFill>
                  <a:srgbClr val="FFFF66"/>
                </a:solidFill>
              </a:rPr>
              <a:t>Super Card </a:t>
            </a:r>
            <a:r>
              <a:rPr lang="ar-EG" sz="2000" b="1" dirty="0">
                <a:solidFill>
                  <a:srgbClr val="FFFF66"/>
                </a:solidFill>
              </a:rPr>
              <a:t>على </a:t>
            </a:r>
            <a:r>
              <a:rPr lang="ar-EG" sz="2000" b="1" dirty="0" err="1">
                <a:solidFill>
                  <a:srgbClr val="FFFF66"/>
                </a:solidFill>
              </a:rPr>
              <a:t>اجهزة</a:t>
            </a:r>
            <a:r>
              <a:rPr lang="ar-EG" sz="2000" b="1" dirty="0">
                <a:solidFill>
                  <a:srgbClr val="FFFF66"/>
                </a:solidFill>
              </a:rPr>
              <a:t> </a:t>
            </a:r>
            <a:r>
              <a:rPr lang="en-US" sz="2000" b="1" dirty="0">
                <a:solidFill>
                  <a:srgbClr val="FFFF66"/>
                </a:solidFill>
              </a:rPr>
              <a:t>- Apple Macintosh</a:t>
            </a:r>
          </a:p>
          <a:p>
            <a:pPr lvl="0" algn="l"/>
            <a:r>
              <a:rPr lang="en-US" sz="2000" b="1" dirty="0">
                <a:solidFill>
                  <a:srgbClr val="FFFF66"/>
                </a:solidFill>
              </a:rPr>
              <a:t>Visual Basic </a:t>
            </a:r>
            <a:r>
              <a:rPr lang="ar-EG" sz="2000" b="1" dirty="0">
                <a:solidFill>
                  <a:srgbClr val="FFFF66"/>
                </a:solidFill>
              </a:rPr>
              <a:t>على </a:t>
            </a:r>
            <a:r>
              <a:rPr lang="ar-EG" sz="2000" b="1" dirty="0" err="1">
                <a:solidFill>
                  <a:srgbClr val="FFFF66"/>
                </a:solidFill>
              </a:rPr>
              <a:t>اجهزة</a:t>
            </a:r>
            <a:r>
              <a:rPr lang="ar-EG" sz="2000" b="1" dirty="0">
                <a:solidFill>
                  <a:srgbClr val="FFFF66"/>
                </a:solidFill>
              </a:rPr>
              <a:t> </a:t>
            </a:r>
            <a:r>
              <a:rPr lang="en-US" sz="2000" b="1" dirty="0">
                <a:solidFill>
                  <a:srgbClr val="FFFF66"/>
                </a:solidFill>
              </a:rPr>
              <a:t>- IBM</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from="(-#ppt_w/2)" to="(#ppt_x)" calcmode="lin" valueType="num">
                                      <p:cBhvr>
                                        <p:cTn id="7" dur="600" fill="hold">
                                          <p:stCondLst>
                                            <p:cond delay="0"/>
                                          </p:stCondLst>
                                        </p:cTn>
                                        <p:tgtEl>
                                          <p:spTgt spid="2"/>
                                        </p:tgtEl>
                                        <p:attrNameLst>
                                          <p:attrName>ppt_x</p:attrName>
                                        </p:attrNameLst>
                                      </p:cBhvr>
                                    </p:anim>
                                    <p:anim from="0" to="-1.0" calcmode="lin" valueType="num">
                                      <p:cBhvr>
                                        <p:cTn id="8" dur="200" decel="50000" autoRev="1" fill="hold">
                                          <p:stCondLst>
                                            <p:cond delay="600"/>
                                          </p:stCondLst>
                                        </p:cTn>
                                        <p:tgtEl>
                                          <p:spTgt spid="2"/>
                                        </p:tgtEl>
                                        <p:attrNameLst>
                                          <p:attrName>xshear</p:attrName>
                                        </p:attrNameLst>
                                      </p:cBhvr>
                                    </p:anim>
                                    <p:animScale>
                                      <p:cBhvr>
                                        <p:cTn id="9" dur="200" decel="100000" autoRev="1" fill="hold">
                                          <p:stCondLst>
                                            <p:cond delay="600"/>
                                          </p:stCondLst>
                                        </p:cTn>
                                        <p:tgtEl>
                                          <p:spTgt spid="2"/>
                                        </p:tgtEl>
                                      </p:cBhvr>
                                      <p:from x="100000" y="100000"/>
                                      <p:to x="80000" y="100000"/>
                                    </p:animScale>
                                    <p:anim by="(#ppt_h/3+#ppt_w*0.1)" calcmode="lin" valueType="num">
                                      <p:cBhvr additive="sum">
                                        <p:cTn id="10" dur="200" decel="100000" autoRev="1" fill="hold">
                                          <p:stCondLst>
                                            <p:cond delay="600"/>
                                          </p:stCondLst>
                                        </p:cTn>
                                        <p:tgtEl>
                                          <p:spTgt spid="2"/>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17" presetClass="entr" presetSubtype="1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500" fill="hold"/>
                                        <p:tgtEl>
                                          <p:spTgt spid="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54" presetClass="entr" presetSubtype="0" accel="10000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strVal val="#ppt_w*0.05"/>
                                          </p:val>
                                        </p:tav>
                                        <p:tav tm="100000">
                                          <p:val>
                                            <p:strVal val="#ppt_w"/>
                                          </p:val>
                                        </p:tav>
                                      </p:tavLst>
                                    </p:anim>
                                    <p:anim calcmode="lin" valueType="num">
                                      <p:cBhvr>
                                        <p:cTn id="22" dur="1000" fill="hold"/>
                                        <p:tgtEl>
                                          <p:spTgt spid="3">
                                            <p:txEl>
                                              <p:pRg st="1" end="1"/>
                                            </p:txEl>
                                          </p:spTgt>
                                        </p:tgtEl>
                                        <p:attrNameLst>
                                          <p:attrName>ppt_h</p:attrName>
                                        </p:attrNameLst>
                                      </p:cBhvr>
                                      <p:tavLst>
                                        <p:tav tm="0">
                                          <p:val>
                                            <p:strVal val="#ppt_h"/>
                                          </p:val>
                                        </p:tav>
                                        <p:tav tm="100000">
                                          <p:val>
                                            <p:strVal val="#ppt_h"/>
                                          </p:val>
                                        </p:tav>
                                      </p:tavLst>
                                    </p:anim>
                                    <p:anim calcmode="lin" valueType="num">
                                      <p:cBhvr>
                                        <p:cTn id="23"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24" dur="1000" fill="hold"/>
                                        <p:tgtEl>
                                          <p:spTgt spid="3">
                                            <p:txEl>
                                              <p:pRg st="1" end="1"/>
                                            </p:txEl>
                                          </p:spTgt>
                                        </p:tgtEl>
                                        <p:attrNameLst>
                                          <p:attrName>ppt_y</p:attrName>
                                        </p:attrNameLst>
                                      </p:cBhvr>
                                      <p:tavLst>
                                        <p:tav tm="0">
                                          <p:val>
                                            <p:strVal val="#ppt_y"/>
                                          </p:val>
                                        </p:tav>
                                        <p:tav tm="100000">
                                          <p:val>
                                            <p:strVal val="#ppt_y"/>
                                          </p:val>
                                        </p:tav>
                                      </p:tavLst>
                                    </p:anim>
                                    <p:animEffect transition="in" filter="fade">
                                      <p:cBhvr>
                                        <p:cTn id="25" dur="1000"/>
                                        <p:tgtEl>
                                          <p:spTgt spid="3">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7" presetClass="entr" presetSubtype="10" fill="hold"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 calcmode="lin" valueType="num">
                                      <p:cBhvr>
                                        <p:cTn id="30"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1" dur="5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47" presetClass="entr" presetSubtype="0" fill="hold"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fade">
                                      <p:cBhvr>
                                        <p:cTn id="36" dur="1000"/>
                                        <p:tgtEl>
                                          <p:spTgt spid="3">
                                            <p:txEl>
                                              <p:pRg st="3" end="3"/>
                                            </p:txEl>
                                          </p:spTgt>
                                        </p:tgtEl>
                                      </p:cBhvr>
                                    </p:animEffect>
                                    <p:anim calcmode="lin" valueType="num">
                                      <p:cBhvr>
                                        <p:cTn id="3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54" presetClass="entr" presetSubtype="0" accel="100000"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 calcmode="lin" valueType="num">
                                      <p:cBhvr>
                                        <p:cTn id="43" dur="1000" fill="hold"/>
                                        <p:tgtEl>
                                          <p:spTgt spid="3">
                                            <p:txEl>
                                              <p:pRg st="4" end="4"/>
                                            </p:txEl>
                                          </p:spTgt>
                                        </p:tgtEl>
                                        <p:attrNameLst>
                                          <p:attrName>ppt_w</p:attrName>
                                        </p:attrNameLst>
                                      </p:cBhvr>
                                      <p:tavLst>
                                        <p:tav tm="0">
                                          <p:val>
                                            <p:strVal val="#ppt_w*0.05"/>
                                          </p:val>
                                        </p:tav>
                                        <p:tav tm="100000">
                                          <p:val>
                                            <p:strVal val="#ppt_w"/>
                                          </p:val>
                                        </p:tav>
                                      </p:tavLst>
                                    </p:anim>
                                    <p:anim calcmode="lin" valueType="num">
                                      <p:cBhvr>
                                        <p:cTn id="44" dur="1000" fill="hold"/>
                                        <p:tgtEl>
                                          <p:spTgt spid="3">
                                            <p:txEl>
                                              <p:pRg st="4" end="4"/>
                                            </p:txEl>
                                          </p:spTgt>
                                        </p:tgtEl>
                                        <p:attrNameLst>
                                          <p:attrName>ppt_h</p:attrName>
                                        </p:attrNameLst>
                                      </p:cBhvr>
                                      <p:tavLst>
                                        <p:tav tm="0">
                                          <p:val>
                                            <p:strVal val="#ppt_h"/>
                                          </p:val>
                                        </p:tav>
                                        <p:tav tm="100000">
                                          <p:val>
                                            <p:strVal val="#ppt_h"/>
                                          </p:val>
                                        </p:tav>
                                      </p:tavLst>
                                    </p:anim>
                                    <p:anim calcmode="lin" valueType="num">
                                      <p:cBhvr>
                                        <p:cTn id="45"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46" dur="1000" fill="hold"/>
                                        <p:tgtEl>
                                          <p:spTgt spid="3">
                                            <p:txEl>
                                              <p:pRg st="4" end="4"/>
                                            </p:txEl>
                                          </p:spTgt>
                                        </p:tgtEl>
                                        <p:attrNameLst>
                                          <p:attrName>ppt_y</p:attrName>
                                        </p:attrNameLst>
                                      </p:cBhvr>
                                      <p:tavLst>
                                        <p:tav tm="0">
                                          <p:val>
                                            <p:strVal val="#ppt_y"/>
                                          </p:val>
                                        </p:tav>
                                        <p:tav tm="100000">
                                          <p:val>
                                            <p:strVal val="#ppt_y"/>
                                          </p:val>
                                        </p:tav>
                                      </p:tavLst>
                                    </p:anim>
                                    <p:animEffect transition="in" filter="fade">
                                      <p:cBhvr>
                                        <p:cTn id="47" dur="1000"/>
                                        <p:tgtEl>
                                          <p:spTgt spid="3">
                                            <p:txEl>
                                              <p:pRg st="4" end="4"/>
                                            </p:txEl>
                                          </p:spTgt>
                                        </p:tgtEl>
                                      </p:cBhvr>
                                    </p:animEffect>
                                  </p:childTnLst>
                                </p:cTn>
                              </p:par>
                              <p:par>
                                <p:cTn id="48" presetID="54" presetClass="entr" presetSubtype="0" accel="100000" fill="hold" nodeType="withEffect">
                                  <p:stCondLst>
                                    <p:cond delay="0"/>
                                  </p:stCondLst>
                                  <p:childTnLst>
                                    <p:set>
                                      <p:cBhvr>
                                        <p:cTn id="49" dur="1" fill="hold">
                                          <p:stCondLst>
                                            <p:cond delay="0"/>
                                          </p:stCondLst>
                                        </p:cTn>
                                        <p:tgtEl>
                                          <p:spTgt spid="3">
                                            <p:txEl>
                                              <p:pRg st="5" end="5"/>
                                            </p:txEl>
                                          </p:spTgt>
                                        </p:tgtEl>
                                        <p:attrNameLst>
                                          <p:attrName>style.visibility</p:attrName>
                                        </p:attrNameLst>
                                      </p:cBhvr>
                                      <p:to>
                                        <p:strVal val="visible"/>
                                      </p:to>
                                    </p:set>
                                    <p:anim calcmode="lin" valueType="num">
                                      <p:cBhvr>
                                        <p:cTn id="50" dur="1000" fill="hold"/>
                                        <p:tgtEl>
                                          <p:spTgt spid="3">
                                            <p:txEl>
                                              <p:pRg st="5" end="5"/>
                                            </p:txEl>
                                          </p:spTgt>
                                        </p:tgtEl>
                                        <p:attrNameLst>
                                          <p:attrName>ppt_w</p:attrName>
                                        </p:attrNameLst>
                                      </p:cBhvr>
                                      <p:tavLst>
                                        <p:tav tm="0">
                                          <p:val>
                                            <p:strVal val="#ppt_w*0.05"/>
                                          </p:val>
                                        </p:tav>
                                        <p:tav tm="100000">
                                          <p:val>
                                            <p:strVal val="#ppt_w"/>
                                          </p:val>
                                        </p:tav>
                                      </p:tavLst>
                                    </p:anim>
                                    <p:anim calcmode="lin" valueType="num">
                                      <p:cBhvr>
                                        <p:cTn id="51" dur="1000" fill="hold"/>
                                        <p:tgtEl>
                                          <p:spTgt spid="3">
                                            <p:txEl>
                                              <p:pRg st="5" end="5"/>
                                            </p:txEl>
                                          </p:spTgt>
                                        </p:tgtEl>
                                        <p:attrNameLst>
                                          <p:attrName>ppt_h</p:attrName>
                                        </p:attrNameLst>
                                      </p:cBhvr>
                                      <p:tavLst>
                                        <p:tav tm="0">
                                          <p:val>
                                            <p:strVal val="#ppt_h"/>
                                          </p:val>
                                        </p:tav>
                                        <p:tav tm="100000">
                                          <p:val>
                                            <p:strVal val="#ppt_h"/>
                                          </p:val>
                                        </p:tav>
                                      </p:tavLst>
                                    </p:anim>
                                    <p:anim calcmode="lin" valueType="num">
                                      <p:cBhvr>
                                        <p:cTn id="52" dur="1000" fill="hold"/>
                                        <p:tgtEl>
                                          <p:spTgt spid="3">
                                            <p:txEl>
                                              <p:pRg st="5" end="5"/>
                                            </p:txEl>
                                          </p:spTgt>
                                        </p:tgtEl>
                                        <p:attrNameLst>
                                          <p:attrName>ppt_x</p:attrName>
                                        </p:attrNameLst>
                                      </p:cBhvr>
                                      <p:tavLst>
                                        <p:tav tm="0">
                                          <p:val>
                                            <p:strVal val="#ppt_x-.2"/>
                                          </p:val>
                                        </p:tav>
                                        <p:tav tm="100000">
                                          <p:val>
                                            <p:strVal val="#ppt_x"/>
                                          </p:val>
                                        </p:tav>
                                      </p:tavLst>
                                    </p:anim>
                                    <p:anim calcmode="lin" valueType="num">
                                      <p:cBhvr>
                                        <p:cTn id="53" dur="1000" fill="hold"/>
                                        <p:tgtEl>
                                          <p:spTgt spid="3">
                                            <p:txEl>
                                              <p:pRg st="5" end="5"/>
                                            </p:txEl>
                                          </p:spTgt>
                                        </p:tgtEl>
                                        <p:attrNameLst>
                                          <p:attrName>ppt_y</p:attrName>
                                        </p:attrNameLst>
                                      </p:cBhvr>
                                      <p:tavLst>
                                        <p:tav tm="0">
                                          <p:val>
                                            <p:strVal val="#ppt_y"/>
                                          </p:val>
                                        </p:tav>
                                        <p:tav tm="100000">
                                          <p:val>
                                            <p:strVal val="#ppt_y"/>
                                          </p:val>
                                        </p:tav>
                                      </p:tavLst>
                                    </p:anim>
                                    <p:animEffect transition="in" filter="fade">
                                      <p:cBhvr>
                                        <p:cTn id="54" dur="1000"/>
                                        <p:tgtEl>
                                          <p:spTgt spid="3">
                                            <p:txEl>
                                              <p:pRg st="5" end="5"/>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7" presetClass="entr" presetSubtype="0" fill="hold" nodeType="clickEffect">
                                  <p:stCondLst>
                                    <p:cond delay="0"/>
                                  </p:stCondLst>
                                  <p:childTnLst>
                                    <p:set>
                                      <p:cBhvr>
                                        <p:cTn id="58" dur="1" fill="hold">
                                          <p:stCondLst>
                                            <p:cond delay="0"/>
                                          </p:stCondLst>
                                        </p:cTn>
                                        <p:tgtEl>
                                          <p:spTgt spid="3">
                                            <p:txEl>
                                              <p:pRg st="6" end="6"/>
                                            </p:txEl>
                                          </p:spTgt>
                                        </p:tgtEl>
                                        <p:attrNameLst>
                                          <p:attrName>style.visibility</p:attrName>
                                        </p:attrNameLst>
                                      </p:cBhvr>
                                      <p:to>
                                        <p:strVal val="visible"/>
                                      </p:to>
                                    </p:set>
                                    <p:animEffect transition="in" filter="fade">
                                      <p:cBhvr>
                                        <p:cTn id="59" dur="1000"/>
                                        <p:tgtEl>
                                          <p:spTgt spid="3">
                                            <p:txEl>
                                              <p:pRg st="6" end="6"/>
                                            </p:txEl>
                                          </p:spTgt>
                                        </p:tgtEl>
                                      </p:cBhvr>
                                    </p:animEffect>
                                    <p:anim calcmode="lin" valueType="num">
                                      <p:cBhvr>
                                        <p:cTn id="6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61" dur="900" decel="100000" fill="hold"/>
                                        <p:tgtEl>
                                          <p:spTgt spid="3">
                                            <p:txEl>
                                              <p:pRg st="6" end="6"/>
                                            </p:txEl>
                                          </p:spTgt>
                                        </p:tgtEl>
                                        <p:attrNameLst>
                                          <p:attrName>ppt_y</p:attrName>
                                        </p:attrNameLst>
                                      </p:cBhvr>
                                      <p:tavLst>
                                        <p:tav tm="0">
                                          <p:val>
                                            <p:strVal val="#ppt_y+1"/>
                                          </p:val>
                                        </p:tav>
                                        <p:tav tm="100000">
                                          <p:val>
                                            <p:strVal val="#ppt_y-.03"/>
                                          </p:val>
                                        </p:tav>
                                      </p:tavLst>
                                    </p:anim>
                                    <p:anim calcmode="lin" valueType="num">
                                      <p:cBhvr>
                                        <p:cTn id="62" dur="100" accel="100000" fill="hold">
                                          <p:stCondLst>
                                            <p:cond delay="900"/>
                                          </p:stCondLst>
                                        </p:cTn>
                                        <p:tgtEl>
                                          <p:spTgt spid="3">
                                            <p:txEl>
                                              <p:pRg st="6" end="6"/>
                                            </p:txEl>
                                          </p:spTgt>
                                        </p:tgtEl>
                                        <p:attrNameLst>
                                          <p:attrName>ppt_y</p:attrName>
                                        </p:attrNameLst>
                                      </p:cBhvr>
                                      <p:tavLst>
                                        <p:tav tm="0">
                                          <p:val>
                                            <p:strVal val="#ppt_y-.03"/>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37" presetClass="entr" presetSubtype="0" fill="hold" nodeType="clickEffect">
                                  <p:stCondLst>
                                    <p:cond delay="0"/>
                                  </p:stCondLst>
                                  <p:childTnLst>
                                    <p:set>
                                      <p:cBhvr>
                                        <p:cTn id="66" dur="1" fill="hold">
                                          <p:stCondLst>
                                            <p:cond delay="0"/>
                                          </p:stCondLst>
                                        </p:cTn>
                                        <p:tgtEl>
                                          <p:spTgt spid="3">
                                            <p:txEl>
                                              <p:pRg st="7" end="7"/>
                                            </p:txEl>
                                          </p:spTgt>
                                        </p:tgtEl>
                                        <p:attrNameLst>
                                          <p:attrName>style.visibility</p:attrName>
                                        </p:attrNameLst>
                                      </p:cBhvr>
                                      <p:to>
                                        <p:strVal val="visible"/>
                                      </p:to>
                                    </p:set>
                                    <p:animEffect transition="in" filter="fade">
                                      <p:cBhvr>
                                        <p:cTn id="67" dur="1000"/>
                                        <p:tgtEl>
                                          <p:spTgt spid="3">
                                            <p:txEl>
                                              <p:pRg st="7" end="7"/>
                                            </p:txEl>
                                          </p:spTgt>
                                        </p:tgtEl>
                                      </p:cBhvr>
                                    </p:animEffect>
                                    <p:anim calcmode="lin" valueType="num">
                                      <p:cBhvr>
                                        <p:cTn id="6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9" dur="900" decel="100000" fill="hold"/>
                                        <p:tgtEl>
                                          <p:spTgt spid="3">
                                            <p:txEl>
                                              <p:pRg st="7" end="7"/>
                                            </p:txEl>
                                          </p:spTgt>
                                        </p:tgtEl>
                                        <p:attrNameLst>
                                          <p:attrName>ppt_y</p:attrName>
                                        </p:attrNameLst>
                                      </p:cBhvr>
                                      <p:tavLst>
                                        <p:tav tm="0">
                                          <p:val>
                                            <p:strVal val="#ppt_y+1"/>
                                          </p:val>
                                        </p:tav>
                                        <p:tav tm="100000">
                                          <p:val>
                                            <p:strVal val="#ppt_y-.03"/>
                                          </p:val>
                                        </p:tav>
                                      </p:tavLst>
                                    </p:anim>
                                    <p:anim calcmode="lin" valueType="num">
                                      <p:cBhvr>
                                        <p:cTn id="70" dur="100" accel="100000" fill="hold">
                                          <p:stCondLst>
                                            <p:cond delay="900"/>
                                          </p:stCondLst>
                                        </p:cTn>
                                        <p:tgtEl>
                                          <p:spTgt spid="3">
                                            <p:txEl>
                                              <p:pRg st="7" end="7"/>
                                            </p:txEl>
                                          </p:spTgt>
                                        </p:tgtEl>
                                        <p:attrNameLst>
                                          <p:attrName>ppt_y</p:attrName>
                                        </p:attrNameLst>
                                      </p:cBhvr>
                                      <p:tavLst>
                                        <p:tav tm="0">
                                          <p:val>
                                            <p:strVal val="#ppt_y-.03"/>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37" presetClass="entr" presetSubtype="0" fill="hold" nodeType="clickEffect">
                                  <p:stCondLst>
                                    <p:cond delay="0"/>
                                  </p:stCondLst>
                                  <p:childTnLst>
                                    <p:set>
                                      <p:cBhvr>
                                        <p:cTn id="74" dur="1" fill="hold">
                                          <p:stCondLst>
                                            <p:cond delay="0"/>
                                          </p:stCondLst>
                                        </p:cTn>
                                        <p:tgtEl>
                                          <p:spTgt spid="3">
                                            <p:txEl>
                                              <p:pRg st="8" end="8"/>
                                            </p:txEl>
                                          </p:spTgt>
                                        </p:tgtEl>
                                        <p:attrNameLst>
                                          <p:attrName>style.visibility</p:attrName>
                                        </p:attrNameLst>
                                      </p:cBhvr>
                                      <p:to>
                                        <p:strVal val="visible"/>
                                      </p:to>
                                    </p:set>
                                    <p:animEffect transition="in" filter="fade">
                                      <p:cBhvr>
                                        <p:cTn id="75" dur="1000"/>
                                        <p:tgtEl>
                                          <p:spTgt spid="3">
                                            <p:txEl>
                                              <p:pRg st="8" end="8"/>
                                            </p:txEl>
                                          </p:spTgt>
                                        </p:tgtEl>
                                      </p:cBhvr>
                                    </p:animEffect>
                                    <p:anim calcmode="lin" valueType="num">
                                      <p:cBhvr>
                                        <p:cTn id="7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77" dur="900" decel="100000" fill="hold"/>
                                        <p:tgtEl>
                                          <p:spTgt spid="3">
                                            <p:txEl>
                                              <p:pRg st="8" end="8"/>
                                            </p:txEl>
                                          </p:spTgt>
                                        </p:tgtEl>
                                        <p:attrNameLst>
                                          <p:attrName>ppt_y</p:attrName>
                                        </p:attrNameLst>
                                      </p:cBhvr>
                                      <p:tavLst>
                                        <p:tav tm="0">
                                          <p:val>
                                            <p:strVal val="#ppt_y+1"/>
                                          </p:val>
                                        </p:tav>
                                        <p:tav tm="100000">
                                          <p:val>
                                            <p:strVal val="#ppt_y-.03"/>
                                          </p:val>
                                        </p:tav>
                                      </p:tavLst>
                                    </p:anim>
                                    <p:anim calcmode="lin" valueType="num">
                                      <p:cBhvr>
                                        <p:cTn id="78" dur="100" accel="100000" fill="hold">
                                          <p:stCondLst>
                                            <p:cond delay="900"/>
                                          </p:stCondLst>
                                        </p:cTn>
                                        <p:tgtEl>
                                          <p:spTgt spid="3">
                                            <p:txEl>
                                              <p:pRg st="8" end="8"/>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35496" y="548680"/>
            <a:ext cx="8964487" cy="5878532"/>
          </a:xfrm>
          <a:prstGeom prst="rect">
            <a:avLst/>
          </a:prstGeom>
          <a:noFill/>
        </p:spPr>
        <p:txBody>
          <a:bodyPr wrap="square" rtlCol="1">
            <a:spAutoFit/>
          </a:bodyPr>
          <a:lstStyle/>
          <a:p>
            <a:pPr lvl="0"/>
            <a:r>
              <a:rPr lang="ar-EG" sz="2800" b="1" dirty="0">
                <a:solidFill>
                  <a:srgbClr val="FFFF00"/>
                </a:solidFill>
              </a:rPr>
              <a:t>         - النظم المبنية على أسلوب الأيقونات </a:t>
            </a:r>
            <a:r>
              <a:rPr lang="en-US" sz="2800" b="1" dirty="0">
                <a:solidFill>
                  <a:srgbClr val="FFFF00"/>
                </a:solidFill>
              </a:rPr>
              <a:t>Icon – Based Tools </a:t>
            </a:r>
          </a:p>
          <a:p>
            <a:r>
              <a:rPr lang="ar-EG" sz="2000" b="1" dirty="0"/>
              <a:t>وهى نظم تعمل على التنسيق بين عناصر الوسائط المتعددة وعملية التفاعل بينها </a:t>
            </a:r>
            <a:r>
              <a:rPr lang="ar-EG" sz="2000" b="1" dirty="0" err="1"/>
              <a:t>فى</a:t>
            </a:r>
            <a:r>
              <a:rPr lang="ar-EG" sz="2000" b="1" dirty="0"/>
              <a:t> صورة رموز خاصة توضع </a:t>
            </a:r>
            <a:r>
              <a:rPr lang="ar-EG" sz="2000" b="1" dirty="0" err="1"/>
              <a:t>فى</a:t>
            </a:r>
            <a:r>
              <a:rPr lang="ar-EG" sz="2000" b="1" dirty="0"/>
              <a:t> </a:t>
            </a:r>
            <a:r>
              <a:rPr lang="ar-EG" sz="2000" b="1" dirty="0" err="1"/>
              <a:t>اطار</a:t>
            </a:r>
            <a:r>
              <a:rPr lang="ar-EG" sz="2000" b="1" dirty="0"/>
              <a:t> تسلسل خطة العمل وفى هذه النوعية يمكن استخدام أدوات لتبسيط عملية تنظيم هذه الرموز </a:t>
            </a:r>
            <a:r>
              <a:rPr lang="ar-EG" sz="2000" b="1" dirty="0" err="1"/>
              <a:t>فى</a:t>
            </a:r>
            <a:r>
              <a:rPr lang="ar-EG" sz="2000" b="1" dirty="0"/>
              <a:t> تسلسل مطابق لخريطة تدفق برمجية ومن أمثلة هذا النظام </a:t>
            </a:r>
          </a:p>
          <a:p>
            <a:endParaRPr lang="en-US" sz="2000" b="1" dirty="0"/>
          </a:p>
          <a:p>
            <a:pPr lvl="0" algn="l"/>
            <a:r>
              <a:rPr lang="en-US" sz="2000" b="1" dirty="0">
                <a:solidFill>
                  <a:srgbClr val="FFFF66"/>
                </a:solidFill>
              </a:rPr>
              <a:t>Author Ware Professional </a:t>
            </a:r>
            <a:r>
              <a:rPr lang="ar-EG" sz="2000" b="1" dirty="0">
                <a:solidFill>
                  <a:srgbClr val="FFFF66"/>
                </a:solidFill>
              </a:rPr>
              <a:t>على </a:t>
            </a:r>
            <a:r>
              <a:rPr lang="ar-EG" sz="2000" b="1" dirty="0" err="1">
                <a:solidFill>
                  <a:srgbClr val="FFFF66"/>
                </a:solidFill>
              </a:rPr>
              <a:t>اجهزة</a:t>
            </a:r>
            <a:r>
              <a:rPr lang="ar-EG" sz="2000" b="1" dirty="0">
                <a:solidFill>
                  <a:srgbClr val="FFFF66"/>
                </a:solidFill>
              </a:rPr>
              <a:t> </a:t>
            </a:r>
            <a:r>
              <a:rPr lang="en-US" sz="2000" b="1" dirty="0">
                <a:solidFill>
                  <a:srgbClr val="FFFF66"/>
                </a:solidFill>
              </a:rPr>
              <a:t>- IBM &amp; Apple Macintosh </a:t>
            </a:r>
          </a:p>
          <a:p>
            <a:pPr lvl="0" algn="l"/>
            <a:r>
              <a:rPr lang="en-US" sz="2000" b="1" dirty="0">
                <a:solidFill>
                  <a:srgbClr val="FFFF66"/>
                </a:solidFill>
              </a:rPr>
              <a:t>Icon Author</a:t>
            </a:r>
            <a:r>
              <a:rPr lang="ar-EG" sz="2000" b="1" dirty="0">
                <a:solidFill>
                  <a:srgbClr val="FFFF66"/>
                </a:solidFill>
              </a:rPr>
              <a:t> على </a:t>
            </a:r>
            <a:r>
              <a:rPr lang="ar-EG" sz="2000" b="1" dirty="0" err="1">
                <a:solidFill>
                  <a:srgbClr val="FFFF66"/>
                </a:solidFill>
              </a:rPr>
              <a:t>اجهزة</a:t>
            </a:r>
            <a:r>
              <a:rPr lang="ar-EG" sz="2000" b="1" dirty="0">
                <a:solidFill>
                  <a:srgbClr val="FFFF66"/>
                </a:solidFill>
              </a:rPr>
              <a:t> </a:t>
            </a:r>
            <a:r>
              <a:rPr lang="en-US" sz="2000" b="1" dirty="0">
                <a:solidFill>
                  <a:srgbClr val="FFFF66"/>
                </a:solidFill>
              </a:rPr>
              <a:t>- IBM </a:t>
            </a:r>
          </a:p>
          <a:p>
            <a:pPr lvl="0" algn="l"/>
            <a:r>
              <a:rPr lang="en-US" sz="2000" b="1" dirty="0">
                <a:solidFill>
                  <a:srgbClr val="FFFF66"/>
                </a:solidFill>
              </a:rPr>
              <a:t>HSC Interactive </a:t>
            </a:r>
            <a:r>
              <a:rPr lang="ar-EG" sz="2000" b="1" dirty="0">
                <a:solidFill>
                  <a:srgbClr val="FFFF66"/>
                </a:solidFill>
              </a:rPr>
              <a:t> على </a:t>
            </a:r>
            <a:r>
              <a:rPr lang="ar-EG" sz="2000" b="1" dirty="0" err="1">
                <a:solidFill>
                  <a:srgbClr val="FFFF66"/>
                </a:solidFill>
              </a:rPr>
              <a:t>اجهزة</a:t>
            </a:r>
            <a:r>
              <a:rPr lang="ar-EG" sz="2000" b="1" dirty="0">
                <a:solidFill>
                  <a:srgbClr val="FFFF66"/>
                </a:solidFill>
              </a:rPr>
              <a:t> </a:t>
            </a:r>
            <a:r>
              <a:rPr lang="en-US" sz="2000" b="1" dirty="0">
                <a:solidFill>
                  <a:srgbClr val="FFFF66"/>
                </a:solidFill>
              </a:rPr>
              <a:t>- IBM </a:t>
            </a:r>
            <a:endParaRPr lang="ar-EG" sz="2000" b="1" dirty="0">
              <a:solidFill>
                <a:srgbClr val="FFFF66"/>
              </a:solidFill>
            </a:endParaRPr>
          </a:p>
          <a:p>
            <a:pPr lvl="0"/>
            <a:endParaRPr lang="en-US" sz="2000" b="1" dirty="0">
              <a:solidFill>
                <a:srgbClr val="FFFF66"/>
              </a:solidFill>
            </a:endParaRPr>
          </a:p>
          <a:p>
            <a:pPr lvl="0"/>
            <a:r>
              <a:rPr lang="ar-EG" sz="2800" b="1" dirty="0">
                <a:solidFill>
                  <a:srgbClr val="FFFF00"/>
                </a:solidFill>
              </a:rPr>
              <a:t>          - نظم مبنية على الزمن </a:t>
            </a:r>
            <a:r>
              <a:rPr lang="en-US" sz="2800" b="1" dirty="0">
                <a:solidFill>
                  <a:srgbClr val="FFFF00"/>
                </a:solidFill>
              </a:rPr>
              <a:t>Time-Based Tools </a:t>
            </a:r>
          </a:p>
          <a:p>
            <a:r>
              <a:rPr lang="ar-EG" sz="2000" b="1" dirty="0"/>
              <a:t>تنم عناصر الوسائط المتعددة وفقا لهذا </a:t>
            </a:r>
            <a:r>
              <a:rPr lang="ar-EG" sz="2000" b="1" dirty="0" err="1"/>
              <a:t>الاسلوب</a:t>
            </a:r>
            <a:r>
              <a:rPr lang="ar-EG" sz="2000" b="1" dirty="0"/>
              <a:t> على امتداد خط </a:t>
            </a:r>
            <a:r>
              <a:rPr lang="ar-EG" sz="2000" b="1" dirty="0" err="1"/>
              <a:t>زمنى</a:t>
            </a:r>
            <a:r>
              <a:rPr lang="ar-EG" sz="2000" b="1" dirty="0"/>
              <a:t> يكون مضاعفات لزمن يساوى 3/1 ثانية وهذه النوعية من النظم مناسبة لتقديم رسالة لها بداية ونهاية ومنتظمة </a:t>
            </a:r>
            <a:r>
              <a:rPr lang="ar-EG" sz="2000" b="1" dirty="0" err="1"/>
              <a:t>فى</a:t>
            </a:r>
            <a:r>
              <a:rPr lang="ar-EG" sz="2000" b="1" dirty="0"/>
              <a:t> تسلسل متتابع ويتم تشغيلها بالسرعة </a:t>
            </a:r>
            <a:r>
              <a:rPr lang="ar-EG" sz="2000" b="1" dirty="0" err="1"/>
              <a:t>التى</a:t>
            </a:r>
            <a:r>
              <a:rPr lang="ar-EG" sz="2000" b="1" dirty="0"/>
              <a:t> يريدها المتعلم ومن </a:t>
            </a:r>
            <a:r>
              <a:rPr lang="ar-EG" sz="2000" b="1" dirty="0" err="1"/>
              <a:t>امثلة</a:t>
            </a:r>
            <a:r>
              <a:rPr lang="ar-EG" sz="2000" b="1" dirty="0"/>
              <a:t> برمجيات هذا النظام </a:t>
            </a:r>
          </a:p>
          <a:p>
            <a:endParaRPr lang="en-US" sz="2000" b="1" dirty="0"/>
          </a:p>
          <a:p>
            <a:pPr lvl="0" algn="l"/>
            <a:r>
              <a:rPr lang="ar-EG" sz="2000" b="1" dirty="0">
                <a:solidFill>
                  <a:srgbClr val="FFFF66"/>
                </a:solidFill>
              </a:rPr>
              <a:t> </a:t>
            </a:r>
            <a:r>
              <a:rPr lang="en-US" sz="2000" b="1" dirty="0">
                <a:solidFill>
                  <a:srgbClr val="FFFF66"/>
                </a:solidFill>
              </a:rPr>
              <a:t>Animation Works Interactive </a:t>
            </a:r>
            <a:r>
              <a:rPr lang="ar-EG" sz="2000" b="1" dirty="0">
                <a:solidFill>
                  <a:srgbClr val="FFFF66"/>
                </a:solidFill>
              </a:rPr>
              <a:t>على </a:t>
            </a:r>
            <a:r>
              <a:rPr lang="ar-EG" sz="2000" b="1" dirty="0" err="1">
                <a:solidFill>
                  <a:srgbClr val="FFFF66"/>
                </a:solidFill>
              </a:rPr>
              <a:t>اجهزة</a:t>
            </a:r>
            <a:r>
              <a:rPr lang="ar-EG" sz="2000" b="1" dirty="0">
                <a:solidFill>
                  <a:srgbClr val="FFFF66"/>
                </a:solidFill>
              </a:rPr>
              <a:t> </a:t>
            </a:r>
            <a:r>
              <a:rPr lang="en-US" sz="2000" b="1" dirty="0">
                <a:solidFill>
                  <a:srgbClr val="FFFF66"/>
                </a:solidFill>
              </a:rPr>
              <a:t>- IBM </a:t>
            </a:r>
          </a:p>
          <a:p>
            <a:pPr lvl="0" algn="l"/>
            <a:r>
              <a:rPr lang="en-US" sz="2000" b="1" dirty="0">
                <a:solidFill>
                  <a:srgbClr val="FFFF66"/>
                </a:solidFill>
              </a:rPr>
              <a:t>Macromedia Director </a:t>
            </a:r>
            <a:r>
              <a:rPr lang="ar-EG" sz="2000" b="1" dirty="0">
                <a:solidFill>
                  <a:srgbClr val="FFFF66"/>
                </a:solidFill>
              </a:rPr>
              <a:t>على </a:t>
            </a:r>
            <a:r>
              <a:rPr lang="ar-EG" sz="2000" b="1" dirty="0" err="1">
                <a:solidFill>
                  <a:srgbClr val="FFFF66"/>
                </a:solidFill>
              </a:rPr>
              <a:t>اجهزة</a:t>
            </a:r>
            <a:r>
              <a:rPr lang="ar-EG" sz="2000" b="1" dirty="0">
                <a:solidFill>
                  <a:srgbClr val="FFFF66"/>
                </a:solidFill>
              </a:rPr>
              <a:t> </a:t>
            </a:r>
            <a:r>
              <a:rPr lang="en-US" sz="2000" b="1" dirty="0">
                <a:solidFill>
                  <a:srgbClr val="FFFF66"/>
                </a:solidFill>
              </a:rPr>
              <a:t>- IBM </a:t>
            </a:r>
          </a:p>
          <a:p>
            <a:pPr lvl="0" algn="l"/>
            <a:r>
              <a:rPr lang="en-US" sz="2000" b="1" dirty="0">
                <a:solidFill>
                  <a:srgbClr val="FFFF66"/>
                </a:solidFill>
              </a:rPr>
              <a:t>Media </a:t>
            </a:r>
            <a:r>
              <a:rPr lang="en-US" sz="2000" b="1" dirty="0" err="1">
                <a:solidFill>
                  <a:srgbClr val="FFFF66"/>
                </a:solidFill>
              </a:rPr>
              <a:t>Bilta</a:t>
            </a:r>
            <a:r>
              <a:rPr lang="en-US" sz="2000" b="1" dirty="0">
                <a:solidFill>
                  <a:srgbClr val="FFFF66"/>
                </a:solidFill>
              </a:rPr>
              <a:t>  </a:t>
            </a:r>
            <a:r>
              <a:rPr lang="ar-EG" sz="2000" b="1" dirty="0">
                <a:solidFill>
                  <a:srgbClr val="FFFF66"/>
                </a:solidFill>
              </a:rPr>
              <a:t> على </a:t>
            </a:r>
            <a:r>
              <a:rPr lang="ar-EG" sz="2000" b="1" dirty="0" err="1">
                <a:solidFill>
                  <a:srgbClr val="FFFF66"/>
                </a:solidFill>
              </a:rPr>
              <a:t>اجهزة</a:t>
            </a:r>
            <a:r>
              <a:rPr lang="ar-EG" sz="2000" b="1" dirty="0">
                <a:solidFill>
                  <a:srgbClr val="FFFF66"/>
                </a:solidFill>
              </a:rPr>
              <a:t> </a:t>
            </a:r>
            <a:r>
              <a:rPr lang="en-US" sz="2000" b="1" dirty="0">
                <a:solidFill>
                  <a:srgbClr val="FFFF66"/>
                </a:solidFill>
              </a:rPr>
              <a:t>- IBM </a:t>
            </a:r>
          </a:p>
          <a:p>
            <a:endParaRPr lang="ar-EG" sz="2000" b="1" dirty="0"/>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4" presetClass="entr" presetSubtype="0" accel="10000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 calcmode="lin" valueType="num">
                                      <p:cBhvr>
                                        <p:cTn id="14" dur="1000" fill="hold"/>
                                        <p:tgtEl>
                                          <p:spTgt spid="2">
                                            <p:txEl>
                                              <p:pRg st="1" end="1"/>
                                            </p:txEl>
                                          </p:spTgt>
                                        </p:tgtEl>
                                        <p:attrNameLst>
                                          <p:attrName>ppt_w</p:attrName>
                                        </p:attrNameLst>
                                      </p:cBhvr>
                                      <p:tavLst>
                                        <p:tav tm="0">
                                          <p:val>
                                            <p:strVal val="#ppt_w*0.05"/>
                                          </p:val>
                                        </p:tav>
                                        <p:tav tm="100000">
                                          <p:val>
                                            <p:strVal val="#ppt_w"/>
                                          </p:val>
                                        </p:tav>
                                      </p:tavLst>
                                    </p:anim>
                                    <p:anim calcmode="lin" valueType="num">
                                      <p:cBhvr>
                                        <p:cTn id="15" dur="1000" fill="hold"/>
                                        <p:tgtEl>
                                          <p:spTgt spid="2">
                                            <p:txEl>
                                              <p:pRg st="1" end="1"/>
                                            </p:txEl>
                                          </p:spTgt>
                                        </p:tgtEl>
                                        <p:attrNameLst>
                                          <p:attrName>ppt_h</p:attrName>
                                        </p:attrNameLst>
                                      </p:cBhvr>
                                      <p:tavLst>
                                        <p:tav tm="0">
                                          <p:val>
                                            <p:strVal val="#ppt_h"/>
                                          </p:val>
                                        </p:tav>
                                        <p:tav tm="100000">
                                          <p:val>
                                            <p:strVal val="#ppt_h"/>
                                          </p:val>
                                        </p:tav>
                                      </p:tavLst>
                                    </p:anim>
                                    <p:anim calcmode="lin" valueType="num">
                                      <p:cBhvr>
                                        <p:cTn id="16" dur="1000" fill="hold"/>
                                        <p:tgtEl>
                                          <p:spTgt spid="2">
                                            <p:txEl>
                                              <p:pRg st="1" end="1"/>
                                            </p:txEl>
                                          </p:spTgt>
                                        </p:tgtEl>
                                        <p:attrNameLst>
                                          <p:attrName>ppt_x</p:attrName>
                                        </p:attrNameLst>
                                      </p:cBhvr>
                                      <p:tavLst>
                                        <p:tav tm="0">
                                          <p:val>
                                            <p:strVal val="#ppt_x-.2"/>
                                          </p:val>
                                        </p:tav>
                                        <p:tav tm="100000">
                                          <p:val>
                                            <p:strVal val="#ppt_x"/>
                                          </p:val>
                                        </p:tav>
                                      </p:tavLst>
                                    </p:anim>
                                    <p:anim calcmode="lin" valueType="num">
                                      <p:cBhvr>
                                        <p:cTn id="17" dur="1000" fill="hold"/>
                                        <p:tgtEl>
                                          <p:spTgt spid="2">
                                            <p:txEl>
                                              <p:pRg st="1" end="1"/>
                                            </p:txEl>
                                          </p:spTgt>
                                        </p:tgtEl>
                                        <p:attrNameLst>
                                          <p:attrName>ppt_y</p:attrName>
                                        </p:attrNameLst>
                                      </p:cBhvr>
                                      <p:tavLst>
                                        <p:tav tm="0">
                                          <p:val>
                                            <p:strVal val="#ppt_y"/>
                                          </p:val>
                                        </p:tav>
                                        <p:tav tm="100000">
                                          <p:val>
                                            <p:strVal val="#ppt_y"/>
                                          </p:val>
                                        </p:tav>
                                      </p:tavLst>
                                    </p:anim>
                                    <p:animEffect transition="in" filter="fade">
                                      <p:cBhvr>
                                        <p:cTn id="18" dur="1000"/>
                                        <p:tgtEl>
                                          <p:spTgt spid="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fade">
                                      <p:cBhvr>
                                        <p:cTn id="23" dur="1000"/>
                                        <p:tgtEl>
                                          <p:spTgt spid="2">
                                            <p:txEl>
                                              <p:pRg st="3" end="3"/>
                                            </p:txEl>
                                          </p:spTgt>
                                        </p:tgtEl>
                                      </p:cBhvr>
                                    </p:animEffect>
                                    <p:anim calcmode="lin" valueType="num">
                                      <p:cBhvr>
                                        <p:cTn id="24"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2">
                                            <p:txEl>
                                              <p:pRg st="3" end="3"/>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2">
                                            <p:txEl>
                                              <p:pRg st="3" end="3"/>
                                            </p:txEl>
                                          </p:spTgt>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Effect transition="in" filter="fade">
                                      <p:cBhvr>
                                        <p:cTn id="31" dur="1000"/>
                                        <p:tgtEl>
                                          <p:spTgt spid="2">
                                            <p:txEl>
                                              <p:pRg st="4" end="4"/>
                                            </p:txEl>
                                          </p:spTgt>
                                        </p:tgtEl>
                                      </p:cBhvr>
                                    </p:animEffect>
                                    <p:anim calcmode="lin" valueType="num">
                                      <p:cBhvr>
                                        <p:cTn id="3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3" dur="900" decel="100000" fill="hold"/>
                                        <p:tgtEl>
                                          <p:spTgt spid="2">
                                            <p:txEl>
                                              <p:pRg st="4" end="4"/>
                                            </p:txEl>
                                          </p:spTgt>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2">
                                            <p:txEl>
                                              <p:pRg st="4" end="4"/>
                                            </p:txEl>
                                          </p:spTgt>
                                        </p:tgtEl>
                                        <p:attrNameLst>
                                          <p:attrName>ppt_y</p:attrName>
                                        </p:attrNameLst>
                                      </p:cBhvr>
                                      <p:tavLst>
                                        <p:tav tm="0">
                                          <p:val>
                                            <p:strVal val="#ppt_y-.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7" presetClass="entr" presetSubtype="0" fill="hold" nodeType="clickEffect">
                                  <p:stCondLst>
                                    <p:cond delay="0"/>
                                  </p:stCondLst>
                                  <p:childTnLst>
                                    <p:set>
                                      <p:cBhvr>
                                        <p:cTn id="38" dur="1" fill="hold">
                                          <p:stCondLst>
                                            <p:cond delay="0"/>
                                          </p:stCondLst>
                                        </p:cTn>
                                        <p:tgtEl>
                                          <p:spTgt spid="2">
                                            <p:txEl>
                                              <p:pRg st="5" end="5"/>
                                            </p:txEl>
                                          </p:spTgt>
                                        </p:tgtEl>
                                        <p:attrNameLst>
                                          <p:attrName>style.visibility</p:attrName>
                                        </p:attrNameLst>
                                      </p:cBhvr>
                                      <p:to>
                                        <p:strVal val="visible"/>
                                      </p:to>
                                    </p:set>
                                    <p:animEffect transition="in" filter="fade">
                                      <p:cBhvr>
                                        <p:cTn id="39" dur="1000"/>
                                        <p:tgtEl>
                                          <p:spTgt spid="2">
                                            <p:txEl>
                                              <p:pRg st="5" end="5"/>
                                            </p:txEl>
                                          </p:spTgt>
                                        </p:tgtEl>
                                      </p:cBhvr>
                                    </p:animEffect>
                                    <p:anim calcmode="lin" valueType="num">
                                      <p:cBhvr>
                                        <p:cTn id="4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1" dur="900" decel="100000" fill="hold"/>
                                        <p:tgtEl>
                                          <p:spTgt spid="2">
                                            <p:txEl>
                                              <p:pRg st="5" end="5"/>
                                            </p:txEl>
                                          </p:spTgt>
                                        </p:tgtEl>
                                        <p:attrNameLst>
                                          <p:attrName>ppt_y</p:attrName>
                                        </p:attrNameLst>
                                      </p:cBhvr>
                                      <p:tavLst>
                                        <p:tav tm="0">
                                          <p:val>
                                            <p:strVal val="#ppt_y+1"/>
                                          </p:val>
                                        </p:tav>
                                        <p:tav tm="100000">
                                          <p:val>
                                            <p:strVal val="#ppt_y-.03"/>
                                          </p:val>
                                        </p:tav>
                                      </p:tavLst>
                                    </p:anim>
                                    <p:anim calcmode="lin" valueType="num">
                                      <p:cBhvr>
                                        <p:cTn id="42" dur="100" accel="100000" fill="hold">
                                          <p:stCondLst>
                                            <p:cond delay="900"/>
                                          </p:stCondLst>
                                        </p:cTn>
                                        <p:tgtEl>
                                          <p:spTgt spid="2">
                                            <p:txEl>
                                              <p:pRg st="5" end="5"/>
                                            </p:txEl>
                                          </p:spTgt>
                                        </p:tgtEl>
                                        <p:attrNameLst>
                                          <p:attrName>ppt_y</p:attrName>
                                        </p:attrNameLst>
                                      </p:cBhvr>
                                      <p:tavLst>
                                        <p:tav tm="0">
                                          <p:val>
                                            <p:strVal val="#ppt_y-.03"/>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7" presetClass="entr" presetSubtype="0" fill="hold"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Effect transition="in" filter="fade">
                                      <p:cBhvr>
                                        <p:cTn id="47" dur="1000"/>
                                        <p:tgtEl>
                                          <p:spTgt spid="2">
                                            <p:txEl>
                                              <p:pRg st="7" end="7"/>
                                            </p:txEl>
                                          </p:spTgt>
                                        </p:tgtEl>
                                      </p:cBhvr>
                                    </p:animEffect>
                                    <p:anim calcmode="lin" valueType="num">
                                      <p:cBhvr>
                                        <p:cTn id="48"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54" presetClass="entr" presetSubtype="0" accel="100000" fill="hold" nodeType="clickEffect">
                                  <p:stCondLst>
                                    <p:cond delay="0"/>
                                  </p:stCondLst>
                                  <p:childTnLst>
                                    <p:set>
                                      <p:cBhvr>
                                        <p:cTn id="53" dur="1" fill="hold">
                                          <p:stCondLst>
                                            <p:cond delay="0"/>
                                          </p:stCondLst>
                                        </p:cTn>
                                        <p:tgtEl>
                                          <p:spTgt spid="2">
                                            <p:txEl>
                                              <p:pRg st="8" end="8"/>
                                            </p:txEl>
                                          </p:spTgt>
                                        </p:tgtEl>
                                        <p:attrNameLst>
                                          <p:attrName>style.visibility</p:attrName>
                                        </p:attrNameLst>
                                      </p:cBhvr>
                                      <p:to>
                                        <p:strVal val="visible"/>
                                      </p:to>
                                    </p:set>
                                    <p:anim calcmode="lin" valueType="num">
                                      <p:cBhvr>
                                        <p:cTn id="54" dur="1000" fill="hold"/>
                                        <p:tgtEl>
                                          <p:spTgt spid="2">
                                            <p:txEl>
                                              <p:pRg st="8" end="8"/>
                                            </p:txEl>
                                          </p:spTgt>
                                        </p:tgtEl>
                                        <p:attrNameLst>
                                          <p:attrName>ppt_w</p:attrName>
                                        </p:attrNameLst>
                                      </p:cBhvr>
                                      <p:tavLst>
                                        <p:tav tm="0">
                                          <p:val>
                                            <p:strVal val="#ppt_w*0.05"/>
                                          </p:val>
                                        </p:tav>
                                        <p:tav tm="100000">
                                          <p:val>
                                            <p:strVal val="#ppt_w"/>
                                          </p:val>
                                        </p:tav>
                                      </p:tavLst>
                                    </p:anim>
                                    <p:anim calcmode="lin" valueType="num">
                                      <p:cBhvr>
                                        <p:cTn id="55" dur="1000" fill="hold"/>
                                        <p:tgtEl>
                                          <p:spTgt spid="2">
                                            <p:txEl>
                                              <p:pRg st="8" end="8"/>
                                            </p:txEl>
                                          </p:spTgt>
                                        </p:tgtEl>
                                        <p:attrNameLst>
                                          <p:attrName>ppt_h</p:attrName>
                                        </p:attrNameLst>
                                      </p:cBhvr>
                                      <p:tavLst>
                                        <p:tav tm="0">
                                          <p:val>
                                            <p:strVal val="#ppt_h"/>
                                          </p:val>
                                        </p:tav>
                                        <p:tav tm="100000">
                                          <p:val>
                                            <p:strVal val="#ppt_h"/>
                                          </p:val>
                                        </p:tav>
                                      </p:tavLst>
                                    </p:anim>
                                    <p:anim calcmode="lin" valueType="num">
                                      <p:cBhvr>
                                        <p:cTn id="56" dur="1000" fill="hold"/>
                                        <p:tgtEl>
                                          <p:spTgt spid="2">
                                            <p:txEl>
                                              <p:pRg st="8" end="8"/>
                                            </p:txEl>
                                          </p:spTgt>
                                        </p:tgtEl>
                                        <p:attrNameLst>
                                          <p:attrName>ppt_x</p:attrName>
                                        </p:attrNameLst>
                                      </p:cBhvr>
                                      <p:tavLst>
                                        <p:tav tm="0">
                                          <p:val>
                                            <p:strVal val="#ppt_x-.2"/>
                                          </p:val>
                                        </p:tav>
                                        <p:tav tm="100000">
                                          <p:val>
                                            <p:strVal val="#ppt_x"/>
                                          </p:val>
                                        </p:tav>
                                      </p:tavLst>
                                    </p:anim>
                                    <p:anim calcmode="lin" valueType="num">
                                      <p:cBhvr>
                                        <p:cTn id="57" dur="1000" fill="hold"/>
                                        <p:tgtEl>
                                          <p:spTgt spid="2">
                                            <p:txEl>
                                              <p:pRg st="8" end="8"/>
                                            </p:txEl>
                                          </p:spTgt>
                                        </p:tgtEl>
                                        <p:attrNameLst>
                                          <p:attrName>ppt_y</p:attrName>
                                        </p:attrNameLst>
                                      </p:cBhvr>
                                      <p:tavLst>
                                        <p:tav tm="0">
                                          <p:val>
                                            <p:strVal val="#ppt_y"/>
                                          </p:val>
                                        </p:tav>
                                        <p:tav tm="100000">
                                          <p:val>
                                            <p:strVal val="#ppt_y"/>
                                          </p:val>
                                        </p:tav>
                                      </p:tavLst>
                                    </p:anim>
                                    <p:animEffect transition="in" filter="fade">
                                      <p:cBhvr>
                                        <p:cTn id="58" dur="1000"/>
                                        <p:tgtEl>
                                          <p:spTgt spid="2">
                                            <p:txEl>
                                              <p:pRg st="8" end="8"/>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7" presetClass="entr" presetSubtype="0" fill="hold" nodeType="clickEffect">
                                  <p:stCondLst>
                                    <p:cond delay="0"/>
                                  </p:stCondLst>
                                  <p:childTnLst>
                                    <p:set>
                                      <p:cBhvr>
                                        <p:cTn id="62" dur="1" fill="hold">
                                          <p:stCondLst>
                                            <p:cond delay="0"/>
                                          </p:stCondLst>
                                        </p:cTn>
                                        <p:tgtEl>
                                          <p:spTgt spid="2">
                                            <p:txEl>
                                              <p:pRg st="10" end="10"/>
                                            </p:txEl>
                                          </p:spTgt>
                                        </p:tgtEl>
                                        <p:attrNameLst>
                                          <p:attrName>style.visibility</p:attrName>
                                        </p:attrNameLst>
                                      </p:cBhvr>
                                      <p:to>
                                        <p:strVal val="visible"/>
                                      </p:to>
                                    </p:set>
                                    <p:animEffect transition="in" filter="fade">
                                      <p:cBhvr>
                                        <p:cTn id="63" dur="1000"/>
                                        <p:tgtEl>
                                          <p:spTgt spid="2">
                                            <p:txEl>
                                              <p:pRg st="10" end="10"/>
                                            </p:txEl>
                                          </p:spTgt>
                                        </p:tgtEl>
                                      </p:cBhvr>
                                    </p:animEffect>
                                    <p:anim calcmode="lin" valueType="num">
                                      <p:cBhvr>
                                        <p:cTn id="64"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65" dur="900" decel="100000" fill="hold"/>
                                        <p:tgtEl>
                                          <p:spTgt spid="2">
                                            <p:txEl>
                                              <p:pRg st="10" end="10"/>
                                            </p:txEl>
                                          </p:spTgt>
                                        </p:tgtEl>
                                        <p:attrNameLst>
                                          <p:attrName>ppt_y</p:attrName>
                                        </p:attrNameLst>
                                      </p:cBhvr>
                                      <p:tavLst>
                                        <p:tav tm="0">
                                          <p:val>
                                            <p:strVal val="#ppt_y+1"/>
                                          </p:val>
                                        </p:tav>
                                        <p:tav tm="100000">
                                          <p:val>
                                            <p:strVal val="#ppt_y-.03"/>
                                          </p:val>
                                        </p:tav>
                                      </p:tavLst>
                                    </p:anim>
                                    <p:anim calcmode="lin" valueType="num">
                                      <p:cBhvr>
                                        <p:cTn id="66" dur="100" accel="100000" fill="hold">
                                          <p:stCondLst>
                                            <p:cond delay="900"/>
                                          </p:stCondLst>
                                        </p:cTn>
                                        <p:tgtEl>
                                          <p:spTgt spid="2">
                                            <p:txEl>
                                              <p:pRg st="10" end="10"/>
                                            </p:txEl>
                                          </p:spTgt>
                                        </p:tgtEl>
                                        <p:attrNameLst>
                                          <p:attrName>ppt_y</p:attrName>
                                        </p:attrNameLst>
                                      </p:cBhvr>
                                      <p:tavLst>
                                        <p:tav tm="0">
                                          <p:val>
                                            <p:strVal val="#ppt_y-.03"/>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37" presetClass="entr" presetSubtype="0" fill="hold" nodeType="clickEffect">
                                  <p:stCondLst>
                                    <p:cond delay="0"/>
                                  </p:stCondLst>
                                  <p:childTnLst>
                                    <p:set>
                                      <p:cBhvr>
                                        <p:cTn id="70" dur="1" fill="hold">
                                          <p:stCondLst>
                                            <p:cond delay="0"/>
                                          </p:stCondLst>
                                        </p:cTn>
                                        <p:tgtEl>
                                          <p:spTgt spid="2">
                                            <p:txEl>
                                              <p:pRg st="11" end="11"/>
                                            </p:txEl>
                                          </p:spTgt>
                                        </p:tgtEl>
                                        <p:attrNameLst>
                                          <p:attrName>style.visibility</p:attrName>
                                        </p:attrNameLst>
                                      </p:cBhvr>
                                      <p:to>
                                        <p:strVal val="visible"/>
                                      </p:to>
                                    </p:set>
                                    <p:animEffect transition="in" filter="fade">
                                      <p:cBhvr>
                                        <p:cTn id="71" dur="1000"/>
                                        <p:tgtEl>
                                          <p:spTgt spid="2">
                                            <p:txEl>
                                              <p:pRg st="11" end="11"/>
                                            </p:txEl>
                                          </p:spTgt>
                                        </p:tgtEl>
                                      </p:cBhvr>
                                    </p:animEffect>
                                    <p:anim calcmode="lin" valueType="num">
                                      <p:cBhvr>
                                        <p:cTn id="72"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73" dur="900" decel="100000" fill="hold"/>
                                        <p:tgtEl>
                                          <p:spTgt spid="2">
                                            <p:txEl>
                                              <p:pRg st="11" end="11"/>
                                            </p:txEl>
                                          </p:spTgt>
                                        </p:tgtEl>
                                        <p:attrNameLst>
                                          <p:attrName>ppt_y</p:attrName>
                                        </p:attrNameLst>
                                      </p:cBhvr>
                                      <p:tavLst>
                                        <p:tav tm="0">
                                          <p:val>
                                            <p:strVal val="#ppt_y+1"/>
                                          </p:val>
                                        </p:tav>
                                        <p:tav tm="100000">
                                          <p:val>
                                            <p:strVal val="#ppt_y-.03"/>
                                          </p:val>
                                        </p:tav>
                                      </p:tavLst>
                                    </p:anim>
                                    <p:anim calcmode="lin" valueType="num">
                                      <p:cBhvr>
                                        <p:cTn id="74" dur="100" accel="100000" fill="hold">
                                          <p:stCondLst>
                                            <p:cond delay="900"/>
                                          </p:stCondLst>
                                        </p:cTn>
                                        <p:tgtEl>
                                          <p:spTgt spid="2">
                                            <p:txEl>
                                              <p:pRg st="11" end="11"/>
                                            </p:txEl>
                                          </p:spTgt>
                                        </p:tgtEl>
                                        <p:attrNameLst>
                                          <p:attrName>ppt_y</p:attrName>
                                        </p:attrNameLst>
                                      </p:cBhvr>
                                      <p:tavLst>
                                        <p:tav tm="0">
                                          <p:val>
                                            <p:strVal val="#ppt_y-.03"/>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37" presetClass="entr" presetSubtype="0" fill="hold" nodeType="clickEffect">
                                  <p:stCondLst>
                                    <p:cond delay="0"/>
                                  </p:stCondLst>
                                  <p:childTnLst>
                                    <p:set>
                                      <p:cBhvr>
                                        <p:cTn id="78" dur="1" fill="hold">
                                          <p:stCondLst>
                                            <p:cond delay="0"/>
                                          </p:stCondLst>
                                        </p:cTn>
                                        <p:tgtEl>
                                          <p:spTgt spid="2">
                                            <p:txEl>
                                              <p:pRg st="12" end="12"/>
                                            </p:txEl>
                                          </p:spTgt>
                                        </p:tgtEl>
                                        <p:attrNameLst>
                                          <p:attrName>style.visibility</p:attrName>
                                        </p:attrNameLst>
                                      </p:cBhvr>
                                      <p:to>
                                        <p:strVal val="visible"/>
                                      </p:to>
                                    </p:set>
                                    <p:animEffect transition="in" filter="fade">
                                      <p:cBhvr>
                                        <p:cTn id="79" dur="1000"/>
                                        <p:tgtEl>
                                          <p:spTgt spid="2">
                                            <p:txEl>
                                              <p:pRg st="12" end="12"/>
                                            </p:txEl>
                                          </p:spTgt>
                                        </p:tgtEl>
                                      </p:cBhvr>
                                    </p:animEffect>
                                    <p:anim calcmode="lin" valueType="num">
                                      <p:cBhvr>
                                        <p:cTn id="80"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81" dur="900" decel="100000" fill="hold"/>
                                        <p:tgtEl>
                                          <p:spTgt spid="2">
                                            <p:txEl>
                                              <p:pRg st="12" end="12"/>
                                            </p:txEl>
                                          </p:spTgt>
                                        </p:tgtEl>
                                        <p:attrNameLst>
                                          <p:attrName>ppt_y</p:attrName>
                                        </p:attrNameLst>
                                      </p:cBhvr>
                                      <p:tavLst>
                                        <p:tav tm="0">
                                          <p:val>
                                            <p:strVal val="#ppt_y+1"/>
                                          </p:val>
                                        </p:tav>
                                        <p:tav tm="100000">
                                          <p:val>
                                            <p:strVal val="#ppt_y-.03"/>
                                          </p:val>
                                        </p:tav>
                                      </p:tavLst>
                                    </p:anim>
                                    <p:anim calcmode="lin" valueType="num">
                                      <p:cBhvr>
                                        <p:cTn id="82" dur="100" accel="100000" fill="hold">
                                          <p:stCondLst>
                                            <p:cond delay="900"/>
                                          </p:stCondLst>
                                        </p:cTn>
                                        <p:tgtEl>
                                          <p:spTgt spid="2">
                                            <p:txEl>
                                              <p:pRg st="12" end="12"/>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1571605" y="188640"/>
            <a:ext cx="6572295" cy="584775"/>
          </a:xfrm>
          <a:prstGeom prst="rect">
            <a:avLst/>
          </a:prstGeom>
        </p:spPr>
        <p:style>
          <a:lnRef idx="0">
            <a:schemeClr val="accent1"/>
          </a:lnRef>
          <a:fillRef idx="3">
            <a:schemeClr val="accent1"/>
          </a:fillRef>
          <a:effectRef idx="3">
            <a:schemeClr val="accent1"/>
          </a:effectRef>
          <a:fontRef idx="minor">
            <a:schemeClr val="lt1"/>
          </a:fontRef>
        </p:style>
        <p:txBody>
          <a:bodyPr wrap="square" rtlCol="1">
            <a:spAutoFit/>
          </a:bodyPr>
          <a:lstStyle/>
          <a:p>
            <a:pPr algn="ctr"/>
            <a:r>
              <a:rPr lang="ar-EG" sz="3200" b="1" dirty="0"/>
              <a:t>من </a:t>
            </a:r>
            <a:r>
              <a:rPr lang="ar-EG" sz="3200" b="1" dirty="0" err="1"/>
              <a:t>اهم</a:t>
            </a:r>
            <a:r>
              <a:rPr lang="ar-EG" sz="3200" b="1" dirty="0"/>
              <a:t> برامج تأليف برمجيات الوسائط المتعددة </a:t>
            </a:r>
            <a:endParaRPr lang="en-US" sz="3200" dirty="0"/>
          </a:p>
        </p:txBody>
      </p:sp>
      <p:sp>
        <p:nvSpPr>
          <p:cNvPr id="3" name="مربع نص 2"/>
          <p:cNvSpPr txBox="1"/>
          <p:nvPr/>
        </p:nvSpPr>
        <p:spPr>
          <a:xfrm>
            <a:off x="71438" y="1196065"/>
            <a:ext cx="8929718" cy="5724644"/>
          </a:xfrm>
          <a:prstGeom prst="rect">
            <a:avLst/>
          </a:prstGeom>
          <a:noFill/>
        </p:spPr>
        <p:txBody>
          <a:bodyPr wrap="square" rtlCol="1">
            <a:spAutoFit/>
          </a:bodyPr>
          <a:lstStyle/>
          <a:p>
            <a:pPr lvl="0"/>
            <a:r>
              <a:rPr lang="ar-EG" sz="2400" b="1" dirty="0">
                <a:solidFill>
                  <a:schemeClr val="tx2"/>
                </a:solidFill>
              </a:rPr>
              <a:t>1- برنامج </a:t>
            </a:r>
            <a:r>
              <a:rPr lang="ar-EG" sz="2400" b="1" dirty="0" err="1">
                <a:solidFill>
                  <a:schemeClr val="tx2"/>
                </a:solidFill>
              </a:rPr>
              <a:t>دازلى</a:t>
            </a:r>
            <a:r>
              <a:rPr lang="ar-EG" sz="2400" b="1" dirty="0">
                <a:solidFill>
                  <a:schemeClr val="tx2"/>
                </a:solidFill>
              </a:rPr>
              <a:t> ( </a:t>
            </a:r>
            <a:r>
              <a:rPr lang="en-US" sz="2400" b="1" dirty="0">
                <a:solidFill>
                  <a:schemeClr val="tx2"/>
                </a:solidFill>
              </a:rPr>
              <a:t>Dazzler </a:t>
            </a:r>
            <a:r>
              <a:rPr lang="ar-EG" sz="2400" b="1" dirty="0">
                <a:solidFill>
                  <a:schemeClr val="tx2"/>
                </a:solidFill>
              </a:rPr>
              <a:t> ) : </a:t>
            </a:r>
          </a:p>
          <a:p>
            <a:pPr lvl="0"/>
            <a:r>
              <a:rPr lang="ar-EG" b="1" dirty="0"/>
              <a:t>وهو أحد البرامج التي توفر أدوات برمجة سريعة وأكثر تميزاً وتفرداً وتستخدم لإعداد البرامج التعليمية والتدريبية ذات الكفاءة العالية ويتم تحميلها على القرص المرن أو على اسطوانات أو نشرها على الشبكات </a:t>
            </a:r>
            <a:r>
              <a:rPr lang="ar-EG" b="1" dirty="0" err="1"/>
              <a:t>وبعتبر</a:t>
            </a:r>
            <a:r>
              <a:rPr lang="ar-EG" b="1" dirty="0"/>
              <a:t> مشغل جافا جزءا منها .</a:t>
            </a:r>
            <a:endParaRPr lang="en-US" b="1" dirty="0"/>
          </a:p>
          <a:p>
            <a:r>
              <a:rPr lang="en-US" b="1" dirty="0"/>
              <a:t> </a:t>
            </a:r>
          </a:p>
          <a:p>
            <a:pPr lvl="0"/>
            <a:r>
              <a:rPr lang="ar-EG" sz="2400" b="1" dirty="0">
                <a:solidFill>
                  <a:schemeClr val="tx2"/>
                </a:solidFill>
              </a:rPr>
              <a:t>2- برنامج سكا لا ( </a:t>
            </a:r>
            <a:r>
              <a:rPr lang="en-US" sz="2400" b="1" dirty="0" err="1">
                <a:solidFill>
                  <a:schemeClr val="tx2"/>
                </a:solidFill>
              </a:rPr>
              <a:t>Scala</a:t>
            </a:r>
            <a:r>
              <a:rPr lang="en-US" sz="2400" b="1" dirty="0">
                <a:solidFill>
                  <a:schemeClr val="tx2"/>
                </a:solidFill>
              </a:rPr>
              <a:t> Solutions </a:t>
            </a:r>
            <a:r>
              <a:rPr lang="ar-EG" sz="2400" b="1" dirty="0">
                <a:solidFill>
                  <a:schemeClr val="tx2"/>
                </a:solidFill>
              </a:rPr>
              <a:t> ) : </a:t>
            </a:r>
          </a:p>
          <a:p>
            <a:pPr lvl="0"/>
            <a:r>
              <a:rPr lang="ar-EG" b="1" dirty="0"/>
              <a:t>ويستخدم </a:t>
            </a:r>
            <a:r>
              <a:rPr lang="ar-EG" b="1" dirty="0" err="1"/>
              <a:t>لانتاج</a:t>
            </a:r>
            <a:r>
              <a:rPr lang="ar-EG" b="1" dirty="0"/>
              <a:t> وسائط تحتوى على النصوص والرسوم </a:t>
            </a:r>
            <a:r>
              <a:rPr lang="ar-EG" b="1" dirty="0" err="1"/>
              <a:t>والافلام</a:t>
            </a:r>
            <a:r>
              <a:rPr lang="ar-EG" b="1" dirty="0"/>
              <a:t> والصوت والعروض ليتم عرضها </a:t>
            </a:r>
            <a:r>
              <a:rPr lang="ar-EG" b="1" dirty="0" err="1"/>
              <a:t>بوسطة</a:t>
            </a:r>
            <a:r>
              <a:rPr lang="ar-EG" b="1" dirty="0"/>
              <a:t> التليفزيون </a:t>
            </a:r>
            <a:r>
              <a:rPr lang="ar-EG" b="1" dirty="0" err="1"/>
              <a:t>او</a:t>
            </a:r>
            <a:r>
              <a:rPr lang="ar-EG" b="1" dirty="0"/>
              <a:t> الشبكات .</a:t>
            </a:r>
            <a:endParaRPr lang="en-US" b="1" dirty="0"/>
          </a:p>
          <a:p>
            <a:r>
              <a:rPr lang="ar-EG" b="1" dirty="0"/>
              <a:t> </a:t>
            </a:r>
            <a:endParaRPr lang="en-US" b="1" dirty="0"/>
          </a:p>
          <a:p>
            <a:pPr lvl="0"/>
            <a:r>
              <a:rPr lang="ar-EG" sz="2400" b="1" dirty="0">
                <a:solidFill>
                  <a:schemeClr val="tx2"/>
                </a:solidFill>
              </a:rPr>
              <a:t>3- برنامج ( </a:t>
            </a:r>
            <a:r>
              <a:rPr lang="en-US" sz="2400" b="1" dirty="0">
                <a:solidFill>
                  <a:schemeClr val="tx2"/>
                </a:solidFill>
              </a:rPr>
              <a:t>I Shell</a:t>
            </a:r>
            <a:r>
              <a:rPr lang="ar-EG" sz="2400" b="1" dirty="0">
                <a:solidFill>
                  <a:schemeClr val="tx2"/>
                </a:solidFill>
              </a:rPr>
              <a:t> ) : </a:t>
            </a:r>
          </a:p>
          <a:p>
            <a:pPr lvl="0"/>
            <a:r>
              <a:rPr lang="ar-EG" b="1" dirty="0"/>
              <a:t>وهو يعتمد على أدوات الموضوع وبنيته وتشتمل على وثيقة أو أكثر ذات امتداد </a:t>
            </a:r>
            <a:r>
              <a:rPr lang="en-US" b="1" dirty="0"/>
              <a:t>K- </a:t>
            </a:r>
            <a:r>
              <a:rPr lang="ar-EG" b="1" dirty="0"/>
              <a:t> </a:t>
            </a:r>
            <a:r>
              <a:rPr lang="ar-EG" b="1" dirty="0" err="1"/>
              <a:t>والتى</a:t>
            </a:r>
            <a:r>
              <a:rPr lang="ar-EG" b="1" dirty="0"/>
              <a:t> تشمل تصميم ومعلومات الهدف والدعم </a:t>
            </a:r>
            <a:r>
              <a:rPr lang="ar-EG" b="1" dirty="0" err="1"/>
              <a:t>الوسائطى</a:t>
            </a:r>
            <a:r>
              <a:rPr lang="ar-EG" b="1" dirty="0"/>
              <a:t> يشتمل </a:t>
            </a:r>
            <a:r>
              <a:rPr lang="ar-EG" b="1" dirty="0" err="1"/>
              <a:t>علىملفات</a:t>
            </a:r>
            <a:r>
              <a:rPr lang="ar-EG" b="1" dirty="0"/>
              <a:t> النص الثرية </a:t>
            </a:r>
            <a:r>
              <a:rPr lang="ar-EG" b="1" dirty="0" err="1"/>
              <a:t>واي</a:t>
            </a:r>
            <a:r>
              <a:rPr lang="ar-EG" b="1" dirty="0"/>
              <a:t> رسوم تخطيطية وملف صوتي </a:t>
            </a:r>
            <a:r>
              <a:rPr lang="ar-EG" b="1" dirty="0" err="1"/>
              <a:t>او</a:t>
            </a:r>
            <a:r>
              <a:rPr lang="ar-EG" b="1" dirty="0"/>
              <a:t> حركي المدعم لبرنامج </a:t>
            </a:r>
            <a:r>
              <a:rPr lang="en-US" b="1" dirty="0"/>
              <a:t>Quick Time </a:t>
            </a:r>
            <a:r>
              <a:rPr lang="ar-EG" b="1" dirty="0"/>
              <a:t> ويشتمل أيضاً على ملفين من ملفات </a:t>
            </a:r>
            <a:r>
              <a:rPr lang="en-US" b="1" dirty="0"/>
              <a:t>HTML </a:t>
            </a:r>
            <a:r>
              <a:rPr lang="ar-EG" b="1" dirty="0"/>
              <a:t> وصور متحركة وأفلام وتركات فيلمية .</a:t>
            </a:r>
            <a:endParaRPr lang="en-US" b="1" dirty="0"/>
          </a:p>
          <a:p>
            <a:r>
              <a:rPr lang="en-US" b="1" dirty="0"/>
              <a:t> </a:t>
            </a:r>
          </a:p>
          <a:p>
            <a:pPr lvl="0"/>
            <a:r>
              <a:rPr lang="ar-EG" sz="2400" b="1" dirty="0">
                <a:solidFill>
                  <a:schemeClr val="tx2"/>
                </a:solidFill>
              </a:rPr>
              <a:t>4- برنامج </a:t>
            </a:r>
            <a:r>
              <a:rPr lang="ar-EG" sz="2400" b="1" dirty="0" err="1">
                <a:solidFill>
                  <a:schemeClr val="tx2"/>
                </a:solidFill>
              </a:rPr>
              <a:t>الديركتور</a:t>
            </a:r>
            <a:r>
              <a:rPr lang="ar-EG" sz="2400" b="1" dirty="0">
                <a:solidFill>
                  <a:schemeClr val="tx2"/>
                </a:solidFill>
              </a:rPr>
              <a:t> ( </a:t>
            </a:r>
            <a:r>
              <a:rPr lang="en-US" sz="2400" b="1" dirty="0">
                <a:solidFill>
                  <a:schemeClr val="tx2"/>
                </a:solidFill>
              </a:rPr>
              <a:t>Director </a:t>
            </a:r>
            <a:r>
              <a:rPr lang="ar-EG" sz="2400" b="1" dirty="0">
                <a:solidFill>
                  <a:schemeClr val="tx2"/>
                </a:solidFill>
              </a:rPr>
              <a:t> ) : </a:t>
            </a:r>
          </a:p>
          <a:p>
            <a:pPr lvl="0"/>
            <a:r>
              <a:rPr lang="ar-EG" b="1" dirty="0"/>
              <a:t>وهو يشمل جميع العناصر </a:t>
            </a:r>
            <a:r>
              <a:rPr lang="ar-EG" b="1" dirty="0" err="1"/>
              <a:t>التى</a:t>
            </a:r>
            <a:r>
              <a:rPr lang="ar-EG" b="1" dirty="0"/>
              <a:t> ترجع </a:t>
            </a:r>
            <a:r>
              <a:rPr lang="ar-EG" b="1" dirty="0" err="1"/>
              <a:t>الى</a:t>
            </a:r>
            <a:r>
              <a:rPr lang="ar-EG" b="1" dirty="0"/>
              <a:t> استخدام برنامج </a:t>
            </a:r>
            <a:r>
              <a:rPr lang="en-US" b="1" dirty="0"/>
              <a:t>Quick Time </a:t>
            </a:r>
            <a:r>
              <a:rPr lang="ar-EG" b="1" dirty="0"/>
              <a:t> وهو برنامج ذكى جداً </a:t>
            </a:r>
            <a:r>
              <a:rPr lang="ar-EG" b="1" dirty="0" err="1"/>
              <a:t>فى</a:t>
            </a:r>
            <a:r>
              <a:rPr lang="ar-EG" b="1" dirty="0"/>
              <a:t> ضوء </a:t>
            </a:r>
            <a:r>
              <a:rPr lang="ar-EG" b="1" dirty="0" err="1"/>
              <a:t>الادوات</a:t>
            </a:r>
            <a:r>
              <a:rPr lang="ar-EG" b="1" dirty="0"/>
              <a:t> المتضمنة </a:t>
            </a:r>
            <a:r>
              <a:rPr lang="ar-EG" b="1" dirty="0" err="1"/>
              <a:t>والادوات</a:t>
            </a:r>
            <a:r>
              <a:rPr lang="ar-EG" b="1" dirty="0"/>
              <a:t> </a:t>
            </a:r>
            <a:r>
              <a:rPr lang="ar-EG" b="1" dirty="0" err="1"/>
              <a:t>الاخرى</a:t>
            </a:r>
            <a:r>
              <a:rPr lang="ar-EG" b="1" dirty="0"/>
              <a:t> </a:t>
            </a:r>
            <a:r>
              <a:rPr lang="ar-EG" b="1" dirty="0" err="1"/>
              <a:t>التى</a:t>
            </a:r>
            <a:r>
              <a:rPr lang="ar-EG" b="1" dirty="0"/>
              <a:t> يمكن أن تستخدم لتحرير العناصر المعروضة وهو أكثر البرامج شيوعاً لبساطة الاستخدام وتنوع وتعدد النوافذ </a:t>
            </a:r>
            <a:r>
              <a:rPr lang="ar-EG" b="1" dirty="0" err="1"/>
              <a:t>التى</a:t>
            </a:r>
            <a:r>
              <a:rPr lang="ar-EG" b="1" dirty="0"/>
              <a:t> تستخدم لكي يبتكر المشروع بشكل مبسط .</a:t>
            </a:r>
            <a:endParaRPr lang="en-US" b="1" dirty="0"/>
          </a:p>
          <a:p>
            <a:endParaRPr lang="ar-EG" b="1" dirty="0"/>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70" decel="100000"/>
                                        <p:tgtEl>
                                          <p:spTgt spid="2"/>
                                        </p:tgtEl>
                                      </p:cBhvr>
                                    </p:animEffect>
                                    <p:animScale>
                                      <p:cBhvr>
                                        <p:cTn id="8" dur="770" decel="100000"/>
                                        <p:tgtEl>
                                          <p:spTgt spid="2"/>
                                        </p:tgtEl>
                                      </p:cBhvr>
                                      <p:from x="10000" y="10000"/>
                                      <p:to x="200000" y="450000"/>
                                    </p:animScale>
                                    <p:animScale>
                                      <p:cBhvr>
                                        <p:cTn id="9" dur="1230" accel="100000" fill="hold">
                                          <p:stCondLst>
                                            <p:cond delay="770"/>
                                          </p:stCondLst>
                                        </p:cTn>
                                        <p:tgtEl>
                                          <p:spTgt spid="2"/>
                                        </p:tgtEl>
                                      </p:cBhvr>
                                      <p:from x="200000" y="450000"/>
                                      <p:to x="100000" y="100000"/>
                                    </p:animScale>
                                    <p:set>
                                      <p:cBhvr>
                                        <p:cTn id="10" dur="770" fill="hold"/>
                                        <p:tgtEl>
                                          <p:spTgt spid="2"/>
                                        </p:tgtEl>
                                        <p:attrNameLst>
                                          <p:attrName>ppt_x</p:attrName>
                                        </p:attrNameLst>
                                      </p:cBhvr>
                                      <p:to>
                                        <p:strVal val="(0.5)"/>
                                      </p:to>
                                    </p:set>
                                    <p:anim from="(0.5)" to="(#ppt_x)" calcmode="lin" valueType="num">
                                      <p:cBhvr>
                                        <p:cTn id="11" dur="1230" accel="100000" fill="hold">
                                          <p:stCondLst>
                                            <p:cond delay="770"/>
                                          </p:stCondLst>
                                        </p:cTn>
                                        <p:tgtEl>
                                          <p:spTgt spid="2"/>
                                        </p:tgtEl>
                                        <p:attrNameLst>
                                          <p:attrName>ppt_x</p:attrName>
                                        </p:attrNameLst>
                                      </p:cBhvr>
                                    </p:anim>
                                    <p:set>
                                      <p:cBhvr>
                                        <p:cTn id="12" dur="770" fill="hold"/>
                                        <p:tgtEl>
                                          <p:spTgt spid="2"/>
                                        </p:tgtEl>
                                        <p:attrNameLst>
                                          <p:attrName>ppt_y</p:attrName>
                                        </p:attrNameLst>
                                      </p:cBhvr>
                                      <p:to>
                                        <p:strVal val="(#ppt_y+0.4)"/>
                                      </p:to>
                                    </p:set>
                                    <p:anim from="(#ppt_y+0.4)" to="(#ppt_y)" calcmode="lin" valueType="num">
                                      <p:cBhvr>
                                        <p:cTn id="13" dur="1230" accel="100000" fill="hold">
                                          <p:stCondLst>
                                            <p:cond delay="770"/>
                                          </p:stCondLst>
                                        </p:cTn>
                                        <p:tgtEl>
                                          <p:spTgt spid="2"/>
                                        </p:tgtEl>
                                        <p:attrNameLst>
                                          <p:attrName>ppt_y</p:attrName>
                                        </p:attrNameLst>
                                      </p:cBhvr>
                                    </p:anim>
                                  </p:childTnLst>
                                </p:cTn>
                              </p:par>
                            </p:childTnLst>
                          </p:cTn>
                        </p:par>
                      </p:childTnLst>
                    </p:cTn>
                  </p:par>
                  <p:par>
                    <p:cTn id="14" fill="hold">
                      <p:stCondLst>
                        <p:cond delay="indefinite"/>
                      </p:stCondLst>
                      <p:childTnLst>
                        <p:par>
                          <p:cTn id="15" fill="hold">
                            <p:stCondLst>
                              <p:cond delay="0"/>
                            </p:stCondLst>
                            <p:childTnLst>
                              <p:par>
                                <p:cTn id="16" presetID="29" presetClass="entr" presetSubtype="0" fill="hold"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 calcmode="lin" valueType="num">
                                      <p:cBhvr>
                                        <p:cTn id="18"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19"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20" dur="1000"/>
                                        <p:tgtEl>
                                          <p:spTgt spid="3">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fade">
                                      <p:cBhvr>
                                        <p:cTn id="25" dur="2000"/>
                                        <p:tgtEl>
                                          <p:spTgt spid="3">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9" presetClass="entr" presetSubtype="0"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p:cTn id="30" dur="1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31" dur="10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32" dur="10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2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9"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 calcmode="lin" valueType="num">
                                      <p:cBhvr>
                                        <p:cTn id="42" dur="1000" fill="hold"/>
                                        <p:tgtEl>
                                          <p:spTgt spid="3">
                                            <p:txEl>
                                              <p:pRg st="6" end="6"/>
                                            </p:txEl>
                                          </p:spTgt>
                                        </p:tgtEl>
                                        <p:attrNameLst>
                                          <p:attrName>ppt_x</p:attrName>
                                        </p:attrNameLst>
                                      </p:cBhvr>
                                      <p:tavLst>
                                        <p:tav tm="0">
                                          <p:val>
                                            <p:strVal val="#ppt_x-.2"/>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2000"/>
                                        <p:tgtEl>
                                          <p:spTgt spid="3">
                                            <p:txEl>
                                              <p:pRg st="7" end="7"/>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9" presetClass="entr" presetSubtype="0" fill="hold" nodeType="clickEffect">
                                  <p:stCondLst>
                                    <p:cond delay="0"/>
                                  </p:stCondLst>
                                  <p:childTnLst>
                                    <p:set>
                                      <p:cBhvr>
                                        <p:cTn id="53" dur="1" fill="hold">
                                          <p:stCondLst>
                                            <p:cond delay="0"/>
                                          </p:stCondLst>
                                        </p:cTn>
                                        <p:tgtEl>
                                          <p:spTgt spid="3">
                                            <p:txEl>
                                              <p:pRg st="9" end="9"/>
                                            </p:txEl>
                                          </p:spTgt>
                                        </p:tgtEl>
                                        <p:attrNameLst>
                                          <p:attrName>style.visibility</p:attrName>
                                        </p:attrNameLst>
                                      </p:cBhvr>
                                      <p:to>
                                        <p:strVal val="visible"/>
                                      </p:to>
                                    </p:set>
                                    <p:anim calcmode="lin" valueType="num">
                                      <p:cBhvr>
                                        <p:cTn id="54" dur="1000" fill="hold"/>
                                        <p:tgtEl>
                                          <p:spTgt spid="3">
                                            <p:txEl>
                                              <p:pRg st="9" end="9"/>
                                            </p:txEl>
                                          </p:spTgt>
                                        </p:tgtEl>
                                        <p:attrNameLst>
                                          <p:attrName>ppt_x</p:attrName>
                                        </p:attrNameLst>
                                      </p:cBhvr>
                                      <p:tavLst>
                                        <p:tav tm="0">
                                          <p:val>
                                            <p:strVal val="#ppt_x-.2"/>
                                          </p:val>
                                        </p:tav>
                                        <p:tav tm="100000">
                                          <p:val>
                                            <p:strVal val="#ppt_x"/>
                                          </p:val>
                                        </p:tav>
                                      </p:tavLst>
                                    </p:anim>
                                    <p:anim calcmode="lin" valueType="num">
                                      <p:cBhvr>
                                        <p:cTn id="55" dur="1000" fill="hold"/>
                                        <p:tgtEl>
                                          <p:spTgt spid="3">
                                            <p:txEl>
                                              <p:pRg st="9" end="9"/>
                                            </p:txEl>
                                          </p:spTgt>
                                        </p:tgtEl>
                                        <p:attrNameLst>
                                          <p:attrName>ppt_y</p:attrName>
                                        </p:attrNameLst>
                                      </p:cBhvr>
                                      <p:tavLst>
                                        <p:tav tm="0">
                                          <p:val>
                                            <p:strVal val="#ppt_y"/>
                                          </p:val>
                                        </p:tav>
                                        <p:tav tm="100000">
                                          <p:val>
                                            <p:strVal val="#ppt_y"/>
                                          </p:val>
                                        </p:tav>
                                      </p:tavLst>
                                    </p:anim>
                                    <p:animEffect transition="in" filter="wipe(right)" prLst="gradientSize: 0.1">
                                      <p:cBhvr>
                                        <p:cTn id="56" dur="1000"/>
                                        <p:tgtEl>
                                          <p:spTgt spid="3">
                                            <p:txEl>
                                              <p:pRg st="9" end="9"/>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
                                            <p:txEl>
                                              <p:pRg st="10" end="10"/>
                                            </p:txEl>
                                          </p:spTgt>
                                        </p:tgtEl>
                                        <p:attrNameLst>
                                          <p:attrName>style.visibility</p:attrName>
                                        </p:attrNameLst>
                                      </p:cBhvr>
                                      <p:to>
                                        <p:strVal val="visible"/>
                                      </p:to>
                                    </p:set>
                                    <p:animEffect transition="in" filter="fade">
                                      <p:cBhvr>
                                        <p:cTn id="61"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5715006" y="260648"/>
            <a:ext cx="2928960" cy="523220"/>
          </a:xfrm>
          <a:prstGeom prst="rect">
            <a:avLst/>
          </a:prstGeom>
        </p:spPr>
        <p:style>
          <a:lnRef idx="2">
            <a:schemeClr val="accent6"/>
          </a:lnRef>
          <a:fillRef idx="1">
            <a:schemeClr val="lt1"/>
          </a:fillRef>
          <a:effectRef idx="0">
            <a:schemeClr val="accent6"/>
          </a:effectRef>
          <a:fontRef idx="minor">
            <a:schemeClr val="dk1"/>
          </a:fontRef>
        </p:style>
        <p:txBody>
          <a:bodyPr wrap="square" rtlCol="1">
            <a:spAutoFit/>
          </a:bodyPr>
          <a:lstStyle/>
          <a:p>
            <a:pPr algn="ctr"/>
            <a:r>
              <a:rPr lang="ar-EG" sz="2800" b="1" dirty="0"/>
              <a:t>خامساً : مرحلة التقويم </a:t>
            </a:r>
            <a:endParaRPr lang="en-US" sz="2800" dirty="0"/>
          </a:p>
        </p:txBody>
      </p:sp>
      <p:sp>
        <p:nvSpPr>
          <p:cNvPr id="3" name="مربع نص 2"/>
          <p:cNvSpPr txBox="1"/>
          <p:nvPr/>
        </p:nvSpPr>
        <p:spPr>
          <a:xfrm>
            <a:off x="428596" y="908720"/>
            <a:ext cx="8535892" cy="1323439"/>
          </a:xfrm>
          <a:prstGeom prst="rect">
            <a:avLst/>
          </a:prstGeom>
          <a:noFill/>
        </p:spPr>
        <p:txBody>
          <a:bodyPr wrap="square" rtlCol="1">
            <a:spAutoFit/>
          </a:bodyPr>
          <a:lstStyle/>
          <a:p>
            <a:pPr algn="just"/>
            <a:r>
              <a:rPr lang="ar-EG" sz="2000" b="1" dirty="0"/>
              <a:t>الهدف من عملية التقويم هو </a:t>
            </a:r>
            <a:r>
              <a:rPr lang="ar-EG" sz="2000" b="1" dirty="0" err="1"/>
              <a:t>التحسيين</a:t>
            </a:r>
            <a:r>
              <a:rPr lang="ar-EG" sz="2000" b="1" dirty="0"/>
              <a:t> </a:t>
            </a:r>
            <a:r>
              <a:rPr lang="en-US" sz="2000" b="1" dirty="0"/>
              <a:t>Improvement </a:t>
            </a:r>
            <a:r>
              <a:rPr lang="ar-EG" sz="2000" b="1" dirty="0"/>
              <a:t> أي تصوير وتحسين العملية التعليمية ويتم </a:t>
            </a:r>
            <a:r>
              <a:rPr lang="ar-EG" sz="2000" b="1" dirty="0" err="1"/>
              <a:t>فى</a:t>
            </a:r>
            <a:r>
              <a:rPr lang="ar-EG" sz="2000" b="1" dirty="0"/>
              <a:t> هذه المرحلة تجريب البرنامج وتحليل النتائج </a:t>
            </a:r>
            <a:r>
              <a:rPr lang="ar-EG" sz="2000" b="1" dirty="0" err="1"/>
              <a:t>التى</a:t>
            </a:r>
            <a:r>
              <a:rPr lang="ar-EG" sz="2000" b="1" dirty="0"/>
              <a:t> نحصل عليها تمهيداً لتحديد التعديلات المطلوبة وتنفيذها وقد قام الباحث بإتباع تلك الخطوات عند </a:t>
            </a:r>
            <a:r>
              <a:rPr lang="ar-EG" sz="2000" b="1" dirty="0" err="1"/>
              <a:t>انتاج</a:t>
            </a:r>
            <a:r>
              <a:rPr lang="ar-EG" sz="2000" b="1" dirty="0"/>
              <a:t> برنامج الوسائط المتعددة بدءا من مرحلة التخطيط وحتى مرحلة التقويم .</a:t>
            </a:r>
            <a:endParaRPr lang="en-US" sz="2000" b="1" dirty="0"/>
          </a:p>
        </p:txBody>
      </p:sp>
      <p:sp>
        <p:nvSpPr>
          <p:cNvPr id="4" name="مربع نص 3"/>
          <p:cNvSpPr txBox="1"/>
          <p:nvPr/>
        </p:nvSpPr>
        <p:spPr>
          <a:xfrm>
            <a:off x="285720" y="2428868"/>
            <a:ext cx="8501123" cy="4031873"/>
          </a:xfrm>
          <a:prstGeom prst="rect">
            <a:avLst/>
          </a:prstGeom>
          <a:noFill/>
        </p:spPr>
        <p:txBody>
          <a:bodyPr wrap="square" rtlCol="1">
            <a:spAutoFit/>
          </a:bodyPr>
          <a:lstStyle/>
          <a:p>
            <a:r>
              <a:rPr lang="ar-EG" sz="3200" b="1" dirty="0">
                <a:solidFill>
                  <a:srgbClr val="FFFF00"/>
                </a:solidFill>
              </a:rPr>
              <a:t>مصادر الحصول على معلومات عند تقويم </a:t>
            </a:r>
            <a:r>
              <a:rPr lang="ar-EG" sz="3200" b="1" dirty="0" err="1">
                <a:solidFill>
                  <a:srgbClr val="FFFF00"/>
                </a:solidFill>
              </a:rPr>
              <a:t>اى</a:t>
            </a:r>
            <a:r>
              <a:rPr lang="ar-EG" sz="3200" b="1" dirty="0">
                <a:solidFill>
                  <a:srgbClr val="FFFF00"/>
                </a:solidFill>
              </a:rPr>
              <a:t> برنامج تعليمي </a:t>
            </a:r>
          </a:p>
          <a:p>
            <a:endParaRPr lang="en-US" sz="2000" dirty="0"/>
          </a:p>
          <a:p>
            <a:pPr lvl="0"/>
            <a:r>
              <a:rPr lang="ar-EG" sz="2800" b="1" dirty="0">
                <a:solidFill>
                  <a:schemeClr val="tx2"/>
                </a:solidFill>
              </a:rPr>
              <a:t>1- المشتركون </a:t>
            </a:r>
            <a:r>
              <a:rPr lang="ar-EG" sz="2800" b="1" dirty="0" err="1">
                <a:solidFill>
                  <a:schemeClr val="tx2"/>
                </a:solidFill>
              </a:rPr>
              <a:t>فى</a:t>
            </a:r>
            <a:r>
              <a:rPr lang="ar-EG" sz="2800" b="1" dirty="0">
                <a:solidFill>
                  <a:schemeClr val="tx2"/>
                </a:solidFill>
              </a:rPr>
              <a:t> البرنامج :</a:t>
            </a:r>
            <a:endParaRPr lang="en-US" sz="2800" dirty="0">
              <a:solidFill>
                <a:schemeClr val="tx2"/>
              </a:solidFill>
            </a:endParaRPr>
          </a:p>
          <a:p>
            <a:r>
              <a:rPr lang="ar-EG" sz="2000" dirty="0"/>
              <a:t>ويقصد بهم الافراد المستقبلون للبرنامج حيث من المتوقع أنهم المستفيدون من تطبيق هذا البرنامج وهو الاولى باعطاء معلموات عن مدى استفادتهم من جراء الاشتراك فى هذا البرنامج .</a:t>
            </a:r>
            <a:endParaRPr lang="en-US" sz="2000" dirty="0"/>
          </a:p>
          <a:p>
            <a:pPr lvl="0"/>
            <a:r>
              <a:rPr lang="ar-EG" sz="2800" b="1" dirty="0">
                <a:solidFill>
                  <a:schemeClr val="tx2"/>
                </a:solidFill>
              </a:rPr>
              <a:t>2- القائمون على تنفيذ البرنامج :</a:t>
            </a:r>
            <a:endParaRPr lang="en-US" sz="2800" dirty="0">
              <a:solidFill>
                <a:schemeClr val="tx2"/>
              </a:solidFill>
            </a:endParaRPr>
          </a:p>
          <a:p>
            <a:r>
              <a:rPr lang="ar-EG" sz="2000" dirty="0"/>
              <a:t>وهم الافراد المدربون المنوط بهم تنفيذ البرنامج كما خططو له وهم مصدر المعلموات التى تتعلق بالصعوبات والسلبيات التى تقابلهم .</a:t>
            </a:r>
            <a:endParaRPr lang="en-US" sz="2000" dirty="0"/>
          </a:p>
          <a:p>
            <a:pPr lvl="0"/>
            <a:r>
              <a:rPr lang="ar-EG" sz="2800" b="1" dirty="0">
                <a:solidFill>
                  <a:schemeClr val="tx2"/>
                </a:solidFill>
              </a:rPr>
              <a:t>3- السجلات الخاصة بالبرنامج </a:t>
            </a:r>
            <a:r>
              <a:rPr lang="ar-EG" sz="2800" b="1" dirty="0" err="1">
                <a:solidFill>
                  <a:schemeClr val="tx2"/>
                </a:solidFill>
              </a:rPr>
              <a:t>نفسة</a:t>
            </a:r>
            <a:r>
              <a:rPr lang="ar-EG" sz="2800" b="1" dirty="0">
                <a:solidFill>
                  <a:schemeClr val="tx2"/>
                </a:solidFill>
              </a:rPr>
              <a:t> :</a:t>
            </a:r>
            <a:endParaRPr lang="en-US" sz="2800" dirty="0">
              <a:solidFill>
                <a:schemeClr val="tx2"/>
              </a:solidFill>
            </a:endParaRPr>
          </a:p>
          <a:p>
            <a:r>
              <a:rPr lang="ar-EG" sz="2000" dirty="0"/>
              <a:t>لكل برنامج </a:t>
            </a:r>
            <a:r>
              <a:rPr lang="ar-EG" sz="2000" dirty="0" err="1"/>
              <a:t>تنفيذى</a:t>
            </a:r>
            <a:r>
              <a:rPr lang="ar-EG" sz="2000" dirty="0"/>
              <a:t> سجلات معينة تحوى كل البيانات المتعلقة بالبرنامج من لحظة تخطيطية حتى </a:t>
            </a:r>
            <a:r>
              <a:rPr lang="ar-EG" sz="2000" dirty="0" err="1"/>
              <a:t>تنفيذة</a:t>
            </a:r>
            <a:r>
              <a:rPr lang="ar-EG" sz="2000" dirty="0"/>
              <a:t> ومروراً بميزانية البرنامج </a:t>
            </a:r>
            <a:r>
              <a:rPr lang="ar-EG" sz="2000" dirty="0" err="1"/>
              <a:t>والافراد</a:t>
            </a:r>
            <a:r>
              <a:rPr lang="ar-EG" sz="2000" dirty="0"/>
              <a:t> القائمون على </a:t>
            </a:r>
            <a:r>
              <a:rPr lang="ar-EG" sz="2000" dirty="0" err="1"/>
              <a:t>تحسينة</a:t>
            </a:r>
            <a:r>
              <a:rPr lang="ar-EG" sz="2000" dirty="0"/>
              <a:t> وتعديل </a:t>
            </a:r>
            <a:r>
              <a:rPr lang="ar-EG" sz="2000" dirty="0" err="1"/>
              <a:t>وتطويرة</a:t>
            </a:r>
            <a:r>
              <a:rPr lang="ar-EG" sz="2000" dirty="0"/>
              <a:t> .</a:t>
            </a:r>
            <a:endParaRPr lang="en-US" sz="2000" dirty="0"/>
          </a:p>
        </p:txBody>
      </p:sp>
    </p:spTree>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down)">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nodeType="clickEffect">
                                  <p:stCondLst>
                                    <p:cond delay="0"/>
                                  </p:stCondLst>
                                  <p:iterate type="lt">
                                    <p:tmPct val="50000"/>
                                  </p:iterate>
                                  <p:childTnLst>
                                    <p:set>
                                      <p:cBhvr>
                                        <p:cTn id="11" dur="1" fill="hold">
                                          <p:stCondLst>
                                            <p:cond delay="0"/>
                                          </p:stCondLst>
                                        </p:cTn>
                                        <p:tgtEl>
                                          <p:spTgt spid="4">
                                            <p:txEl>
                                              <p:pRg st="0" end="0"/>
                                            </p:txEl>
                                          </p:spTgt>
                                        </p:tgtEl>
                                        <p:attrNameLst>
                                          <p:attrName>style.visibility</p:attrName>
                                        </p:attrNameLst>
                                      </p:cBhvr>
                                      <p:to>
                                        <p:strVal val="visible"/>
                                      </p:to>
                                    </p:set>
                                    <p:anim calcmode="discrete" valueType="clr">
                                      <p:cBhvr override="childStyle">
                                        <p:cTn id="12" dur="80"/>
                                        <p:tgtEl>
                                          <p:spTgt spid="4">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4">
                                            <p:txEl>
                                              <p:pRg st="0" end="0"/>
                                            </p:txEl>
                                          </p:spTgt>
                                        </p:tgtEl>
                                        <p:attrNameLst>
                                          <p:attrName>fillcolor</p:attrName>
                                        </p:attrNameLst>
                                      </p:cBhvr>
                                      <p:tavLst>
                                        <p:tav tm="0">
                                          <p:val>
                                            <p:clrVal>
                                              <a:schemeClr val="accent2"/>
                                            </p:clrVal>
                                          </p:val>
                                        </p:tav>
                                        <p:tav tm="50000">
                                          <p:val>
                                            <p:clrVal>
                                              <a:schemeClr val="hlink"/>
                                            </p:clrVal>
                                          </p:val>
                                        </p:tav>
                                      </p:tavLst>
                                    </p:anim>
                                    <p:set>
                                      <p:cBhvr>
                                        <p:cTn id="14" dur="80"/>
                                        <p:tgtEl>
                                          <p:spTgt spid="4">
                                            <p:txEl>
                                              <p:pRg st="0" end="0"/>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4" presetClass="entr" presetSubtype="0" accel="100000" fill="hold" nodeType="click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anim calcmode="lin" valueType="num">
                                      <p:cBhvr>
                                        <p:cTn id="26" dur="1000" fill="hold"/>
                                        <p:tgtEl>
                                          <p:spTgt spid="4">
                                            <p:txEl>
                                              <p:pRg st="3" end="3"/>
                                            </p:txEl>
                                          </p:spTgt>
                                        </p:tgtEl>
                                        <p:attrNameLst>
                                          <p:attrName>ppt_w</p:attrName>
                                        </p:attrNameLst>
                                      </p:cBhvr>
                                      <p:tavLst>
                                        <p:tav tm="0">
                                          <p:val>
                                            <p:strVal val="#ppt_w*0.05"/>
                                          </p:val>
                                        </p:tav>
                                        <p:tav tm="100000">
                                          <p:val>
                                            <p:strVal val="#ppt_w"/>
                                          </p:val>
                                        </p:tav>
                                      </p:tavLst>
                                    </p:anim>
                                    <p:anim calcmode="lin" valueType="num">
                                      <p:cBhvr>
                                        <p:cTn id="27" dur="1000" fill="hold"/>
                                        <p:tgtEl>
                                          <p:spTgt spid="4">
                                            <p:txEl>
                                              <p:pRg st="3" end="3"/>
                                            </p:txEl>
                                          </p:spTgt>
                                        </p:tgtEl>
                                        <p:attrNameLst>
                                          <p:attrName>ppt_h</p:attrName>
                                        </p:attrNameLst>
                                      </p:cBhvr>
                                      <p:tavLst>
                                        <p:tav tm="0">
                                          <p:val>
                                            <p:strVal val="#ppt_h"/>
                                          </p:val>
                                        </p:tav>
                                        <p:tav tm="100000">
                                          <p:val>
                                            <p:strVal val="#ppt_h"/>
                                          </p:val>
                                        </p:tav>
                                      </p:tavLst>
                                    </p:anim>
                                    <p:anim calcmode="lin" valueType="num">
                                      <p:cBhvr>
                                        <p:cTn id="28" dur="1000" fill="hold"/>
                                        <p:tgtEl>
                                          <p:spTgt spid="4">
                                            <p:txEl>
                                              <p:pRg st="3" end="3"/>
                                            </p:txEl>
                                          </p:spTgt>
                                        </p:tgtEl>
                                        <p:attrNameLst>
                                          <p:attrName>ppt_x</p:attrName>
                                        </p:attrNameLst>
                                      </p:cBhvr>
                                      <p:tavLst>
                                        <p:tav tm="0">
                                          <p:val>
                                            <p:strVal val="#ppt_x-.2"/>
                                          </p:val>
                                        </p:tav>
                                        <p:tav tm="100000">
                                          <p:val>
                                            <p:strVal val="#ppt_x"/>
                                          </p:val>
                                        </p:tav>
                                      </p:tavLst>
                                    </p:anim>
                                    <p:anim calcmode="lin" valueType="num">
                                      <p:cBhvr>
                                        <p:cTn id="29" dur="1000" fill="hold"/>
                                        <p:tgtEl>
                                          <p:spTgt spid="4">
                                            <p:txEl>
                                              <p:pRg st="3" end="3"/>
                                            </p:txEl>
                                          </p:spTgt>
                                        </p:tgtEl>
                                        <p:attrNameLst>
                                          <p:attrName>ppt_y</p:attrName>
                                        </p:attrNameLst>
                                      </p:cBhvr>
                                      <p:tavLst>
                                        <p:tav tm="0">
                                          <p:val>
                                            <p:strVal val="#ppt_y"/>
                                          </p:val>
                                        </p:tav>
                                        <p:tav tm="100000">
                                          <p:val>
                                            <p:strVal val="#ppt_y"/>
                                          </p:val>
                                        </p:tav>
                                      </p:tavLst>
                                    </p:anim>
                                    <p:animEffect transition="in" filter="fade">
                                      <p:cBhvr>
                                        <p:cTn id="30" dur="1000"/>
                                        <p:tgtEl>
                                          <p:spTgt spid="4">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54" presetClass="entr" presetSubtype="0" accel="100000"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 calcmode="lin" valueType="num">
                                      <p:cBhvr>
                                        <p:cTn id="42" dur="1000" fill="hold"/>
                                        <p:tgtEl>
                                          <p:spTgt spid="4">
                                            <p:txEl>
                                              <p:pRg st="5" end="5"/>
                                            </p:txEl>
                                          </p:spTgt>
                                        </p:tgtEl>
                                        <p:attrNameLst>
                                          <p:attrName>ppt_w</p:attrName>
                                        </p:attrNameLst>
                                      </p:cBhvr>
                                      <p:tavLst>
                                        <p:tav tm="0">
                                          <p:val>
                                            <p:strVal val="#ppt_w*0.05"/>
                                          </p:val>
                                        </p:tav>
                                        <p:tav tm="100000">
                                          <p:val>
                                            <p:strVal val="#ppt_w"/>
                                          </p:val>
                                        </p:tav>
                                      </p:tavLst>
                                    </p:anim>
                                    <p:anim calcmode="lin" valueType="num">
                                      <p:cBhvr>
                                        <p:cTn id="43" dur="1000" fill="hold"/>
                                        <p:tgtEl>
                                          <p:spTgt spid="4">
                                            <p:txEl>
                                              <p:pRg st="5" end="5"/>
                                            </p:txEl>
                                          </p:spTgt>
                                        </p:tgtEl>
                                        <p:attrNameLst>
                                          <p:attrName>ppt_h</p:attrName>
                                        </p:attrNameLst>
                                      </p:cBhvr>
                                      <p:tavLst>
                                        <p:tav tm="0">
                                          <p:val>
                                            <p:strVal val="#ppt_h"/>
                                          </p:val>
                                        </p:tav>
                                        <p:tav tm="100000">
                                          <p:val>
                                            <p:strVal val="#ppt_h"/>
                                          </p:val>
                                        </p:tav>
                                      </p:tavLst>
                                    </p:anim>
                                    <p:anim calcmode="lin" valueType="num">
                                      <p:cBhvr>
                                        <p:cTn id="44" dur="1000" fill="hold"/>
                                        <p:tgtEl>
                                          <p:spTgt spid="4">
                                            <p:txEl>
                                              <p:pRg st="5" end="5"/>
                                            </p:txEl>
                                          </p:spTgt>
                                        </p:tgtEl>
                                        <p:attrNameLst>
                                          <p:attrName>ppt_x</p:attrName>
                                        </p:attrNameLst>
                                      </p:cBhvr>
                                      <p:tavLst>
                                        <p:tav tm="0">
                                          <p:val>
                                            <p:strVal val="#ppt_x-.2"/>
                                          </p:val>
                                        </p:tav>
                                        <p:tav tm="100000">
                                          <p:val>
                                            <p:strVal val="#ppt_x"/>
                                          </p:val>
                                        </p:tav>
                                      </p:tavLst>
                                    </p:anim>
                                    <p:anim calcmode="lin" valueType="num">
                                      <p:cBhvr>
                                        <p:cTn id="45" dur="1000" fill="hold"/>
                                        <p:tgtEl>
                                          <p:spTgt spid="4">
                                            <p:txEl>
                                              <p:pRg st="5" end="5"/>
                                            </p:txEl>
                                          </p:spTgt>
                                        </p:tgtEl>
                                        <p:attrNameLst>
                                          <p:attrName>ppt_y</p:attrName>
                                        </p:attrNameLst>
                                      </p:cBhvr>
                                      <p:tavLst>
                                        <p:tav tm="0">
                                          <p:val>
                                            <p:strVal val="#ppt_y"/>
                                          </p:val>
                                        </p:tav>
                                        <p:tav tm="100000">
                                          <p:val>
                                            <p:strVal val="#ppt_y"/>
                                          </p:val>
                                        </p:tav>
                                      </p:tavLst>
                                    </p:anim>
                                    <p:animEffect transition="in" filter="fade">
                                      <p:cBhvr>
                                        <p:cTn id="46" dur="1000"/>
                                        <p:tgtEl>
                                          <p:spTgt spid="4">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47" presetClass="entr" presetSubtype="0" fill="hold" nodeType="clickEffect">
                                  <p:stCondLst>
                                    <p:cond delay="0"/>
                                  </p:stCondLst>
                                  <p:childTnLst>
                                    <p:set>
                                      <p:cBhvr>
                                        <p:cTn id="50" dur="1" fill="hold">
                                          <p:stCondLst>
                                            <p:cond delay="0"/>
                                          </p:stCondLst>
                                        </p:cTn>
                                        <p:tgtEl>
                                          <p:spTgt spid="4">
                                            <p:txEl>
                                              <p:pRg st="6" end="6"/>
                                            </p:txEl>
                                          </p:spTgt>
                                        </p:tgtEl>
                                        <p:attrNameLst>
                                          <p:attrName>style.visibility</p:attrName>
                                        </p:attrNameLst>
                                      </p:cBhvr>
                                      <p:to>
                                        <p:strVal val="visible"/>
                                      </p:to>
                                    </p:set>
                                    <p:animEffect transition="in" filter="fade">
                                      <p:cBhvr>
                                        <p:cTn id="51" dur="1000"/>
                                        <p:tgtEl>
                                          <p:spTgt spid="4">
                                            <p:txEl>
                                              <p:pRg st="6" end="6"/>
                                            </p:txEl>
                                          </p:spTgt>
                                        </p:tgtEl>
                                      </p:cBhvr>
                                    </p:animEffect>
                                    <p:anim calcmode="lin" valueType="num">
                                      <p:cBhvr>
                                        <p:cTn id="5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54" presetClass="entr" presetSubtype="0" accel="100000" fill="hold" nodeType="clickEffect">
                                  <p:stCondLst>
                                    <p:cond delay="0"/>
                                  </p:stCondLst>
                                  <p:childTnLst>
                                    <p:set>
                                      <p:cBhvr>
                                        <p:cTn id="57" dur="1" fill="hold">
                                          <p:stCondLst>
                                            <p:cond delay="0"/>
                                          </p:stCondLst>
                                        </p:cTn>
                                        <p:tgtEl>
                                          <p:spTgt spid="4">
                                            <p:txEl>
                                              <p:pRg st="7" end="7"/>
                                            </p:txEl>
                                          </p:spTgt>
                                        </p:tgtEl>
                                        <p:attrNameLst>
                                          <p:attrName>style.visibility</p:attrName>
                                        </p:attrNameLst>
                                      </p:cBhvr>
                                      <p:to>
                                        <p:strVal val="visible"/>
                                      </p:to>
                                    </p:set>
                                    <p:anim calcmode="lin" valueType="num">
                                      <p:cBhvr>
                                        <p:cTn id="58" dur="1000" fill="hold"/>
                                        <p:tgtEl>
                                          <p:spTgt spid="4">
                                            <p:txEl>
                                              <p:pRg st="7" end="7"/>
                                            </p:txEl>
                                          </p:spTgt>
                                        </p:tgtEl>
                                        <p:attrNameLst>
                                          <p:attrName>ppt_w</p:attrName>
                                        </p:attrNameLst>
                                      </p:cBhvr>
                                      <p:tavLst>
                                        <p:tav tm="0">
                                          <p:val>
                                            <p:strVal val="#ppt_w*0.05"/>
                                          </p:val>
                                        </p:tav>
                                        <p:tav tm="100000">
                                          <p:val>
                                            <p:strVal val="#ppt_w"/>
                                          </p:val>
                                        </p:tav>
                                      </p:tavLst>
                                    </p:anim>
                                    <p:anim calcmode="lin" valueType="num">
                                      <p:cBhvr>
                                        <p:cTn id="59" dur="1000" fill="hold"/>
                                        <p:tgtEl>
                                          <p:spTgt spid="4">
                                            <p:txEl>
                                              <p:pRg st="7" end="7"/>
                                            </p:txEl>
                                          </p:spTgt>
                                        </p:tgtEl>
                                        <p:attrNameLst>
                                          <p:attrName>ppt_h</p:attrName>
                                        </p:attrNameLst>
                                      </p:cBhvr>
                                      <p:tavLst>
                                        <p:tav tm="0">
                                          <p:val>
                                            <p:strVal val="#ppt_h"/>
                                          </p:val>
                                        </p:tav>
                                        <p:tav tm="100000">
                                          <p:val>
                                            <p:strVal val="#ppt_h"/>
                                          </p:val>
                                        </p:tav>
                                      </p:tavLst>
                                    </p:anim>
                                    <p:anim calcmode="lin" valueType="num">
                                      <p:cBhvr>
                                        <p:cTn id="60" dur="1000" fill="hold"/>
                                        <p:tgtEl>
                                          <p:spTgt spid="4">
                                            <p:txEl>
                                              <p:pRg st="7" end="7"/>
                                            </p:txEl>
                                          </p:spTgt>
                                        </p:tgtEl>
                                        <p:attrNameLst>
                                          <p:attrName>ppt_x</p:attrName>
                                        </p:attrNameLst>
                                      </p:cBhvr>
                                      <p:tavLst>
                                        <p:tav tm="0">
                                          <p:val>
                                            <p:strVal val="#ppt_x-.2"/>
                                          </p:val>
                                        </p:tav>
                                        <p:tav tm="100000">
                                          <p:val>
                                            <p:strVal val="#ppt_x"/>
                                          </p:val>
                                        </p:tav>
                                      </p:tavLst>
                                    </p:anim>
                                    <p:anim calcmode="lin" valueType="num">
                                      <p:cBhvr>
                                        <p:cTn id="61" dur="1000" fill="hold"/>
                                        <p:tgtEl>
                                          <p:spTgt spid="4">
                                            <p:txEl>
                                              <p:pRg st="7" end="7"/>
                                            </p:txEl>
                                          </p:spTgt>
                                        </p:tgtEl>
                                        <p:attrNameLst>
                                          <p:attrName>ppt_y</p:attrName>
                                        </p:attrNameLst>
                                      </p:cBhvr>
                                      <p:tavLst>
                                        <p:tav tm="0">
                                          <p:val>
                                            <p:strVal val="#ppt_y"/>
                                          </p:val>
                                        </p:tav>
                                        <p:tav tm="100000">
                                          <p:val>
                                            <p:strVal val="#ppt_y"/>
                                          </p:val>
                                        </p:tav>
                                      </p:tavLst>
                                    </p:anim>
                                    <p:animEffect transition="in" filter="fade">
                                      <p:cBhvr>
                                        <p:cTn id="62" dur="1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425743" y="260648"/>
            <a:ext cx="7962681" cy="58477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1">
            <a:spAutoFit/>
          </a:bodyPr>
          <a:lstStyle/>
          <a:p>
            <a:r>
              <a:rPr lang="ar-EG" sz="3200" b="1" dirty="0"/>
              <a:t>خطوات تقويم برنامج تعليمي </a:t>
            </a:r>
            <a:r>
              <a:rPr lang="en-US" sz="3200" b="1" dirty="0"/>
              <a:t>Program Evaluation </a:t>
            </a:r>
            <a:endParaRPr lang="en-US" sz="3200" dirty="0"/>
          </a:p>
        </p:txBody>
      </p:sp>
      <p:sp>
        <p:nvSpPr>
          <p:cNvPr id="3" name="مربع نص 2"/>
          <p:cNvSpPr txBox="1"/>
          <p:nvPr/>
        </p:nvSpPr>
        <p:spPr>
          <a:xfrm>
            <a:off x="5508104" y="1052736"/>
            <a:ext cx="3135863" cy="523220"/>
          </a:xfrm>
          <a:prstGeom prst="rect">
            <a:avLst/>
          </a:prstGeom>
          <a:solidFill>
            <a:schemeClr val="accent2"/>
          </a:solidFill>
        </p:spPr>
        <p:txBody>
          <a:bodyPr wrap="square" rtlCol="1">
            <a:spAutoFit/>
          </a:bodyPr>
          <a:lstStyle/>
          <a:p>
            <a:pPr algn="ctr"/>
            <a:r>
              <a:rPr lang="ar-EG" sz="2800" b="1" dirty="0"/>
              <a:t>أولاً : التخطيط </a:t>
            </a:r>
            <a:r>
              <a:rPr lang="ar-EG" sz="2800" b="1" dirty="0" err="1"/>
              <a:t>و</a:t>
            </a:r>
            <a:r>
              <a:rPr lang="ar-EG" sz="2800" b="1" dirty="0"/>
              <a:t> </a:t>
            </a:r>
            <a:r>
              <a:rPr lang="ar-EG" sz="2800" b="1" dirty="0" err="1"/>
              <a:t>الادارة</a:t>
            </a:r>
            <a:r>
              <a:rPr lang="ar-EG" sz="2800" b="1" dirty="0"/>
              <a:t> </a:t>
            </a:r>
            <a:endParaRPr lang="en-US" sz="2800" dirty="0"/>
          </a:p>
        </p:txBody>
      </p:sp>
      <p:sp>
        <p:nvSpPr>
          <p:cNvPr id="4" name="مربع نص 3"/>
          <p:cNvSpPr txBox="1"/>
          <p:nvPr/>
        </p:nvSpPr>
        <p:spPr>
          <a:xfrm>
            <a:off x="251520" y="1628800"/>
            <a:ext cx="8784976" cy="1384995"/>
          </a:xfrm>
          <a:prstGeom prst="rect">
            <a:avLst/>
          </a:prstGeom>
          <a:noFill/>
        </p:spPr>
        <p:txBody>
          <a:bodyPr wrap="square" rtlCol="1">
            <a:spAutoFit/>
          </a:bodyPr>
          <a:lstStyle/>
          <a:p>
            <a:r>
              <a:rPr lang="ar-EG" sz="2800" b="1" dirty="0"/>
              <a:t>وفيها لابد من تحديد </a:t>
            </a:r>
            <a:r>
              <a:rPr lang="ar-EG" sz="2800" b="1" dirty="0" err="1"/>
              <a:t>الاهداف</a:t>
            </a:r>
            <a:r>
              <a:rPr lang="ar-EG" sz="2800" b="1" dirty="0"/>
              <a:t> </a:t>
            </a:r>
            <a:r>
              <a:rPr lang="ar-EG" sz="2800" b="1" dirty="0" err="1"/>
              <a:t>الاكثر</a:t>
            </a:r>
            <a:r>
              <a:rPr lang="ar-EG" sz="2800" b="1" dirty="0"/>
              <a:t> </a:t>
            </a:r>
            <a:r>
              <a:rPr lang="ar-EG" sz="2800" b="1" dirty="0" err="1"/>
              <a:t>اهمية</a:t>
            </a:r>
            <a:r>
              <a:rPr lang="ar-EG" sz="2800" b="1" dirty="0"/>
              <a:t> </a:t>
            </a:r>
            <a:r>
              <a:rPr lang="ar-EG" sz="2800" b="1" dirty="0" err="1"/>
              <a:t>فى</a:t>
            </a:r>
            <a:r>
              <a:rPr lang="ar-EG" sz="2800" b="1" dirty="0"/>
              <a:t> عملية التقويم كذلك اختيار </a:t>
            </a:r>
            <a:r>
              <a:rPr lang="ar-EG" sz="2800" b="1" dirty="0" err="1"/>
              <a:t>الاهداف</a:t>
            </a:r>
            <a:r>
              <a:rPr lang="ar-EG" sz="2800" b="1" dirty="0"/>
              <a:t> النهائية لعملية التقويم وتحديد القائمون على التقويم وكذلك تحديد طريقي التحليل </a:t>
            </a:r>
            <a:r>
              <a:rPr lang="ar-EG" sz="2800" b="1" dirty="0" err="1"/>
              <a:t>الاحصائى</a:t>
            </a:r>
            <a:r>
              <a:rPr lang="ar-EG" sz="2800" b="1" dirty="0"/>
              <a:t> والميزانية .</a:t>
            </a:r>
            <a:endParaRPr lang="en-US" sz="2800" b="1" dirty="0"/>
          </a:p>
        </p:txBody>
      </p:sp>
      <p:sp>
        <p:nvSpPr>
          <p:cNvPr id="5" name="مربع نص 4"/>
          <p:cNvSpPr txBox="1"/>
          <p:nvPr/>
        </p:nvSpPr>
        <p:spPr>
          <a:xfrm>
            <a:off x="3779912" y="3068960"/>
            <a:ext cx="4880576" cy="523220"/>
          </a:xfrm>
          <a:prstGeom prst="rect">
            <a:avLst/>
          </a:prstGeom>
          <a:solidFill>
            <a:schemeClr val="accent2"/>
          </a:solidFill>
        </p:spPr>
        <p:txBody>
          <a:bodyPr wrap="square" rtlCol="1">
            <a:spAutoFit/>
          </a:bodyPr>
          <a:lstStyle/>
          <a:p>
            <a:pPr algn="ctr"/>
            <a:r>
              <a:rPr lang="ar-EG" sz="2800" b="1" dirty="0"/>
              <a:t>ثانياً : تحديد وصياغة </a:t>
            </a:r>
            <a:r>
              <a:rPr lang="ar-EG" sz="2800" b="1" dirty="0" err="1"/>
              <a:t>الاسئلة</a:t>
            </a:r>
            <a:r>
              <a:rPr lang="ar-EG" sz="2800" b="1" dirty="0"/>
              <a:t> والمعايير </a:t>
            </a:r>
            <a:endParaRPr lang="en-US" sz="2800" dirty="0"/>
          </a:p>
        </p:txBody>
      </p:sp>
      <p:sp>
        <p:nvSpPr>
          <p:cNvPr id="6" name="مربع نص 5"/>
          <p:cNvSpPr txBox="1"/>
          <p:nvPr/>
        </p:nvSpPr>
        <p:spPr>
          <a:xfrm>
            <a:off x="2214546" y="3933056"/>
            <a:ext cx="6429420" cy="2677656"/>
          </a:xfrm>
          <a:prstGeom prst="rect">
            <a:avLst/>
          </a:prstGeom>
          <a:noFill/>
        </p:spPr>
        <p:txBody>
          <a:bodyPr wrap="square" rtlCol="1">
            <a:spAutoFit/>
          </a:bodyPr>
          <a:lstStyle/>
          <a:p>
            <a:pPr lvl="0">
              <a:buFontTx/>
              <a:buChar char="-"/>
            </a:pPr>
            <a:r>
              <a:rPr lang="ar-EG" sz="2400" b="1" dirty="0"/>
              <a:t>هل البرنامج </a:t>
            </a:r>
            <a:r>
              <a:rPr lang="ar-EG" sz="2400" b="1" dirty="0" err="1"/>
              <a:t>التعليمى</a:t>
            </a:r>
            <a:r>
              <a:rPr lang="ar-EG" sz="2400" b="1" dirty="0"/>
              <a:t> نفذ كما صمم .</a:t>
            </a:r>
          </a:p>
          <a:p>
            <a:pPr lvl="0"/>
            <a:endParaRPr lang="en-US" sz="2400" b="1" dirty="0"/>
          </a:p>
          <a:p>
            <a:pPr lvl="0">
              <a:buFontTx/>
              <a:buChar char="-"/>
            </a:pPr>
            <a:r>
              <a:rPr lang="ar-EG" sz="2400" b="1" dirty="0"/>
              <a:t>كيف حقق البرنامج التعليمي </a:t>
            </a:r>
            <a:r>
              <a:rPr lang="ar-EG" sz="2400" b="1" dirty="0" err="1"/>
              <a:t>اهدافة</a:t>
            </a:r>
            <a:r>
              <a:rPr lang="ar-EG" sz="2400" b="1" dirty="0"/>
              <a:t> من قبل .</a:t>
            </a:r>
          </a:p>
          <a:p>
            <a:pPr lvl="0"/>
            <a:endParaRPr lang="en-US" sz="2400" b="1" dirty="0"/>
          </a:p>
          <a:p>
            <a:pPr lvl="0">
              <a:buFontTx/>
              <a:buChar char="-"/>
            </a:pPr>
            <a:r>
              <a:rPr lang="ar-EG" sz="2400" b="1" dirty="0" err="1"/>
              <a:t>لاى</a:t>
            </a:r>
            <a:r>
              <a:rPr lang="ar-EG" sz="2400" b="1" dirty="0"/>
              <a:t> مجموعة من </a:t>
            </a:r>
            <a:r>
              <a:rPr lang="ar-EG" sz="2400" b="1" dirty="0" err="1"/>
              <a:t>الافراد</a:t>
            </a:r>
            <a:r>
              <a:rPr lang="ar-EG" sz="2400" b="1" dirty="0"/>
              <a:t> كان البرنامج ناجحاً .</a:t>
            </a:r>
          </a:p>
          <a:p>
            <a:pPr lvl="0"/>
            <a:endParaRPr lang="en-US" sz="2400" b="1" dirty="0"/>
          </a:p>
          <a:p>
            <a:pPr lvl="0"/>
            <a:r>
              <a:rPr lang="ar-EG" sz="2400" b="1" dirty="0"/>
              <a:t>- ما التأثيرات السياسية والاجتماعية لهذا البرنامج .</a:t>
            </a:r>
            <a:endParaRPr lang="en-US" sz="2400" b="1" dirty="0"/>
          </a:p>
        </p:txBody>
      </p:sp>
    </p:spTree>
  </p:cSld>
  <p:clrMapOvr>
    <a:masterClrMapping/>
  </p:clrMapOvr>
  <p:transition spd="slow">
    <p:cover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770" decel="100000"/>
                                        <p:tgtEl>
                                          <p:spTgt spid="3"/>
                                        </p:tgtEl>
                                      </p:cBhvr>
                                    </p:animEffect>
                                    <p:animScale>
                                      <p:cBhvr>
                                        <p:cTn id="13" dur="770" decel="100000"/>
                                        <p:tgtEl>
                                          <p:spTgt spid="3"/>
                                        </p:tgtEl>
                                      </p:cBhvr>
                                      <p:from x="10000" y="10000"/>
                                      <p:to x="200000" y="450000"/>
                                    </p:animScale>
                                    <p:animScale>
                                      <p:cBhvr>
                                        <p:cTn id="14" dur="1230" accel="100000" fill="hold">
                                          <p:stCondLst>
                                            <p:cond delay="770"/>
                                          </p:stCondLst>
                                        </p:cTn>
                                        <p:tgtEl>
                                          <p:spTgt spid="3"/>
                                        </p:tgtEl>
                                      </p:cBhvr>
                                      <p:from x="200000" y="450000"/>
                                      <p:to x="100000" y="100000"/>
                                    </p:animScale>
                                    <p:set>
                                      <p:cBhvr>
                                        <p:cTn id="15" dur="770" fill="hold"/>
                                        <p:tgtEl>
                                          <p:spTgt spid="3"/>
                                        </p:tgtEl>
                                        <p:attrNameLst>
                                          <p:attrName>ppt_x</p:attrName>
                                        </p:attrNameLst>
                                      </p:cBhvr>
                                      <p:to>
                                        <p:strVal val="(0.5)"/>
                                      </p:to>
                                    </p:set>
                                    <p:anim from="(0.5)" to="(#ppt_x)" calcmode="lin" valueType="num">
                                      <p:cBhvr>
                                        <p:cTn id="16" dur="1230" accel="100000" fill="hold">
                                          <p:stCondLst>
                                            <p:cond delay="770"/>
                                          </p:stCondLst>
                                        </p:cTn>
                                        <p:tgtEl>
                                          <p:spTgt spid="3"/>
                                        </p:tgtEl>
                                        <p:attrNameLst>
                                          <p:attrName>ppt_x</p:attrName>
                                        </p:attrNameLst>
                                      </p:cBhvr>
                                    </p:anim>
                                    <p:set>
                                      <p:cBhvr>
                                        <p:cTn id="17" dur="770" fill="hold"/>
                                        <p:tgtEl>
                                          <p:spTgt spid="3"/>
                                        </p:tgtEl>
                                        <p:attrNameLst>
                                          <p:attrName>ppt_y</p:attrName>
                                        </p:attrNameLst>
                                      </p:cBhvr>
                                      <p:to>
                                        <p:strVal val="(#ppt_y+0.4)"/>
                                      </p:to>
                                    </p:set>
                                    <p:anim from="(#ppt_y+0.4)" to="(#ppt_y)" calcmode="lin" valueType="num">
                                      <p:cBhvr>
                                        <p:cTn id="18" dur="1230" accel="100000" fill="hold">
                                          <p:stCondLst>
                                            <p:cond delay="770"/>
                                          </p:stCondLst>
                                        </p:cTn>
                                        <p:tgtEl>
                                          <p:spTgt spid="3"/>
                                        </p:tgtEl>
                                        <p:attrNameLst>
                                          <p:attrName>ppt_y</p:attrName>
                                        </p:attrNameLst>
                                      </p:cBhvr>
                                    </p:anim>
                                  </p:childTnLst>
                                </p:cTn>
                              </p:par>
                            </p:childTnLst>
                          </p:cTn>
                        </p:par>
                      </p:childTnLst>
                    </p:cTn>
                  </p:par>
                  <p:par>
                    <p:cTn id="19" fill="hold">
                      <p:stCondLst>
                        <p:cond delay="indefinite"/>
                      </p:stCondLst>
                      <p:childTnLst>
                        <p:par>
                          <p:cTn id="20" fill="hold">
                            <p:stCondLst>
                              <p:cond delay="0"/>
                            </p:stCondLst>
                            <p:childTnLst>
                              <p:par>
                                <p:cTn id="21" presetID="54" presetClass="entr" presetSubtype="0" accel="10000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anim calcmode="lin" valueType="num">
                                      <p:cBhvr>
                                        <p:cTn id="23" dur="1000" fill="hold"/>
                                        <p:tgtEl>
                                          <p:spTgt spid="4">
                                            <p:txEl>
                                              <p:pRg st="0" end="0"/>
                                            </p:txEl>
                                          </p:spTgt>
                                        </p:tgtEl>
                                        <p:attrNameLst>
                                          <p:attrName>ppt_w</p:attrName>
                                        </p:attrNameLst>
                                      </p:cBhvr>
                                      <p:tavLst>
                                        <p:tav tm="0">
                                          <p:val>
                                            <p:strVal val="#ppt_w*0.05"/>
                                          </p:val>
                                        </p:tav>
                                        <p:tav tm="100000">
                                          <p:val>
                                            <p:strVal val="#ppt_w"/>
                                          </p:val>
                                        </p:tav>
                                      </p:tavLst>
                                    </p:anim>
                                    <p:anim calcmode="lin" valueType="num">
                                      <p:cBhvr>
                                        <p:cTn id="24" dur="1000" fill="hold"/>
                                        <p:tgtEl>
                                          <p:spTgt spid="4">
                                            <p:txEl>
                                              <p:pRg st="0" end="0"/>
                                            </p:txEl>
                                          </p:spTgt>
                                        </p:tgtEl>
                                        <p:attrNameLst>
                                          <p:attrName>ppt_h</p:attrName>
                                        </p:attrNameLst>
                                      </p:cBhvr>
                                      <p:tavLst>
                                        <p:tav tm="0">
                                          <p:val>
                                            <p:strVal val="#ppt_h"/>
                                          </p:val>
                                        </p:tav>
                                        <p:tav tm="100000">
                                          <p:val>
                                            <p:strVal val="#ppt_h"/>
                                          </p:val>
                                        </p:tav>
                                      </p:tavLst>
                                    </p:anim>
                                    <p:anim calcmode="lin" valueType="num">
                                      <p:cBhvr>
                                        <p:cTn id="25" dur="1000" fill="hold"/>
                                        <p:tgtEl>
                                          <p:spTgt spid="4">
                                            <p:txEl>
                                              <p:pRg st="0" end="0"/>
                                            </p:txEl>
                                          </p:spTgt>
                                        </p:tgtEl>
                                        <p:attrNameLst>
                                          <p:attrName>ppt_x</p:attrName>
                                        </p:attrNameLst>
                                      </p:cBhvr>
                                      <p:tavLst>
                                        <p:tav tm="0">
                                          <p:val>
                                            <p:strVal val="#ppt_x-.2"/>
                                          </p:val>
                                        </p:tav>
                                        <p:tav tm="100000">
                                          <p:val>
                                            <p:strVal val="#ppt_x"/>
                                          </p:val>
                                        </p:tav>
                                      </p:tavLst>
                                    </p:anim>
                                    <p:anim calcmode="lin" valueType="num">
                                      <p:cBhvr>
                                        <p:cTn id="26" dur="1000" fill="hold"/>
                                        <p:tgtEl>
                                          <p:spTgt spid="4">
                                            <p:txEl>
                                              <p:pRg st="0" end="0"/>
                                            </p:txEl>
                                          </p:spTgt>
                                        </p:tgtEl>
                                        <p:attrNameLst>
                                          <p:attrName>ppt_y</p:attrName>
                                        </p:attrNameLst>
                                      </p:cBhvr>
                                      <p:tavLst>
                                        <p:tav tm="0">
                                          <p:val>
                                            <p:strVal val="#ppt_y"/>
                                          </p:val>
                                        </p:tav>
                                        <p:tav tm="100000">
                                          <p:val>
                                            <p:strVal val="#ppt_y"/>
                                          </p:val>
                                        </p:tav>
                                      </p:tavLst>
                                    </p:anim>
                                    <p:animEffect transition="in" filter="fade">
                                      <p:cBhvr>
                                        <p:cTn id="27" dur="1000"/>
                                        <p:tgtEl>
                                          <p:spTgt spid="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1"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770" decel="100000"/>
                                        <p:tgtEl>
                                          <p:spTgt spid="5"/>
                                        </p:tgtEl>
                                      </p:cBhvr>
                                    </p:animEffect>
                                    <p:animScale>
                                      <p:cBhvr>
                                        <p:cTn id="33" dur="770" decel="100000"/>
                                        <p:tgtEl>
                                          <p:spTgt spid="5"/>
                                        </p:tgtEl>
                                      </p:cBhvr>
                                      <p:from x="10000" y="10000"/>
                                      <p:to x="200000" y="450000"/>
                                    </p:animScale>
                                    <p:animScale>
                                      <p:cBhvr>
                                        <p:cTn id="34" dur="1230" accel="100000" fill="hold">
                                          <p:stCondLst>
                                            <p:cond delay="770"/>
                                          </p:stCondLst>
                                        </p:cTn>
                                        <p:tgtEl>
                                          <p:spTgt spid="5"/>
                                        </p:tgtEl>
                                      </p:cBhvr>
                                      <p:from x="200000" y="450000"/>
                                      <p:to x="100000" y="100000"/>
                                    </p:animScale>
                                    <p:set>
                                      <p:cBhvr>
                                        <p:cTn id="35" dur="770" fill="hold"/>
                                        <p:tgtEl>
                                          <p:spTgt spid="5"/>
                                        </p:tgtEl>
                                        <p:attrNameLst>
                                          <p:attrName>ppt_x</p:attrName>
                                        </p:attrNameLst>
                                      </p:cBhvr>
                                      <p:to>
                                        <p:strVal val="(0.5)"/>
                                      </p:to>
                                    </p:set>
                                    <p:anim from="(0.5)" to="(#ppt_x)" calcmode="lin" valueType="num">
                                      <p:cBhvr>
                                        <p:cTn id="36" dur="1230" accel="100000" fill="hold">
                                          <p:stCondLst>
                                            <p:cond delay="770"/>
                                          </p:stCondLst>
                                        </p:cTn>
                                        <p:tgtEl>
                                          <p:spTgt spid="5"/>
                                        </p:tgtEl>
                                        <p:attrNameLst>
                                          <p:attrName>ppt_x</p:attrName>
                                        </p:attrNameLst>
                                      </p:cBhvr>
                                    </p:anim>
                                    <p:set>
                                      <p:cBhvr>
                                        <p:cTn id="37" dur="770" fill="hold"/>
                                        <p:tgtEl>
                                          <p:spTgt spid="5"/>
                                        </p:tgtEl>
                                        <p:attrNameLst>
                                          <p:attrName>ppt_y</p:attrName>
                                        </p:attrNameLst>
                                      </p:cBhvr>
                                      <p:to>
                                        <p:strVal val="(#ppt_y+0.4)"/>
                                      </p:to>
                                    </p:set>
                                    <p:anim from="(#ppt_y+0.4)" to="(#ppt_y)" calcmode="lin" valueType="num">
                                      <p:cBhvr>
                                        <p:cTn id="38" dur="1230" accel="100000" fill="hold">
                                          <p:stCondLst>
                                            <p:cond delay="770"/>
                                          </p:stCondLst>
                                        </p:cTn>
                                        <p:tgtEl>
                                          <p:spTgt spid="5"/>
                                        </p:tgtEl>
                                        <p:attrNameLst>
                                          <p:attrName>ppt_y</p:attrName>
                                        </p:attrNameLst>
                                      </p:cBhvr>
                                    </p:anim>
                                  </p:childTnLst>
                                </p:cTn>
                              </p:par>
                            </p:childTnLst>
                          </p:cTn>
                        </p:par>
                      </p:childTnLst>
                    </p:cTn>
                  </p:par>
                  <p:par>
                    <p:cTn id="39" fill="hold">
                      <p:stCondLst>
                        <p:cond delay="indefinite"/>
                      </p:stCondLst>
                      <p:childTnLst>
                        <p:par>
                          <p:cTn id="40" fill="hold">
                            <p:stCondLst>
                              <p:cond delay="0"/>
                            </p:stCondLst>
                            <p:childTnLst>
                              <p:par>
                                <p:cTn id="41" presetID="29" presetClass="entr" presetSubtype="0" fill="hold"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 calcmode="lin" valueType="num">
                                      <p:cBhvr>
                                        <p:cTn id="43" dur="1000" fill="hold"/>
                                        <p:tgtEl>
                                          <p:spTgt spid="6">
                                            <p:txEl>
                                              <p:pRg st="0" end="0"/>
                                            </p:txEl>
                                          </p:spTgt>
                                        </p:tgtEl>
                                        <p:attrNameLst>
                                          <p:attrName>ppt_x</p:attrName>
                                        </p:attrNameLst>
                                      </p:cBhvr>
                                      <p:tavLst>
                                        <p:tav tm="0">
                                          <p:val>
                                            <p:strVal val="#ppt_x-.2"/>
                                          </p:val>
                                        </p:tav>
                                        <p:tav tm="100000">
                                          <p:val>
                                            <p:strVal val="#ppt_x"/>
                                          </p:val>
                                        </p:tav>
                                      </p:tavLst>
                                    </p:anim>
                                    <p:anim calcmode="lin" valueType="num">
                                      <p:cBhvr>
                                        <p:cTn id="44" dur="1000" fill="hold"/>
                                        <p:tgtEl>
                                          <p:spTgt spid="6">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45" dur="1000"/>
                                        <p:tgtEl>
                                          <p:spTgt spid="6">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9" presetClass="entr" presetSubtype="0" fill="hold" nodeType="clickEffect">
                                  <p:stCondLst>
                                    <p:cond delay="0"/>
                                  </p:stCondLst>
                                  <p:childTnLst>
                                    <p:set>
                                      <p:cBhvr>
                                        <p:cTn id="49" dur="1" fill="hold">
                                          <p:stCondLst>
                                            <p:cond delay="0"/>
                                          </p:stCondLst>
                                        </p:cTn>
                                        <p:tgtEl>
                                          <p:spTgt spid="6">
                                            <p:txEl>
                                              <p:pRg st="2" end="2"/>
                                            </p:txEl>
                                          </p:spTgt>
                                        </p:tgtEl>
                                        <p:attrNameLst>
                                          <p:attrName>style.visibility</p:attrName>
                                        </p:attrNameLst>
                                      </p:cBhvr>
                                      <p:to>
                                        <p:strVal val="visible"/>
                                      </p:to>
                                    </p:set>
                                    <p:anim calcmode="lin" valueType="num">
                                      <p:cBhvr>
                                        <p:cTn id="50" dur="1000" fill="hold"/>
                                        <p:tgtEl>
                                          <p:spTgt spid="6">
                                            <p:txEl>
                                              <p:pRg st="2" end="2"/>
                                            </p:txEl>
                                          </p:spTgt>
                                        </p:tgtEl>
                                        <p:attrNameLst>
                                          <p:attrName>ppt_x</p:attrName>
                                        </p:attrNameLst>
                                      </p:cBhvr>
                                      <p:tavLst>
                                        <p:tav tm="0">
                                          <p:val>
                                            <p:strVal val="#ppt_x-.2"/>
                                          </p:val>
                                        </p:tav>
                                        <p:tav tm="100000">
                                          <p:val>
                                            <p:strVal val="#ppt_x"/>
                                          </p:val>
                                        </p:tav>
                                      </p:tavLst>
                                    </p:anim>
                                    <p:anim calcmode="lin" valueType="num">
                                      <p:cBhvr>
                                        <p:cTn id="51" dur="1000" fill="hold"/>
                                        <p:tgtEl>
                                          <p:spTgt spid="6">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52" dur="1000"/>
                                        <p:tgtEl>
                                          <p:spTgt spid="6">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9" presetClass="entr" presetSubtype="0" fill="hold" nodeType="clickEffect">
                                  <p:stCondLst>
                                    <p:cond delay="0"/>
                                  </p:stCondLst>
                                  <p:childTnLst>
                                    <p:set>
                                      <p:cBhvr>
                                        <p:cTn id="56" dur="1" fill="hold">
                                          <p:stCondLst>
                                            <p:cond delay="0"/>
                                          </p:stCondLst>
                                        </p:cTn>
                                        <p:tgtEl>
                                          <p:spTgt spid="6">
                                            <p:txEl>
                                              <p:pRg st="4" end="4"/>
                                            </p:txEl>
                                          </p:spTgt>
                                        </p:tgtEl>
                                        <p:attrNameLst>
                                          <p:attrName>style.visibility</p:attrName>
                                        </p:attrNameLst>
                                      </p:cBhvr>
                                      <p:to>
                                        <p:strVal val="visible"/>
                                      </p:to>
                                    </p:set>
                                    <p:anim calcmode="lin" valueType="num">
                                      <p:cBhvr>
                                        <p:cTn id="57" dur="1000" fill="hold"/>
                                        <p:tgtEl>
                                          <p:spTgt spid="6">
                                            <p:txEl>
                                              <p:pRg st="4" end="4"/>
                                            </p:txEl>
                                          </p:spTgt>
                                        </p:tgtEl>
                                        <p:attrNameLst>
                                          <p:attrName>ppt_x</p:attrName>
                                        </p:attrNameLst>
                                      </p:cBhvr>
                                      <p:tavLst>
                                        <p:tav tm="0">
                                          <p:val>
                                            <p:strVal val="#ppt_x-.2"/>
                                          </p:val>
                                        </p:tav>
                                        <p:tav tm="100000">
                                          <p:val>
                                            <p:strVal val="#ppt_x"/>
                                          </p:val>
                                        </p:tav>
                                      </p:tavLst>
                                    </p:anim>
                                    <p:anim calcmode="lin" valueType="num">
                                      <p:cBhvr>
                                        <p:cTn id="58" dur="1000" fill="hold"/>
                                        <p:tgtEl>
                                          <p:spTgt spid="6">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59" dur="1000"/>
                                        <p:tgtEl>
                                          <p:spTgt spid="6">
                                            <p:txEl>
                                              <p:pRg st="4" end="4"/>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9" presetClass="entr" presetSubtype="0" fill="hold" nodeType="clickEffect">
                                  <p:stCondLst>
                                    <p:cond delay="0"/>
                                  </p:stCondLst>
                                  <p:childTnLst>
                                    <p:set>
                                      <p:cBhvr>
                                        <p:cTn id="63" dur="1" fill="hold">
                                          <p:stCondLst>
                                            <p:cond delay="0"/>
                                          </p:stCondLst>
                                        </p:cTn>
                                        <p:tgtEl>
                                          <p:spTgt spid="6">
                                            <p:txEl>
                                              <p:pRg st="6" end="6"/>
                                            </p:txEl>
                                          </p:spTgt>
                                        </p:tgtEl>
                                        <p:attrNameLst>
                                          <p:attrName>style.visibility</p:attrName>
                                        </p:attrNameLst>
                                      </p:cBhvr>
                                      <p:to>
                                        <p:strVal val="visible"/>
                                      </p:to>
                                    </p:set>
                                    <p:anim calcmode="lin" valueType="num">
                                      <p:cBhvr>
                                        <p:cTn id="64" dur="1000" fill="hold"/>
                                        <p:tgtEl>
                                          <p:spTgt spid="6">
                                            <p:txEl>
                                              <p:pRg st="6" end="6"/>
                                            </p:txEl>
                                          </p:spTgt>
                                        </p:tgtEl>
                                        <p:attrNameLst>
                                          <p:attrName>ppt_x</p:attrName>
                                        </p:attrNameLst>
                                      </p:cBhvr>
                                      <p:tavLst>
                                        <p:tav tm="0">
                                          <p:val>
                                            <p:strVal val="#ppt_x-.2"/>
                                          </p:val>
                                        </p:tav>
                                        <p:tav tm="100000">
                                          <p:val>
                                            <p:strVal val="#ppt_x"/>
                                          </p:val>
                                        </p:tav>
                                      </p:tavLst>
                                    </p:anim>
                                    <p:anim calcmode="lin" valueType="num">
                                      <p:cBhvr>
                                        <p:cTn id="65" dur="1000" fill="hold"/>
                                        <p:tgtEl>
                                          <p:spTgt spid="6">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66" dur="10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3059832" y="231031"/>
            <a:ext cx="5441259" cy="584775"/>
          </a:xfrm>
          <a:prstGeom prst="rect">
            <a:avLst/>
          </a:prstGeom>
          <a:solidFill>
            <a:schemeClr val="accent2"/>
          </a:solidFill>
        </p:spPr>
        <p:txBody>
          <a:bodyPr wrap="square" rtlCol="1">
            <a:spAutoFit/>
          </a:bodyPr>
          <a:lstStyle/>
          <a:p>
            <a:pPr algn="ctr"/>
            <a:r>
              <a:rPr lang="ar-EG" sz="3200" b="1" dirty="0"/>
              <a:t>ثالثاً : اختيار التصميم المناسب للتقويم </a:t>
            </a:r>
            <a:endParaRPr lang="en-US" sz="3200" dirty="0"/>
          </a:p>
        </p:txBody>
      </p:sp>
      <p:sp>
        <p:nvSpPr>
          <p:cNvPr id="3" name="مربع نص 2"/>
          <p:cNvSpPr txBox="1"/>
          <p:nvPr/>
        </p:nvSpPr>
        <p:spPr>
          <a:xfrm>
            <a:off x="596686" y="1128765"/>
            <a:ext cx="8001056" cy="954107"/>
          </a:xfrm>
          <a:prstGeom prst="rect">
            <a:avLst/>
          </a:prstGeom>
          <a:noFill/>
        </p:spPr>
        <p:txBody>
          <a:bodyPr wrap="square" rtlCol="1">
            <a:spAutoFit/>
          </a:bodyPr>
          <a:lstStyle/>
          <a:p>
            <a:r>
              <a:rPr lang="ar-EG" sz="2800" dirty="0"/>
              <a:t>قد يكون احد التصميمات المختارة هو جمع البيانات </a:t>
            </a:r>
            <a:r>
              <a:rPr lang="ar-EG" sz="2800" dirty="0" err="1"/>
              <a:t>والمعاومات</a:t>
            </a:r>
            <a:r>
              <a:rPr lang="ar-EG" sz="2800" dirty="0"/>
              <a:t> على فترات محددة ولتكن مرة كل شهر </a:t>
            </a:r>
            <a:r>
              <a:rPr lang="ar-EG" sz="2800" dirty="0" err="1"/>
              <a:t>او</a:t>
            </a:r>
            <a:r>
              <a:rPr lang="ar-EG" sz="2800" dirty="0"/>
              <a:t> </a:t>
            </a:r>
            <a:r>
              <a:rPr lang="ar-EG" sz="2800" dirty="0" err="1"/>
              <a:t>اسبوعين</a:t>
            </a:r>
            <a:r>
              <a:rPr lang="ar-EG" sz="2800" dirty="0"/>
              <a:t> .</a:t>
            </a:r>
            <a:endParaRPr lang="en-US" sz="2800" dirty="0"/>
          </a:p>
        </p:txBody>
      </p:sp>
      <p:sp>
        <p:nvSpPr>
          <p:cNvPr id="4" name="مربع نص 3"/>
          <p:cNvSpPr txBox="1"/>
          <p:nvPr/>
        </p:nvSpPr>
        <p:spPr>
          <a:xfrm>
            <a:off x="2699793" y="2242034"/>
            <a:ext cx="5822166" cy="584775"/>
          </a:xfrm>
          <a:prstGeom prst="rect">
            <a:avLst/>
          </a:prstGeom>
          <a:solidFill>
            <a:schemeClr val="accent2"/>
          </a:solidFill>
        </p:spPr>
        <p:txBody>
          <a:bodyPr wrap="square" rtlCol="1">
            <a:spAutoFit/>
          </a:bodyPr>
          <a:lstStyle/>
          <a:p>
            <a:r>
              <a:rPr lang="ar-EG" sz="3200" b="1" dirty="0"/>
              <a:t>رابعاً : جمع البيانات والمعلومات </a:t>
            </a:r>
            <a:endParaRPr lang="en-US" sz="3200" dirty="0"/>
          </a:p>
        </p:txBody>
      </p:sp>
      <p:sp>
        <p:nvSpPr>
          <p:cNvPr id="5" name="مربع نص 4"/>
          <p:cNvSpPr txBox="1"/>
          <p:nvPr/>
        </p:nvSpPr>
        <p:spPr>
          <a:xfrm>
            <a:off x="1547664" y="3356992"/>
            <a:ext cx="7000924" cy="3108543"/>
          </a:xfrm>
          <a:prstGeom prst="rect">
            <a:avLst/>
          </a:prstGeom>
          <a:noFill/>
        </p:spPr>
        <p:txBody>
          <a:bodyPr wrap="square" rtlCol="1">
            <a:spAutoFit/>
          </a:bodyPr>
          <a:lstStyle/>
          <a:p>
            <a:pPr lvl="0">
              <a:buFontTx/>
              <a:buChar char="-"/>
            </a:pPr>
            <a:r>
              <a:rPr lang="ar-EG" sz="2800" dirty="0"/>
              <a:t>تقارير تقدم بواسطة المنفذ للبرنامج التعليمي .</a:t>
            </a:r>
          </a:p>
          <a:p>
            <a:pPr lvl="0"/>
            <a:endParaRPr lang="en-US" sz="2800" dirty="0"/>
          </a:p>
          <a:p>
            <a:pPr lvl="0">
              <a:buFontTx/>
              <a:buChar char="-"/>
            </a:pPr>
            <a:r>
              <a:rPr lang="ar-EG" sz="2800" dirty="0"/>
              <a:t>مقابلات شخصية .</a:t>
            </a:r>
          </a:p>
          <a:p>
            <a:pPr lvl="0"/>
            <a:endParaRPr lang="en-US" sz="2800" dirty="0"/>
          </a:p>
          <a:p>
            <a:pPr lvl="0">
              <a:buFontTx/>
              <a:buChar char="-"/>
            </a:pPr>
            <a:r>
              <a:rPr lang="ar-EG" sz="2800" dirty="0"/>
              <a:t>استطلاع رأى ( استبيان ) . </a:t>
            </a:r>
          </a:p>
          <a:p>
            <a:pPr lvl="0"/>
            <a:endParaRPr lang="en-US" sz="2800" dirty="0"/>
          </a:p>
          <a:p>
            <a:pPr lvl="0"/>
            <a:r>
              <a:rPr lang="ar-EG" sz="2800" dirty="0"/>
              <a:t>- ملاحظات .</a:t>
            </a:r>
            <a:endParaRPr lang="en-US" sz="2800" dirty="0"/>
          </a:p>
        </p:txBody>
      </p:sp>
    </p:spTree>
  </p:cSld>
  <p:clrMapOvr>
    <a:masterClrMapping/>
  </p:clrMapOvr>
  <p:transition spd="slow">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70" decel="100000"/>
                                        <p:tgtEl>
                                          <p:spTgt spid="2"/>
                                        </p:tgtEl>
                                      </p:cBhvr>
                                    </p:animEffect>
                                    <p:animScale>
                                      <p:cBhvr>
                                        <p:cTn id="8" dur="770" decel="100000"/>
                                        <p:tgtEl>
                                          <p:spTgt spid="2"/>
                                        </p:tgtEl>
                                      </p:cBhvr>
                                      <p:from x="10000" y="10000"/>
                                      <p:to x="200000" y="450000"/>
                                    </p:animScale>
                                    <p:animScale>
                                      <p:cBhvr>
                                        <p:cTn id="9" dur="1230" accel="100000" fill="hold">
                                          <p:stCondLst>
                                            <p:cond delay="770"/>
                                          </p:stCondLst>
                                        </p:cTn>
                                        <p:tgtEl>
                                          <p:spTgt spid="2"/>
                                        </p:tgtEl>
                                      </p:cBhvr>
                                      <p:from x="200000" y="450000"/>
                                      <p:to x="100000" y="100000"/>
                                    </p:animScale>
                                    <p:set>
                                      <p:cBhvr>
                                        <p:cTn id="10" dur="770" fill="hold"/>
                                        <p:tgtEl>
                                          <p:spTgt spid="2"/>
                                        </p:tgtEl>
                                        <p:attrNameLst>
                                          <p:attrName>ppt_x</p:attrName>
                                        </p:attrNameLst>
                                      </p:cBhvr>
                                      <p:to>
                                        <p:strVal val="(0.5)"/>
                                      </p:to>
                                    </p:set>
                                    <p:anim from="(0.5)" to="(#ppt_x)" calcmode="lin" valueType="num">
                                      <p:cBhvr>
                                        <p:cTn id="11" dur="1230" accel="100000" fill="hold">
                                          <p:stCondLst>
                                            <p:cond delay="770"/>
                                          </p:stCondLst>
                                        </p:cTn>
                                        <p:tgtEl>
                                          <p:spTgt spid="2"/>
                                        </p:tgtEl>
                                        <p:attrNameLst>
                                          <p:attrName>ppt_x</p:attrName>
                                        </p:attrNameLst>
                                      </p:cBhvr>
                                    </p:anim>
                                    <p:set>
                                      <p:cBhvr>
                                        <p:cTn id="12" dur="770" fill="hold"/>
                                        <p:tgtEl>
                                          <p:spTgt spid="2"/>
                                        </p:tgtEl>
                                        <p:attrNameLst>
                                          <p:attrName>ppt_y</p:attrName>
                                        </p:attrNameLst>
                                      </p:cBhvr>
                                      <p:to>
                                        <p:strVal val="(#ppt_y+0.4)"/>
                                      </p:to>
                                    </p:set>
                                    <p:anim from="(#ppt_y+0.4)" to="(#ppt_y)" calcmode="lin" valueType="num">
                                      <p:cBhvr>
                                        <p:cTn id="13" dur="1230" accel="100000" fill="hold">
                                          <p:stCondLst>
                                            <p:cond delay="770"/>
                                          </p:stCondLst>
                                        </p:cTn>
                                        <p:tgtEl>
                                          <p:spTgt spid="2"/>
                                        </p:tgtEl>
                                        <p:attrNameLst>
                                          <p:attrName>ppt_y</p:attrName>
                                        </p:attrNameLst>
                                      </p:cBhvr>
                                    </p:anim>
                                  </p:childTnLst>
                                </p:cTn>
                              </p:par>
                            </p:childTnLst>
                          </p:cTn>
                        </p:par>
                      </p:childTnLst>
                    </p:cTn>
                  </p:par>
                  <p:par>
                    <p:cTn id="14" fill="hold">
                      <p:stCondLst>
                        <p:cond delay="indefinite"/>
                      </p:stCondLst>
                      <p:childTnLst>
                        <p:par>
                          <p:cTn id="15" fill="hold">
                            <p:stCondLst>
                              <p:cond delay="0"/>
                            </p:stCondLst>
                            <p:childTnLst>
                              <p:par>
                                <p:cTn id="16" presetID="54" presetClass="entr" presetSubtype="0" accel="10000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1000" fill="hold"/>
                                        <p:tgtEl>
                                          <p:spTgt spid="3"/>
                                        </p:tgtEl>
                                        <p:attrNameLst>
                                          <p:attrName>ppt_w</p:attrName>
                                        </p:attrNameLst>
                                      </p:cBhvr>
                                      <p:tavLst>
                                        <p:tav tm="0">
                                          <p:val>
                                            <p:strVal val="#ppt_w*0.05"/>
                                          </p:val>
                                        </p:tav>
                                        <p:tav tm="100000">
                                          <p:val>
                                            <p:strVal val="#ppt_w"/>
                                          </p:val>
                                        </p:tav>
                                      </p:tavLst>
                                    </p:anim>
                                    <p:anim calcmode="lin" valueType="num">
                                      <p:cBhvr>
                                        <p:cTn id="19" dur="1000" fill="hold"/>
                                        <p:tgtEl>
                                          <p:spTgt spid="3"/>
                                        </p:tgtEl>
                                        <p:attrNameLst>
                                          <p:attrName>ppt_h</p:attrName>
                                        </p:attrNameLst>
                                      </p:cBhvr>
                                      <p:tavLst>
                                        <p:tav tm="0">
                                          <p:val>
                                            <p:strVal val="#ppt_h"/>
                                          </p:val>
                                        </p:tav>
                                        <p:tav tm="100000">
                                          <p:val>
                                            <p:strVal val="#ppt_h"/>
                                          </p:val>
                                        </p:tav>
                                      </p:tavLst>
                                    </p:anim>
                                    <p:anim calcmode="lin" valueType="num">
                                      <p:cBhvr>
                                        <p:cTn id="20" dur="1000" fill="hold"/>
                                        <p:tgtEl>
                                          <p:spTgt spid="3"/>
                                        </p:tgtEl>
                                        <p:attrNameLst>
                                          <p:attrName>ppt_x</p:attrName>
                                        </p:attrNameLst>
                                      </p:cBhvr>
                                      <p:tavLst>
                                        <p:tav tm="0">
                                          <p:val>
                                            <p:strVal val="#ppt_x-.2"/>
                                          </p:val>
                                        </p:tav>
                                        <p:tav tm="100000">
                                          <p:val>
                                            <p:strVal val="#ppt_x"/>
                                          </p:val>
                                        </p:tav>
                                      </p:tavLst>
                                    </p:anim>
                                    <p:anim calcmode="lin" valueType="num">
                                      <p:cBhvr>
                                        <p:cTn id="21" dur="1000" fill="hold"/>
                                        <p:tgtEl>
                                          <p:spTgt spid="3"/>
                                        </p:tgtEl>
                                        <p:attrNameLst>
                                          <p:attrName>ppt_y</p:attrName>
                                        </p:attrNameLst>
                                      </p:cBhvr>
                                      <p:tavLst>
                                        <p:tav tm="0">
                                          <p:val>
                                            <p:strVal val="#ppt_y"/>
                                          </p:val>
                                        </p:tav>
                                        <p:tav tm="100000">
                                          <p:val>
                                            <p:strVal val="#ppt_y"/>
                                          </p:val>
                                        </p:tav>
                                      </p:tavLst>
                                    </p:anim>
                                    <p:animEffect transition="in" filter="fade">
                                      <p:cBhvr>
                                        <p:cTn id="22" dur="10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5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770" decel="100000"/>
                                        <p:tgtEl>
                                          <p:spTgt spid="4"/>
                                        </p:tgtEl>
                                      </p:cBhvr>
                                    </p:animEffect>
                                    <p:animScale>
                                      <p:cBhvr>
                                        <p:cTn id="28" dur="770" decel="100000"/>
                                        <p:tgtEl>
                                          <p:spTgt spid="4"/>
                                        </p:tgtEl>
                                      </p:cBhvr>
                                      <p:from x="10000" y="10000"/>
                                      <p:to x="200000" y="450000"/>
                                    </p:animScale>
                                    <p:animScale>
                                      <p:cBhvr>
                                        <p:cTn id="29" dur="1230" accel="100000" fill="hold">
                                          <p:stCondLst>
                                            <p:cond delay="770"/>
                                          </p:stCondLst>
                                        </p:cTn>
                                        <p:tgtEl>
                                          <p:spTgt spid="4"/>
                                        </p:tgtEl>
                                      </p:cBhvr>
                                      <p:from x="200000" y="450000"/>
                                      <p:to x="100000" y="100000"/>
                                    </p:animScale>
                                    <p:set>
                                      <p:cBhvr>
                                        <p:cTn id="30" dur="770" fill="hold"/>
                                        <p:tgtEl>
                                          <p:spTgt spid="4"/>
                                        </p:tgtEl>
                                        <p:attrNameLst>
                                          <p:attrName>ppt_x</p:attrName>
                                        </p:attrNameLst>
                                      </p:cBhvr>
                                      <p:to>
                                        <p:strVal val="(0.5)"/>
                                      </p:to>
                                    </p:set>
                                    <p:anim from="(0.5)" to="(#ppt_x)" calcmode="lin" valueType="num">
                                      <p:cBhvr>
                                        <p:cTn id="31" dur="1230" accel="100000" fill="hold">
                                          <p:stCondLst>
                                            <p:cond delay="770"/>
                                          </p:stCondLst>
                                        </p:cTn>
                                        <p:tgtEl>
                                          <p:spTgt spid="4"/>
                                        </p:tgtEl>
                                        <p:attrNameLst>
                                          <p:attrName>ppt_x</p:attrName>
                                        </p:attrNameLst>
                                      </p:cBhvr>
                                    </p:anim>
                                    <p:set>
                                      <p:cBhvr>
                                        <p:cTn id="32" dur="770" fill="hold"/>
                                        <p:tgtEl>
                                          <p:spTgt spid="4"/>
                                        </p:tgtEl>
                                        <p:attrNameLst>
                                          <p:attrName>ppt_y</p:attrName>
                                        </p:attrNameLst>
                                      </p:cBhvr>
                                      <p:to>
                                        <p:strVal val="(#ppt_y+0.4)"/>
                                      </p:to>
                                    </p:set>
                                    <p:anim from="(#ppt_y+0.4)" to="(#ppt_y)" calcmode="lin" valueType="num">
                                      <p:cBhvr>
                                        <p:cTn id="33" dur="1230" accel="100000" fill="hold">
                                          <p:stCondLst>
                                            <p:cond delay="770"/>
                                          </p:stCondLst>
                                        </p:cTn>
                                        <p:tgtEl>
                                          <p:spTgt spid="4"/>
                                        </p:tgtEl>
                                        <p:attrNameLst>
                                          <p:attrName>ppt_y</p:attrName>
                                        </p:attrNameLst>
                                      </p:cBhvr>
                                    </p:anim>
                                  </p:childTnLst>
                                </p:cTn>
                              </p:par>
                            </p:childTnLst>
                          </p:cTn>
                        </p:par>
                      </p:childTnLst>
                    </p:cTn>
                  </p:par>
                  <p:par>
                    <p:cTn id="34" fill="hold">
                      <p:stCondLst>
                        <p:cond delay="indefinite"/>
                      </p:stCondLst>
                      <p:childTnLst>
                        <p:par>
                          <p:cTn id="35" fill="hold">
                            <p:stCondLst>
                              <p:cond delay="0"/>
                            </p:stCondLst>
                            <p:childTnLst>
                              <p:par>
                                <p:cTn id="36" presetID="29" presetClass="entr" presetSubtype="0" fill="hold" nodeType="clickEffect">
                                  <p:stCondLst>
                                    <p:cond delay="0"/>
                                  </p:stCondLst>
                                  <p:childTnLst>
                                    <p:set>
                                      <p:cBhvr>
                                        <p:cTn id="37" dur="1" fill="hold">
                                          <p:stCondLst>
                                            <p:cond delay="0"/>
                                          </p:stCondLst>
                                        </p:cTn>
                                        <p:tgtEl>
                                          <p:spTgt spid="5">
                                            <p:txEl>
                                              <p:pRg st="0" end="0"/>
                                            </p:txEl>
                                          </p:spTgt>
                                        </p:tgtEl>
                                        <p:attrNameLst>
                                          <p:attrName>style.visibility</p:attrName>
                                        </p:attrNameLst>
                                      </p:cBhvr>
                                      <p:to>
                                        <p:strVal val="visible"/>
                                      </p:to>
                                    </p:set>
                                    <p:anim calcmode="lin" valueType="num">
                                      <p:cBhvr>
                                        <p:cTn id="38" dur="1000" fill="hold"/>
                                        <p:tgtEl>
                                          <p:spTgt spid="5">
                                            <p:txEl>
                                              <p:pRg st="0" end="0"/>
                                            </p:txEl>
                                          </p:spTgt>
                                        </p:tgtEl>
                                        <p:attrNameLst>
                                          <p:attrName>ppt_x</p:attrName>
                                        </p:attrNameLst>
                                      </p:cBhvr>
                                      <p:tavLst>
                                        <p:tav tm="0">
                                          <p:val>
                                            <p:strVal val="#ppt_x-.2"/>
                                          </p:val>
                                        </p:tav>
                                        <p:tav tm="100000">
                                          <p:val>
                                            <p:strVal val="#ppt_x"/>
                                          </p:val>
                                        </p:tav>
                                      </p:tavLst>
                                    </p:anim>
                                    <p:anim calcmode="lin" valueType="num">
                                      <p:cBhvr>
                                        <p:cTn id="39" dur="1000" fill="hold"/>
                                        <p:tgtEl>
                                          <p:spTgt spid="5">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40" dur="1000"/>
                                        <p:tgtEl>
                                          <p:spTgt spid="5">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9" presetClass="entr" presetSubtype="0" fill="hold" nodeType="clickEffect">
                                  <p:stCondLst>
                                    <p:cond delay="0"/>
                                  </p:stCondLst>
                                  <p:childTnLst>
                                    <p:set>
                                      <p:cBhvr>
                                        <p:cTn id="44" dur="1" fill="hold">
                                          <p:stCondLst>
                                            <p:cond delay="0"/>
                                          </p:stCondLst>
                                        </p:cTn>
                                        <p:tgtEl>
                                          <p:spTgt spid="5">
                                            <p:txEl>
                                              <p:pRg st="2" end="2"/>
                                            </p:txEl>
                                          </p:spTgt>
                                        </p:tgtEl>
                                        <p:attrNameLst>
                                          <p:attrName>style.visibility</p:attrName>
                                        </p:attrNameLst>
                                      </p:cBhvr>
                                      <p:to>
                                        <p:strVal val="visible"/>
                                      </p:to>
                                    </p:set>
                                    <p:anim calcmode="lin" valueType="num">
                                      <p:cBhvr>
                                        <p:cTn id="45" dur="1000" fill="hold"/>
                                        <p:tgtEl>
                                          <p:spTgt spid="5">
                                            <p:txEl>
                                              <p:pRg st="2" end="2"/>
                                            </p:txEl>
                                          </p:spTgt>
                                        </p:tgtEl>
                                        <p:attrNameLst>
                                          <p:attrName>ppt_x</p:attrName>
                                        </p:attrNameLst>
                                      </p:cBhvr>
                                      <p:tavLst>
                                        <p:tav tm="0">
                                          <p:val>
                                            <p:strVal val="#ppt_x-.2"/>
                                          </p:val>
                                        </p:tav>
                                        <p:tav tm="100000">
                                          <p:val>
                                            <p:strVal val="#ppt_x"/>
                                          </p:val>
                                        </p:tav>
                                      </p:tavLst>
                                    </p:anim>
                                    <p:anim calcmode="lin" valueType="num">
                                      <p:cBhvr>
                                        <p:cTn id="46" dur="1000" fill="hold"/>
                                        <p:tgtEl>
                                          <p:spTgt spid="5">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47" dur="1000"/>
                                        <p:tgtEl>
                                          <p:spTgt spid="5">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9" presetClass="entr" presetSubtype="0" fill="hold" nodeType="clickEffect">
                                  <p:stCondLst>
                                    <p:cond delay="0"/>
                                  </p:stCondLst>
                                  <p:childTnLst>
                                    <p:set>
                                      <p:cBhvr>
                                        <p:cTn id="51" dur="1" fill="hold">
                                          <p:stCondLst>
                                            <p:cond delay="0"/>
                                          </p:stCondLst>
                                        </p:cTn>
                                        <p:tgtEl>
                                          <p:spTgt spid="5">
                                            <p:txEl>
                                              <p:pRg st="4" end="4"/>
                                            </p:txEl>
                                          </p:spTgt>
                                        </p:tgtEl>
                                        <p:attrNameLst>
                                          <p:attrName>style.visibility</p:attrName>
                                        </p:attrNameLst>
                                      </p:cBhvr>
                                      <p:to>
                                        <p:strVal val="visible"/>
                                      </p:to>
                                    </p:set>
                                    <p:anim calcmode="lin" valueType="num">
                                      <p:cBhvr>
                                        <p:cTn id="52" dur="1000" fill="hold"/>
                                        <p:tgtEl>
                                          <p:spTgt spid="5">
                                            <p:txEl>
                                              <p:pRg st="4" end="4"/>
                                            </p:txEl>
                                          </p:spTgt>
                                        </p:tgtEl>
                                        <p:attrNameLst>
                                          <p:attrName>ppt_x</p:attrName>
                                        </p:attrNameLst>
                                      </p:cBhvr>
                                      <p:tavLst>
                                        <p:tav tm="0">
                                          <p:val>
                                            <p:strVal val="#ppt_x-.2"/>
                                          </p:val>
                                        </p:tav>
                                        <p:tav tm="100000">
                                          <p:val>
                                            <p:strVal val="#ppt_x"/>
                                          </p:val>
                                        </p:tav>
                                      </p:tavLst>
                                    </p:anim>
                                    <p:anim calcmode="lin" valueType="num">
                                      <p:cBhvr>
                                        <p:cTn id="53" dur="1000" fill="hold"/>
                                        <p:tgtEl>
                                          <p:spTgt spid="5">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54" dur="1000"/>
                                        <p:tgtEl>
                                          <p:spTgt spid="5">
                                            <p:txEl>
                                              <p:pRg st="4" end="4"/>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9" presetClass="entr" presetSubtype="0" fill="hold" nodeType="clickEffect">
                                  <p:stCondLst>
                                    <p:cond delay="0"/>
                                  </p:stCondLst>
                                  <p:childTnLst>
                                    <p:set>
                                      <p:cBhvr>
                                        <p:cTn id="58" dur="1" fill="hold">
                                          <p:stCondLst>
                                            <p:cond delay="0"/>
                                          </p:stCondLst>
                                        </p:cTn>
                                        <p:tgtEl>
                                          <p:spTgt spid="5">
                                            <p:txEl>
                                              <p:pRg st="6" end="6"/>
                                            </p:txEl>
                                          </p:spTgt>
                                        </p:tgtEl>
                                        <p:attrNameLst>
                                          <p:attrName>style.visibility</p:attrName>
                                        </p:attrNameLst>
                                      </p:cBhvr>
                                      <p:to>
                                        <p:strVal val="visible"/>
                                      </p:to>
                                    </p:set>
                                    <p:anim calcmode="lin" valueType="num">
                                      <p:cBhvr>
                                        <p:cTn id="59" dur="1000" fill="hold"/>
                                        <p:tgtEl>
                                          <p:spTgt spid="5">
                                            <p:txEl>
                                              <p:pRg st="6" end="6"/>
                                            </p:txEl>
                                          </p:spTgt>
                                        </p:tgtEl>
                                        <p:attrNameLst>
                                          <p:attrName>ppt_x</p:attrName>
                                        </p:attrNameLst>
                                      </p:cBhvr>
                                      <p:tavLst>
                                        <p:tav tm="0">
                                          <p:val>
                                            <p:strVal val="#ppt_x-.2"/>
                                          </p:val>
                                        </p:tav>
                                        <p:tav tm="100000">
                                          <p:val>
                                            <p:strVal val="#ppt_x"/>
                                          </p:val>
                                        </p:tav>
                                      </p:tavLst>
                                    </p:anim>
                                    <p:anim calcmode="lin" valueType="num">
                                      <p:cBhvr>
                                        <p:cTn id="60" dur="1000" fill="hold"/>
                                        <p:tgtEl>
                                          <p:spTgt spid="5">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61" dur="10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4531340" y="260648"/>
            <a:ext cx="4001100" cy="584775"/>
          </a:xfrm>
          <a:prstGeom prst="rect">
            <a:avLst/>
          </a:prstGeom>
          <a:solidFill>
            <a:schemeClr val="accent2"/>
          </a:solidFill>
        </p:spPr>
        <p:txBody>
          <a:bodyPr wrap="square" rtlCol="1">
            <a:spAutoFit/>
          </a:bodyPr>
          <a:lstStyle/>
          <a:p>
            <a:r>
              <a:rPr lang="ar-EG" sz="3200" b="1" dirty="0"/>
              <a:t>خامساً : تحليل النتائج </a:t>
            </a:r>
            <a:endParaRPr lang="en-US" sz="3200" dirty="0"/>
          </a:p>
        </p:txBody>
      </p:sp>
      <p:sp>
        <p:nvSpPr>
          <p:cNvPr id="3" name="مربع نص 2"/>
          <p:cNvSpPr txBox="1"/>
          <p:nvPr/>
        </p:nvSpPr>
        <p:spPr>
          <a:xfrm>
            <a:off x="214282" y="1196752"/>
            <a:ext cx="8606190" cy="523220"/>
          </a:xfrm>
          <a:prstGeom prst="rect">
            <a:avLst/>
          </a:prstGeom>
          <a:noFill/>
        </p:spPr>
        <p:txBody>
          <a:bodyPr wrap="square" rtlCol="1">
            <a:spAutoFit/>
          </a:bodyPr>
          <a:lstStyle/>
          <a:p>
            <a:r>
              <a:rPr lang="ar-EG" sz="2800" dirty="0"/>
              <a:t> يتم تحليل النتائج وفق نظام </a:t>
            </a:r>
            <a:r>
              <a:rPr lang="ar-EG" sz="2800" dirty="0" err="1"/>
              <a:t>احصائى</a:t>
            </a:r>
            <a:r>
              <a:rPr lang="ar-EG" sz="2800" dirty="0"/>
              <a:t> يحدد مسبقاً وقبل القيام بعملية التقويم .</a:t>
            </a:r>
          </a:p>
        </p:txBody>
      </p:sp>
      <p:sp>
        <p:nvSpPr>
          <p:cNvPr id="4" name="مربع نص 3"/>
          <p:cNvSpPr txBox="1"/>
          <p:nvPr/>
        </p:nvSpPr>
        <p:spPr>
          <a:xfrm>
            <a:off x="4211960" y="1916832"/>
            <a:ext cx="4289133" cy="584775"/>
          </a:xfrm>
          <a:prstGeom prst="rect">
            <a:avLst/>
          </a:prstGeom>
          <a:solidFill>
            <a:schemeClr val="accent2"/>
          </a:solidFill>
        </p:spPr>
        <p:txBody>
          <a:bodyPr wrap="square" rtlCol="1">
            <a:spAutoFit/>
          </a:bodyPr>
          <a:lstStyle/>
          <a:p>
            <a:r>
              <a:rPr lang="ar-EG" sz="3200" b="1" dirty="0"/>
              <a:t> سادساً : تسجيل الاستنتاجات </a:t>
            </a:r>
            <a:endParaRPr lang="en-US" sz="3200" dirty="0"/>
          </a:p>
        </p:txBody>
      </p:sp>
      <p:sp>
        <p:nvSpPr>
          <p:cNvPr id="5" name="مربع نص 4"/>
          <p:cNvSpPr txBox="1"/>
          <p:nvPr/>
        </p:nvSpPr>
        <p:spPr>
          <a:xfrm>
            <a:off x="1" y="2492896"/>
            <a:ext cx="8964488" cy="3539430"/>
          </a:xfrm>
          <a:prstGeom prst="rect">
            <a:avLst/>
          </a:prstGeom>
          <a:noFill/>
        </p:spPr>
        <p:txBody>
          <a:bodyPr wrap="square" rtlCol="1">
            <a:spAutoFit/>
          </a:bodyPr>
          <a:lstStyle/>
          <a:p>
            <a:r>
              <a:rPr lang="ar-EG" sz="2800" b="1" dirty="0"/>
              <a:t> </a:t>
            </a:r>
            <a:r>
              <a:rPr lang="ar-EG" sz="2800" b="1" dirty="0">
                <a:solidFill>
                  <a:schemeClr val="tx2"/>
                </a:solidFill>
              </a:rPr>
              <a:t>بناء على التحليل الاحصائى يتم تحديد الاستنتاجات والتى على أساسها سوف تتم عملية تعديل او تطوير او تحسيين او الغاء البرنامج والمتوقع ان نتائج تقويم اى برنامج تعليمى تساعد المعلم كما يلى :-</a:t>
            </a:r>
            <a:endParaRPr lang="ar-SA" sz="2800" b="1">
              <a:solidFill>
                <a:schemeClr val="tx2"/>
              </a:solidFill>
            </a:endParaRPr>
          </a:p>
          <a:p>
            <a:endParaRPr lang="en-US" sz="2800" b="1" dirty="0">
              <a:solidFill>
                <a:schemeClr val="tx2"/>
              </a:solidFill>
            </a:endParaRPr>
          </a:p>
          <a:p>
            <a:pPr lvl="0">
              <a:buFontTx/>
              <a:buChar char="-"/>
            </a:pPr>
            <a:r>
              <a:rPr lang="ar-EG" sz="2800" b="1" dirty="0"/>
              <a:t>إمداده بالمعلومات المتعلقة بالمدجلات للافراد المتعلميين .</a:t>
            </a:r>
            <a:endParaRPr lang="en-US" sz="2800" b="1" dirty="0"/>
          </a:p>
          <a:p>
            <a:pPr lvl="0">
              <a:buFontTx/>
              <a:buChar char="-"/>
            </a:pPr>
            <a:r>
              <a:rPr lang="ar-EG" sz="2800" b="1" dirty="0"/>
              <a:t>تنقيح وتوضيح الاهداف التعليمية .</a:t>
            </a:r>
            <a:endParaRPr lang="en-US" sz="2800" b="1" dirty="0"/>
          </a:p>
          <a:p>
            <a:pPr lvl="0">
              <a:buFontTx/>
              <a:buChar char="-"/>
            </a:pPr>
            <a:r>
              <a:rPr lang="ar-EG" sz="2800" b="1" dirty="0"/>
              <a:t>تحديد كيفية تحقيق الاهداف التعليمية .</a:t>
            </a:r>
            <a:endParaRPr lang="en-US" sz="2800" b="1" dirty="0"/>
          </a:p>
          <a:p>
            <a:pPr lvl="0"/>
            <a:r>
              <a:rPr lang="ar-EG" sz="2800" b="1" dirty="0"/>
              <a:t>- تقييم طرق التدريس والوسائل والخبرات .</a:t>
            </a:r>
            <a:endParaRPr lang="en-US" sz="2800" b="1" dirty="0"/>
          </a:p>
        </p:txBody>
      </p:sp>
    </p:spTree>
  </p:cSld>
  <p:clrMapOvr>
    <a:masterClrMapping/>
  </p:clrMapOvr>
  <p:transition spd="slow">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70" decel="100000"/>
                                        <p:tgtEl>
                                          <p:spTgt spid="2"/>
                                        </p:tgtEl>
                                      </p:cBhvr>
                                    </p:animEffect>
                                    <p:animScale>
                                      <p:cBhvr>
                                        <p:cTn id="8" dur="770" decel="100000"/>
                                        <p:tgtEl>
                                          <p:spTgt spid="2"/>
                                        </p:tgtEl>
                                      </p:cBhvr>
                                      <p:from x="10000" y="10000"/>
                                      <p:to x="200000" y="450000"/>
                                    </p:animScale>
                                    <p:animScale>
                                      <p:cBhvr>
                                        <p:cTn id="9" dur="1230" accel="100000" fill="hold">
                                          <p:stCondLst>
                                            <p:cond delay="770"/>
                                          </p:stCondLst>
                                        </p:cTn>
                                        <p:tgtEl>
                                          <p:spTgt spid="2"/>
                                        </p:tgtEl>
                                      </p:cBhvr>
                                      <p:from x="200000" y="450000"/>
                                      <p:to x="100000" y="100000"/>
                                    </p:animScale>
                                    <p:set>
                                      <p:cBhvr>
                                        <p:cTn id="10" dur="770" fill="hold"/>
                                        <p:tgtEl>
                                          <p:spTgt spid="2"/>
                                        </p:tgtEl>
                                        <p:attrNameLst>
                                          <p:attrName>ppt_x</p:attrName>
                                        </p:attrNameLst>
                                      </p:cBhvr>
                                      <p:to>
                                        <p:strVal val="(0.5)"/>
                                      </p:to>
                                    </p:set>
                                    <p:anim from="(0.5)" to="(#ppt_x)" calcmode="lin" valueType="num">
                                      <p:cBhvr>
                                        <p:cTn id="11" dur="1230" accel="100000" fill="hold">
                                          <p:stCondLst>
                                            <p:cond delay="770"/>
                                          </p:stCondLst>
                                        </p:cTn>
                                        <p:tgtEl>
                                          <p:spTgt spid="2"/>
                                        </p:tgtEl>
                                        <p:attrNameLst>
                                          <p:attrName>ppt_x</p:attrName>
                                        </p:attrNameLst>
                                      </p:cBhvr>
                                    </p:anim>
                                    <p:set>
                                      <p:cBhvr>
                                        <p:cTn id="12" dur="770" fill="hold"/>
                                        <p:tgtEl>
                                          <p:spTgt spid="2"/>
                                        </p:tgtEl>
                                        <p:attrNameLst>
                                          <p:attrName>ppt_y</p:attrName>
                                        </p:attrNameLst>
                                      </p:cBhvr>
                                      <p:to>
                                        <p:strVal val="(#ppt_y+0.4)"/>
                                      </p:to>
                                    </p:set>
                                    <p:anim from="(#ppt_y+0.4)" to="(#ppt_y)" calcmode="lin" valueType="num">
                                      <p:cBhvr>
                                        <p:cTn id="13" dur="1230" accel="100000" fill="hold">
                                          <p:stCondLst>
                                            <p:cond delay="770"/>
                                          </p:stCondLst>
                                        </p:cTn>
                                        <p:tgtEl>
                                          <p:spTgt spid="2"/>
                                        </p:tgtEl>
                                        <p:attrNameLst>
                                          <p:attrName>ppt_y</p:attrName>
                                        </p:attrNameLst>
                                      </p:cBhvr>
                                    </p:anim>
                                  </p:childTnLst>
                                </p:cTn>
                              </p:par>
                            </p:childTnLst>
                          </p:cTn>
                        </p:par>
                      </p:childTnLst>
                    </p:cTn>
                  </p:par>
                  <p:par>
                    <p:cTn id="14" fill="hold">
                      <p:stCondLst>
                        <p:cond delay="indefinite"/>
                      </p:stCondLst>
                      <p:childTnLst>
                        <p:par>
                          <p:cTn id="15" fill="hold">
                            <p:stCondLst>
                              <p:cond delay="0"/>
                            </p:stCondLst>
                            <p:childTnLst>
                              <p:par>
                                <p:cTn id="16" presetID="54" presetClass="entr" presetSubtype="0" accel="10000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ppt_w</p:attrName>
                                        </p:attrNameLst>
                                      </p:cBhvr>
                                      <p:tavLst>
                                        <p:tav tm="0">
                                          <p:val>
                                            <p:strVal val="#ppt_w*0.05"/>
                                          </p:val>
                                        </p:tav>
                                        <p:tav tm="100000">
                                          <p:val>
                                            <p:strVal val="#ppt_w"/>
                                          </p:val>
                                        </p:tav>
                                      </p:tavLst>
                                    </p:anim>
                                    <p:anim calcmode="lin" valueType="num">
                                      <p:cBhvr>
                                        <p:cTn id="19" dur="500" fill="hold"/>
                                        <p:tgtEl>
                                          <p:spTgt spid="3"/>
                                        </p:tgtEl>
                                        <p:attrNameLst>
                                          <p:attrName>ppt_h</p:attrName>
                                        </p:attrNameLst>
                                      </p:cBhvr>
                                      <p:tavLst>
                                        <p:tav tm="0">
                                          <p:val>
                                            <p:strVal val="#ppt_h"/>
                                          </p:val>
                                        </p:tav>
                                        <p:tav tm="100000">
                                          <p:val>
                                            <p:strVal val="#ppt_h"/>
                                          </p:val>
                                        </p:tav>
                                      </p:tavLst>
                                    </p:anim>
                                    <p:anim calcmode="lin" valueType="num">
                                      <p:cBhvr>
                                        <p:cTn id="20" dur="500" fill="hold"/>
                                        <p:tgtEl>
                                          <p:spTgt spid="3"/>
                                        </p:tgtEl>
                                        <p:attrNameLst>
                                          <p:attrName>ppt_x</p:attrName>
                                        </p:attrNameLst>
                                      </p:cBhvr>
                                      <p:tavLst>
                                        <p:tav tm="0">
                                          <p:val>
                                            <p:strVal val="#ppt_x-.2"/>
                                          </p:val>
                                        </p:tav>
                                        <p:tav tm="100000">
                                          <p:val>
                                            <p:strVal val="#ppt_x"/>
                                          </p:val>
                                        </p:tav>
                                      </p:tavLst>
                                    </p:anim>
                                    <p:anim calcmode="lin" valueType="num">
                                      <p:cBhvr>
                                        <p:cTn id="21" dur="500" fill="hold"/>
                                        <p:tgtEl>
                                          <p:spTgt spid="3"/>
                                        </p:tgtEl>
                                        <p:attrNameLst>
                                          <p:attrName>ppt_y</p:attrName>
                                        </p:attrNameLst>
                                      </p:cBhvr>
                                      <p:tavLst>
                                        <p:tav tm="0">
                                          <p:val>
                                            <p:strVal val="#ppt_y"/>
                                          </p:val>
                                        </p:tav>
                                        <p:tav tm="100000">
                                          <p:val>
                                            <p:strVal val="#ppt_y"/>
                                          </p:val>
                                        </p:tav>
                                      </p:tavLst>
                                    </p:anim>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5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770" decel="100000"/>
                                        <p:tgtEl>
                                          <p:spTgt spid="4"/>
                                        </p:tgtEl>
                                      </p:cBhvr>
                                    </p:animEffect>
                                    <p:animScale>
                                      <p:cBhvr>
                                        <p:cTn id="28" dur="770" decel="100000"/>
                                        <p:tgtEl>
                                          <p:spTgt spid="4"/>
                                        </p:tgtEl>
                                      </p:cBhvr>
                                      <p:from x="10000" y="10000"/>
                                      <p:to x="200000" y="450000"/>
                                    </p:animScale>
                                    <p:animScale>
                                      <p:cBhvr>
                                        <p:cTn id="29" dur="1230" accel="100000" fill="hold">
                                          <p:stCondLst>
                                            <p:cond delay="770"/>
                                          </p:stCondLst>
                                        </p:cTn>
                                        <p:tgtEl>
                                          <p:spTgt spid="4"/>
                                        </p:tgtEl>
                                      </p:cBhvr>
                                      <p:from x="200000" y="450000"/>
                                      <p:to x="100000" y="100000"/>
                                    </p:animScale>
                                    <p:set>
                                      <p:cBhvr>
                                        <p:cTn id="30" dur="770" fill="hold"/>
                                        <p:tgtEl>
                                          <p:spTgt spid="4"/>
                                        </p:tgtEl>
                                        <p:attrNameLst>
                                          <p:attrName>ppt_x</p:attrName>
                                        </p:attrNameLst>
                                      </p:cBhvr>
                                      <p:to>
                                        <p:strVal val="(0.5)"/>
                                      </p:to>
                                    </p:set>
                                    <p:anim from="(0.5)" to="(#ppt_x)" calcmode="lin" valueType="num">
                                      <p:cBhvr>
                                        <p:cTn id="31" dur="1230" accel="100000" fill="hold">
                                          <p:stCondLst>
                                            <p:cond delay="770"/>
                                          </p:stCondLst>
                                        </p:cTn>
                                        <p:tgtEl>
                                          <p:spTgt spid="4"/>
                                        </p:tgtEl>
                                        <p:attrNameLst>
                                          <p:attrName>ppt_x</p:attrName>
                                        </p:attrNameLst>
                                      </p:cBhvr>
                                    </p:anim>
                                    <p:set>
                                      <p:cBhvr>
                                        <p:cTn id="32" dur="770" fill="hold"/>
                                        <p:tgtEl>
                                          <p:spTgt spid="4"/>
                                        </p:tgtEl>
                                        <p:attrNameLst>
                                          <p:attrName>ppt_y</p:attrName>
                                        </p:attrNameLst>
                                      </p:cBhvr>
                                      <p:to>
                                        <p:strVal val="(#ppt_y+0.4)"/>
                                      </p:to>
                                    </p:set>
                                    <p:anim from="(#ppt_y+0.4)" to="(#ppt_y)" calcmode="lin" valueType="num">
                                      <p:cBhvr>
                                        <p:cTn id="33" dur="1230" accel="100000" fill="hold">
                                          <p:stCondLst>
                                            <p:cond delay="770"/>
                                          </p:stCondLst>
                                        </p:cTn>
                                        <p:tgtEl>
                                          <p:spTgt spid="4"/>
                                        </p:tgtEl>
                                        <p:attrNameLst>
                                          <p:attrName>ppt_y</p:attrName>
                                        </p:attrNameLst>
                                      </p:cBhvr>
                                    </p:anim>
                                  </p:childTnLst>
                                </p:cTn>
                              </p:par>
                            </p:childTnLst>
                          </p:cTn>
                        </p:par>
                      </p:childTnLst>
                    </p:cTn>
                  </p:par>
                  <p:par>
                    <p:cTn id="34" fill="hold">
                      <p:stCondLst>
                        <p:cond delay="indefinite"/>
                      </p:stCondLst>
                      <p:childTnLst>
                        <p:par>
                          <p:cTn id="35" fill="hold">
                            <p:stCondLst>
                              <p:cond delay="0"/>
                            </p:stCondLst>
                            <p:childTnLst>
                              <p:par>
                                <p:cTn id="36" presetID="54" presetClass="entr" presetSubtype="0" accel="100000" fill="hold" nodeType="clickEffect">
                                  <p:stCondLst>
                                    <p:cond delay="0"/>
                                  </p:stCondLst>
                                  <p:childTnLst>
                                    <p:set>
                                      <p:cBhvr>
                                        <p:cTn id="37" dur="1" fill="hold">
                                          <p:stCondLst>
                                            <p:cond delay="0"/>
                                          </p:stCondLst>
                                        </p:cTn>
                                        <p:tgtEl>
                                          <p:spTgt spid="5">
                                            <p:txEl>
                                              <p:pRg st="0" end="0"/>
                                            </p:txEl>
                                          </p:spTgt>
                                        </p:tgtEl>
                                        <p:attrNameLst>
                                          <p:attrName>style.visibility</p:attrName>
                                        </p:attrNameLst>
                                      </p:cBhvr>
                                      <p:to>
                                        <p:strVal val="visible"/>
                                      </p:to>
                                    </p:set>
                                    <p:anim calcmode="lin" valueType="num">
                                      <p:cBhvr>
                                        <p:cTn id="38" dur="500" fill="hold"/>
                                        <p:tgtEl>
                                          <p:spTgt spid="5">
                                            <p:txEl>
                                              <p:pRg st="0" end="0"/>
                                            </p:txEl>
                                          </p:spTgt>
                                        </p:tgtEl>
                                        <p:attrNameLst>
                                          <p:attrName>ppt_w</p:attrName>
                                        </p:attrNameLst>
                                      </p:cBhvr>
                                      <p:tavLst>
                                        <p:tav tm="0">
                                          <p:val>
                                            <p:strVal val="#ppt_w*0.05"/>
                                          </p:val>
                                        </p:tav>
                                        <p:tav tm="100000">
                                          <p:val>
                                            <p:strVal val="#ppt_w"/>
                                          </p:val>
                                        </p:tav>
                                      </p:tavLst>
                                    </p:anim>
                                    <p:anim calcmode="lin" valueType="num">
                                      <p:cBhvr>
                                        <p:cTn id="39" dur="500" fill="hold"/>
                                        <p:tgtEl>
                                          <p:spTgt spid="5">
                                            <p:txEl>
                                              <p:pRg st="0" end="0"/>
                                            </p:txEl>
                                          </p:spTgt>
                                        </p:tgtEl>
                                        <p:attrNameLst>
                                          <p:attrName>ppt_h</p:attrName>
                                        </p:attrNameLst>
                                      </p:cBhvr>
                                      <p:tavLst>
                                        <p:tav tm="0">
                                          <p:val>
                                            <p:strVal val="#ppt_h"/>
                                          </p:val>
                                        </p:tav>
                                        <p:tav tm="100000">
                                          <p:val>
                                            <p:strVal val="#ppt_h"/>
                                          </p:val>
                                        </p:tav>
                                      </p:tavLst>
                                    </p:anim>
                                    <p:anim calcmode="lin" valueType="num">
                                      <p:cBhvr>
                                        <p:cTn id="40" dur="500" fill="hold"/>
                                        <p:tgtEl>
                                          <p:spTgt spid="5">
                                            <p:txEl>
                                              <p:pRg st="0" end="0"/>
                                            </p:txEl>
                                          </p:spTgt>
                                        </p:tgtEl>
                                        <p:attrNameLst>
                                          <p:attrName>ppt_x</p:attrName>
                                        </p:attrNameLst>
                                      </p:cBhvr>
                                      <p:tavLst>
                                        <p:tav tm="0">
                                          <p:val>
                                            <p:strVal val="#ppt_x-.2"/>
                                          </p:val>
                                        </p:tav>
                                        <p:tav tm="100000">
                                          <p:val>
                                            <p:strVal val="#ppt_x"/>
                                          </p:val>
                                        </p:tav>
                                      </p:tavLst>
                                    </p:anim>
                                    <p:anim calcmode="lin" valueType="num">
                                      <p:cBhvr>
                                        <p:cTn id="41" dur="500" fill="hold"/>
                                        <p:tgtEl>
                                          <p:spTgt spid="5">
                                            <p:txEl>
                                              <p:pRg st="0" end="0"/>
                                            </p:txEl>
                                          </p:spTgt>
                                        </p:tgtEl>
                                        <p:attrNameLst>
                                          <p:attrName>ppt_y</p:attrName>
                                        </p:attrNameLst>
                                      </p:cBhvr>
                                      <p:tavLst>
                                        <p:tav tm="0">
                                          <p:val>
                                            <p:strVal val="#ppt_y"/>
                                          </p:val>
                                        </p:tav>
                                        <p:tav tm="100000">
                                          <p:val>
                                            <p:strVal val="#ppt_y"/>
                                          </p:val>
                                        </p:tav>
                                      </p:tavLst>
                                    </p:anim>
                                    <p:animEffect transition="in" filter="fade">
                                      <p:cBhvr>
                                        <p:cTn id="42" dur="500"/>
                                        <p:tgtEl>
                                          <p:spTgt spid="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9" presetClass="entr" presetSubtype="0" fill="hold" nodeType="clickEffect">
                                  <p:stCondLst>
                                    <p:cond delay="0"/>
                                  </p:stCondLst>
                                  <p:childTnLst>
                                    <p:set>
                                      <p:cBhvr>
                                        <p:cTn id="46" dur="1" fill="hold">
                                          <p:stCondLst>
                                            <p:cond delay="0"/>
                                          </p:stCondLst>
                                        </p:cTn>
                                        <p:tgtEl>
                                          <p:spTgt spid="5">
                                            <p:txEl>
                                              <p:pRg st="2" end="2"/>
                                            </p:txEl>
                                          </p:spTgt>
                                        </p:tgtEl>
                                        <p:attrNameLst>
                                          <p:attrName>style.visibility</p:attrName>
                                        </p:attrNameLst>
                                      </p:cBhvr>
                                      <p:to>
                                        <p:strVal val="visible"/>
                                      </p:to>
                                    </p:set>
                                    <p:anim calcmode="lin" valueType="num">
                                      <p:cBhvr>
                                        <p:cTn id="47" dur="1000" fill="hold"/>
                                        <p:tgtEl>
                                          <p:spTgt spid="5">
                                            <p:txEl>
                                              <p:pRg st="2" end="2"/>
                                            </p:txEl>
                                          </p:spTgt>
                                        </p:tgtEl>
                                        <p:attrNameLst>
                                          <p:attrName>ppt_x</p:attrName>
                                        </p:attrNameLst>
                                      </p:cBhvr>
                                      <p:tavLst>
                                        <p:tav tm="0">
                                          <p:val>
                                            <p:strVal val="#ppt_x-.2"/>
                                          </p:val>
                                        </p:tav>
                                        <p:tav tm="100000">
                                          <p:val>
                                            <p:strVal val="#ppt_x"/>
                                          </p:val>
                                        </p:tav>
                                      </p:tavLst>
                                    </p:anim>
                                    <p:anim calcmode="lin" valueType="num">
                                      <p:cBhvr>
                                        <p:cTn id="48" dur="1000" fill="hold"/>
                                        <p:tgtEl>
                                          <p:spTgt spid="5">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49" dur="1000"/>
                                        <p:tgtEl>
                                          <p:spTgt spid="5">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9" presetClass="entr" presetSubtype="0" fill="hold" nodeType="clickEffect">
                                  <p:stCondLst>
                                    <p:cond delay="0"/>
                                  </p:stCondLst>
                                  <p:childTnLst>
                                    <p:set>
                                      <p:cBhvr>
                                        <p:cTn id="53" dur="1" fill="hold">
                                          <p:stCondLst>
                                            <p:cond delay="0"/>
                                          </p:stCondLst>
                                        </p:cTn>
                                        <p:tgtEl>
                                          <p:spTgt spid="5">
                                            <p:txEl>
                                              <p:pRg st="3" end="3"/>
                                            </p:txEl>
                                          </p:spTgt>
                                        </p:tgtEl>
                                        <p:attrNameLst>
                                          <p:attrName>style.visibility</p:attrName>
                                        </p:attrNameLst>
                                      </p:cBhvr>
                                      <p:to>
                                        <p:strVal val="visible"/>
                                      </p:to>
                                    </p:set>
                                    <p:anim calcmode="lin" valueType="num">
                                      <p:cBhvr>
                                        <p:cTn id="54" dur="1000" fill="hold"/>
                                        <p:tgtEl>
                                          <p:spTgt spid="5">
                                            <p:txEl>
                                              <p:pRg st="3" end="3"/>
                                            </p:txEl>
                                          </p:spTgt>
                                        </p:tgtEl>
                                        <p:attrNameLst>
                                          <p:attrName>ppt_x</p:attrName>
                                        </p:attrNameLst>
                                      </p:cBhvr>
                                      <p:tavLst>
                                        <p:tav tm="0">
                                          <p:val>
                                            <p:strVal val="#ppt_x-.2"/>
                                          </p:val>
                                        </p:tav>
                                        <p:tav tm="100000">
                                          <p:val>
                                            <p:strVal val="#ppt_x"/>
                                          </p:val>
                                        </p:tav>
                                      </p:tavLst>
                                    </p:anim>
                                    <p:anim calcmode="lin" valueType="num">
                                      <p:cBhvr>
                                        <p:cTn id="55" dur="1000" fill="hold"/>
                                        <p:tgtEl>
                                          <p:spTgt spid="5">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56" dur="1000"/>
                                        <p:tgtEl>
                                          <p:spTgt spid="5">
                                            <p:txEl>
                                              <p:pRg st="3" end="3"/>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9" presetClass="entr" presetSubtype="0" fill="hold" nodeType="clickEffect">
                                  <p:stCondLst>
                                    <p:cond delay="0"/>
                                  </p:stCondLst>
                                  <p:childTnLst>
                                    <p:set>
                                      <p:cBhvr>
                                        <p:cTn id="60" dur="1" fill="hold">
                                          <p:stCondLst>
                                            <p:cond delay="0"/>
                                          </p:stCondLst>
                                        </p:cTn>
                                        <p:tgtEl>
                                          <p:spTgt spid="5">
                                            <p:txEl>
                                              <p:pRg st="4" end="4"/>
                                            </p:txEl>
                                          </p:spTgt>
                                        </p:tgtEl>
                                        <p:attrNameLst>
                                          <p:attrName>style.visibility</p:attrName>
                                        </p:attrNameLst>
                                      </p:cBhvr>
                                      <p:to>
                                        <p:strVal val="visible"/>
                                      </p:to>
                                    </p:set>
                                    <p:anim calcmode="lin" valueType="num">
                                      <p:cBhvr>
                                        <p:cTn id="61" dur="1000" fill="hold"/>
                                        <p:tgtEl>
                                          <p:spTgt spid="5">
                                            <p:txEl>
                                              <p:pRg st="4" end="4"/>
                                            </p:txEl>
                                          </p:spTgt>
                                        </p:tgtEl>
                                        <p:attrNameLst>
                                          <p:attrName>ppt_x</p:attrName>
                                        </p:attrNameLst>
                                      </p:cBhvr>
                                      <p:tavLst>
                                        <p:tav tm="0">
                                          <p:val>
                                            <p:strVal val="#ppt_x-.2"/>
                                          </p:val>
                                        </p:tav>
                                        <p:tav tm="100000">
                                          <p:val>
                                            <p:strVal val="#ppt_x"/>
                                          </p:val>
                                        </p:tav>
                                      </p:tavLst>
                                    </p:anim>
                                    <p:anim calcmode="lin" valueType="num">
                                      <p:cBhvr>
                                        <p:cTn id="62" dur="1000" fill="hold"/>
                                        <p:tgtEl>
                                          <p:spTgt spid="5">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63" dur="1000"/>
                                        <p:tgtEl>
                                          <p:spTgt spid="5">
                                            <p:txEl>
                                              <p:pRg st="4" end="4"/>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9" presetClass="entr" presetSubtype="0" fill="hold" nodeType="clickEffect">
                                  <p:stCondLst>
                                    <p:cond delay="0"/>
                                  </p:stCondLst>
                                  <p:childTnLst>
                                    <p:set>
                                      <p:cBhvr>
                                        <p:cTn id="67" dur="1" fill="hold">
                                          <p:stCondLst>
                                            <p:cond delay="0"/>
                                          </p:stCondLst>
                                        </p:cTn>
                                        <p:tgtEl>
                                          <p:spTgt spid="5">
                                            <p:txEl>
                                              <p:pRg st="5" end="5"/>
                                            </p:txEl>
                                          </p:spTgt>
                                        </p:tgtEl>
                                        <p:attrNameLst>
                                          <p:attrName>style.visibility</p:attrName>
                                        </p:attrNameLst>
                                      </p:cBhvr>
                                      <p:to>
                                        <p:strVal val="visible"/>
                                      </p:to>
                                    </p:set>
                                    <p:anim calcmode="lin" valueType="num">
                                      <p:cBhvr>
                                        <p:cTn id="68" dur="1000" fill="hold"/>
                                        <p:tgtEl>
                                          <p:spTgt spid="5">
                                            <p:txEl>
                                              <p:pRg st="5" end="5"/>
                                            </p:txEl>
                                          </p:spTgt>
                                        </p:tgtEl>
                                        <p:attrNameLst>
                                          <p:attrName>ppt_x</p:attrName>
                                        </p:attrNameLst>
                                      </p:cBhvr>
                                      <p:tavLst>
                                        <p:tav tm="0">
                                          <p:val>
                                            <p:strVal val="#ppt_x-.2"/>
                                          </p:val>
                                        </p:tav>
                                        <p:tav tm="100000">
                                          <p:val>
                                            <p:strVal val="#ppt_x"/>
                                          </p:val>
                                        </p:tav>
                                      </p:tavLst>
                                    </p:anim>
                                    <p:anim calcmode="lin" valueType="num">
                                      <p:cBhvr>
                                        <p:cTn id="69" dur="1000" fill="hold"/>
                                        <p:tgtEl>
                                          <p:spTgt spid="5">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70" dur="10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orizontal Scroll 1"/>
          <p:cNvSpPr/>
          <p:nvPr/>
        </p:nvSpPr>
        <p:spPr bwMode="auto">
          <a:xfrm>
            <a:off x="179512" y="1124744"/>
            <a:ext cx="8496944" cy="4608512"/>
          </a:xfrm>
          <a:prstGeom prst="horizontalScroll">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ar-SA" sz="4400" b="1" dirty="0" smtClean="0">
                <a:solidFill>
                  <a:srgbClr val="FF0000"/>
                </a:solidFill>
              </a:rPr>
              <a:t>تحدث بالتفصيل مع ذكر الأمثلة عن :</a:t>
            </a:r>
          </a:p>
          <a:p>
            <a:pPr algn="ctr" eaLnBrk="0" fontAlgn="base" hangingPunct="0">
              <a:spcBef>
                <a:spcPct val="0"/>
              </a:spcBef>
              <a:spcAft>
                <a:spcPct val="0"/>
              </a:spcAft>
            </a:pPr>
            <a:endParaRPr lang="ar-SA" sz="4400" b="1" dirty="0" smtClean="0">
              <a:solidFill>
                <a:srgbClr val="FF0000"/>
              </a:solidFill>
            </a:endParaRPr>
          </a:p>
          <a:p>
            <a:pPr algn="ctr" eaLnBrk="0" fontAlgn="base" hangingPunct="0">
              <a:spcBef>
                <a:spcPct val="0"/>
              </a:spcBef>
              <a:spcAft>
                <a:spcPct val="0"/>
              </a:spcAft>
            </a:pPr>
            <a:r>
              <a:rPr lang="ar-SA" sz="4400" b="1" dirty="0"/>
              <a:t>خوارزميات المعجم </a:t>
            </a:r>
            <a:r>
              <a:rPr lang="en-US" sz="3600" b="1" dirty="0"/>
              <a:t>Dictionary Methods</a:t>
            </a:r>
            <a:endParaRPr lang="en-US" sz="3600" b="1" dirty="0">
              <a:latin typeface="Times New Roman" pitchFamily="18" charset="0"/>
            </a:endParaRPr>
          </a:p>
          <a:p>
            <a:pPr algn="ctr" eaLnBrk="0" fontAlgn="base" hangingPunct="0">
              <a:spcBef>
                <a:spcPct val="0"/>
              </a:spcBef>
              <a:spcAft>
                <a:spcPct val="0"/>
              </a:spcAft>
            </a:pPr>
            <a:r>
              <a:rPr lang="ar-SA" sz="4400" b="1" dirty="0" smtClean="0">
                <a:solidFill>
                  <a:srgbClr val="FF0000"/>
                </a:solidFill>
              </a:rPr>
              <a:t>في الوسائط المتعددة</a:t>
            </a:r>
          </a:p>
          <a:p>
            <a:pPr algn="ctr" eaLnBrk="0" fontAlgn="base" hangingPunct="0">
              <a:spcBef>
                <a:spcPct val="0"/>
              </a:spcBef>
              <a:spcAft>
                <a:spcPct val="0"/>
              </a:spcAft>
            </a:pPr>
            <a:endParaRPr lang="ar-SA" sz="4400" b="1" dirty="0" smtClean="0"/>
          </a:p>
        </p:txBody>
      </p:sp>
      <p:sp>
        <p:nvSpPr>
          <p:cNvPr id="3" name="Rectangle 2"/>
          <p:cNvSpPr/>
          <p:nvPr/>
        </p:nvSpPr>
        <p:spPr>
          <a:xfrm>
            <a:off x="2987824" y="737838"/>
            <a:ext cx="3024336" cy="923330"/>
          </a:xfrm>
          <a:prstGeom prst="rect">
            <a:avLst/>
          </a:prstGeom>
        </p:spPr>
        <p:style>
          <a:lnRef idx="3">
            <a:schemeClr val="lt1"/>
          </a:lnRef>
          <a:fillRef idx="1">
            <a:schemeClr val="accent6"/>
          </a:fillRef>
          <a:effectRef idx="1">
            <a:schemeClr val="accent6"/>
          </a:effectRef>
          <a:fontRef idx="minor">
            <a:schemeClr val="lt1"/>
          </a:fontRef>
        </p:style>
        <p:txBody>
          <a:bodyPr wrap="square" lIns="91440" tIns="45720" rIns="91440" bIns="45720">
            <a:spAutoFit/>
          </a:bodyPr>
          <a:lstStyle/>
          <a:p>
            <a:pPr algn="ctr"/>
            <a:r>
              <a:rPr lang="en-US" sz="5400" b="1"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H.W.1</a:t>
            </a:r>
            <a:endParaRPr lang="en-US" sz="5400" b="1"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extLst>
      <p:ext uri="{BB962C8B-B14F-4D97-AF65-F5344CB8AC3E}">
        <p14:creationId xmlns:p14="http://schemas.microsoft.com/office/powerpoint/2010/main" val="799609421"/>
      </p:ext>
    </p:extLst>
  </p:cSld>
  <p:clrMapOvr>
    <a:masterClrMapping/>
  </p:clrMapOvr>
  <p:transition>
    <p:blinds/>
    <p:sndAc>
      <p:stSnd>
        <p:snd r:embed="rId2" name="HARP.WAV"/>
      </p:stSnd>
    </p:sndAc>
  </p:transition>
  <p:timing>
    <p:tnLst>
      <p:par>
        <p:cTn id="1" dur="indefinite" restart="never" nodeType="tmRoot"/>
      </p:par>
    </p:tnLst>
  </p:timing>
</p:sld>
</file>

<file path=ppt/theme/theme1.xml><?xml version="1.0" encoding="utf-8"?>
<a:theme xmlns:a="http://schemas.openxmlformats.org/drawingml/2006/main" name="Bluediag">
  <a:themeElements>
    <a:clrScheme name="Bluediag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0033"/>
      </a:hlink>
      <a:folHlink>
        <a:srgbClr val="3366FF"/>
      </a:folHlink>
    </a:clrScheme>
    <a:fontScheme name="Bluediag">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uediag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0033"/>
        </a:hlink>
        <a:folHlink>
          <a:srgbClr val="3366FF"/>
        </a:folHlink>
      </a:clrScheme>
      <a:clrMap bg1="dk2" tx1="lt1" bg2="dk1" tx2="lt2" accent1="accent1" accent2="accent2" accent3="accent3" accent4="accent4" accent5="accent5" accent6="accent6" hlink="hlink" folHlink="folHlink"/>
    </a:extraClrScheme>
    <a:extraClrScheme>
      <a:clrScheme name="Bluediag 2">
        <a:dk1>
          <a:srgbClr val="000000"/>
        </a:dk1>
        <a:lt1>
          <a:srgbClr val="9999FF"/>
        </a:lt1>
        <a:dk2>
          <a:srgbClr val="6600FF"/>
        </a:dk2>
        <a:lt2>
          <a:srgbClr val="FFFFFF"/>
        </a:lt2>
        <a:accent1>
          <a:srgbClr val="CCCCFF"/>
        </a:accent1>
        <a:accent2>
          <a:srgbClr val="FF99FF"/>
        </a:accent2>
        <a:accent3>
          <a:srgbClr val="CACAFF"/>
        </a:accent3>
        <a:accent4>
          <a:srgbClr val="000000"/>
        </a:accent4>
        <a:accent5>
          <a:srgbClr val="E2E2FF"/>
        </a:accent5>
        <a:accent6>
          <a:srgbClr val="E78AE7"/>
        </a:accent6>
        <a:hlink>
          <a:srgbClr val="00CC66"/>
        </a:hlink>
        <a:folHlink>
          <a:srgbClr val="6666FF"/>
        </a:folHlink>
      </a:clrScheme>
      <a:clrMap bg1="lt1" tx1="dk1" bg2="lt2" tx2="dk2" accent1="accent1" accent2="accent2" accent3="accent3" accent4="accent4" accent5="accent5" accent6="accent6" hlink="hlink" folHlink="folHlink"/>
    </a:extraClrScheme>
    <a:extraClrScheme>
      <a:clrScheme name="Bluediag 3">
        <a:dk1>
          <a:srgbClr val="000000"/>
        </a:dk1>
        <a:lt1>
          <a:srgbClr val="FFFFFF"/>
        </a:lt1>
        <a:dk2>
          <a:srgbClr val="000000"/>
        </a:dk2>
        <a:lt2>
          <a:srgbClr val="CBCBCB"/>
        </a:lt2>
        <a:accent1>
          <a:srgbClr val="DDDDDD"/>
        </a:accent1>
        <a:accent2>
          <a:srgbClr val="B2B2B2"/>
        </a:accent2>
        <a:accent3>
          <a:srgbClr val="FFFFFF"/>
        </a:accent3>
        <a:accent4>
          <a:srgbClr val="000000"/>
        </a:accent4>
        <a:accent5>
          <a:srgbClr val="EBEBEB"/>
        </a:accent5>
        <a:accent6>
          <a:srgbClr val="A1A1A1"/>
        </a:accent6>
        <a:hlink>
          <a:srgbClr val="4D4D4D"/>
        </a:hlink>
        <a:folHlink>
          <a:srgbClr val="777777"/>
        </a:folHlink>
      </a:clrScheme>
      <a:clrMap bg1="lt1" tx1="dk1" bg2="lt2" tx2="dk2" accent1="accent1" accent2="accent2" accent3="accent3" accent4="accent4" accent5="accent5" accent6="accent6" hlink="hlink" folHlink="folHlink"/>
    </a:extraClrScheme>
    <a:extraClrScheme>
      <a:clrScheme name="Bluediag 4">
        <a:dk1>
          <a:srgbClr val="000000"/>
        </a:dk1>
        <a:lt1>
          <a:srgbClr val="FFFFFF"/>
        </a:lt1>
        <a:dk2>
          <a:srgbClr val="990066"/>
        </a:dk2>
        <a:lt2>
          <a:srgbClr val="FFFF00"/>
        </a:lt2>
        <a:accent1>
          <a:srgbClr val="996633"/>
        </a:accent1>
        <a:accent2>
          <a:srgbClr val="CC6600"/>
        </a:accent2>
        <a:accent3>
          <a:srgbClr val="CAAAB8"/>
        </a:accent3>
        <a:accent4>
          <a:srgbClr val="DADADA"/>
        </a:accent4>
        <a:accent5>
          <a:srgbClr val="CAB8AD"/>
        </a:accent5>
        <a:accent6>
          <a:srgbClr val="B95C00"/>
        </a:accent6>
        <a:hlink>
          <a:srgbClr val="999933"/>
        </a:hlink>
        <a:folHlink>
          <a:srgbClr val="CC0099"/>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سمة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Template>
  <TotalTime>2245</TotalTime>
  <Words>10150</Words>
  <Application>Microsoft Office PowerPoint</Application>
  <PresentationFormat>On-screen Show (4:3)</PresentationFormat>
  <Paragraphs>700</Paragraphs>
  <Slides>93</Slides>
  <Notes>0</Notes>
  <HiddenSlides>0</HiddenSlides>
  <MMClips>0</MMClips>
  <ScaleCrop>false</ScaleCrop>
  <HeadingPairs>
    <vt:vector size="4" baseType="variant">
      <vt:variant>
        <vt:lpstr>Theme</vt:lpstr>
      </vt:variant>
      <vt:variant>
        <vt:i4>1</vt:i4>
      </vt:variant>
      <vt:variant>
        <vt:lpstr>Slide Titles</vt:lpstr>
      </vt:variant>
      <vt:variant>
        <vt:i4>93</vt:i4>
      </vt:variant>
    </vt:vector>
  </HeadingPairs>
  <TitlesOfParts>
    <vt:vector size="94" baseType="lpstr">
      <vt:lpstr>Bluediag</vt:lpstr>
      <vt:lpstr>اسم المقرر:نظم الوسائط المتعددة(2) الدفعة (12) (تقانة المعلومات) الفصل الدراسي التاسع</vt:lpstr>
      <vt:lpstr>مفردات المقرر:</vt:lpstr>
      <vt:lpstr>التقيـيـم:</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الشريحة 1</dc:title>
  <dc:creator>Roma</dc:creator>
  <cp:lastModifiedBy>Windows User</cp:lastModifiedBy>
  <cp:revision>296</cp:revision>
  <dcterms:created xsi:type="dcterms:W3CDTF">2013-03-25T19:33:11Z</dcterms:created>
  <dcterms:modified xsi:type="dcterms:W3CDTF">2025-10-14T01:36:07Z</dcterms:modified>
</cp:coreProperties>
</file>